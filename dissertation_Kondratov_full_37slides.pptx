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71913" autoAdjust="0"/>
  </p:normalViewPr>
  <p:slideViewPr>
    <p:cSldViewPr snapToGrid="0" snapToObjects="1">
      <p:cViewPr varScale="1">
        <p:scale>
          <a:sx n="79" d="100"/>
          <a:sy n="79" d="100"/>
        </p:scale>
        <p:origin x="93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a:t>Підвищення точності, надійності та адаптивності дистанційної ідентифікації параметрів динамічних об'єктів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EF8375-30C2-4691-A189-3BBB5D13CAE9}" type="doc">
      <dgm:prSet loTypeId="urn:microsoft.com/office/officeart/2008/layout/LinedList" loCatId="list" qsTypeId="urn:microsoft.com/office/officeart/2005/8/quickstyle/simple2" qsCatId="simple" csTypeId="urn:microsoft.com/office/officeart/2005/8/colors/colorful2" csCatId="colorful"/>
      <dgm:spPr/>
      <dgm:t>
        <a:bodyPr/>
        <a:lstStyle/>
        <a:p>
          <a:endParaRPr lang="en-US"/>
        </a:p>
      </dgm:t>
    </dgm:pt>
    <dgm:pt modelId="{D36DFC9C-42F3-48E7-8507-724F63CDE820}">
      <dgm:prSet/>
      <dgm:spPr/>
      <dgm:t>
        <a:bodyPr/>
        <a:lstStyle/>
        <a:p>
          <a:r>
            <a:rPr lang="en-US"/>
            <a:t>1. Аналіз сучасних методів ДІПДО, визначення обмежень</a:t>
          </a:r>
        </a:p>
      </dgm:t>
    </dgm:pt>
    <dgm:pt modelId="{21174BBC-D2A9-4DDD-80F0-BB286EC5EB7D}" type="parTrans" cxnId="{1F171477-39EB-4846-A4DE-ABEBC4DE36A0}">
      <dgm:prSet/>
      <dgm:spPr/>
      <dgm:t>
        <a:bodyPr/>
        <a:lstStyle/>
        <a:p>
          <a:endParaRPr lang="en-US"/>
        </a:p>
      </dgm:t>
    </dgm:pt>
    <dgm:pt modelId="{9B691CFD-DC23-49DA-9805-0A9F620CAA80}" type="sibTrans" cxnId="{1F171477-39EB-4846-A4DE-ABEBC4DE36A0}">
      <dgm:prSet/>
      <dgm:spPr/>
      <dgm:t>
        <a:bodyPr/>
        <a:lstStyle/>
        <a:p>
          <a:endParaRPr lang="en-US"/>
        </a:p>
      </dgm:t>
    </dgm:pt>
    <dgm:pt modelId="{336C8E62-C777-4D6C-8EDF-E230538D56AD}">
      <dgm:prSet/>
      <dgm:spPr/>
      <dgm:t>
        <a:bodyPr/>
        <a:lstStyle/>
        <a:p>
          <a:r>
            <a:rPr lang="en-US"/>
            <a:t>2. Класифікація параметрів динамічних об'єктів та методів їх визначення</a:t>
          </a:r>
        </a:p>
      </dgm:t>
    </dgm:pt>
    <dgm:pt modelId="{8EA7DB84-2D91-4C3F-8957-C5E7A6BF12B8}" type="parTrans" cxnId="{11ABD46F-6AC6-4CAD-BA17-D961AB0A6549}">
      <dgm:prSet/>
      <dgm:spPr/>
      <dgm:t>
        <a:bodyPr/>
        <a:lstStyle/>
        <a:p>
          <a:endParaRPr lang="en-US"/>
        </a:p>
      </dgm:t>
    </dgm:pt>
    <dgm:pt modelId="{15AAD6BC-0CF1-42F2-9065-B1B39C71B675}" type="sibTrans" cxnId="{11ABD46F-6AC6-4CAD-BA17-D961AB0A6549}">
      <dgm:prSet/>
      <dgm:spPr/>
      <dgm:t>
        <a:bodyPr/>
        <a:lstStyle/>
        <a:p>
          <a:endParaRPr lang="en-US"/>
        </a:p>
      </dgm:t>
    </dgm:pt>
    <dgm:pt modelId="{C1B47345-CFBE-4ECA-8AD7-EA4A976FD376}">
      <dgm:prSet/>
      <dgm:spPr/>
      <dgm:t>
        <a:bodyPr/>
        <a:lstStyle/>
        <a:p>
          <a:r>
            <a:rPr lang="en-US"/>
            <a:t>3. Розробка моделей інтеграції DETR, оптичного потоку та нейромережевої оцінки глибини</a:t>
          </a:r>
        </a:p>
      </dgm:t>
    </dgm:pt>
    <dgm:pt modelId="{0024F191-8D47-4A58-9691-43D828D91A05}" type="parTrans" cxnId="{FBF598F9-AE66-4A58-92E7-BD6F089E154C}">
      <dgm:prSet/>
      <dgm:spPr/>
      <dgm:t>
        <a:bodyPr/>
        <a:lstStyle/>
        <a:p>
          <a:endParaRPr lang="en-US"/>
        </a:p>
      </dgm:t>
    </dgm:pt>
    <dgm:pt modelId="{9BD04954-C601-42D1-9606-803D6874E34E}" type="sibTrans" cxnId="{FBF598F9-AE66-4A58-92E7-BD6F089E154C}">
      <dgm:prSet/>
      <dgm:spPr/>
      <dgm:t>
        <a:bodyPr/>
        <a:lstStyle/>
        <a:p>
          <a:endParaRPr lang="en-US"/>
        </a:p>
      </dgm:t>
    </dgm:pt>
    <dgm:pt modelId="{88492EEB-AD0A-4F52-9D77-00222C8EE01F}">
      <dgm:prSet/>
      <dgm:spPr/>
      <dgm:t>
        <a:bodyPr/>
        <a:lstStyle/>
        <a:p>
          <a:r>
            <a:rPr lang="en-US"/>
            <a:t>4. Обґрунтування використання Bagging та Boosting для підвищення стійкості</a:t>
          </a:r>
        </a:p>
      </dgm:t>
    </dgm:pt>
    <dgm:pt modelId="{3376F378-9E90-43AD-9538-FBA81AA055CF}" type="parTrans" cxnId="{409A96C1-9CF2-48C9-8641-3EE00B264B11}">
      <dgm:prSet/>
      <dgm:spPr/>
      <dgm:t>
        <a:bodyPr/>
        <a:lstStyle/>
        <a:p>
          <a:endParaRPr lang="en-US"/>
        </a:p>
      </dgm:t>
    </dgm:pt>
    <dgm:pt modelId="{F7E307FA-1493-45A4-BC9D-7E46ACD4E538}" type="sibTrans" cxnId="{409A96C1-9CF2-48C9-8641-3EE00B264B11}">
      <dgm:prSet/>
      <dgm:spPr/>
      <dgm:t>
        <a:bodyPr/>
        <a:lstStyle/>
        <a:p>
          <a:endParaRPr lang="en-US"/>
        </a:p>
      </dgm:t>
    </dgm:pt>
    <dgm:pt modelId="{DE76C159-B459-4466-B28F-EA2F048C4720}">
      <dgm:prSet/>
      <dgm:spPr/>
      <dgm:t>
        <a:bodyPr/>
        <a:lstStyle/>
        <a:p>
          <a:r>
            <a:rPr lang="en-US"/>
            <a:t>5. Програмна реалізація інформаційної технології</a:t>
          </a:r>
        </a:p>
      </dgm:t>
    </dgm:pt>
    <dgm:pt modelId="{C7F2888E-7F61-4CD5-8E56-B727D547B56F}" type="parTrans" cxnId="{6BCDBABD-3FF8-4256-8AD0-01F449980A00}">
      <dgm:prSet/>
      <dgm:spPr/>
      <dgm:t>
        <a:bodyPr/>
        <a:lstStyle/>
        <a:p>
          <a:endParaRPr lang="en-US"/>
        </a:p>
      </dgm:t>
    </dgm:pt>
    <dgm:pt modelId="{2DA8CB2D-7A04-4B6A-9F28-8C65EBA5E36E}" type="sibTrans" cxnId="{6BCDBABD-3FF8-4256-8AD0-01F449980A00}">
      <dgm:prSet/>
      <dgm:spPr/>
      <dgm:t>
        <a:bodyPr/>
        <a:lstStyle/>
        <a:p>
          <a:endParaRPr lang="en-US"/>
        </a:p>
      </dgm:t>
    </dgm:pt>
    <dgm:pt modelId="{7C502E7B-83AF-4B9E-B6F7-342C4624235A}">
      <dgm:prSet/>
      <dgm:spPr/>
      <dgm:t>
        <a:bodyPr/>
        <a:lstStyle/>
        <a:p>
          <a:r>
            <a:rPr lang="en-US"/>
            <a:t>6. Експериментальне тестування 35 комбінацій методів</a:t>
          </a:r>
        </a:p>
      </dgm:t>
    </dgm:pt>
    <dgm:pt modelId="{286BD8B9-47EC-4558-9C5C-5E7266F4D7FA}" type="parTrans" cxnId="{A94D8273-2393-46C5-A94B-E641536A821C}">
      <dgm:prSet/>
      <dgm:spPr/>
      <dgm:t>
        <a:bodyPr/>
        <a:lstStyle/>
        <a:p>
          <a:endParaRPr lang="en-US"/>
        </a:p>
      </dgm:t>
    </dgm:pt>
    <dgm:pt modelId="{33612046-8D44-4658-94B3-F39CD8506CCD}" type="sibTrans" cxnId="{A94D8273-2393-46C5-A94B-E641536A821C}">
      <dgm:prSet/>
      <dgm:spPr/>
      <dgm:t>
        <a:bodyPr/>
        <a:lstStyle/>
        <a:p>
          <a:endParaRPr lang="en-US"/>
        </a:p>
      </dgm:t>
    </dgm:pt>
    <dgm:pt modelId="{A6452447-320F-401A-A1BE-2312160C7F59}" type="pres">
      <dgm:prSet presAssocID="{9DEF8375-30C2-4691-A189-3BBB5D13CAE9}" presName="vert0" presStyleCnt="0">
        <dgm:presLayoutVars>
          <dgm:dir/>
          <dgm:animOne val="branch"/>
          <dgm:animLvl val="lvl"/>
        </dgm:presLayoutVars>
      </dgm:prSet>
      <dgm:spPr/>
    </dgm:pt>
    <dgm:pt modelId="{493E919C-EE80-4805-AA37-72FF19EA6BC6}" type="pres">
      <dgm:prSet presAssocID="{D36DFC9C-42F3-48E7-8507-724F63CDE820}" presName="thickLine" presStyleLbl="alignNode1" presStyleIdx="0" presStyleCnt="6"/>
      <dgm:spPr/>
    </dgm:pt>
    <dgm:pt modelId="{FC9EA74D-DDDA-4CE1-8A65-E126C99DC731}" type="pres">
      <dgm:prSet presAssocID="{D36DFC9C-42F3-48E7-8507-724F63CDE820}" presName="horz1" presStyleCnt="0"/>
      <dgm:spPr/>
    </dgm:pt>
    <dgm:pt modelId="{4E39128A-D575-40DE-93AE-51E2EC60DAA2}" type="pres">
      <dgm:prSet presAssocID="{D36DFC9C-42F3-48E7-8507-724F63CDE820}" presName="tx1" presStyleLbl="revTx" presStyleIdx="0" presStyleCnt="6"/>
      <dgm:spPr/>
    </dgm:pt>
    <dgm:pt modelId="{A0FCDC15-C7FC-43D6-A330-7CB24FE52AC3}" type="pres">
      <dgm:prSet presAssocID="{D36DFC9C-42F3-48E7-8507-724F63CDE820}" presName="vert1" presStyleCnt="0"/>
      <dgm:spPr/>
    </dgm:pt>
    <dgm:pt modelId="{BC4B1178-B259-4408-85A4-A70AA5DFF311}" type="pres">
      <dgm:prSet presAssocID="{336C8E62-C777-4D6C-8EDF-E230538D56AD}" presName="thickLine" presStyleLbl="alignNode1" presStyleIdx="1" presStyleCnt="6"/>
      <dgm:spPr/>
    </dgm:pt>
    <dgm:pt modelId="{9DDBBF9E-45D8-4B1A-B70C-5B8FBA13E58B}" type="pres">
      <dgm:prSet presAssocID="{336C8E62-C777-4D6C-8EDF-E230538D56AD}" presName="horz1" presStyleCnt="0"/>
      <dgm:spPr/>
    </dgm:pt>
    <dgm:pt modelId="{61F963EA-ED30-4A1C-B2E7-04AFEFFE6972}" type="pres">
      <dgm:prSet presAssocID="{336C8E62-C777-4D6C-8EDF-E230538D56AD}" presName="tx1" presStyleLbl="revTx" presStyleIdx="1" presStyleCnt="6"/>
      <dgm:spPr/>
    </dgm:pt>
    <dgm:pt modelId="{D4D3C8CC-E4E5-4187-A12E-C25B1201F7B2}" type="pres">
      <dgm:prSet presAssocID="{336C8E62-C777-4D6C-8EDF-E230538D56AD}" presName="vert1" presStyleCnt="0"/>
      <dgm:spPr/>
    </dgm:pt>
    <dgm:pt modelId="{0B7D5C60-6409-4772-95D3-B94FBEA4F9FD}" type="pres">
      <dgm:prSet presAssocID="{C1B47345-CFBE-4ECA-8AD7-EA4A976FD376}" presName="thickLine" presStyleLbl="alignNode1" presStyleIdx="2" presStyleCnt="6"/>
      <dgm:spPr/>
    </dgm:pt>
    <dgm:pt modelId="{09225051-0C98-4BF0-8C77-5F093BB60415}" type="pres">
      <dgm:prSet presAssocID="{C1B47345-CFBE-4ECA-8AD7-EA4A976FD376}" presName="horz1" presStyleCnt="0"/>
      <dgm:spPr/>
    </dgm:pt>
    <dgm:pt modelId="{958E4794-B1C0-46A4-9F2C-FEEEE251F509}" type="pres">
      <dgm:prSet presAssocID="{C1B47345-CFBE-4ECA-8AD7-EA4A976FD376}" presName="tx1" presStyleLbl="revTx" presStyleIdx="2" presStyleCnt="6"/>
      <dgm:spPr/>
    </dgm:pt>
    <dgm:pt modelId="{68DFE60A-C447-470D-B02C-F55E38BDAD09}" type="pres">
      <dgm:prSet presAssocID="{C1B47345-CFBE-4ECA-8AD7-EA4A976FD376}" presName="vert1" presStyleCnt="0"/>
      <dgm:spPr/>
    </dgm:pt>
    <dgm:pt modelId="{B37F2F0B-33F3-407F-9F2E-59BCDD4D97C2}" type="pres">
      <dgm:prSet presAssocID="{88492EEB-AD0A-4F52-9D77-00222C8EE01F}" presName="thickLine" presStyleLbl="alignNode1" presStyleIdx="3" presStyleCnt="6"/>
      <dgm:spPr/>
    </dgm:pt>
    <dgm:pt modelId="{2A3187D0-22F2-452E-B5D3-9B751A03F8F0}" type="pres">
      <dgm:prSet presAssocID="{88492EEB-AD0A-4F52-9D77-00222C8EE01F}" presName="horz1" presStyleCnt="0"/>
      <dgm:spPr/>
    </dgm:pt>
    <dgm:pt modelId="{53E87432-9AB6-41EE-9363-D64135CF07C9}" type="pres">
      <dgm:prSet presAssocID="{88492EEB-AD0A-4F52-9D77-00222C8EE01F}" presName="tx1" presStyleLbl="revTx" presStyleIdx="3" presStyleCnt="6"/>
      <dgm:spPr/>
    </dgm:pt>
    <dgm:pt modelId="{FFFBB997-B20C-44C0-B061-58BD8C8A3832}" type="pres">
      <dgm:prSet presAssocID="{88492EEB-AD0A-4F52-9D77-00222C8EE01F}" presName="vert1" presStyleCnt="0"/>
      <dgm:spPr/>
    </dgm:pt>
    <dgm:pt modelId="{451ECAD4-C1B6-44FA-B8EB-C7C2A562A626}" type="pres">
      <dgm:prSet presAssocID="{DE76C159-B459-4466-B28F-EA2F048C4720}" presName="thickLine" presStyleLbl="alignNode1" presStyleIdx="4" presStyleCnt="6"/>
      <dgm:spPr/>
    </dgm:pt>
    <dgm:pt modelId="{5EDB3C07-2D63-45CA-B5D0-EA4E8A486004}" type="pres">
      <dgm:prSet presAssocID="{DE76C159-B459-4466-B28F-EA2F048C4720}" presName="horz1" presStyleCnt="0"/>
      <dgm:spPr/>
    </dgm:pt>
    <dgm:pt modelId="{23E1BF8C-FF3E-4CB6-8B63-05D2F38A8001}" type="pres">
      <dgm:prSet presAssocID="{DE76C159-B459-4466-B28F-EA2F048C4720}" presName="tx1" presStyleLbl="revTx" presStyleIdx="4" presStyleCnt="6"/>
      <dgm:spPr/>
    </dgm:pt>
    <dgm:pt modelId="{7F181EF3-4164-4CC7-AC85-7C99D6EE00F6}" type="pres">
      <dgm:prSet presAssocID="{DE76C159-B459-4466-B28F-EA2F048C4720}" presName="vert1" presStyleCnt="0"/>
      <dgm:spPr/>
    </dgm:pt>
    <dgm:pt modelId="{B0E9FA0D-9381-4855-892B-780191A54F91}" type="pres">
      <dgm:prSet presAssocID="{7C502E7B-83AF-4B9E-B6F7-342C4624235A}" presName="thickLine" presStyleLbl="alignNode1" presStyleIdx="5" presStyleCnt="6"/>
      <dgm:spPr/>
    </dgm:pt>
    <dgm:pt modelId="{30C64B0A-D087-4CEE-9CE3-27C8480244F1}" type="pres">
      <dgm:prSet presAssocID="{7C502E7B-83AF-4B9E-B6F7-342C4624235A}" presName="horz1" presStyleCnt="0"/>
      <dgm:spPr/>
    </dgm:pt>
    <dgm:pt modelId="{3F757373-078E-4459-8731-88AD60A54929}" type="pres">
      <dgm:prSet presAssocID="{7C502E7B-83AF-4B9E-B6F7-342C4624235A}" presName="tx1" presStyleLbl="revTx" presStyleIdx="5" presStyleCnt="6"/>
      <dgm:spPr/>
    </dgm:pt>
    <dgm:pt modelId="{82899C83-14B1-4AE6-8A75-312F02BA236B}" type="pres">
      <dgm:prSet presAssocID="{7C502E7B-83AF-4B9E-B6F7-342C4624235A}" presName="vert1" presStyleCnt="0"/>
      <dgm:spPr/>
    </dgm:pt>
  </dgm:ptLst>
  <dgm:cxnLst>
    <dgm:cxn modelId="{4527CE20-5DF1-4A7A-8CA6-BDF111EB85A6}" type="presOf" srcId="{D36DFC9C-42F3-48E7-8507-724F63CDE820}" destId="{4E39128A-D575-40DE-93AE-51E2EC60DAA2}" srcOrd="0" destOrd="0" presId="urn:microsoft.com/office/officeart/2008/layout/LinedList"/>
    <dgm:cxn modelId="{8CC86633-33F7-4E4C-83A9-AF564A1C58C6}" type="presOf" srcId="{DE76C159-B459-4466-B28F-EA2F048C4720}" destId="{23E1BF8C-FF3E-4CB6-8B63-05D2F38A8001}" srcOrd="0" destOrd="0" presId="urn:microsoft.com/office/officeart/2008/layout/LinedList"/>
    <dgm:cxn modelId="{1D9C8B6B-A6FE-41F2-9927-9B571D98B6ED}" type="presOf" srcId="{9DEF8375-30C2-4691-A189-3BBB5D13CAE9}" destId="{A6452447-320F-401A-A1BE-2312160C7F59}" srcOrd="0" destOrd="0" presId="urn:microsoft.com/office/officeart/2008/layout/LinedList"/>
    <dgm:cxn modelId="{11ABD46F-6AC6-4CAD-BA17-D961AB0A6549}" srcId="{9DEF8375-30C2-4691-A189-3BBB5D13CAE9}" destId="{336C8E62-C777-4D6C-8EDF-E230538D56AD}" srcOrd="1" destOrd="0" parTransId="{8EA7DB84-2D91-4C3F-8957-C5E7A6BF12B8}" sibTransId="{15AAD6BC-0CF1-42F2-9065-B1B39C71B675}"/>
    <dgm:cxn modelId="{A94D8273-2393-46C5-A94B-E641536A821C}" srcId="{9DEF8375-30C2-4691-A189-3BBB5D13CAE9}" destId="{7C502E7B-83AF-4B9E-B6F7-342C4624235A}" srcOrd="5" destOrd="0" parTransId="{286BD8B9-47EC-4558-9C5C-5E7266F4D7FA}" sibTransId="{33612046-8D44-4658-94B3-F39CD8506CCD}"/>
    <dgm:cxn modelId="{D74C6256-696E-47CD-876A-9B789FFC51E5}" type="presOf" srcId="{336C8E62-C777-4D6C-8EDF-E230538D56AD}" destId="{61F963EA-ED30-4A1C-B2E7-04AFEFFE6972}" srcOrd="0" destOrd="0" presId="urn:microsoft.com/office/officeart/2008/layout/LinedList"/>
    <dgm:cxn modelId="{1F171477-39EB-4846-A4DE-ABEBC4DE36A0}" srcId="{9DEF8375-30C2-4691-A189-3BBB5D13CAE9}" destId="{D36DFC9C-42F3-48E7-8507-724F63CDE820}" srcOrd="0" destOrd="0" parTransId="{21174BBC-D2A9-4DDD-80F0-BB286EC5EB7D}" sibTransId="{9B691CFD-DC23-49DA-9805-0A9F620CAA80}"/>
    <dgm:cxn modelId="{AAF57C85-2AA3-4ED1-98AE-908CAC0AA58D}" type="presOf" srcId="{7C502E7B-83AF-4B9E-B6F7-342C4624235A}" destId="{3F757373-078E-4459-8731-88AD60A54929}" srcOrd="0" destOrd="0" presId="urn:microsoft.com/office/officeart/2008/layout/LinedList"/>
    <dgm:cxn modelId="{602C119C-0F23-4BF4-9B9C-B0FFFF5103DD}" type="presOf" srcId="{88492EEB-AD0A-4F52-9D77-00222C8EE01F}" destId="{53E87432-9AB6-41EE-9363-D64135CF07C9}" srcOrd="0" destOrd="0" presId="urn:microsoft.com/office/officeart/2008/layout/LinedList"/>
    <dgm:cxn modelId="{6BCDBABD-3FF8-4256-8AD0-01F449980A00}" srcId="{9DEF8375-30C2-4691-A189-3BBB5D13CAE9}" destId="{DE76C159-B459-4466-B28F-EA2F048C4720}" srcOrd="4" destOrd="0" parTransId="{C7F2888E-7F61-4CD5-8E56-B727D547B56F}" sibTransId="{2DA8CB2D-7A04-4B6A-9F28-8C65EBA5E36E}"/>
    <dgm:cxn modelId="{409A96C1-9CF2-48C9-8641-3EE00B264B11}" srcId="{9DEF8375-30C2-4691-A189-3BBB5D13CAE9}" destId="{88492EEB-AD0A-4F52-9D77-00222C8EE01F}" srcOrd="3" destOrd="0" parTransId="{3376F378-9E90-43AD-9538-FBA81AA055CF}" sibTransId="{F7E307FA-1493-45A4-BC9D-7E46ACD4E538}"/>
    <dgm:cxn modelId="{F7FC51EC-10EA-4973-8997-2603A1E26357}" type="presOf" srcId="{C1B47345-CFBE-4ECA-8AD7-EA4A976FD376}" destId="{958E4794-B1C0-46A4-9F2C-FEEEE251F509}" srcOrd="0" destOrd="0" presId="urn:microsoft.com/office/officeart/2008/layout/LinedList"/>
    <dgm:cxn modelId="{FBF598F9-AE66-4A58-92E7-BD6F089E154C}" srcId="{9DEF8375-30C2-4691-A189-3BBB5D13CAE9}" destId="{C1B47345-CFBE-4ECA-8AD7-EA4A976FD376}" srcOrd="2" destOrd="0" parTransId="{0024F191-8D47-4A58-9691-43D828D91A05}" sibTransId="{9BD04954-C601-42D1-9606-803D6874E34E}"/>
    <dgm:cxn modelId="{A15A3B94-E86D-48D0-99A3-49619C75B53B}" type="presParOf" srcId="{A6452447-320F-401A-A1BE-2312160C7F59}" destId="{493E919C-EE80-4805-AA37-72FF19EA6BC6}" srcOrd="0" destOrd="0" presId="urn:microsoft.com/office/officeart/2008/layout/LinedList"/>
    <dgm:cxn modelId="{8593FFA5-60B7-4435-AB0E-2B8B477E43A2}" type="presParOf" srcId="{A6452447-320F-401A-A1BE-2312160C7F59}" destId="{FC9EA74D-DDDA-4CE1-8A65-E126C99DC731}" srcOrd="1" destOrd="0" presId="urn:microsoft.com/office/officeart/2008/layout/LinedList"/>
    <dgm:cxn modelId="{E301F311-DC5A-4DAF-83F1-D5307EA54FB1}" type="presParOf" srcId="{FC9EA74D-DDDA-4CE1-8A65-E126C99DC731}" destId="{4E39128A-D575-40DE-93AE-51E2EC60DAA2}" srcOrd="0" destOrd="0" presId="urn:microsoft.com/office/officeart/2008/layout/LinedList"/>
    <dgm:cxn modelId="{F2502E4A-F406-40FA-9EE2-527A44A0A7B7}" type="presParOf" srcId="{FC9EA74D-DDDA-4CE1-8A65-E126C99DC731}" destId="{A0FCDC15-C7FC-43D6-A330-7CB24FE52AC3}" srcOrd="1" destOrd="0" presId="urn:microsoft.com/office/officeart/2008/layout/LinedList"/>
    <dgm:cxn modelId="{32830996-99C9-4FC5-A08E-E7560789AFFF}" type="presParOf" srcId="{A6452447-320F-401A-A1BE-2312160C7F59}" destId="{BC4B1178-B259-4408-85A4-A70AA5DFF311}" srcOrd="2" destOrd="0" presId="urn:microsoft.com/office/officeart/2008/layout/LinedList"/>
    <dgm:cxn modelId="{CAB075CC-CB92-41EC-87A7-4119762D2D7A}" type="presParOf" srcId="{A6452447-320F-401A-A1BE-2312160C7F59}" destId="{9DDBBF9E-45D8-4B1A-B70C-5B8FBA13E58B}" srcOrd="3" destOrd="0" presId="urn:microsoft.com/office/officeart/2008/layout/LinedList"/>
    <dgm:cxn modelId="{C18C7646-3538-41AC-A1A8-CC2DD2FE6CE9}" type="presParOf" srcId="{9DDBBF9E-45D8-4B1A-B70C-5B8FBA13E58B}" destId="{61F963EA-ED30-4A1C-B2E7-04AFEFFE6972}" srcOrd="0" destOrd="0" presId="urn:microsoft.com/office/officeart/2008/layout/LinedList"/>
    <dgm:cxn modelId="{694FF097-DD0E-41AE-9DD0-FE823A82AB0F}" type="presParOf" srcId="{9DDBBF9E-45D8-4B1A-B70C-5B8FBA13E58B}" destId="{D4D3C8CC-E4E5-4187-A12E-C25B1201F7B2}" srcOrd="1" destOrd="0" presId="urn:microsoft.com/office/officeart/2008/layout/LinedList"/>
    <dgm:cxn modelId="{430DFC5B-0FC3-41EF-A86A-E7AAC2965F26}" type="presParOf" srcId="{A6452447-320F-401A-A1BE-2312160C7F59}" destId="{0B7D5C60-6409-4772-95D3-B94FBEA4F9FD}" srcOrd="4" destOrd="0" presId="urn:microsoft.com/office/officeart/2008/layout/LinedList"/>
    <dgm:cxn modelId="{667EC37C-D127-4C96-8C63-7CEFFBA14C14}" type="presParOf" srcId="{A6452447-320F-401A-A1BE-2312160C7F59}" destId="{09225051-0C98-4BF0-8C77-5F093BB60415}" srcOrd="5" destOrd="0" presId="urn:microsoft.com/office/officeart/2008/layout/LinedList"/>
    <dgm:cxn modelId="{29F2CFCB-6AEF-4565-9C20-F88ADECE9BFD}" type="presParOf" srcId="{09225051-0C98-4BF0-8C77-5F093BB60415}" destId="{958E4794-B1C0-46A4-9F2C-FEEEE251F509}" srcOrd="0" destOrd="0" presId="urn:microsoft.com/office/officeart/2008/layout/LinedList"/>
    <dgm:cxn modelId="{5F01C4FE-E4B3-4B4D-B445-5894820D44D1}" type="presParOf" srcId="{09225051-0C98-4BF0-8C77-5F093BB60415}" destId="{68DFE60A-C447-470D-B02C-F55E38BDAD09}" srcOrd="1" destOrd="0" presId="urn:microsoft.com/office/officeart/2008/layout/LinedList"/>
    <dgm:cxn modelId="{38A6FCB4-6722-43ED-B60D-5C3805D7941E}" type="presParOf" srcId="{A6452447-320F-401A-A1BE-2312160C7F59}" destId="{B37F2F0B-33F3-407F-9F2E-59BCDD4D97C2}" srcOrd="6" destOrd="0" presId="urn:microsoft.com/office/officeart/2008/layout/LinedList"/>
    <dgm:cxn modelId="{E3743C51-538E-479F-ACAE-B9EF5AD9AE06}" type="presParOf" srcId="{A6452447-320F-401A-A1BE-2312160C7F59}" destId="{2A3187D0-22F2-452E-B5D3-9B751A03F8F0}" srcOrd="7" destOrd="0" presId="urn:microsoft.com/office/officeart/2008/layout/LinedList"/>
    <dgm:cxn modelId="{BA38E9EE-4B27-4510-BE14-FA2130012737}" type="presParOf" srcId="{2A3187D0-22F2-452E-B5D3-9B751A03F8F0}" destId="{53E87432-9AB6-41EE-9363-D64135CF07C9}" srcOrd="0" destOrd="0" presId="urn:microsoft.com/office/officeart/2008/layout/LinedList"/>
    <dgm:cxn modelId="{E4F581C6-2F87-45CF-9F37-2FDB759AD708}" type="presParOf" srcId="{2A3187D0-22F2-452E-B5D3-9B751A03F8F0}" destId="{FFFBB997-B20C-44C0-B061-58BD8C8A3832}" srcOrd="1" destOrd="0" presId="urn:microsoft.com/office/officeart/2008/layout/LinedList"/>
    <dgm:cxn modelId="{786CCF63-FC71-4906-AD47-15010DC41546}" type="presParOf" srcId="{A6452447-320F-401A-A1BE-2312160C7F59}" destId="{451ECAD4-C1B6-44FA-B8EB-C7C2A562A626}" srcOrd="8" destOrd="0" presId="urn:microsoft.com/office/officeart/2008/layout/LinedList"/>
    <dgm:cxn modelId="{137FBF37-3F63-4FEF-945D-84B241ED1501}" type="presParOf" srcId="{A6452447-320F-401A-A1BE-2312160C7F59}" destId="{5EDB3C07-2D63-45CA-B5D0-EA4E8A486004}" srcOrd="9" destOrd="0" presId="urn:microsoft.com/office/officeart/2008/layout/LinedList"/>
    <dgm:cxn modelId="{2C634B1B-F8BA-4505-80A0-E820AF27DE46}" type="presParOf" srcId="{5EDB3C07-2D63-45CA-B5D0-EA4E8A486004}" destId="{23E1BF8C-FF3E-4CB6-8B63-05D2F38A8001}" srcOrd="0" destOrd="0" presId="urn:microsoft.com/office/officeart/2008/layout/LinedList"/>
    <dgm:cxn modelId="{E891A7D3-87ED-43D3-9193-BE1FC165257D}" type="presParOf" srcId="{5EDB3C07-2D63-45CA-B5D0-EA4E8A486004}" destId="{7F181EF3-4164-4CC7-AC85-7C99D6EE00F6}" srcOrd="1" destOrd="0" presId="urn:microsoft.com/office/officeart/2008/layout/LinedList"/>
    <dgm:cxn modelId="{82FC5F8E-61E9-40CA-8323-CE801450CDC3}" type="presParOf" srcId="{A6452447-320F-401A-A1BE-2312160C7F59}" destId="{B0E9FA0D-9381-4855-892B-780191A54F91}" srcOrd="10" destOrd="0" presId="urn:microsoft.com/office/officeart/2008/layout/LinedList"/>
    <dgm:cxn modelId="{4423D944-CF27-432B-A509-5FD87492C3B6}" type="presParOf" srcId="{A6452447-320F-401A-A1BE-2312160C7F59}" destId="{30C64B0A-D087-4CEE-9CE3-27C8480244F1}" srcOrd="11" destOrd="0" presId="urn:microsoft.com/office/officeart/2008/layout/LinedList"/>
    <dgm:cxn modelId="{607D6683-6237-4E14-A63D-33F96366EFE6}" type="presParOf" srcId="{30C64B0A-D087-4CEE-9CE3-27C8480244F1}" destId="{3F757373-078E-4459-8731-88AD60A54929}" srcOrd="0" destOrd="0" presId="urn:microsoft.com/office/officeart/2008/layout/LinedList"/>
    <dgm:cxn modelId="{4FF23BF5-AF39-47E9-B2CE-E5A909B1561F}" type="presParOf" srcId="{30C64B0A-D087-4CEE-9CE3-27C8480244F1}" destId="{82899C83-14B1-4AE6-8A75-312F02BA236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1" qsCatId="simple" csTypeId="urn:microsoft.com/office/officeart/2005/8/colors/accent3_2" csCatId="accent3"/>
      <dgm:spPr/>
      <dgm:t>
        <a:bodyPr/>
        <a:lstStyle/>
        <a:p>
          <a:endParaRPr lang="en-US"/>
        </a:p>
      </dgm:t>
    </dgm:pt>
    <dgm:pt modelId="{BC618B4A-23B5-4C66-BE75-611FFA321465}">
      <dgm:prSet/>
      <dgm:spPr/>
      <dgm:t>
        <a:bodyPr/>
        <a:lstStyle/>
        <a:p>
          <a:r>
            <a:rPr lang="en-US"/>
            <a:t>1. Вперше: метод ДІПДО на основі DETR + оптичного потоку – одночасне виявлення, відстеження та оцінювання швидкості/траєкторії</a:t>
          </a:r>
        </a:p>
      </dgm:t>
    </dgm:pt>
    <dgm:pt modelId="{D3E0C18A-3DCC-4B77-A6A2-00DE66B2BC4B}" type="parTrans" cxnId="{01861EF4-FB14-434C-BB66-E0D48E344960}">
      <dgm:prSet/>
      <dgm:spPr/>
      <dgm:t>
        <a:bodyPr/>
        <a:lstStyle/>
        <a:p>
          <a:endParaRPr lang="en-US"/>
        </a:p>
      </dgm:t>
    </dgm:pt>
    <dgm:pt modelId="{262FCB8A-D38B-4169-AA9D-1CC2FE8876D3}" type="sibTrans" cxnId="{01861EF4-FB14-434C-BB66-E0D48E344960}">
      <dgm:prSet/>
      <dgm:spPr/>
      <dgm:t>
        <a:bodyPr/>
        <a:lstStyle/>
        <a:p>
          <a:endParaRPr lang="en-US"/>
        </a:p>
      </dgm:t>
    </dgm:pt>
    <dgm:pt modelId="{D98492D5-36DA-48C0-A81F-1AE41D6A9A54}">
      <dgm:prSet/>
      <dgm:spPr/>
      <dgm:t>
        <a:bodyPr/>
        <a:lstStyle/>
        <a:p>
          <a:r>
            <a:rPr lang="en-US"/>
            <a:t>2. Вперше: структура інформаційної технології з інтеграцією FlowNet, GeoNet, трансформерів та ансамблевої корекції</a:t>
          </a:r>
        </a:p>
      </dgm:t>
    </dgm:pt>
    <dgm:pt modelId="{14AB0DA3-AAA2-48C0-AB72-F84C7BAA1EF0}" type="parTrans" cxnId="{F354FABD-BA0F-4B82-B86D-D56C4DF2EAD5}">
      <dgm:prSet/>
      <dgm:spPr/>
      <dgm:t>
        <a:bodyPr/>
        <a:lstStyle/>
        <a:p>
          <a:endParaRPr lang="en-US"/>
        </a:p>
      </dgm:t>
    </dgm:pt>
    <dgm:pt modelId="{97EF2BB0-F7C4-4EA4-96F6-88D82F382682}" type="sibTrans" cxnId="{F354FABD-BA0F-4B82-B86D-D56C4DF2EAD5}">
      <dgm:prSet/>
      <dgm:spPr/>
      <dgm:t>
        <a:bodyPr/>
        <a:lstStyle/>
        <a:p>
          <a:endParaRPr lang="en-US"/>
        </a:p>
      </dgm:t>
    </dgm:pt>
    <dgm:pt modelId="{11B3B51D-74CC-4180-BD39-4C5B35BB9E03}">
      <dgm:prSet/>
      <dgm:spPr/>
      <dgm:t>
        <a:bodyPr/>
        <a:lstStyle/>
        <a:p>
          <a:r>
            <a:rPr lang="en-US"/>
            <a:t>3. Удосконалено метод оцінювання глибини шляхом адаптивного комбінування MiDaS, DPT, GeoNet з Bagging та Boosting</a:t>
          </a:r>
        </a:p>
      </dgm:t>
    </dgm:pt>
    <dgm:pt modelId="{24A34395-E918-4BC8-B393-18A1F12CCF31}" type="parTrans" cxnId="{C062FF7F-870F-4ECF-8EAF-491863742530}">
      <dgm:prSet/>
      <dgm:spPr/>
      <dgm:t>
        <a:bodyPr/>
        <a:lstStyle/>
        <a:p>
          <a:endParaRPr lang="en-US"/>
        </a:p>
      </dgm:t>
    </dgm:pt>
    <dgm:pt modelId="{40317CB0-B385-4DED-A8FF-B398419FE95B}" type="sibTrans" cxnId="{C062FF7F-870F-4ECF-8EAF-491863742530}">
      <dgm:prSet/>
      <dgm:spPr/>
      <dgm:t>
        <a:bodyPr/>
        <a:lstStyle/>
        <a:p>
          <a:endParaRPr lang="en-US"/>
        </a:p>
      </dgm:t>
    </dgm:pt>
    <dgm:pt modelId="{AF93F13E-9FEF-4BE1-9B5E-1515E4D77568}">
      <dgm:prSet/>
      <dgm:spPr/>
      <dgm:t>
        <a:bodyPr/>
        <a:lstStyle/>
        <a:p>
          <a:r>
            <a:rPr lang="en-US"/>
            <a:t>4. Удосконалено метод ансамблевої агрегації (Bagging для зменшення дисперсії, Boosting для уточнення меж та оклюзій)</a:t>
          </a:r>
        </a:p>
      </dgm:t>
    </dgm:pt>
    <dgm:pt modelId="{964FCE04-C5BB-4695-82E3-0DB23D24FF7B}" type="parTrans" cxnId="{C825E6ED-DB0C-4795-B75A-96480E034892}">
      <dgm:prSet/>
      <dgm:spPr/>
      <dgm:t>
        <a:bodyPr/>
        <a:lstStyle/>
        <a:p>
          <a:endParaRPr lang="en-US"/>
        </a:p>
      </dgm:t>
    </dgm:pt>
    <dgm:pt modelId="{89D2CF7E-1571-4071-BFA6-E7B19251B50C}" type="sibTrans" cxnId="{C825E6ED-DB0C-4795-B75A-96480E034892}">
      <dgm:prSet/>
      <dgm:spPr/>
      <dgm:t>
        <a:bodyPr/>
        <a:lstStyle/>
        <a:p>
          <a:endParaRPr lang="en-US"/>
        </a:p>
      </dgm:t>
    </dgm:pt>
    <dgm:pt modelId="{EA4CADCD-FD24-48CA-9C3C-5A0FB841DA57}">
      <dgm:prSet/>
      <dgm:spPr/>
      <dgm:t>
        <a:bodyPr/>
        <a:lstStyle/>
        <a:p>
          <a:r>
            <a:rPr lang="en-US"/>
            <a:t>5. Удосконалено систему метрик (EPE, AAE, RMSE, MAE, PSNR, IoU, Dice) для порівняння 35 комбінацій</a:t>
          </a:r>
        </a:p>
      </dgm:t>
    </dgm:pt>
    <dgm:pt modelId="{36DB36D8-3737-42FC-81B1-CE2FE1C8FAD2}" type="parTrans" cxnId="{AAB7F8F3-3EC8-41FC-9FB1-38552A8E2B2A}">
      <dgm:prSet/>
      <dgm:spPr/>
      <dgm:t>
        <a:bodyPr/>
        <a:lstStyle/>
        <a:p>
          <a:endParaRPr lang="en-US"/>
        </a:p>
      </dgm:t>
    </dgm:pt>
    <dgm:pt modelId="{1B75EEA4-CC0C-4B33-A451-9477B2B71F7F}" type="sibTrans" cxnId="{AAB7F8F3-3EC8-41FC-9FB1-38552A8E2B2A}">
      <dgm:prSet/>
      <dgm:spPr/>
      <dgm:t>
        <a:bodyPr/>
        <a:lstStyle/>
        <a:p>
          <a:endParaRPr lang="en-US"/>
        </a:p>
      </dgm:t>
    </dgm:pt>
    <dgm:pt modelId="{82B1BE46-1E66-48D4-B33A-6F1FEB14B9B2}">
      <dgm:prSet/>
      <dgm:spPr/>
      <dgm:t>
        <a:bodyPr/>
        <a:lstStyle/>
        <a:p>
          <a:r>
            <a:rPr lang="en-US"/>
            <a:t>6. Подальший розвиток методу синтезу просторово-часових ознак шляхом інтеграції трансформерної уваги з векторними полями оптичного потоку</a:t>
          </a:r>
        </a:p>
      </dgm:t>
    </dgm:pt>
    <dgm:pt modelId="{C3CEE63D-CC2B-4E19-88C6-35A636B10058}" type="parTrans" cxnId="{A28E823F-D2D2-42F8-942E-2281066D368B}">
      <dgm:prSet/>
      <dgm:spPr/>
      <dgm:t>
        <a:bodyPr/>
        <a:lstStyle/>
        <a:p>
          <a:endParaRPr lang="en-US"/>
        </a:p>
      </dgm:t>
    </dgm:pt>
    <dgm:pt modelId="{58033344-9909-4747-829B-06AC030660B8}" type="sibTrans" cxnId="{A28E823F-D2D2-42F8-942E-2281066D368B}">
      <dgm:prSet/>
      <dgm:spPr/>
      <dgm:t>
        <a:bodyPr/>
        <a:lstStyle/>
        <a:p>
          <a:endParaRPr lang="en-US"/>
        </a:p>
      </dgm:t>
    </dgm:pt>
    <dgm:pt modelId="{88FA023E-54AD-484B-BC8A-FE27EA9FECE8}" type="pres">
      <dgm:prSet presAssocID="{994F24FC-3144-40B3-B81F-00B6182408F6}" presName="vert0" presStyleCnt="0">
        <dgm:presLayoutVars>
          <dgm:dir/>
          <dgm:animOne val="branch"/>
          <dgm:animLvl val="lvl"/>
        </dgm:presLayoutVars>
      </dgm:prSet>
      <dgm:spPr/>
    </dgm:pt>
    <dgm:pt modelId="{0374DDD0-8CD3-4152-A82A-27F86FDE54EE}" type="pres">
      <dgm:prSet presAssocID="{BC618B4A-23B5-4C66-BE75-611FFA321465}" presName="thickLine" presStyleLbl="alignNode1" presStyleIdx="0" presStyleCnt="6"/>
      <dgm:spPr/>
    </dgm:pt>
    <dgm:pt modelId="{9FFCD465-0DB5-439A-BB18-B932C1BE6A07}" type="pres">
      <dgm:prSet presAssocID="{BC618B4A-23B5-4C66-BE75-611FFA321465}" presName="horz1" presStyleCnt="0"/>
      <dgm:spPr/>
    </dgm:pt>
    <dgm:pt modelId="{C1137A27-84F9-4156-A13F-D973F3B46291}" type="pres">
      <dgm:prSet presAssocID="{BC618B4A-23B5-4C66-BE75-611FFA321465}" presName="tx1" presStyleLbl="revTx" presStyleIdx="0" presStyleCnt="6"/>
      <dgm:spPr/>
    </dgm:pt>
    <dgm:pt modelId="{4B39946F-2569-4594-B8F3-9E29741AC752}" type="pres">
      <dgm:prSet presAssocID="{BC618B4A-23B5-4C66-BE75-611FFA321465}" presName="vert1" presStyleCnt="0"/>
      <dgm:spPr/>
    </dgm:pt>
    <dgm:pt modelId="{216478B8-689A-4AD1-B0E8-3ACD6F47B69B}" type="pres">
      <dgm:prSet presAssocID="{D98492D5-36DA-48C0-A81F-1AE41D6A9A54}" presName="thickLine" presStyleLbl="alignNode1" presStyleIdx="1" presStyleCnt="6"/>
      <dgm:spPr/>
    </dgm:pt>
    <dgm:pt modelId="{DC093087-A4A4-4B4A-AAC0-E805A6F69EED}" type="pres">
      <dgm:prSet presAssocID="{D98492D5-36DA-48C0-A81F-1AE41D6A9A54}" presName="horz1" presStyleCnt="0"/>
      <dgm:spPr/>
    </dgm:pt>
    <dgm:pt modelId="{B463D00B-4402-4E27-B491-CFE39970AB4B}" type="pres">
      <dgm:prSet presAssocID="{D98492D5-36DA-48C0-A81F-1AE41D6A9A54}" presName="tx1" presStyleLbl="revTx" presStyleIdx="1" presStyleCnt="6"/>
      <dgm:spPr/>
    </dgm:pt>
    <dgm:pt modelId="{CEB434C8-2514-4779-9816-4A4FEA879880}" type="pres">
      <dgm:prSet presAssocID="{D98492D5-36DA-48C0-A81F-1AE41D6A9A54}" presName="vert1" presStyleCnt="0"/>
      <dgm:spPr/>
    </dgm:pt>
    <dgm:pt modelId="{DA3B0FB5-CED3-44DB-A6E8-6C68DCE23F2B}" type="pres">
      <dgm:prSet presAssocID="{11B3B51D-74CC-4180-BD39-4C5B35BB9E03}" presName="thickLine" presStyleLbl="alignNode1" presStyleIdx="2" presStyleCnt="6"/>
      <dgm:spPr/>
    </dgm:pt>
    <dgm:pt modelId="{8B7A5EC7-8510-4EEF-B064-BF320B6C5695}" type="pres">
      <dgm:prSet presAssocID="{11B3B51D-74CC-4180-BD39-4C5B35BB9E03}" presName="horz1" presStyleCnt="0"/>
      <dgm:spPr/>
    </dgm:pt>
    <dgm:pt modelId="{63400FD2-0B6A-4686-AA73-2422EE51441E}" type="pres">
      <dgm:prSet presAssocID="{11B3B51D-74CC-4180-BD39-4C5B35BB9E03}" presName="tx1" presStyleLbl="revTx" presStyleIdx="2" presStyleCnt="6"/>
      <dgm:spPr/>
    </dgm:pt>
    <dgm:pt modelId="{7BEE6214-20F5-411C-93FB-AC2D5EE79A29}" type="pres">
      <dgm:prSet presAssocID="{11B3B51D-74CC-4180-BD39-4C5B35BB9E03}" presName="vert1" presStyleCnt="0"/>
      <dgm:spPr/>
    </dgm:pt>
    <dgm:pt modelId="{F7075B4B-AA3B-43A0-AB99-106729F52B9C}" type="pres">
      <dgm:prSet presAssocID="{AF93F13E-9FEF-4BE1-9B5E-1515E4D77568}" presName="thickLine" presStyleLbl="alignNode1" presStyleIdx="3" presStyleCnt="6"/>
      <dgm:spPr/>
    </dgm:pt>
    <dgm:pt modelId="{5AE2F9AA-7929-4CEC-B206-51458E447398}" type="pres">
      <dgm:prSet presAssocID="{AF93F13E-9FEF-4BE1-9B5E-1515E4D77568}" presName="horz1" presStyleCnt="0"/>
      <dgm:spPr/>
    </dgm:pt>
    <dgm:pt modelId="{0F60CD89-3E58-4BA9-9420-0EAD11AFB9F7}" type="pres">
      <dgm:prSet presAssocID="{AF93F13E-9FEF-4BE1-9B5E-1515E4D77568}" presName="tx1" presStyleLbl="revTx" presStyleIdx="3" presStyleCnt="6"/>
      <dgm:spPr/>
    </dgm:pt>
    <dgm:pt modelId="{B83C1DA5-C683-4F74-930B-B4E4DD193BCE}" type="pres">
      <dgm:prSet presAssocID="{AF93F13E-9FEF-4BE1-9B5E-1515E4D77568}" presName="vert1" presStyleCnt="0"/>
      <dgm:spPr/>
    </dgm:pt>
    <dgm:pt modelId="{1B35852D-F33E-4D84-9494-A8152788C8CA}" type="pres">
      <dgm:prSet presAssocID="{EA4CADCD-FD24-48CA-9C3C-5A0FB841DA57}" presName="thickLine" presStyleLbl="alignNode1" presStyleIdx="4" presStyleCnt="6"/>
      <dgm:spPr/>
    </dgm:pt>
    <dgm:pt modelId="{3EFBD07B-BB94-4CE2-A156-787E7C870A58}" type="pres">
      <dgm:prSet presAssocID="{EA4CADCD-FD24-48CA-9C3C-5A0FB841DA57}" presName="horz1" presStyleCnt="0"/>
      <dgm:spPr/>
    </dgm:pt>
    <dgm:pt modelId="{66AAC9CC-F956-47C0-9D23-71092DF7F66F}" type="pres">
      <dgm:prSet presAssocID="{EA4CADCD-FD24-48CA-9C3C-5A0FB841DA57}" presName="tx1" presStyleLbl="revTx" presStyleIdx="4" presStyleCnt="6"/>
      <dgm:spPr/>
    </dgm:pt>
    <dgm:pt modelId="{A3650021-D056-4BDB-BE6A-737B884E7F5E}" type="pres">
      <dgm:prSet presAssocID="{EA4CADCD-FD24-48CA-9C3C-5A0FB841DA57}" presName="vert1" presStyleCnt="0"/>
      <dgm:spPr/>
    </dgm:pt>
    <dgm:pt modelId="{22C28A23-1307-4CD2-AF45-5FFBE11588CC}" type="pres">
      <dgm:prSet presAssocID="{82B1BE46-1E66-48D4-B33A-6F1FEB14B9B2}" presName="thickLine" presStyleLbl="alignNode1" presStyleIdx="5" presStyleCnt="6"/>
      <dgm:spPr/>
    </dgm:pt>
    <dgm:pt modelId="{A51125A5-228F-4ED8-8451-786E78ADAAA5}" type="pres">
      <dgm:prSet presAssocID="{82B1BE46-1E66-48D4-B33A-6F1FEB14B9B2}" presName="horz1" presStyleCnt="0"/>
      <dgm:spPr/>
    </dgm:pt>
    <dgm:pt modelId="{78BA6027-BBF7-4350-B395-E047783C8EC5}" type="pres">
      <dgm:prSet presAssocID="{82B1BE46-1E66-48D4-B33A-6F1FEB14B9B2}" presName="tx1" presStyleLbl="revTx" presStyleIdx="5" presStyleCnt="6"/>
      <dgm:spPr/>
    </dgm:pt>
    <dgm:pt modelId="{1FF2F26C-866B-4F9E-AC4C-D1849F62232B}" type="pres">
      <dgm:prSet presAssocID="{82B1BE46-1E66-48D4-B33A-6F1FEB14B9B2}" presName="vert1" presStyleCnt="0"/>
      <dgm:spPr/>
    </dgm:pt>
  </dgm:ptLst>
  <dgm:cxnLst>
    <dgm:cxn modelId="{BCDA642A-7C62-44A2-8FFC-C54F8C2C7266}" type="presOf" srcId="{EA4CADCD-FD24-48CA-9C3C-5A0FB841DA57}" destId="{66AAC9CC-F956-47C0-9D23-71092DF7F66F}" srcOrd="0" destOrd="0" presId="urn:microsoft.com/office/officeart/2008/layout/LinedList"/>
    <dgm:cxn modelId="{A28E823F-D2D2-42F8-942E-2281066D368B}" srcId="{994F24FC-3144-40B3-B81F-00B6182408F6}" destId="{82B1BE46-1E66-48D4-B33A-6F1FEB14B9B2}" srcOrd="5" destOrd="0" parTransId="{C3CEE63D-CC2B-4E19-88C6-35A636B10058}" sibTransId="{58033344-9909-4747-829B-06AC030660B8}"/>
    <dgm:cxn modelId="{C062FF7F-870F-4ECF-8EAF-491863742530}" srcId="{994F24FC-3144-40B3-B81F-00B6182408F6}" destId="{11B3B51D-74CC-4180-BD39-4C5B35BB9E03}" srcOrd="2" destOrd="0" parTransId="{24A34395-E918-4BC8-B393-18A1F12CCF31}" sibTransId="{40317CB0-B385-4DED-A8FF-B398419FE95B}"/>
    <dgm:cxn modelId="{57D02381-FABA-4E6F-B249-9AB4ECC95D3F}" type="presOf" srcId="{11B3B51D-74CC-4180-BD39-4C5B35BB9E03}" destId="{63400FD2-0B6A-4686-AA73-2422EE51441E}" srcOrd="0" destOrd="0" presId="urn:microsoft.com/office/officeart/2008/layout/LinedList"/>
    <dgm:cxn modelId="{28F8EC90-0351-44DA-95C0-873DBE9BAC9A}" type="presOf" srcId="{82B1BE46-1E66-48D4-B33A-6F1FEB14B9B2}" destId="{78BA6027-BBF7-4350-B395-E047783C8EC5}" srcOrd="0" destOrd="0" presId="urn:microsoft.com/office/officeart/2008/layout/LinedList"/>
    <dgm:cxn modelId="{02898696-8122-4829-82C5-1CA0092CCA8A}" type="presOf" srcId="{994F24FC-3144-40B3-B81F-00B6182408F6}" destId="{88FA023E-54AD-484B-BC8A-FE27EA9FECE8}" srcOrd="0" destOrd="0" presId="urn:microsoft.com/office/officeart/2008/layout/LinedList"/>
    <dgm:cxn modelId="{9509EC96-52E5-4DFC-81AE-1BC42EA106DA}" type="presOf" srcId="{D98492D5-36DA-48C0-A81F-1AE41D6A9A54}" destId="{B463D00B-4402-4E27-B491-CFE39970AB4B}" srcOrd="0" destOrd="0" presId="urn:microsoft.com/office/officeart/2008/layout/LinedList"/>
    <dgm:cxn modelId="{E8488097-3A8E-4A4C-8633-EF8A6541B12A}" type="presOf" srcId="{BC618B4A-23B5-4C66-BE75-611FFA321465}" destId="{C1137A27-84F9-4156-A13F-D973F3B46291}" srcOrd="0" destOrd="0" presId="urn:microsoft.com/office/officeart/2008/layout/LinedList"/>
    <dgm:cxn modelId="{F354FABD-BA0F-4B82-B86D-D56C4DF2EAD5}" srcId="{994F24FC-3144-40B3-B81F-00B6182408F6}" destId="{D98492D5-36DA-48C0-A81F-1AE41D6A9A54}" srcOrd="1" destOrd="0" parTransId="{14AB0DA3-AAA2-48C0-AB72-F84C7BAA1EF0}" sibTransId="{97EF2BB0-F7C4-4EA4-96F6-88D82F382682}"/>
    <dgm:cxn modelId="{A15110CA-7AB9-4633-915E-7D5FCEB63FDF}" type="presOf" srcId="{AF93F13E-9FEF-4BE1-9B5E-1515E4D77568}" destId="{0F60CD89-3E58-4BA9-9420-0EAD11AFB9F7}" srcOrd="0" destOrd="0" presId="urn:microsoft.com/office/officeart/2008/layout/LinedList"/>
    <dgm:cxn modelId="{C825E6ED-DB0C-4795-B75A-96480E034892}" srcId="{994F24FC-3144-40B3-B81F-00B6182408F6}" destId="{AF93F13E-9FEF-4BE1-9B5E-1515E4D77568}" srcOrd="3" destOrd="0" parTransId="{964FCE04-C5BB-4695-82E3-0DB23D24FF7B}" sibTransId="{89D2CF7E-1571-4071-BFA6-E7B19251B50C}"/>
    <dgm:cxn modelId="{AAB7F8F3-3EC8-41FC-9FB1-38552A8E2B2A}" srcId="{994F24FC-3144-40B3-B81F-00B6182408F6}" destId="{EA4CADCD-FD24-48CA-9C3C-5A0FB841DA57}" srcOrd="4" destOrd="0" parTransId="{36DB36D8-3737-42FC-81B1-CE2FE1C8FAD2}" sibTransId="{1B75EEA4-CC0C-4B33-A451-9477B2B71F7F}"/>
    <dgm:cxn modelId="{01861EF4-FB14-434C-BB66-E0D48E344960}" srcId="{994F24FC-3144-40B3-B81F-00B6182408F6}" destId="{BC618B4A-23B5-4C66-BE75-611FFA321465}" srcOrd="0" destOrd="0" parTransId="{D3E0C18A-3DCC-4B77-A6A2-00DE66B2BC4B}" sibTransId="{262FCB8A-D38B-4169-AA9D-1CC2FE8876D3}"/>
    <dgm:cxn modelId="{6036AF23-05F3-43FF-AFB6-E926B3C99C90}" type="presParOf" srcId="{88FA023E-54AD-484B-BC8A-FE27EA9FECE8}" destId="{0374DDD0-8CD3-4152-A82A-27F86FDE54EE}" srcOrd="0" destOrd="0" presId="urn:microsoft.com/office/officeart/2008/layout/LinedList"/>
    <dgm:cxn modelId="{D6546CF0-8E6E-4DF4-9B3D-222FE77B45E2}" type="presParOf" srcId="{88FA023E-54AD-484B-BC8A-FE27EA9FECE8}" destId="{9FFCD465-0DB5-439A-BB18-B932C1BE6A07}" srcOrd="1" destOrd="0" presId="urn:microsoft.com/office/officeart/2008/layout/LinedList"/>
    <dgm:cxn modelId="{92468A24-1BDE-4F57-A4F2-E8D260E25840}" type="presParOf" srcId="{9FFCD465-0DB5-439A-BB18-B932C1BE6A07}" destId="{C1137A27-84F9-4156-A13F-D973F3B46291}" srcOrd="0" destOrd="0" presId="urn:microsoft.com/office/officeart/2008/layout/LinedList"/>
    <dgm:cxn modelId="{0CB8B8C1-B9A4-46D5-8CC3-BDF409740D7D}" type="presParOf" srcId="{9FFCD465-0DB5-439A-BB18-B932C1BE6A07}" destId="{4B39946F-2569-4594-B8F3-9E29741AC752}" srcOrd="1" destOrd="0" presId="urn:microsoft.com/office/officeart/2008/layout/LinedList"/>
    <dgm:cxn modelId="{6699DCB2-CB1D-48A5-8C20-87F579D66943}" type="presParOf" srcId="{88FA023E-54AD-484B-BC8A-FE27EA9FECE8}" destId="{216478B8-689A-4AD1-B0E8-3ACD6F47B69B}" srcOrd="2" destOrd="0" presId="urn:microsoft.com/office/officeart/2008/layout/LinedList"/>
    <dgm:cxn modelId="{1D90089F-0193-40F3-A31E-6EADB58E338A}" type="presParOf" srcId="{88FA023E-54AD-484B-BC8A-FE27EA9FECE8}" destId="{DC093087-A4A4-4B4A-AAC0-E805A6F69EED}" srcOrd="3" destOrd="0" presId="urn:microsoft.com/office/officeart/2008/layout/LinedList"/>
    <dgm:cxn modelId="{AAD22C66-257A-468A-985A-EF83027EEB72}" type="presParOf" srcId="{DC093087-A4A4-4B4A-AAC0-E805A6F69EED}" destId="{B463D00B-4402-4E27-B491-CFE39970AB4B}" srcOrd="0" destOrd="0" presId="urn:microsoft.com/office/officeart/2008/layout/LinedList"/>
    <dgm:cxn modelId="{03CC286C-EF80-49CA-972A-1BBF133B7D03}" type="presParOf" srcId="{DC093087-A4A4-4B4A-AAC0-E805A6F69EED}" destId="{CEB434C8-2514-4779-9816-4A4FEA879880}" srcOrd="1" destOrd="0" presId="urn:microsoft.com/office/officeart/2008/layout/LinedList"/>
    <dgm:cxn modelId="{3A959220-6890-4122-AEE9-62088EE58C48}" type="presParOf" srcId="{88FA023E-54AD-484B-BC8A-FE27EA9FECE8}" destId="{DA3B0FB5-CED3-44DB-A6E8-6C68DCE23F2B}" srcOrd="4" destOrd="0" presId="urn:microsoft.com/office/officeart/2008/layout/LinedList"/>
    <dgm:cxn modelId="{34A8B60A-DB90-47BB-BA4A-7C8CC61266A7}" type="presParOf" srcId="{88FA023E-54AD-484B-BC8A-FE27EA9FECE8}" destId="{8B7A5EC7-8510-4EEF-B064-BF320B6C5695}" srcOrd="5" destOrd="0" presId="urn:microsoft.com/office/officeart/2008/layout/LinedList"/>
    <dgm:cxn modelId="{838E02CC-0ABC-4F8E-B0C5-628EDA670E51}" type="presParOf" srcId="{8B7A5EC7-8510-4EEF-B064-BF320B6C5695}" destId="{63400FD2-0B6A-4686-AA73-2422EE51441E}" srcOrd="0" destOrd="0" presId="urn:microsoft.com/office/officeart/2008/layout/LinedList"/>
    <dgm:cxn modelId="{EDDF3C32-A897-412E-8E96-8ADE571C5A94}" type="presParOf" srcId="{8B7A5EC7-8510-4EEF-B064-BF320B6C5695}" destId="{7BEE6214-20F5-411C-93FB-AC2D5EE79A29}" srcOrd="1" destOrd="0" presId="urn:microsoft.com/office/officeart/2008/layout/LinedList"/>
    <dgm:cxn modelId="{B49FEC76-7EDE-42BC-B35A-9646DD3B04D3}" type="presParOf" srcId="{88FA023E-54AD-484B-BC8A-FE27EA9FECE8}" destId="{F7075B4B-AA3B-43A0-AB99-106729F52B9C}" srcOrd="6" destOrd="0" presId="urn:microsoft.com/office/officeart/2008/layout/LinedList"/>
    <dgm:cxn modelId="{D80EEFB8-B2B2-4382-98C8-11360A98549A}" type="presParOf" srcId="{88FA023E-54AD-484B-BC8A-FE27EA9FECE8}" destId="{5AE2F9AA-7929-4CEC-B206-51458E447398}" srcOrd="7" destOrd="0" presId="urn:microsoft.com/office/officeart/2008/layout/LinedList"/>
    <dgm:cxn modelId="{034DC80B-A6F5-428C-B65B-B563C80B3F06}" type="presParOf" srcId="{5AE2F9AA-7929-4CEC-B206-51458E447398}" destId="{0F60CD89-3E58-4BA9-9420-0EAD11AFB9F7}" srcOrd="0" destOrd="0" presId="urn:microsoft.com/office/officeart/2008/layout/LinedList"/>
    <dgm:cxn modelId="{6770E18F-25BF-4FC6-85F7-BC05BC2C7139}" type="presParOf" srcId="{5AE2F9AA-7929-4CEC-B206-51458E447398}" destId="{B83C1DA5-C683-4F74-930B-B4E4DD193BCE}" srcOrd="1" destOrd="0" presId="urn:microsoft.com/office/officeart/2008/layout/LinedList"/>
    <dgm:cxn modelId="{326A9714-85FF-4630-9005-DF2A321B38EA}" type="presParOf" srcId="{88FA023E-54AD-484B-BC8A-FE27EA9FECE8}" destId="{1B35852D-F33E-4D84-9494-A8152788C8CA}" srcOrd="8" destOrd="0" presId="urn:microsoft.com/office/officeart/2008/layout/LinedList"/>
    <dgm:cxn modelId="{4AD34D5E-9AA0-4029-92EF-24A731ACFA6A}" type="presParOf" srcId="{88FA023E-54AD-484B-BC8A-FE27EA9FECE8}" destId="{3EFBD07B-BB94-4CE2-A156-787E7C870A58}" srcOrd="9" destOrd="0" presId="urn:microsoft.com/office/officeart/2008/layout/LinedList"/>
    <dgm:cxn modelId="{3FFADBC8-5BB3-4C5B-B2B2-BBB23B66F355}" type="presParOf" srcId="{3EFBD07B-BB94-4CE2-A156-787E7C870A58}" destId="{66AAC9CC-F956-47C0-9D23-71092DF7F66F}" srcOrd="0" destOrd="0" presId="urn:microsoft.com/office/officeart/2008/layout/LinedList"/>
    <dgm:cxn modelId="{B6B49221-B214-471B-B353-5ED4692787CD}" type="presParOf" srcId="{3EFBD07B-BB94-4CE2-A156-787E7C870A58}" destId="{A3650021-D056-4BDB-BE6A-737B884E7F5E}" srcOrd="1" destOrd="0" presId="urn:microsoft.com/office/officeart/2008/layout/LinedList"/>
    <dgm:cxn modelId="{AE127D24-1C1D-48DA-9BE1-B1A156BB86A1}" type="presParOf" srcId="{88FA023E-54AD-484B-BC8A-FE27EA9FECE8}" destId="{22C28A23-1307-4CD2-AF45-5FFBE11588CC}" srcOrd="10" destOrd="0" presId="urn:microsoft.com/office/officeart/2008/layout/LinedList"/>
    <dgm:cxn modelId="{29CE9017-22E8-410E-9A63-B40DCF24BA54}" type="presParOf" srcId="{88FA023E-54AD-484B-BC8A-FE27EA9FECE8}" destId="{A51125A5-228F-4ED8-8451-786E78ADAAA5}" srcOrd="11" destOrd="0" presId="urn:microsoft.com/office/officeart/2008/layout/LinedList"/>
    <dgm:cxn modelId="{2E4ED667-EF82-49F5-AD38-1DF365C63661}" type="presParOf" srcId="{A51125A5-228F-4ED8-8451-786E78ADAAA5}" destId="{78BA6027-BBF7-4350-B395-E047783C8EC5}" srcOrd="0" destOrd="0" presId="urn:microsoft.com/office/officeart/2008/layout/LinedList"/>
    <dgm:cxn modelId="{5C89D313-B318-4749-8B8E-18D067F3598C}" type="presParOf" srcId="{A51125A5-228F-4ED8-8451-786E78ADAAA5}" destId="{1FF2F26C-866B-4F9E-AC4C-D1849F62232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a:t>Безпека та оборона: висока точність відстеження об'єктів у реальному часі для відеоспостереження,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a:t>Найкраща точність глибини: Bagging (RMSE=0,713, PSNR=51,065 дБ, IoU=0,996)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14874E6-976A-416D-8D6F-28852D514D4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3739C084-1BA4-48AE-A077-20FABA689685}">
      <dgm:prSet/>
      <dgm:spPr/>
      <dgm:t>
        <a:bodyPr/>
        <a:lstStyle/>
        <a:p>
          <a:r>
            <a:rPr lang="en-US"/>
            <a:t>1. Розроблено моделі, методи та інформаційну технологію ДІПДО, що поєднує DETR, оптичний потік, оцінку глибини та ансамблі</a:t>
          </a:r>
        </a:p>
      </dgm:t>
    </dgm:pt>
    <dgm:pt modelId="{6750ACA2-6226-4C00-ADB4-2A9F2802AB76}" type="parTrans" cxnId="{43388D9E-032F-4550-9E6E-FBED3B091F34}">
      <dgm:prSet/>
      <dgm:spPr/>
      <dgm:t>
        <a:bodyPr/>
        <a:lstStyle/>
        <a:p>
          <a:endParaRPr lang="en-US"/>
        </a:p>
      </dgm:t>
    </dgm:pt>
    <dgm:pt modelId="{69683633-3EF9-4262-86F5-AD1EAD12B900}" type="sibTrans" cxnId="{43388D9E-032F-4550-9E6E-FBED3B091F34}">
      <dgm:prSet/>
      <dgm:spPr/>
      <dgm:t>
        <a:bodyPr/>
        <a:lstStyle/>
        <a:p>
          <a:endParaRPr lang="en-US"/>
        </a:p>
      </dgm:t>
    </dgm:pt>
    <dgm:pt modelId="{243B2415-C048-453E-ACB7-1BC663977387}">
      <dgm:prSet/>
      <dgm:spPr/>
      <dgm:t>
        <a:bodyPr/>
        <a:lstStyle/>
        <a:p>
          <a:r>
            <a:rPr lang="en-US"/>
            <a:t>2. Запропоновано метод ДІПДО на основі DETR+оптичний потік – одночасне виявлення, відстеження та оцінка параметрів руху</a:t>
          </a:r>
        </a:p>
      </dgm:t>
    </dgm:pt>
    <dgm:pt modelId="{CCB1D449-6612-4CA0-AC38-CECF45FB5372}" type="parTrans" cxnId="{737DCAFF-1B0F-4D5C-A0DC-337A58647C61}">
      <dgm:prSet/>
      <dgm:spPr/>
      <dgm:t>
        <a:bodyPr/>
        <a:lstStyle/>
        <a:p>
          <a:endParaRPr lang="en-US"/>
        </a:p>
      </dgm:t>
    </dgm:pt>
    <dgm:pt modelId="{0A9E0526-01CC-46DE-82C0-54ABAA8F8B84}" type="sibTrans" cxnId="{737DCAFF-1B0F-4D5C-A0DC-337A58647C61}">
      <dgm:prSet/>
      <dgm:spPr/>
      <dgm:t>
        <a:bodyPr/>
        <a:lstStyle/>
        <a:p>
          <a:endParaRPr lang="en-US"/>
        </a:p>
      </dgm:t>
    </dgm:pt>
    <dgm:pt modelId="{50568261-26F5-42BB-8CE7-D78C6430D1ED}">
      <dgm:prSet/>
      <dgm:spPr/>
      <dgm:t>
        <a:bodyPr/>
        <a:lstStyle/>
        <a:p>
          <a:r>
            <a:rPr lang="en-US"/>
            <a:t>3. Удосконалено оцінку глибини шляхом адаптивного комбінування MiDaS, DPT, GeoNet з Bagging та Boosting</a:t>
          </a:r>
        </a:p>
      </dgm:t>
    </dgm:pt>
    <dgm:pt modelId="{52E88D5F-9C18-49FE-8AF1-050934C58DF8}" type="parTrans" cxnId="{EB0B0F7B-9EF0-43F3-85E2-814AE31199CA}">
      <dgm:prSet/>
      <dgm:spPr/>
      <dgm:t>
        <a:bodyPr/>
        <a:lstStyle/>
        <a:p>
          <a:endParaRPr lang="en-US"/>
        </a:p>
      </dgm:t>
    </dgm:pt>
    <dgm:pt modelId="{16CE2BB2-4996-492F-A84D-A6E4FD71C8EA}" type="sibTrans" cxnId="{EB0B0F7B-9EF0-43F3-85E2-814AE31199CA}">
      <dgm:prSet/>
      <dgm:spPr/>
      <dgm:t>
        <a:bodyPr/>
        <a:lstStyle/>
        <a:p>
          <a:endParaRPr lang="en-US"/>
        </a:p>
      </dgm:t>
    </dgm:pt>
    <dgm:pt modelId="{95B61531-64A5-4709-858E-0FC7E804CAAD}">
      <dgm:prSet/>
      <dgm:spPr/>
      <dgm:t>
        <a:bodyPr/>
        <a:lstStyle/>
        <a:p>
          <a:r>
            <a:rPr lang="en-US"/>
            <a:t>4. Експериментально підтверджено перевагу Bagging (RMSE=0,713, IoU=0,996) над окремими моделями</a:t>
          </a:r>
        </a:p>
      </dgm:t>
    </dgm:pt>
    <dgm:pt modelId="{806BBF3E-78EF-4317-83FC-6485BEC6ECD9}" type="parTrans" cxnId="{F10CE0F6-FF42-463D-8776-96B18F2AE197}">
      <dgm:prSet/>
      <dgm:spPr/>
      <dgm:t>
        <a:bodyPr/>
        <a:lstStyle/>
        <a:p>
          <a:endParaRPr lang="en-US"/>
        </a:p>
      </dgm:t>
    </dgm:pt>
    <dgm:pt modelId="{ECE11DCF-69B2-4A1F-A979-538756CE2FFD}" type="sibTrans" cxnId="{F10CE0F6-FF42-463D-8776-96B18F2AE197}">
      <dgm:prSet/>
      <dgm:spPr/>
      <dgm:t>
        <a:bodyPr/>
        <a:lstStyle/>
        <a:p>
          <a:endParaRPr lang="en-US"/>
        </a:p>
      </dgm:t>
    </dgm:pt>
    <dgm:pt modelId="{190FCF2D-200A-4F41-ACF9-F7B22844CCE2}">
      <dgm:prSet/>
      <dgm:spPr/>
      <dgm:t>
        <a:bodyPr/>
        <a:lstStyle/>
        <a:p>
          <a:r>
            <a:rPr lang="en-US"/>
            <a:t>5. Система працює в реальному часі, стійка до шумів, оклюзій та зміни освітлення</a:t>
          </a:r>
        </a:p>
      </dgm:t>
    </dgm:pt>
    <dgm:pt modelId="{EE7D3332-F5CF-49D7-ABD4-B2D0DD56EA25}" type="parTrans" cxnId="{5C393486-5257-47C1-815A-FA0EAC66D740}">
      <dgm:prSet/>
      <dgm:spPr/>
      <dgm:t>
        <a:bodyPr/>
        <a:lstStyle/>
        <a:p>
          <a:endParaRPr lang="en-US"/>
        </a:p>
      </dgm:t>
    </dgm:pt>
    <dgm:pt modelId="{4F3FE79E-CC81-44AA-BBF2-8E7BB6356A55}" type="sibTrans" cxnId="{5C393486-5257-47C1-815A-FA0EAC66D740}">
      <dgm:prSet/>
      <dgm:spPr/>
      <dgm:t>
        <a:bodyPr/>
        <a:lstStyle/>
        <a:p>
          <a:endParaRPr lang="en-US"/>
        </a:p>
      </dgm:t>
    </dgm:pt>
    <dgm:pt modelId="{A8D443F9-D5BE-470B-964E-DBA320CCDB9E}" type="pres">
      <dgm:prSet presAssocID="{B14874E6-976A-416D-8D6F-28852D514D40}" presName="vert0" presStyleCnt="0">
        <dgm:presLayoutVars>
          <dgm:dir/>
          <dgm:animOne val="branch"/>
          <dgm:animLvl val="lvl"/>
        </dgm:presLayoutVars>
      </dgm:prSet>
      <dgm:spPr/>
    </dgm:pt>
    <dgm:pt modelId="{CC466EC8-443D-4550-A37D-8015A9FED052}" type="pres">
      <dgm:prSet presAssocID="{3739C084-1BA4-48AE-A077-20FABA689685}" presName="thickLine" presStyleLbl="alignNode1" presStyleIdx="0" presStyleCnt="5"/>
      <dgm:spPr/>
    </dgm:pt>
    <dgm:pt modelId="{F7290C7D-A97E-4E13-AADE-CC65359B862D}" type="pres">
      <dgm:prSet presAssocID="{3739C084-1BA4-48AE-A077-20FABA689685}" presName="horz1" presStyleCnt="0"/>
      <dgm:spPr/>
    </dgm:pt>
    <dgm:pt modelId="{C356CF0F-A816-45E8-A60D-FD46F475A9EA}" type="pres">
      <dgm:prSet presAssocID="{3739C084-1BA4-48AE-A077-20FABA689685}" presName="tx1" presStyleLbl="revTx" presStyleIdx="0" presStyleCnt="5"/>
      <dgm:spPr/>
    </dgm:pt>
    <dgm:pt modelId="{92F7E614-EBE8-42A9-9505-569E80C8CAAB}" type="pres">
      <dgm:prSet presAssocID="{3739C084-1BA4-48AE-A077-20FABA689685}" presName="vert1" presStyleCnt="0"/>
      <dgm:spPr/>
    </dgm:pt>
    <dgm:pt modelId="{41588650-11FE-4288-9873-8BCDE8B5A815}" type="pres">
      <dgm:prSet presAssocID="{243B2415-C048-453E-ACB7-1BC663977387}" presName="thickLine" presStyleLbl="alignNode1" presStyleIdx="1" presStyleCnt="5"/>
      <dgm:spPr/>
    </dgm:pt>
    <dgm:pt modelId="{F9A96E00-83C6-4F6E-B04D-8B6DC4477A21}" type="pres">
      <dgm:prSet presAssocID="{243B2415-C048-453E-ACB7-1BC663977387}" presName="horz1" presStyleCnt="0"/>
      <dgm:spPr/>
    </dgm:pt>
    <dgm:pt modelId="{426B8762-BC1C-47A1-B05B-EFA749C21368}" type="pres">
      <dgm:prSet presAssocID="{243B2415-C048-453E-ACB7-1BC663977387}" presName="tx1" presStyleLbl="revTx" presStyleIdx="1" presStyleCnt="5"/>
      <dgm:spPr/>
    </dgm:pt>
    <dgm:pt modelId="{E59BF550-6DA8-4B3E-B59F-8D052F9BB21F}" type="pres">
      <dgm:prSet presAssocID="{243B2415-C048-453E-ACB7-1BC663977387}" presName="vert1" presStyleCnt="0"/>
      <dgm:spPr/>
    </dgm:pt>
    <dgm:pt modelId="{EB158BFF-F03C-4530-9279-0E313521376B}" type="pres">
      <dgm:prSet presAssocID="{50568261-26F5-42BB-8CE7-D78C6430D1ED}" presName="thickLine" presStyleLbl="alignNode1" presStyleIdx="2" presStyleCnt="5"/>
      <dgm:spPr/>
    </dgm:pt>
    <dgm:pt modelId="{F0440B7D-E142-4E0E-B6ED-ADECB09152C3}" type="pres">
      <dgm:prSet presAssocID="{50568261-26F5-42BB-8CE7-D78C6430D1ED}" presName="horz1" presStyleCnt="0"/>
      <dgm:spPr/>
    </dgm:pt>
    <dgm:pt modelId="{557C0AA3-B6D8-4C8A-A3CB-F0B79A8E8E9A}" type="pres">
      <dgm:prSet presAssocID="{50568261-26F5-42BB-8CE7-D78C6430D1ED}" presName="tx1" presStyleLbl="revTx" presStyleIdx="2" presStyleCnt="5"/>
      <dgm:spPr/>
    </dgm:pt>
    <dgm:pt modelId="{D2F0E688-AE88-4A98-98B2-7E19D45D215E}" type="pres">
      <dgm:prSet presAssocID="{50568261-26F5-42BB-8CE7-D78C6430D1ED}" presName="vert1" presStyleCnt="0"/>
      <dgm:spPr/>
    </dgm:pt>
    <dgm:pt modelId="{70C86940-7F53-4036-A2BA-E1A520D500E3}" type="pres">
      <dgm:prSet presAssocID="{95B61531-64A5-4709-858E-0FC7E804CAAD}" presName="thickLine" presStyleLbl="alignNode1" presStyleIdx="3" presStyleCnt="5"/>
      <dgm:spPr/>
    </dgm:pt>
    <dgm:pt modelId="{54EB30E2-D20A-4986-893B-BB1A6EE4E1DB}" type="pres">
      <dgm:prSet presAssocID="{95B61531-64A5-4709-858E-0FC7E804CAAD}" presName="horz1" presStyleCnt="0"/>
      <dgm:spPr/>
    </dgm:pt>
    <dgm:pt modelId="{C0751826-CE03-4B78-85F5-50CE2A1298FA}" type="pres">
      <dgm:prSet presAssocID="{95B61531-64A5-4709-858E-0FC7E804CAAD}" presName="tx1" presStyleLbl="revTx" presStyleIdx="3" presStyleCnt="5"/>
      <dgm:spPr/>
    </dgm:pt>
    <dgm:pt modelId="{82260508-E895-4DF9-970E-23D817A55D0B}" type="pres">
      <dgm:prSet presAssocID="{95B61531-64A5-4709-858E-0FC7E804CAAD}" presName="vert1" presStyleCnt="0"/>
      <dgm:spPr/>
    </dgm:pt>
    <dgm:pt modelId="{E3DE8E72-70FA-4073-8176-235A00B087F3}" type="pres">
      <dgm:prSet presAssocID="{190FCF2D-200A-4F41-ACF9-F7B22844CCE2}" presName="thickLine" presStyleLbl="alignNode1" presStyleIdx="4" presStyleCnt="5"/>
      <dgm:spPr/>
    </dgm:pt>
    <dgm:pt modelId="{03AB5896-7B73-4244-9465-F575F9C9C250}" type="pres">
      <dgm:prSet presAssocID="{190FCF2D-200A-4F41-ACF9-F7B22844CCE2}" presName="horz1" presStyleCnt="0"/>
      <dgm:spPr/>
    </dgm:pt>
    <dgm:pt modelId="{46EB799F-BBB3-4C90-ADDA-82487FF8B8A6}" type="pres">
      <dgm:prSet presAssocID="{190FCF2D-200A-4F41-ACF9-F7B22844CCE2}" presName="tx1" presStyleLbl="revTx" presStyleIdx="4" presStyleCnt="5"/>
      <dgm:spPr/>
    </dgm:pt>
    <dgm:pt modelId="{FE225C58-F77C-4A65-B8E6-6A81E536A5EA}" type="pres">
      <dgm:prSet presAssocID="{190FCF2D-200A-4F41-ACF9-F7B22844CCE2}" presName="vert1" presStyleCnt="0"/>
      <dgm:spPr/>
    </dgm:pt>
  </dgm:ptLst>
  <dgm:cxnLst>
    <dgm:cxn modelId="{7983E053-6928-46D3-9683-32EDD1B4D77C}" type="presOf" srcId="{3739C084-1BA4-48AE-A077-20FABA689685}" destId="{C356CF0F-A816-45E8-A60D-FD46F475A9EA}" srcOrd="0" destOrd="0" presId="urn:microsoft.com/office/officeart/2008/layout/LinedList"/>
    <dgm:cxn modelId="{EB0B0F7B-9EF0-43F3-85E2-814AE31199CA}" srcId="{B14874E6-976A-416D-8D6F-28852D514D40}" destId="{50568261-26F5-42BB-8CE7-D78C6430D1ED}" srcOrd="2" destOrd="0" parTransId="{52E88D5F-9C18-49FE-8AF1-050934C58DF8}" sibTransId="{16CE2BB2-4996-492F-A84D-A6E4FD71C8EA}"/>
    <dgm:cxn modelId="{5C393486-5257-47C1-815A-FA0EAC66D740}" srcId="{B14874E6-976A-416D-8D6F-28852D514D40}" destId="{190FCF2D-200A-4F41-ACF9-F7B22844CCE2}" srcOrd="4" destOrd="0" parTransId="{EE7D3332-F5CF-49D7-ABD4-B2D0DD56EA25}" sibTransId="{4F3FE79E-CC81-44AA-BBF2-8E7BB6356A55}"/>
    <dgm:cxn modelId="{43388D9E-032F-4550-9E6E-FBED3B091F34}" srcId="{B14874E6-976A-416D-8D6F-28852D514D40}" destId="{3739C084-1BA4-48AE-A077-20FABA689685}" srcOrd="0" destOrd="0" parTransId="{6750ACA2-6226-4C00-ADB4-2A9F2802AB76}" sibTransId="{69683633-3EF9-4262-86F5-AD1EAD12B900}"/>
    <dgm:cxn modelId="{AE6E4DA6-6E22-4E4A-B247-0A09EF436806}" type="presOf" srcId="{95B61531-64A5-4709-858E-0FC7E804CAAD}" destId="{C0751826-CE03-4B78-85F5-50CE2A1298FA}" srcOrd="0" destOrd="0" presId="urn:microsoft.com/office/officeart/2008/layout/LinedList"/>
    <dgm:cxn modelId="{3CADEFB7-31A6-448C-AD27-00CE8F4D345E}" type="presOf" srcId="{243B2415-C048-453E-ACB7-1BC663977387}" destId="{426B8762-BC1C-47A1-B05B-EFA749C21368}" srcOrd="0" destOrd="0" presId="urn:microsoft.com/office/officeart/2008/layout/LinedList"/>
    <dgm:cxn modelId="{07A37ED0-6164-4E7B-A1F2-C1A0D85968ED}" type="presOf" srcId="{190FCF2D-200A-4F41-ACF9-F7B22844CCE2}" destId="{46EB799F-BBB3-4C90-ADDA-82487FF8B8A6}" srcOrd="0" destOrd="0" presId="urn:microsoft.com/office/officeart/2008/layout/LinedList"/>
    <dgm:cxn modelId="{E6D8DEE3-FC22-4315-BD2C-8C6896C1700E}" type="presOf" srcId="{50568261-26F5-42BB-8CE7-D78C6430D1ED}" destId="{557C0AA3-B6D8-4C8A-A3CB-F0B79A8E8E9A}" srcOrd="0" destOrd="0" presId="urn:microsoft.com/office/officeart/2008/layout/LinedList"/>
    <dgm:cxn modelId="{00EC6BEC-E169-4B66-9E97-847057D89A66}" type="presOf" srcId="{B14874E6-976A-416D-8D6F-28852D514D40}" destId="{A8D443F9-D5BE-470B-964E-DBA320CCDB9E}" srcOrd="0" destOrd="0" presId="urn:microsoft.com/office/officeart/2008/layout/LinedList"/>
    <dgm:cxn modelId="{F10CE0F6-FF42-463D-8776-96B18F2AE197}" srcId="{B14874E6-976A-416D-8D6F-28852D514D40}" destId="{95B61531-64A5-4709-858E-0FC7E804CAAD}" srcOrd="3" destOrd="0" parTransId="{806BBF3E-78EF-4317-83FC-6485BEC6ECD9}" sibTransId="{ECE11DCF-69B2-4A1F-A979-538756CE2FFD}"/>
    <dgm:cxn modelId="{737DCAFF-1B0F-4D5C-A0DC-337A58647C61}" srcId="{B14874E6-976A-416D-8D6F-28852D514D40}" destId="{243B2415-C048-453E-ACB7-1BC663977387}" srcOrd="1" destOrd="0" parTransId="{CCB1D449-6612-4CA0-AC38-CECF45FB5372}" sibTransId="{0A9E0526-01CC-46DE-82C0-54ABAA8F8B84}"/>
    <dgm:cxn modelId="{781828CE-EB32-4189-9065-0D454B772199}" type="presParOf" srcId="{A8D443F9-D5BE-470B-964E-DBA320CCDB9E}" destId="{CC466EC8-443D-4550-A37D-8015A9FED052}" srcOrd="0" destOrd="0" presId="urn:microsoft.com/office/officeart/2008/layout/LinedList"/>
    <dgm:cxn modelId="{FE35E862-F120-4E65-A21B-C2463C4B6B69}" type="presParOf" srcId="{A8D443F9-D5BE-470B-964E-DBA320CCDB9E}" destId="{F7290C7D-A97E-4E13-AADE-CC65359B862D}" srcOrd="1" destOrd="0" presId="urn:microsoft.com/office/officeart/2008/layout/LinedList"/>
    <dgm:cxn modelId="{82D1651A-A6E3-41A7-B89B-8FBDB84C0229}" type="presParOf" srcId="{F7290C7D-A97E-4E13-AADE-CC65359B862D}" destId="{C356CF0F-A816-45E8-A60D-FD46F475A9EA}" srcOrd="0" destOrd="0" presId="urn:microsoft.com/office/officeart/2008/layout/LinedList"/>
    <dgm:cxn modelId="{DF3FCC18-40E6-43A7-8413-B590927A1EDB}" type="presParOf" srcId="{F7290C7D-A97E-4E13-AADE-CC65359B862D}" destId="{92F7E614-EBE8-42A9-9505-569E80C8CAAB}" srcOrd="1" destOrd="0" presId="urn:microsoft.com/office/officeart/2008/layout/LinedList"/>
    <dgm:cxn modelId="{70B84160-8CFE-4BA9-B4C7-B54738CA6211}" type="presParOf" srcId="{A8D443F9-D5BE-470B-964E-DBA320CCDB9E}" destId="{41588650-11FE-4288-9873-8BCDE8B5A815}" srcOrd="2" destOrd="0" presId="urn:microsoft.com/office/officeart/2008/layout/LinedList"/>
    <dgm:cxn modelId="{D25E91EF-A072-49A5-8496-2AECA97ADD7E}" type="presParOf" srcId="{A8D443F9-D5BE-470B-964E-DBA320CCDB9E}" destId="{F9A96E00-83C6-4F6E-B04D-8B6DC4477A21}" srcOrd="3" destOrd="0" presId="urn:microsoft.com/office/officeart/2008/layout/LinedList"/>
    <dgm:cxn modelId="{CD5BEEF9-5521-412E-824A-B42F232A3705}" type="presParOf" srcId="{F9A96E00-83C6-4F6E-B04D-8B6DC4477A21}" destId="{426B8762-BC1C-47A1-B05B-EFA749C21368}" srcOrd="0" destOrd="0" presId="urn:microsoft.com/office/officeart/2008/layout/LinedList"/>
    <dgm:cxn modelId="{CFA5A980-53C4-4A65-8486-E415E62E1553}" type="presParOf" srcId="{F9A96E00-83C6-4F6E-B04D-8B6DC4477A21}" destId="{E59BF550-6DA8-4B3E-B59F-8D052F9BB21F}" srcOrd="1" destOrd="0" presId="urn:microsoft.com/office/officeart/2008/layout/LinedList"/>
    <dgm:cxn modelId="{144B9F01-1B77-4336-B4D4-8AA4081E69D8}" type="presParOf" srcId="{A8D443F9-D5BE-470B-964E-DBA320CCDB9E}" destId="{EB158BFF-F03C-4530-9279-0E313521376B}" srcOrd="4" destOrd="0" presId="urn:microsoft.com/office/officeart/2008/layout/LinedList"/>
    <dgm:cxn modelId="{EBFEBDDE-E469-4EFA-B28D-E8C0AC65201A}" type="presParOf" srcId="{A8D443F9-D5BE-470B-964E-DBA320CCDB9E}" destId="{F0440B7D-E142-4E0E-B6ED-ADECB09152C3}" srcOrd="5" destOrd="0" presId="urn:microsoft.com/office/officeart/2008/layout/LinedList"/>
    <dgm:cxn modelId="{50004558-1F63-46F8-B661-E12EF03DBE05}" type="presParOf" srcId="{F0440B7D-E142-4E0E-B6ED-ADECB09152C3}" destId="{557C0AA3-B6D8-4C8A-A3CB-F0B79A8E8E9A}" srcOrd="0" destOrd="0" presId="urn:microsoft.com/office/officeart/2008/layout/LinedList"/>
    <dgm:cxn modelId="{6493B887-1778-40E6-AE73-70B120A2260E}" type="presParOf" srcId="{F0440B7D-E142-4E0E-B6ED-ADECB09152C3}" destId="{D2F0E688-AE88-4A98-98B2-7E19D45D215E}" srcOrd="1" destOrd="0" presId="urn:microsoft.com/office/officeart/2008/layout/LinedList"/>
    <dgm:cxn modelId="{5FECC11B-AA7E-4F01-A06D-9E4B2BACD062}" type="presParOf" srcId="{A8D443F9-D5BE-470B-964E-DBA320CCDB9E}" destId="{70C86940-7F53-4036-A2BA-E1A520D500E3}" srcOrd="6" destOrd="0" presId="urn:microsoft.com/office/officeart/2008/layout/LinedList"/>
    <dgm:cxn modelId="{911122B8-C80B-40C9-BC6E-3E2FF9B99D63}" type="presParOf" srcId="{A8D443F9-D5BE-470B-964E-DBA320CCDB9E}" destId="{54EB30E2-D20A-4986-893B-BB1A6EE4E1DB}" srcOrd="7" destOrd="0" presId="urn:microsoft.com/office/officeart/2008/layout/LinedList"/>
    <dgm:cxn modelId="{A87B3585-1BD3-41D9-B2C1-715C4C789728}" type="presParOf" srcId="{54EB30E2-D20A-4986-893B-BB1A6EE4E1DB}" destId="{C0751826-CE03-4B78-85F5-50CE2A1298FA}" srcOrd="0" destOrd="0" presId="urn:microsoft.com/office/officeart/2008/layout/LinedList"/>
    <dgm:cxn modelId="{0B50A766-4870-46A5-B0EB-EA31315BB811}" type="presParOf" srcId="{54EB30E2-D20A-4986-893B-BB1A6EE4E1DB}" destId="{82260508-E895-4DF9-970E-23D817A55D0B}" srcOrd="1" destOrd="0" presId="urn:microsoft.com/office/officeart/2008/layout/LinedList"/>
    <dgm:cxn modelId="{D8591356-4DD0-4945-ADBC-9B93FC4BA8A7}" type="presParOf" srcId="{A8D443F9-D5BE-470B-964E-DBA320CCDB9E}" destId="{E3DE8E72-70FA-4073-8176-235A00B087F3}" srcOrd="8" destOrd="0" presId="urn:microsoft.com/office/officeart/2008/layout/LinedList"/>
    <dgm:cxn modelId="{1621B85A-57F7-4189-98F1-7B77F1F3C1D0}" type="presParOf" srcId="{A8D443F9-D5BE-470B-964E-DBA320CCDB9E}" destId="{03AB5896-7B73-4244-9465-F575F9C9C250}" srcOrd="9" destOrd="0" presId="urn:microsoft.com/office/officeart/2008/layout/LinedList"/>
    <dgm:cxn modelId="{563A8E71-10AC-4878-A295-35E0C38430FB}" type="presParOf" srcId="{03AB5896-7B73-4244-9465-F575F9C9C250}" destId="{46EB799F-BBB3-4C90-ADDA-82487FF8B8A6}" srcOrd="0" destOrd="0" presId="urn:microsoft.com/office/officeart/2008/layout/LinedList"/>
    <dgm:cxn modelId="{B54FA0A3-9534-4118-A4DD-01F3107C378E}" type="presParOf" srcId="{03AB5896-7B73-4244-9465-F575F9C9C250}" destId="{FE225C58-F77C-4A65-B8E6-6A81E536A5EA}"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A41E8E-F8F6-468B-A108-B90B70CF30B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7AF0C908-411B-4297-80B3-3FFB561D934D}">
      <dgm:prSet/>
      <dgm:spPr/>
      <dgm:t>
        <a:bodyPr/>
        <a:lstStyle/>
        <a:p>
          <a:r>
            <a:rPr lang="en-US"/>
            <a:t>Основні публікації: 7 фахових статей (категорія Б), </a:t>
          </a:r>
          <a:r>
            <a:rPr lang="uk-UA"/>
            <a:t>8</a:t>
          </a:r>
          <a:r>
            <a:rPr lang="en-US"/>
            <a:t> тез конференцій</a:t>
          </a:r>
        </a:p>
      </dgm:t>
    </dgm:pt>
    <dgm:pt modelId="{B353E487-4FCA-4CAF-A64D-2BA50223A866}" type="parTrans" cxnId="{D0C77142-90FC-4787-95CE-06166D0CE444}">
      <dgm:prSet/>
      <dgm:spPr/>
      <dgm:t>
        <a:bodyPr/>
        <a:lstStyle/>
        <a:p>
          <a:endParaRPr lang="en-US"/>
        </a:p>
      </dgm:t>
    </dgm:pt>
    <dgm:pt modelId="{86D310E2-DAA6-4B12-9AFA-4264243C59F8}" type="sibTrans" cxnId="{D0C77142-90FC-4787-95CE-06166D0CE444}">
      <dgm:prSet/>
      <dgm:spPr/>
      <dgm:t>
        <a:bodyPr/>
        <a:lstStyle/>
        <a:p>
          <a:endParaRPr lang="en-US"/>
        </a:p>
      </dgm:t>
    </dgm:pt>
    <dgm:pt modelId="{8200210E-2734-4FBA-80D8-1D27925961F0}">
      <dgm:prSet/>
      <dgm:spPr/>
      <dgm:t>
        <a:bodyPr/>
        <a:lstStyle/>
        <a:p>
          <a:r>
            <a:rPr lang="en-US"/>
            <a:t>Впровадження у навчальний процес НТУ «ХПІ» (дисципліни «Інтелектуальні системи», «Інтелектуальний аналіз даних», «Дослідження операцій»)</a:t>
          </a:r>
        </a:p>
      </dgm:t>
    </dgm:pt>
    <dgm:pt modelId="{6FB0B570-7AA2-4003-818A-A318381492DB}" type="parTrans" cxnId="{C7E82155-144B-4D3A-86FF-906EAC38DA16}">
      <dgm:prSet/>
      <dgm:spPr/>
      <dgm:t>
        <a:bodyPr/>
        <a:lstStyle/>
        <a:p>
          <a:endParaRPr lang="en-US"/>
        </a:p>
      </dgm:t>
    </dgm:pt>
    <dgm:pt modelId="{7FB30725-260E-4413-B7F0-521D4641E659}" type="sibTrans" cxnId="{C7E82155-144B-4D3A-86FF-906EAC38DA16}">
      <dgm:prSet/>
      <dgm:spPr/>
      <dgm:t>
        <a:bodyPr/>
        <a:lstStyle/>
        <a:p>
          <a:endParaRPr lang="en-US"/>
        </a:p>
      </dgm:t>
    </dgm:pt>
    <dgm:pt modelId="{D262E585-03FC-430A-8480-D2EDCDBED970}">
      <dgm:prSet/>
      <dgm:spPr/>
      <dgm:t>
        <a:bodyPr/>
        <a:lstStyle/>
        <a:p>
          <a:r>
            <a:rPr lang="en-US"/>
            <a:t>Впровадження у ТОВ «Технічний університет «Метінвест Політехніка» (дисципліни з кібербезпеки, GUI, захисту даних)</a:t>
          </a:r>
        </a:p>
      </dgm:t>
    </dgm:pt>
    <dgm:pt modelId="{A2BCBA96-9745-4752-A08B-E42F7A365527}" type="parTrans" cxnId="{8C8D6E82-224E-437D-AB16-6F7F42D0C3EA}">
      <dgm:prSet/>
      <dgm:spPr/>
      <dgm:t>
        <a:bodyPr/>
        <a:lstStyle/>
        <a:p>
          <a:endParaRPr lang="en-US"/>
        </a:p>
      </dgm:t>
    </dgm:pt>
    <dgm:pt modelId="{2E187D5C-401C-43EF-9D65-B5FE18F8235D}" type="sibTrans" cxnId="{8C8D6E82-224E-437D-AB16-6F7F42D0C3EA}">
      <dgm:prSet/>
      <dgm:spPr/>
      <dgm:t>
        <a:bodyPr/>
        <a:lstStyle/>
        <a:p>
          <a:endParaRPr lang="en-US"/>
        </a:p>
      </dgm:t>
    </dgm:pt>
    <dgm:pt modelId="{030816D9-E7BA-41DB-976F-2ABA4F7955D8}">
      <dgm:prSet/>
      <dgm:spPr/>
      <dgm:t>
        <a:bodyPr/>
        <a:lstStyle/>
        <a:p>
          <a:r>
            <a:rPr lang="en-US"/>
            <a:t>Впровадження у Радіоастрономічному інституті НАН України (аналіз динамічних процесів у сонячній атмосфері, ідентифікація радіосплесків)</a:t>
          </a:r>
        </a:p>
      </dgm:t>
    </dgm:pt>
    <dgm:pt modelId="{76824C33-0B59-4B3B-8ED1-1583242AD2AB}" type="parTrans" cxnId="{5A6E61C1-FDA2-4210-A4E5-3B62F01BEB40}">
      <dgm:prSet/>
      <dgm:spPr/>
      <dgm:t>
        <a:bodyPr/>
        <a:lstStyle/>
        <a:p>
          <a:endParaRPr lang="en-US"/>
        </a:p>
      </dgm:t>
    </dgm:pt>
    <dgm:pt modelId="{98296A59-6BBE-49B3-9875-F2DDF8E18C75}" type="sibTrans" cxnId="{5A6E61C1-FDA2-4210-A4E5-3B62F01BEB40}">
      <dgm:prSet/>
      <dgm:spPr/>
      <dgm:t>
        <a:bodyPr/>
        <a:lstStyle/>
        <a:p>
          <a:endParaRPr lang="en-US"/>
        </a:p>
      </dgm:t>
    </dgm:pt>
    <dgm:pt modelId="{3E9D9915-40EB-4B24-A930-A4EA23E4F72D}" type="pres">
      <dgm:prSet presAssocID="{9EA41E8E-F8F6-468B-A108-B90B70CF30BD}" presName="linear" presStyleCnt="0">
        <dgm:presLayoutVars>
          <dgm:animLvl val="lvl"/>
          <dgm:resizeHandles val="exact"/>
        </dgm:presLayoutVars>
      </dgm:prSet>
      <dgm:spPr/>
    </dgm:pt>
    <dgm:pt modelId="{25096405-3540-49D7-8017-9B8FB63D09CF}" type="pres">
      <dgm:prSet presAssocID="{7AF0C908-411B-4297-80B3-3FFB561D934D}" presName="parentText" presStyleLbl="node1" presStyleIdx="0" presStyleCnt="4">
        <dgm:presLayoutVars>
          <dgm:chMax val="0"/>
          <dgm:bulletEnabled val="1"/>
        </dgm:presLayoutVars>
      </dgm:prSet>
      <dgm:spPr/>
    </dgm:pt>
    <dgm:pt modelId="{10F94946-A3CA-431D-82C0-230C343989EA}" type="pres">
      <dgm:prSet presAssocID="{86D310E2-DAA6-4B12-9AFA-4264243C59F8}" presName="spacer" presStyleCnt="0"/>
      <dgm:spPr/>
    </dgm:pt>
    <dgm:pt modelId="{2BC3023E-F50D-46DC-AB6E-49D3399AE212}" type="pres">
      <dgm:prSet presAssocID="{8200210E-2734-4FBA-80D8-1D27925961F0}" presName="parentText" presStyleLbl="node1" presStyleIdx="1" presStyleCnt="4">
        <dgm:presLayoutVars>
          <dgm:chMax val="0"/>
          <dgm:bulletEnabled val="1"/>
        </dgm:presLayoutVars>
      </dgm:prSet>
      <dgm:spPr/>
    </dgm:pt>
    <dgm:pt modelId="{D329B0E5-1655-441D-B15F-C71B6EFB21CF}" type="pres">
      <dgm:prSet presAssocID="{7FB30725-260E-4413-B7F0-521D4641E659}" presName="spacer" presStyleCnt="0"/>
      <dgm:spPr/>
    </dgm:pt>
    <dgm:pt modelId="{C3085887-AED9-4DC8-8031-874FB231161D}" type="pres">
      <dgm:prSet presAssocID="{D262E585-03FC-430A-8480-D2EDCDBED970}" presName="parentText" presStyleLbl="node1" presStyleIdx="2" presStyleCnt="4">
        <dgm:presLayoutVars>
          <dgm:chMax val="0"/>
          <dgm:bulletEnabled val="1"/>
        </dgm:presLayoutVars>
      </dgm:prSet>
      <dgm:spPr/>
    </dgm:pt>
    <dgm:pt modelId="{402773A7-91CB-40C8-AAE4-137339D4DBD7}" type="pres">
      <dgm:prSet presAssocID="{2E187D5C-401C-43EF-9D65-B5FE18F8235D}" presName="spacer" presStyleCnt="0"/>
      <dgm:spPr/>
    </dgm:pt>
    <dgm:pt modelId="{145FCDFA-490C-45D7-8483-4DE728ADE175}" type="pres">
      <dgm:prSet presAssocID="{030816D9-E7BA-41DB-976F-2ABA4F7955D8}" presName="parentText" presStyleLbl="node1" presStyleIdx="3" presStyleCnt="4">
        <dgm:presLayoutVars>
          <dgm:chMax val="0"/>
          <dgm:bulletEnabled val="1"/>
        </dgm:presLayoutVars>
      </dgm:prSet>
      <dgm:spPr/>
    </dgm:pt>
  </dgm:ptLst>
  <dgm:cxnLst>
    <dgm:cxn modelId="{C519190C-03D0-41DE-89B3-00EBA235C290}" type="presOf" srcId="{D262E585-03FC-430A-8480-D2EDCDBED970}" destId="{C3085887-AED9-4DC8-8031-874FB231161D}" srcOrd="0" destOrd="0" presId="urn:microsoft.com/office/officeart/2005/8/layout/vList2"/>
    <dgm:cxn modelId="{26EAB527-E83A-4946-BDEA-393C480004B4}" type="presOf" srcId="{9EA41E8E-F8F6-468B-A108-B90B70CF30BD}" destId="{3E9D9915-40EB-4B24-A930-A4EA23E4F72D}" srcOrd="0" destOrd="0" presId="urn:microsoft.com/office/officeart/2005/8/layout/vList2"/>
    <dgm:cxn modelId="{D0C77142-90FC-4787-95CE-06166D0CE444}" srcId="{9EA41E8E-F8F6-468B-A108-B90B70CF30BD}" destId="{7AF0C908-411B-4297-80B3-3FFB561D934D}" srcOrd="0" destOrd="0" parTransId="{B353E487-4FCA-4CAF-A64D-2BA50223A866}" sibTransId="{86D310E2-DAA6-4B12-9AFA-4264243C59F8}"/>
    <dgm:cxn modelId="{26D5154E-4C9B-4340-AACB-247B45723E4A}" type="presOf" srcId="{030816D9-E7BA-41DB-976F-2ABA4F7955D8}" destId="{145FCDFA-490C-45D7-8483-4DE728ADE175}" srcOrd="0" destOrd="0" presId="urn:microsoft.com/office/officeart/2005/8/layout/vList2"/>
    <dgm:cxn modelId="{CA58234F-AA3A-449A-BA7F-FC3BCA1F0528}" type="presOf" srcId="{7AF0C908-411B-4297-80B3-3FFB561D934D}" destId="{25096405-3540-49D7-8017-9B8FB63D09CF}" srcOrd="0" destOrd="0" presId="urn:microsoft.com/office/officeart/2005/8/layout/vList2"/>
    <dgm:cxn modelId="{C7E82155-144B-4D3A-86FF-906EAC38DA16}" srcId="{9EA41E8E-F8F6-468B-A108-B90B70CF30BD}" destId="{8200210E-2734-4FBA-80D8-1D27925961F0}" srcOrd="1" destOrd="0" parTransId="{6FB0B570-7AA2-4003-818A-A318381492DB}" sibTransId="{7FB30725-260E-4413-B7F0-521D4641E659}"/>
    <dgm:cxn modelId="{8C8D6E82-224E-437D-AB16-6F7F42D0C3EA}" srcId="{9EA41E8E-F8F6-468B-A108-B90B70CF30BD}" destId="{D262E585-03FC-430A-8480-D2EDCDBED970}" srcOrd="2" destOrd="0" parTransId="{A2BCBA96-9745-4752-A08B-E42F7A365527}" sibTransId="{2E187D5C-401C-43EF-9D65-B5FE18F8235D}"/>
    <dgm:cxn modelId="{4BA200AE-A36A-4843-906C-413BA445C83D}" type="presOf" srcId="{8200210E-2734-4FBA-80D8-1D27925961F0}" destId="{2BC3023E-F50D-46DC-AB6E-49D3399AE212}" srcOrd="0" destOrd="0" presId="urn:microsoft.com/office/officeart/2005/8/layout/vList2"/>
    <dgm:cxn modelId="{5A6E61C1-FDA2-4210-A4E5-3B62F01BEB40}" srcId="{9EA41E8E-F8F6-468B-A108-B90B70CF30BD}" destId="{030816D9-E7BA-41DB-976F-2ABA4F7955D8}" srcOrd="3" destOrd="0" parTransId="{76824C33-0B59-4B3B-8ED1-1583242AD2AB}" sibTransId="{98296A59-6BBE-49B3-9875-F2DDF8E18C75}"/>
    <dgm:cxn modelId="{0C15082C-86F7-45BF-A211-D55AF873D6B8}" type="presParOf" srcId="{3E9D9915-40EB-4B24-A930-A4EA23E4F72D}" destId="{25096405-3540-49D7-8017-9B8FB63D09CF}" srcOrd="0" destOrd="0" presId="urn:microsoft.com/office/officeart/2005/8/layout/vList2"/>
    <dgm:cxn modelId="{ABFA0EDB-A573-4A3A-AE81-D680AC8BD3EF}" type="presParOf" srcId="{3E9D9915-40EB-4B24-A930-A4EA23E4F72D}" destId="{10F94946-A3CA-431D-82C0-230C343989EA}" srcOrd="1" destOrd="0" presId="urn:microsoft.com/office/officeart/2005/8/layout/vList2"/>
    <dgm:cxn modelId="{DBE76489-0FEA-4164-9D3F-7781E333D9D4}" type="presParOf" srcId="{3E9D9915-40EB-4B24-A930-A4EA23E4F72D}" destId="{2BC3023E-F50D-46DC-AB6E-49D3399AE212}" srcOrd="2" destOrd="0" presId="urn:microsoft.com/office/officeart/2005/8/layout/vList2"/>
    <dgm:cxn modelId="{10996AEC-95EE-4FC3-992D-8F1F4CC8BE4F}" type="presParOf" srcId="{3E9D9915-40EB-4B24-A930-A4EA23E4F72D}" destId="{D329B0E5-1655-441D-B15F-C71B6EFB21CF}" srcOrd="3" destOrd="0" presId="urn:microsoft.com/office/officeart/2005/8/layout/vList2"/>
    <dgm:cxn modelId="{CACFD405-3896-4AE6-9417-9D913506FBD0}" type="presParOf" srcId="{3E9D9915-40EB-4B24-A930-A4EA23E4F72D}" destId="{C3085887-AED9-4DC8-8031-874FB231161D}" srcOrd="4" destOrd="0" presId="urn:microsoft.com/office/officeart/2005/8/layout/vList2"/>
    <dgm:cxn modelId="{9827EA8E-EE54-4763-8A97-5FF5F04FFF55}" type="presParOf" srcId="{3E9D9915-40EB-4B24-A930-A4EA23E4F72D}" destId="{402773A7-91CB-40C8-AAE4-137339D4DBD7}" srcOrd="5" destOrd="0" presId="urn:microsoft.com/office/officeart/2005/8/layout/vList2"/>
    <dgm:cxn modelId="{76506EA6-E454-4E23-A10D-FC8955578267}" type="presParOf" srcId="{3E9D9915-40EB-4B24-A930-A4EA23E4F72D}" destId="{145FCDFA-490C-45D7-8483-4DE728ADE17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101"/>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101"/>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Підвищення точності, надійності та адаптивності дистанційної ідентифікації параметрів динамічних об'єктів (ДІПДО)</a:t>
          </a:r>
        </a:p>
      </dsp:txBody>
      <dsp:txXfrm>
        <a:off x="0" y="2101"/>
        <a:ext cx="6714744" cy="1433087"/>
      </dsp:txXfrm>
    </dsp:sp>
    <dsp:sp modelId="{273DB9DA-5210-495A-9114-01FD573BA43E}">
      <dsp:nvSpPr>
        <dsp:cNvPr id="0" name=""/>
        <dsp:cNvSpPr/>
      </dsp:nvSpPr>
      <dsp:spPr>
        <a:xfrm>
          <a:off x="0" y="1435188"/>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435188"/>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435188"/>
        <a:ext cx="6714744" cy="1433087"/>
      </dsp:txXfrm>
    </dsp:sp>
    <dsp:sp modelId="{486F17D4-C955-4D52-96EA-217EED70D353}">
      <dsp:nvSpPr>
        <dsp:cNvPr id="0" name=""/>
        <dsp:cNvSpPr/>
      </dsp:nvSpPr>
      <dsp:spPr>
        <a:xfrm>
          <a:off x="0" y="2868276"/>
          <a:ext cx="6714744"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2868276"/>
          <a:ext cx="6714744" cy="1433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2868276"/>
        <a:ext cx="6714744" cy="143308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3E919C-EE80-4805-AA37-72FF19EA6BC6}">
      <dsp:nvSpPr>
        <dsp:cNvPr id="0" name=""/>
        <dsp:cNvSpPr/>
      </dsp:nvSpPr>
      <dsp:spPr>
        <a:xfrm>
          <a:off x="0" y="2101"/>
          <a:ext cx="6714744" cy="0"/>
        </a:xfrm>
        <a:prstGeom prst="line">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E39128A-D575-40DE-93AE-51E2EC60DAA2}">
      <dsp:nvSpPr>
        <dsp:cNvPr id="0" name=""/>
        <dsp:cNvSpPr/>
      </dsp:nvSpPr>
      <dsp:spPr>
        <a:xfrm>
          <a:off x="0" y="2101"/>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1. Аналіз сучасних методів ДІПДО, визначення обмежень</a:t>
          </a:r>
        </a:p>
      </dsp:txBody>
      <dsp:txXfrm>
        <a:off x="0" y="2101"/>
        <a:ext cx="6714744" cy="716543"/>
      </dsp:txXfrm>
    </dsp:sp>
    <dsp:sp modelId="{BC4B1178-B259-4408-85A4-A70AA5DFF311}">
      <dsp:nvSpPr>
        <dsp:cNvPr id="0" name=""/>
        <dsp:cNvSpPr/>
      </dsp:nvSpPr>
      <dsp:spPr>
        <a:xfrm>
          <a:off x="0" y="718645"/>
          <a:ext cx="6714744" cy="0"/>
        </a:xfrm>
        <a:prstGeom prst="line">
          <a:avLst/>
        </a:prstGeom>
        <a:solidFill>
          <a:schemeClr val="accent2">
            <a:hueOff val="936304"/>
            <a:satOff val="-1168"/>
            <a:lumOff val="275"/>
            <a:alphaOff val="0"/>
          </a:schemeClr>
        </a:solidFill>
        <a:ln w="25400" cap="flat" cmpd="sng" algn="ctr">
          <a:solidFill>
            <a:schemeClr val="accent2">
              <a:hueOff val="936304"/>
              <a:satOff val="-1168"/>
              <a:lumOff val="275"/>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1F963EA-ED30-4A1C-B2E7-04AFEFFE6972}">
      <dsp:nvSpPr>
        <dsp:cNvPr id="0" name=""/>
        <dsp:cNvSpPr/>
      </dsp:nvSpPr>
      <dsp:spPr>
        <a:xfrm>
          <a:off x="0" y="718645"/>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2. Класифікація параметрів динамічних об'єктів та методів їх визначення</a:t>
          </a:r>
        </a:p>
      </dsp:txBody>
      <dsp:txXfrm>
        <a:off x="0" y="718645"/>
        <a:ext cx="6714744" cy="716543"/>
      </dsp:txXfrm>
    </dsp:sp>
    <dsp:sp modelId="{0B7D5C60-6409-4772-95D3-B94FBEA4F9FD}">
      <dsp:nvSpPr>
        <dsp:cNvPr id="0" name=""/>
        <dsp:cNvSpPr/>
      </dsp:nvSpPr>
      <dsp:spPr>
        <a:xfrm>
          <a:off x="0" y="1435188"/>
          <a:ext cx="6714744" cy="0"/>
        </a:xfrm>
        <a:prstGeom prst="line">
          <a:avLst/>
        </a:prstGeom>
        <a:solidFill>
          <a:schemeClr val="accent2">
            <a:hueOff val="1872608"/>
            <a:satOff val="-2336"/>
            <a:lumOff val="549"/>
            <a:alphaOff val="0"/>
          </a:schemeClr>
        </a:solidFill>
        <a:ln w="25400" cap="flat" cmpd="sng" algn="ctr">
          <a:solidFill>
            <a:schemeClr val="accent2">
              <a:hueOff val="1872608"/>
              <a:satOff val="-2336"/>
              <a:lumOff val="549"/>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8E4794-B1C0-46A4-9F2C-FEEEE251F509}">
      <dsp:nvSpPr>
        <dsp:cNvPr id="0" name=""/>
        <dsp:cNvSpPr/>
      </dsp:nvSpPr>
      <dsp:spPr>
        <a:xfrm>
          <a:off x="0" y="1435188"/>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3. Розробка моделей інтеграції DETR, оптичного потоку та нейромережевої оцінки глибини</a:t>
          </a:r>
        </a:p>
      </dsp:txBody>
      <dsp:txXfrm>
        <a:off x="0" y="1435188"/>
        <a:ext cx="6714744" cy="716543"/>
      </dsp:txXfrm>
    </dsp:sp>
    <dsp:sp modelId="{B37F2F0B-33F3-407F-9F2E-59BCDD4D97C2}">
      <dsp:nvSpPr>
        <dsp:cNvPr id="0" name=""/>
        <dsp:cNvSpPr/>
      </dsp:nvSpPr>
      <dsp:spPr>
        <a:xfrm>
          <a:off x="0" y="2151732"/>
          <a:ext cx="6714744" cy="0"/>
        </a:xfrm>
        <a:prstGeom prst="line">
          <a:avLst/>
        </a:prstGeom>
        <a:solidFill>
          <a:schemeClr val="accent2">
            <a:hueOff val="2808911"/>
            <a:satOff val="-3503"/>
            <a:lumOff val="824"/>
            <a:alphaOff val="0"/>
          </a:schemeClr>
        </a:solidFill>
        <a:ln w="25400" cap="flat" cmpd="sng" algn="ctr">
          <a:solidFill>
            <a:schemeClr val="accent2">
              <a:hueOff val="2808911"/>
              <a:satOff val="-3503"/>
              <a:lumOff val="824"/>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E87432-9AB6-41EE-9363-D64135CF07C9}">
      <dsp:nvSpPr>
        <dsp:cNvPr id="0" name=""/>
        <dsp:cNvSpPr/>
      </dsp:nvSpPr>
      <dsp:spPr>
        <a:xfrm>
          <a:off x="0" y="2151732"/>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Обґрунтування використання Bagging та Boosting для підвищення стійкості</a:t>
          </a:r>
        </a:p>
      </dsp:txBody>
      <dsp:txXfrm>
        <a:off x="0" y="2151732"/>
        <a:ext cx="6714744" cy="716543"/>
      </dsp:txXfrm>
    </dsp:sp>
    <dsp:sp modelId="{451ECAD4-C1B6-44FA-B8EB-C7C2A562A626}">
      <dsp:nvSpPr>
        <dsp:cNvPr id="0" name=""/>
        <dsp:cNvSpPr/>
      </dsp:nvSpPr>
      <dsp:spPr>
        <a:xfrm>
          <a:off x="0" y="2868276"/>
          <a:ext cx="6714744" cy="0"/>
        </a:xfrm>
        <a:prstGeom prst="line">
          <a:avLst/>
        </a:prstGeom>
        <a:solidFill>
          <a:schemeClr val="accent2">
            <a:hueOff val="3745215"/>
            <a:satOff val="-4671"/>
            <a:lumOff val="1098"/>
            <a:alphaOff val="0"/>
          </a:schemeClr>
        </a:solidFill>
        <a:ln w="25400" cap="flat" cmpd="sng" algn="ctr">
          <a:solidFill>
            <a:schemeClr val="accent2">
              <a:hueOff val="3745215"/>
              <a:satOff val="-4671"/>
              <a:lumOff val="1098"/>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3E1BF8C-FF3E-4CB6-8B63-05D2F38A8001}">
      <dsp:nvSpPr>
        <dsp:cNvPr id="0" name=""/>
        <dsp:cNvSpPr/>
      </dsp:nvSpPr>
      <dsp:spPr>
        <a:xfrm>
          <a:off x="0" y="2868276"/>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Програмна реалізація інформаційної технології</a:t>
          </a:r>
        </a:p>
      </dsp:txBody>
      <dsp:txXfrm>
        <a:off x="0" y="2868276"/>
        <a:ext cx="6714744" cy="716543"/>
      </dsp:txXfrm>
    </dsp:sp>
    <dsp:sp modelId="{B0E9FA0D-9381-4855-892B-780191A54F91}">
      <dsp:nvSpPr>
        <dsp:cNvPr id="0" name=""/>
        <dsp:cNvSpPr/>
      </dsp:nvSpPr>
      <dsp:spPr>
        <a:xfrm>
          <a:off x="0" y="3584819"/>
          <a:ext cx="6714744" cy="0"/>
        </a:xfrm>
        <a:prstGeom prst="line">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F757373-078E-4459-8731-88AD60A54929}">
      <dsp:nvSpPr>
        <dsp:cNvPr id="0" name=""/>
        <dsp:cNvSpPr/>
      </dsp:nvSpPr>
      <dsp:spPr>
        <a:xfrm>
          <a:off x="0" y="3584819"/>
          <a:ext cx="6714744" cy="7165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Експериментальне тестування 35 комбінацій методів</a:t>
          </a:r>
        </a:p>
      </dsp:txBody>
      <dsp:txXfrm>
        <a:off x="0" y="3584819"/>
        <a:ext cx="6714744" cy="71654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74DDD0-8CD3-4152-A82A-27F86FDE54EE}">
      <dsp:nvSpPr>
        <dsp:cNvPr id="0" name=""/>
        <dsp:cNvSpPr/>
      </dsp:nvSpPr>
      <dsp:spPr>
        <a:xfrm>
          <a:off x="0" y="2124"/>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137A27-84F9-4156-A13F-D973F3B46291}">
      <dsp:nvSpPr>
        <dsp:cNvPr id="0" name=""/>
        <dsp:cNvSpPr/>
      </dsp:nvSpPr>
      <dsp:spPr>
        <a:xfrm>
          <a:off x="0" y="212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1. Вперше: метод ДІПДО на основі DETR + оптичного потоку – одночасне виявлення, відстеження та оцінювання швидкості/траєкторії</a:t>
          </a:r>
        </a:p>
      </dsp:txBody>
      <dsp:txXfrm>
        <a:off x="0" y="2124"/>
        <a:ext cx="10515600" cy="724514"/>
      </dsp:txXfrm>
    </dsp:sp>
    <dsp:sp modelId="{216478B8-689A-4AD1-B0E8-3ACD6F47B69B}">
      <dsp:nvSpPr>
        <dsp:cNvPr id="0" name=""/>
        <dsp:cNvSpPr/>
      </dsp:nvSpPr>
      <dsp:spPr>
        <a:xfrm>
          <a:off x="0" y="726639"/>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463D00B-4402-4E27-B491-CFE39970AB4B}">
      <dsp:nvSpPr>
        <dsp:cNvPr id="0" name=""/>
        <dsp:cNvSpPr/>
      </dsp:nvSpPr>
      <dsp:spPr>
        <a:xfrm>
          <a:off x="0" y="72663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2. Вперше: структура інформаційної технології з інтеграцією FlowNet, GeoNet, трансформерів та ансамблевої корекції</a:t>
          </a:r>
        </a:p>
      </dsp:txBody>
      <dsp:txXfrm>
        <a:off x="0" y="726639"/>
        <a:ext cx="10515600" cy="724514"/>
      </dsp:txXfrm>
    </dsp:sp>
    <dsp:sp modelId="{DA3B0FB5-CED3-44DB-A6E8-6C68DCE23F2B}">
      <dsp:nvSpPr>
        <dsp:cNvPr id="0" name=""/>
        <dsp:cNvSpPr/>
      </dsp:nvSpPr>
      <dsp:spPr>
        <a:xfrm>
          <a:off x="0" y="1451154"/>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3400FD2-0B6A-4686-AA73-2422EE51441E}">
      <dsp:nvSpPr>
        <dsp:cNvPr id="0" name=""/>
        <dsp:cNvSpPr/>
      </dsp:nvSpPr>
      <dsp:spPr>
        <a:xfrm>
          <a:off x="0" y="1451154"/>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3. Удосконалено метод оцінювання глибини шляхом адаптивного комбінування MiDaS, DPT, GeoNet з Bagging та Boosting</a:t>
          </a:r>
        </a:p>
      </dsp:txBody>
      <dsp:txXfrm>
        <a:off x="0" y="1451154"/>
        <a:ext cx="10515600" cy="724514"/>
      </dsp:txXfrm>
    </dsp:sp>
    <dsp:sp modelId="{F7075B4B-AA3B-43A0-AB99-106729F52B9C}">
      <dsp:nvSpPr>
        <dsp:cNvPr id="0" name=""/>
        <dsp:cNvSpPr/>
      </dsp:nvSpPr>
      <dsp:spPr>
        <a:xfrm>
          <a:off x="0" y="2175669"/>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F60CD89-3E58-4BA9-9420-0EAD11AFB9F7}">
      <dsp:nvSpPr>
        <dsp:cNvPr id="0" name=""/>
        <dsp:cNvSpPr/>
      </dsp:nvSpPr>
      <dsp:spPr>
        <a:xfrm>
          <a:off x="0" y="2175669"/>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Удосконалено метод ансамблевої агрегації (Bagging для зменшення дисперсії, Boosting для уточнення меж та оклюзій)</a:t>
          </a:r>
        </a:p>
      </dsp:txBody>
      <dsp:txXfrm>
        <a:off x="0" y="2175669"/>
        <a:ext cx="10515600" cy="724514"/>
      </dsp:txXfrm>
    </dsp:sp>
    <dsp:sp modelId="{1B35852D-F33E-4D84-9494-A8152788C8CA}">
      <dsp:nvSpPr>
        <dsp:cNvPr id="0" name=""/>
        <dsp:cNvSpPr/>
      </dsp:nvSpPr>
      <dsp:spPr>
        <a:xfrm>
          <a:off x="0" y="2900183"/>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AAC9CC-F956-47C0-9D23-71092DF7F66F}">
      <dsp:nvSpPr>
        <dsp:cNvPr id="0" name=""/>
        <dsp:cNvSpPr/>
      </dsp:nvSpPr>
      <dsp:spPr>
        <a:xfrm>
          <a:off x="0" y="2900183"/>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Удосконалено систему метрик (EPE, AAE, RMSE, MAE, PSNR, IoU, Dice) для порівняння 35 комбінацій</a:t>
          </a:r>
        </a:p>
      </dsp:txBody>
      <dsp:txXfrm>
        <a:off x="0" y="2900183"/>
        <a:ext cx="10515600" cy="724514"/>
      </dsp:txXfrm>
    </dsp:sp>
    <dsp:sp modelId="{22C28A23-1307-4CD2-AF45-5FFBE11588CC}">
      <dsp:nvSpPr>
        <dsp:cNvPr id="0" name=""/>
        <dsp:cNvSpPr/>
      </dsp:nvSpPr>
      <dsp:spPr>
        <a:xfrm>
          <a:off x="0" y="3624698"/>
          <a:ext cx="10515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8BA6027-BBF7-4350-B395-E047783C8EC5}">
      <dsp:nvSpPr>
        <dsp:cNvPr id="0" name=""/>
        <dsp:cNvSpPr/>
      </dsp:nvSpPr>
      <dsp:spPr>
        <a:xfrm>
          <a:off x="0" y="3624698"/>
          <a:ext cx="10515600" cy="7245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Подальший розвиток методу синтезу просторово-часових ознак шляхом інтеграції трансформерної уваги з векторними полями оптичного потоку</a:t>
          </a:r>
        </a:p>
      </dsp:txBody>
      <dsp:txXfrm>
        <a:off x="0" y="3624698"/>
        <a:ext cx="10515600" cy="72451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569039"/>
          <a:ext cx="10515600" cy="780818"/>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Медицина: неінвазивна діагностика (швидкість кровотоку, рух серця)</a:t>
          </a:r>
        </a:p>
      </dsp:txBody>
      <dsp:txXfrm>
        <a:off x="0" y="3569039"/>
        <a:ext cx="10515600" cy="780818"/>
      </dsp:txXfrm>
    </dsp:sp>
    <dsp:sp modelId="{1268D6C6-F68D-4EEB-AFB7-DB2AEC72108C}">
      <dsp:nvSpPr>
        <dsp:cNvPr id="0" name=""/>
        <dsp:cNvSpPr/>
      </dsp:nvSpPr>
      <dsp:spPr>
        <a:xfrm rot="10800000">
          <a:off x="0" y="2379853"/>
          <a:ext cx="10515600" cy="1200899"/>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Цифровізація та економіка: розгортання інтелектуальних систем на мобільних пристроях та вбудованих платформах</a:t>
          </a:r>
        </a:p>
      </dsp:txBody>
      <dsp:txXfrm rot="10800000">
        <a:off x="0" y="2379853"/>
        <a:ext cx="10515600" cy="780308"/>
      </dsp:txXfrm>
    </dsp:sp>
    <dsp:sp modelId="{6138ACC6-B097-4C71-A2C6-969FFAE76616}">
      <dsp:nvSpPr>
        <dsp:cNvPr id="0" name=""/>
        <dsp:cNvSpPr/>
      </dsp:nvSpPr>
      <dsp:spPr>
        <a:xfrm rot="10800000">
          <a:off x="0" y="1190666"/>
          <a:ext cx="10515600" cy="1200899"/>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Автономний транспорт та логістика: уникнення зіткнень на основі швидкості, траєкторії та глибини</a:t>
          </a:r>
        </a:p>
      </dsp:txBody>
      <dsp:txXfrm rot="10800000">
        <a:off x="0" y="1190666"/>
        <a:ext cx="10515600" cy="780308"/>
      </dsp:txXfrm>
    </dsp:sp>
    <dsp:sp modelId="{33623962-81AA-4C61-8C8E-5D0CA73FE0BF}">
      <dsp:nvSpPr>
        <dsp:cNvPr id="0" name=""/>
        <dsp:cNvSpPr/>
      </dsp:nvSpPr>
      <dsp:spPr>
        <a:xfrm rot="10800000">
          <a:off x="0" y="1479"/>
          <a:ext cx="10515600" cy="1200899"/>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sz="1800" kern="1200"/>
            <a:t>Безпека та оборона: висока точність відстеження об'єктів у реальному часі для відеоспостереження, БПЛА</a:t>
          </a:r>
        </a:p>
      </dsp:txBody>
      <dsp:txXfrm rot="10800000">
        <a:off x="0" y="1479"/>
        <a:ext cx="10515600" cy="78030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0"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Найкраща точність глибини: Bagging (RMSE=0,713, PSNR=51,065 дБ, IoU=0,996)</a:t>
          </a:r>
        </a:p>
      </dsp:txBody>
      <dsp:txXfrm>
        <a:off x="0" y="39687"/>
        <a:ext cx="3286125" cy="1971675"/>
      </dsp:txXfrm>
    </dsp:sp>
    <dsp:sp modelId="{3CA71303-082A-40B2-8271-1A800373D62A}">
      <dsp:nvSpPr>
        <dsp:cNvPr id="0" name=""/>
        <dsp:cNvSpPr/>
      </dsp:nvSpPr>
      <dsp:spPr>
        <a:xfrm>
          <a:off x="3614737"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GeoNet та DPT_Large також високі, але Bagging перевершує за рахунок усереднення</a:t>
          </a:r>
        </a:p>
      </dsp:txBody>
      <dsp:txXfrm>
        <a:off x="3614737" y="39687"/>
        <a:ext cx="3286125" cy="1971675"/>
      </dsp:txXfrm>
    </dsp:sp>
    <dsp:sp modelId="{0DFE65B8-B841-497E-8AAC-A5EC30C98C8D}">
      <dsp:nvSpPr>
        <dsp:cNvPr id="0" name=""/>
        <dsp:cNvSpPr/>
      </dsp:nvSpPr>
      <dsp:spPr>
        <a:xfrm>
          <a:off x="7229475" y="39687"/>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Щільні методи оптичного потоку (Farneback, FlowNet) дають узгоджені оцінки швидкості</a:t>
          </a:r>
        </a:p>
      </dsp:txBody>
      <dsp:txXfrm>
        <a:off x="7229475" y="39687"/>
        <a:ext cx="3286125" cy="1971675"/>
      </dsp:txXfrm>
    </dsp:sp>
    <dsp:sp modelId="{E6D38B83-0CF5-4F6E-BA29-268EA67F203B}">
      <dsp:nvSpPr>
        <dsp:cNvPr id="0" name=""/>
        <dsp:cNvSpPr/>
      </dsp:nvSpPr>
      <dsp:spPr>
        <a:xfrm>
          <a:off x="1807368" y="2339975"/>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Lucas-Kanade придатний лише для локального супроводу характерних точок</a:t>
          </a:r>
        </a:p>
      </dsp:txBody>
      <dsp:txXfrm>
        <a:off x="1807368" y="2339975"/>
        <a:ext cx="3286125" cy="1971675"/>
      </dsp:txXfrm>
    </dsp:sp>
    <dsp:sp modelId="{1D92E2AB-53B1-4799-8512-D04B6B4A8474}">
      <dsp:nvSpPr>
        <dsp:cNvPr id="0" name=""/>
        <dsp:cNvSpPr/>
      </dsp:nvSpPr>
      <dsp:spPr>
        <a:xfrm>
          <a:off x="5422106" y="2339975"/>
          <a:ext cx="3286125" cy="197167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a:t>Комбінація DETR + Farneback + Bagging рекомендується для реального часу</a:t>
          </a:r>
        </a:p>
      </dsp:txBody>
      <dsp:txXfrm>
        <a:off x="5422106" y="2339975"/>
        <a:ext cx="3286125" cy="197167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466EC8-443D-4550-A37D-8015A9FED052}">
      <dsp:nvSpPr>
        <dsp:cNvPr id="0" name=""/>
        <dsp:cNvSpPr/>
      </dsp:nvSpPr>
      <dsp:spPr>
        <a:xfrm>
          <a:off x="0" y="525"/>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56CF0F-A816-45E8-A60D-FD46F475A9EA}">
      <dsp:nvSpPr>
        <dsp:cNvPr id="0" name=""/>
        <dsp:cNvSpPr/>
      </dsp:nvSpPr>
      <dsp:spPr>
        <a:xfrm>
          <a:off x="0" y="525"/>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Розроблено моделі, методи та інформаційну технологію ДІПДО, що поєднує DETR, оптичний потік, оцінку глибини та ансамблі</a:t>
          </a:r>
        </a:p>
      </dsp:txBody>
      <dsp:txXfrm>
        <a:off x="0" y="525"/>
        <a:ext cx="6714744" cy="860482"/>
      </dsp:txXfrm>
    </dsp:sp>
    <dsp:sp modelId="{41588650-11FE-4288-9873-8BCDE8B5A815}">
      <dsp:nvSpPr>
        <dsp:cNvPr id="0" name=""/>
        <dsp:cNvSpPr/>
      </dsp:nvSpPr>
      <dsp:spPr>
        <a:xfrm>
          <a:off x="0" y="861008"/>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26B8762-BC1C-47A1-B05B-EFA749C21368}">
      <dsp:nvSpPr>
        <dsp:cNvPr id="0" name=""/>
        <dsp:cNvSpPr/>
      </dsp:nvSpPr>
      <dsp:spPr>
        <a:xfrm>
          <a:off x="0" y="861008"/>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Запропоновано метод ДІПДО на основі DETR+оптичний потік – одночасне виявлення, відстеження та оцінка параметрів руху</a:t>
          </a:r>
        </a:p>
      </dsp:txBody>
      <dsp:txXfrm>
        <a:off x="0" y="861008"/>
        <a:ext cx="6714744" cy="860482"/>
      </dsp:txXfrm>
    </dsp:sp>
    <dsp:sp modelId="{EB158BFF-F03C-4530-9279-0E313521376B}">
      <dsp:nvSpPr>
        <dsp:cNvPr id="0" name=""/>
        <dsp:cNvSpPr/>
      </dsp:nvSpPr>
      <dsp:spPr>
        <a:xfrm>
          <a:off x="0" y="1721491"/>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57C0AA3-B6D8-4C8A-A3CB-F0B79A8E8E9A}">
      <dsp:nvSpPr>
        <dsp:cNvPr id="0" name=""/>
        <dsp:cNvSpPr/>
      </dsp:nvSpPr>
      <dsp:spPr>
        <a:xfrm>
          <a:off x="0" y="1721491"/>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Удосконалено оцінку глибини шляхом адаптивного комбінування MiDaS, DPT, GeoNet з Bagging та Boosting</a:t>
          </a:r>
        </a:p>
      </dsp:txBody>
      <dsp:txXfrm>
        <a:off x="0" y="1721491"/>
        <a:ext cx="6714744" cy="860482"/>
      </dsp:txXfrm>
    </dsp:sp>
    <dsp:sp modelId="{70C86940-7F53-4036-A2BA-E1A520D500E3}">
      <dsp:nvSpPr>
        <dsp:cNvPr id="0" name=""/>
        <dsp:cNvSpPr/>
      </dsp:nvSpPr>
      <dsp:spPr>
        <a:xfrm>
          <a:off x="0" y="2581973"/>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0751826-CE03-4B78-85F5-50CE2A1298FA}">
      <dsp:nvSpPr>
        <dsp:cNvPr id="0" name=""/>
        <dsp:cNvSpPr/>
      </dsp:nvSpPr>
      <dsp:spPr>
        <a:xfrm>
          <a:off x="0" y="2581973"/>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4. Експериментально підтверджено перевагу Bagging (RMSE=0,713, IoU=0,996) над окремими моделями</a:t>
          </a:r>
        </a:p>
      </dsp:txBody>
      <dsp:txXfrm>
        <a:off x="0" y="2581973"/>
        <a:ext cx="6714744" cy="860482"/>
      </dsp:txXfrm>
    </dsp:sp>
    <dsp:sp modelId="{E3DE8E72-70FA-4073-8176-235A00B087F3}">
      <dsp:nvSpPr>
        <dsp:cNvPr id="0" name=""/>
        <dsp:cNvSpPr/>
      </dsp:nvSpPr>
      <dsp:spPr>
        <a:xfrm>
          <a:off x="0" y="3442456"/>
          <a:ext cx="6714744"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6EB799F-BBB3-4C90-ADDA-82487FF8B8A6}">
      <dsp:nvSpPr>
        <dsp:cNvPr id="0" name=""/>
        <dsp:cNvSpPr/>
      </dsp:nvSpPr>
      <dsp:spPr>
        <a:xfrm>
          <a:off x="0" y="3442456"/>
          <a:ext cx="6714744" cy="8604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5. Система працює в реальному часі, стійка до шумів, оклюзій та зміни освітлення</a:t>
          </a:r>
        </a:p>
      </dsp:txBody>
      <dsp:txXfrm>
        <a:off x="0" y="3442456"/>
        <a:ext cx="6714744" cy="86048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096405-3540-49D7-8017-9B8FB63D09CF}">
      <dsp:nvSpPr>
        <dsp:cNvPr id="0" name=""/>
        <dsp:cNvSpPr/>
      </dsp:nvSpPr>
      <dsp:spPr>
        <a:xfrm>
          <a:off x="0" y="402934"/>
          <a:ext cx="6666833" cy="1118812"/>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Основні публікації: 7 фахових статей (категорія Б), </a:t>
          </a:r>
          <a:r>
            <a:rPr lang="uk-UA" sz="2000" kern="1200"/>
            <a:t>8</a:t>
          </a:r>
          <a:r>
            <a:rPr lang="en-US" sz="2000" kern="1200"/>
            <a:t> тез конференцій</a:t>
          </a:r>
        </a:p>
      </dsp:txBody>
      <dsp:txXfrm>
        <a:off x="54616" y="457550"/>
        <a:ext cx="6557601" cy="1009580"/>
      </dsp:txXfrm>
    </dsp:sp>
    <dsp:sp modelId="{2BC3023E-F50D-46DC-AB6E-49D3399AE212}">
      <dsp:nvSpPr>
        <dsp:cNvPr id="0" name=""/>
        <dsp:cNvSpPr/>
      </dsp:nvSpPr>
      <dsp:spPr>
        <a:xfrm>
          <a:off x="0" y="1579347"/>
          <a:ext cx="6666833" cy="1118812"/>
        </a:xfrm>
        <a:prstGeom prst="roundRect">
          <a:avLst/>
        </a:prstGeom>
        <a:gradFill rotWithShape="0">
          <a:gsLst>
            <a:gs pos="0">
              <a:schemeClr val="accent2">
                <a:hueOff val="1560506"/>
                <a:satOff val="-1946"/>
                <a:lumOff val="458"/>
                <a:alphaOff val="0"/>
                <a:tint val="100000"/>
                <a:shade val="100000"/>
                <a:satMod val="130000"/>
              </a:schemeClr>
            </a:gs>
            <a:gs pos="100000">
              <a:schemeClr val="accent2">
                <a:hueOff val="1560506"/>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навчальний процес НТУ «ХПІ» (дисципліни «Інтелектуальні системи», «Інтелектуальний аналіз даних», «Дослідження операцій»)</a:t>
          </a:r>
        </a:p>
      </dsp:txBody>
      <dsp:txXfrm>
        <a:off x="54616" y="1633963"/>
        <a:ext cx="6557601" cy="1009580"/>
      </dsp:txXfrm>
    </dsp:sp>
    <dsp:sp modelId="{C3085887-AED9-4DC8-8031-874FB231161D}">
      <dsp:nvSpPr>
        <dsp:cNvPr id="0" name=""/>
        <dsp:cNvSpPr/>
      </dsp:nvSpPr>
      <dsp:spPr>
        <a:xfrm>
          <a:off x="0" y="2755760"/>
          <a:ext cx="6666833" cy="1118812"/>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ТОВ «Технічний університет «Метінвест Політехніка» (дисципліни з кібербезпеки, GUI, захисту даних)</a:t>
          </a:r>
        </a:p>
      </dsp:txBody>
      <dsp:txXfrm>
        <a:off x="54616" y="2810376"/>
        <a:ext cx="6557601" cy="1009580"/>
      </dsp:txXfrm>
    </dsp:sp>
    <dsp:sp modelId="{145FCDFA-490C-45D7-8483-4DE728ADE175}">
      <dsp:nvSpPr>
        <dsp:cNvPr id="0" name=""/>
        <dsp:cNvSpPr/>
      </dsp:nvSpPr>
      <dsp:spPr>
        <a:xfrm>
          <a:off x="0" y="3932172"/>
          <a:ext cx="6666833" cy="1118812"/>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Впровадження у Радіоастрономічному інституті НАН України (аналіз динамічних процесів у сонячній атмосфері, ідентифікація радіосплесків)</a:t>
          </a:r>
        </a:p>
      </dsp:txBody>
      <dsp:txXfrm>
        <a:off x="54616" y="3986788"/>
        <a:ext cx="6557601" cy="1009580"/>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5/8/2026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Завдання дослідження</a:t>
            </a:r>
          </a:p>
          <a:p>
            <a:r>
              <a:rPr lang="uk-UA" dirty="0"/>
              <a:t>Що казати:</a:t>
            </a:r>
          </a:p>
          <a:p>
            <a:r>
              <a:rPr lang="uk-UA" dirty="0"/>
              <a:t>«Для досягнення поставленої мети було вирішено шість основних завдань.</a:t>
            </a:r>
          </a:p>
          <a:p>
            <a:endParaRPr lang="uk-UA" dirty="0"/>
          </a:p>
          <a:p>
            <a:r>
              <a:rPr lang="uk-UA" dirty="0"/>
              <a:t>Перше – аналіз сучасних методів дистанційної ідентифікації та визначення їх обмежень.</a:t>
            </a:r>
          </a:p>
          <a:p>
            <a:endParaRPr lang="uk-UA" dirty="0"/>
          </a:p>
          <a:p>
            <a:r>
              <a:rPr lang="uk-UA" dirty="0"/>
              <a:t>Друге – класифікація параметрів динамічних об'єктів та методів їх визначення.</a:t>
            </a:r>
          </a:p>
          <a:p>
            <a:endParaRPr lang="uk-UA" dirty="0"/>
          </a:p>
          <a:p>
            <a:r>
              <a:rPr lang="uk-UA" dirty="0"/>
              <a:t>Третє – розробка моделей інтеграції </a:t>
            </a:r>
            <a:r>
              <a:rPr lang="uk-UA" dirty="0" err="1"/>
              <a:t>трансформерного</a:t>
            </a:r>
            <a:r>
              <a:rPr lang="uk-UA" dirty="0"/>
              <a:t> детектора </a:t>
            </a:r>
            <a:r>
              <a:rPr lang="en-US" dirty="0"/>
              <a:t>DETR, </a:t>
            </a:r>
            <a:r>
              <a:rPr lang="uk-UA" dirty="0"/>
              <a:t>алгоритмів оптичного потоку та </a:t>
            </a:r>
            <a:r>
              <a:rPr lang="uk-UA" dirty="0" err="1"/>
              <a:t>нейромережевих</a:t>
            </a:r>
            <a:r>
              <a:rPr lang="uk-UA" dirty="0"/>
              <a:t> методів оцінювання глибини.</a:t>
            </a:r>
          </a:p>
          <a:p>
            <a:endParaRPr lang="uk-UA" dirty="0"/>
          </a:p>
          <a:p>
            <a:r>
              <a:rPr lang="uk-UA" dirty="0"/>
              <a:t>Четверте – обґрунтування використання ансамблевих методів </a:t>
            </a:r>
            <a:r>
              <a:rPr lang="en-US" dirty="0"/>
              <a:t>Bagging </a:t>
            </a:r>
            <a:r>
              <a:rPr lang="uk-UA" dirty="0"/>
              <a:t>та </a:t>
            </a:r>
            <a:r>
              <a:rPr lang="en-US" dirty="0"/>
              <a:t>Boosting </a:t>
            </a:r>
            <a:r>
              <a:rPr lang="uk-UA" dirty="0"/>
              <a:t>для підвищення стійкості.</a:t>
            </a:r>
          </a:p>
          <a:p>
            <a:endParaRPr lang="uk-UA" dirty="0"/>
          </a:p>
          <a:p>
            <a:r>
              <a:rPr lang="uk-UA" dirty="0"/>
              <a:t>П'яте – програмна реалізація інформаційної технології.</a:t>
            </a:r>
          </a:p>
          <a:p>
            <a:endParaRPr lang="uk-UA" dirty="0"/>
          </a:p>
          <a:p>
            <a:r>
              <a:rPr lang="uk-UA" dirty="0"/>
              <a:t>Шосте – експериментальне тестування тридцяти п'яти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28101035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Об'єкт та предмет дослідження (детально)</a:t>
            </a:r>
          </a:p>
          <a:p>
            <a:r>
              <a:rPr lang="uk-UA" dirty="0"/>
              <a:t>Що казати:</a:t>
            </a:r>
          </a:p>
          <a:p>
            <a:r>
              <a:rPr lang="uk-UA" dirty="0"/>
              <a:t>«Розглянемо детальніше об'єкт та предмет дослідження.</a:t>
            </a:r>
          </a:p>
          <a:p>
            <a:endParaRPr lang="uk-UA" dirty="0"/>
          </a:p>
          <a:p>
            <a:r>
              <a:rPr lang="uk-UA" dirty="0"/>
              <a:t>Об'єктом є повний процес дистанційної ідентифікації, який включає етапи отримання даних, попередньої обробки, виділення ознак та прийняття рішень.</a:t>
            </a:r>
          </a:p>
          <a:p>
            <a:endParaRPr lang="uk-UA" dirty="0"/>
          </a:p>
          <a:p>
            <a:r>
              <a:rPr lang="uk-UA" dirty="0"/>
              <a:t>Предметом є власне моделі та методи, які забезпечують визначення просторових параметрів – це координати </a:t>
            </a:r>
            <a:r>
              <a:rPr lang="en-US" dirty="0"/>
              <a:t>x, y, z, </a:t>
            </a:r>
            <a:r>
              <a:rPr lang="uk-UA" dirty="0"/>
              <a:t>глибина, розміри об'єкта; кінематичних параметрів – швидкість, прискорення, напрямок руху, траєкторія; та структурних параметрів – контур, клас об'єкта.</a:t>
            </a:r>
          </a:p>
          <a:p>
            <a:endParaRPr lang="uk-UA" dirty="0"/>
          </a:p>
          <a:p>
            <a:r>
              <a:rPr lang="uk-UA" dirty="0"/>
              <a:t>Основна увага зосереджена на поєднанні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в єдиній інформаційній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27296678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5733055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23411739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4229761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32</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33</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34</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35</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Висновки</a:t>
            </a:r>
          </a:p>
          <a:p>
            <a:r>
              <a:rPr lang="uk-UA" dirty="0"/>
              <a:t>Що казати:</a:t>
            </a:r>
          </a:p>
          <a:p>
            <a:r>
              <a:rPr lang="uk-UA" dirty="0"/>
              <a:t>«Узагальнюючи результати дисертаційного дослідження, можна зробити такі висновки.</a:t>
            </a:r>
          </a:p>
          <a:p>
            <a:endParaRPr lang="uk-UA" dirty="0"/>
          </a:p>
          <a:p>
            <a:r>
              <a:rPr lang="uk-UA" dirty="0"/>
              <a:t>По-перше, розроблено моделі, методи та інформаційну технологію дистанційної ідентифікації параметрів динамічних об'єктів, яка поєднує </a:t>
            </a:r>
            <a:r>
              <a:rPr lang="uk-UA" dirty="0" err="1"/>
              <a:t>трансформерне</a:t>
            </a:r>
            <a:r>
              <a:rPr lang="uk-UA" dirty="0"/>
              <a:t> виявлення об'єктів, методи оптичного потоку, </a:t>
            </a:r>
            <a:r>
              <a:rPr lang="uk-UA" dirty="0" err="1"/>
              <a:t>нейромережеве</a:t>
            </a:r>
            <a:r>
              <a:rPr lang="uk-UA" dirty="0"/>
              <a:t> оцінювання глибини та ансамблеву обробку результатів.</a:t>
            </a:r>
          </a:p>
          <a:p>
            <a:endParaRPr lang="uk-UA" dirty="0"/>
          </a:p>
          <a:p>
            <a:r>
              <a:rPr lang="uk-UA" dirty="0"/>
              <a:t>По-друге, запропоновано метод дистанційної ідентифікації на основі </a:t>
            </a:r>
            <a:r>
              <a:rPr lang="en-US" dirty="0"/>
              <a:t>DETR </a:t>
            </a:r>
            <a:r>
              <a:rPr lang="uk-UA" dirty="0"/>
              <a:t>та оптичного потоку, який забезпечує одночасне виявлення, відстеження та оцінювання кінематичних параметрів об'єктів.</a:t>
            </a:r>
          </a:p>
          <a:p>
            <a:endParaRPr lang="uk-UA" dirty="0"/>
          </a:p>
          <a:p>
            <a:r>
              <a:rPr lang="uk-UA" dirty="0"/>
              <a:t>По-третє, удосконалено метод оцінювання глибини шляхом адаптивного комбінування моделей з ансамблевими підходами </a:t>
            </a:r>
            <a:r>
              <a:rPr lang="en-US" dirty="0"/>
              <a:t>Bagging </a:t>
            </a:r>
            <a:r>
              <a:rPr lang="uk-UA" dirty="0"/>
              <a:t>та </a:t>
            </a:r>
            <a:r>
              <a:rPr lang="en-US" dirty="0"/>
              <a:t>Boosting.</a:t>
            </a:r>
          </a:p>
          <a:p>
            <a:endParaRPr lang="en-US" dirty="0"/>
          </a:p>
          <a:p>
            <a:r>
              <a:rPr lang="uk-UA" dirty="0"/>
              <a:t>По-четверте, експериментально підтверджено перевагу ансамблевого підходу </a:t>
            </a:r>
            <a:r>
              <a:rPr lang="en-US" dirty="0"/>
              <a:t>Bagging </a:t>
            </a:r>
            <a:r>
              <a:rPr lang="uk-UA" dirty="0"/>
              <a:t>над окремими моделями оцінювання глибини – </a:t>
            </a:r>
            <a:r>
              <a:rPr lang="en-US" dirty="0"/>
              <a:t>RMSE = 0,713, </a:t>
            </a:r>
            <a:r>
              <a:rPr lang="en-US" dirty="0" err="1"/>
              <a:t>IoU</a:t>
            </a:r>
            <a:r>
              <a:rPr lang="en-US" dirty="0"/>
              <a:t> = 0,996.</a:t>
            </a:r>
          </a:p>
          <a:p>
            <a:endParaRPr lang="en-US" dirty="0"/>
          </a:p>
          <a:p>
            <a:r>
              <a:rPr lang="uk-UA" dirty="0"/>
              <a:t>По-п'яте, розроблена інформаційна технологія здатна працювати в реальному часі та є стійкою до шумів, оклюзій та зміни освітлення.»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36</a:t>
            </a:fld>
            <a:endParaRPr lang="en-US"/>
          </a:p>
        </p:txBody>
      </p:sp>
    </p:spTree>
    <p:extLst>
      <p:ext uri="{BB962C8B-B14F-4D97-AF65-F5344CB8AC3E}">
        <p14:creationId xmlns:p14="http://schemas.microsoft.com/office/powerpoint/2010/main" val="39334819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1" kern="1200" dirty="0">
                <a:solidFill>
                  <a:schemeClr val="tx1"/>
                </a:solidFill>
                <a:effectLst/>
                <a:latin typeface="+mn-lt"/>
                <a:ea typeface="+mn-ea"/>
                <a:cs typeface="+mn-cs"/>
              </a:rPr>
              <a:t>Публікації та впровадження</a:t>
            </a:r>
          </a:p>
          <a:p>
            <a:r>
              <a:rPr lang="uk-UA" sz="1200" b="1" i="0" kern="1200" dirty="0">
                <a:solidFill>
                  <a:schemeClr val="tx1"/>
                </a:solidFill>
                <a:effectLst/>
                <a:latin typeface="+mn-lt"/>
                <a:ea typeface="+mn-ea"/>
                <a:cs typeface="+mn-cs"/>
              </a:rPr>
              <a:t>Що казати:</a:t>
            </a:r>
            <a:br>
              <a:rPr lang="uk-UA" sz="1200" b="0" i="0" kern="1200" dirty="0">
                <a:solidFill>
                  <a:schemeClr val="tx1"/>
                </a:solidFill>
                <a:effectLst/>
                <a:latin typeface="+mn-lt"/>
                <a:ea typeface="+mn-ea"/>
                <a:cs typeface="+mn-cs"/>
              </a:rPr>
            </a:br>
            <a:r>
              <a:rPr lang="uk-UA" sz="1200" b="0" i="0" kern="1200" dirty="0">
                <a:solidFill>
                  <a:schemeClr val="tx1"/>
                </a:solidFill>
                <a:effectLst/>
                <a:latin typeface="+mn-lt"/>
                <a:ea typeface="+mn-ea"/>
                <a:cs typeface="+mn-cs"/>
              </a:rPr>
              <a:t>«Завершуючи доповідь, зазначу основні публікації та впровадження результатів.</a:t>
            </a:r>
          </a:p>
          <a:p>
            <a:r>
              <a:rPr lang="uk-UA" sz="1200" b="0" i="0" kern="1200" dirty="0">
                <a:solidFill>
                  <a:schemeClr val="tx1"/>
                </a:solidFill>
                <a:effectLst/>
                <a:latin typeface="+mn-lt"/>
                <a:ea typeface="+mn-ea"/>
                <a:cs typeface="+mn-cs"/>
              </a:rPr>
              <a:t>Основні наукові результати опубліковано в одній статті, що індексується </a:t>
            </a:r>
            <a:r>
              <a:rPr lang="uk-UA" sz="1200" b="0" i="0" kern="1200" dirty="0" err="1">
                <a:solidFill>
                  <a:schemeClr val="tx1"/>
                </a:solidFill>
                <a:effectLst/>
                <a:latin typeface="+mn-lt"/>
                <a:ea typeface="+mn-ea"/>
                <a:cs typeface="+mn-cs"/>
              </a:rPr>
              <a:t>наукометричною</a:t>
            </a:r>
            <a:r>
              <a:rPr lang="uk-UA" sz="1200" b="0" i="0" kern="1200" dirty="0">
                <a:solidFill>
                  <a:schemeClr val="tx1"/>
                </a:solidFill>
                <a:effectLst/>
                <a:latin typeface="+mn-lt"/>
                <a:ea typeface="+mn-ea"/>
                <a:cs typeface="+mn-cs"/>
              </a:rPr>
              <a:t> базою </a:t>
            </a:r>
            <a:r>
              <a:rPr lang="en-US" sz="1200" b="0" i="0" kern="1200" dirty="0">
                <a:solidFill>
                  <a:schemeClr val="tx1"/>
                </a:solidFill>
                <a:effectLst/>
                <a:latin typeface="+mn-lt"/>
                <a:ea typeface="+mn-ea"/>
                <a:cs typeface="+mn-cs"/>
              </a:rPr>
              <a:t>Scopus, </a:t>
            </a:r>
            <a:r>
              <a:rPr lang="uk-UA" sz="1200" b="0" i="0" kern="1200" dirty="0">
                <a:solidFill>
                  <a:schemeClr val="tx1"/>
                </a:solidFill>
                <a:effectLst/>
                <a:latin typeface="+mn-lt"/>
                <a:ea typeface="+mn-ea"/>
                <a:cs typeface="+mn-cs"/>
              </a:rPr>
              <a:t>семи статтях у фахових виданнях України категорії Б, а також семи матеріалах апробаційного характеру.</a:t>
            </a:r>
          </a:p>
          <a:p>
            <a:r>
              <a:rPr lang="uk-UA" sz="1200" b="0" i="0" kern="1200" dirty="0">
                <a:solidFill>
                  <a:schemeClr val="tx1"/>
                </a:solidFill>
                <a:effectLst/>
                <a:latin typeface="+mn-lt"/>
                <a:ea typeface="+mn-ea"/>
                <a:cs typeface="+mn-cs"/>
              </a:rPr>
              <a:t>Результати роботи впроваджено у навчальний процес кафедри інформаційних систем та технологій НТУ «ХПІ» в дисциплінах «Інтелектуальні системи», «Інтелектуальний аналіз даних» та «Дослідження операцій».</a:t>
            </a:r>
          </a:p>
          <a:p>
            <a:r>
              <a:rPr lang="uk-UA" sz="1200" b="0" i="0" kern="1200" dirty="0">
                <a:solidFill>
                  <a:schemeClr val="tx1"/>
                </a:solidFill>
                <a:effectLst/>
                <a:latin typeface="+mn-lt"/>
                <a:ea typeface="+mn-ea"/>
                <a:cs typeface="+mn-cs"/>
              </a:rPr>
              <a:t>Також результати впроваджено у навчальний процес кафедри цифрових технологій та програмно-аналітичних рішень ТОВ «Технічний університет «Метінвест Політехніка» в дисциплінах з </a:t>
            </a:r>
            <a:r>
              <a:rPr lang="uk-UA" sz="1200" b="0" i="0" kern="1200" dirty="0" err="1">
                <a:solidFill>
                  <a:schemeClr val="tx1"/>
                </a:solidFill>
                <a:effectLst/>
                <a:latin typeface="+mn-lt"/>
                <a:ea typeface="+mn-ea"/>
                <a:cs typeface="+mn-cs"/>
              </a:rPr>
              <a:t>кібербезпеки</a:t>
            </a:r>
            <a:r>
              <a:rPr lang="uk-UA" sz="1200" b="0" i="0" kern="1200" dirty="0">
                <a:solidFill>
                  <a:schemeClr val="tx1"/>
                </a:solidFill>
                <a:effectLst/>
                <a:latin typeface="+mn-lt"/>
                <a:ea typeface="+mn-ea"/>
                <a:cs typeface="+mn-cs"/>
              </a:rPr>
              <a:t>, розробки графічного інтерфейсу та захисту даних.</a:t>
            </a:r>
          </a:p>
          <a:p>
            <a:r>
              <a:rPr lang="uk-UA" sz="1200" b="0" i="0" kern="1200" dirty="0">
                <a:solidFill>
                  <a:schemeClr val="tx1"/>
                </a:solidFill>
                <a:effectLst/>
                <a:latin typeface="+mn-lt"/>
                <a:ea typeface="+mn-ea"/>
                <a:cs typeface="+mn-cs"/>
              </a:rPr>
              <a:t>Крім того, розроблені методи використовуються в Радіоастрономічному інституті НАН України для аналізу динамічних процесів у сонячній атмосфері та ідентифікації сонячних </a:t>
            </a:r>
            <a:r>
              <a:rPr lang="uk-UA" sz="1200" b="0" i="0" kern="1200" dirty="0" err="1">
                <a:solidFill>
                  <a:schemeClr val="tx1"/>
                </a:solidFill>
                <a:effectLst/>
                <a:latin typeface="+mn-lt"/>
                <a:ea typeface="+mn-ea"/>
                <a:cs typeface="+mn-cs"/>
              </a:rPr>
              <a:t>радіосплесків</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Дякую за увагу! Готовий відповісти на запитання.»</a:t>
            </a: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37</a:t>
            </a:fld>
            <a:endParaRPr lang="en-US"/>
          </a:p>
        </p:txBody>
      </p:sp>
    </p:spTree>
    <p:extLst>
      <p:ext uri="{BB962C8B-B14F-4D97-AF65-F5344CB8AC3E}">
        <p14:creationId xmlns:p14="http://schemas.microsoft.com/office/powerpoint/2010/main" val="2151962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4.jpeg"/><Relationship Id="rId7" Type="http://schemas.openxmlformats.org/officeDocument/2006/relationships/diagramColors" Target="../diagrams/colors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7.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5.jpeg"/><Relationship Id="rId7" Type="http://schemas.openxmlformats.org/officeDocument/2006/relationships/diagramColors" Target="../diagrams/colors4.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6.jpeg"/><Relationship Id="rId7" Type="http://schemas.openxmlformats.org/officeDocument/2006/relationships/diagramColors" Target="../diagrams/colors5.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6.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27.jpeg"/><Relationship Id="rId7" Type="http://schemas.openxmlformats.org/officeDocument/2006/relationships/diagramColors" Target="../diagrams/colors6.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838200" y="451381"/>
            <a:ext cx="10512552" cy="4066540"/>
          </a:xfrm>
        </p:spPr>
        <p:txBody>
          <a:bodyPr anchor="b">
            <a:normAutofit/>
          </a:bodyPr>
          <a:lstStyle/>
          <a:p>
            <a:pPr algn="l">
              <a:lnSpc>
                <a:spcPct val="90000"/>
              </a:lnSpc>
            </a:pPr>
            <a:r>
              <a:rPr lang="uk-UA" sz="5600"/>
              <a:t>МОДЕЛІ, МЕТОДИ ТА ІНФОРМАЦІЙНА ТЕХНОЛОГІЯ</a:t>
            </a:r>
          </a:p>
          <a:p>
            <a:pPr algn="l">
              <a:lnSpc>
                <a:spcPct val="90000"/>
              </a:lnSpc>
            </a:pPr>
            <a:r>
              <a:rPr lang="uk-UA" sz="5600"/>
              <a:t>ДИСТАНЦІЙНОЇ ІДЕНТИФІКАЦІЇ ПАРАМЕТРІВ ДИНАМІЧНИХ ОБ'ЄКТІВ</a:t>
            </a:r>
          </a:p>
        </p:txBody>
      </p:sp>
      <p:sp>
        <p:nvSpPr>
          <p:cNvPr id="3" name="Subtitle 2"/>
          <p:cNvSpPr>
            <a:spLocks noGrp="1"/>
          </p:cNvSpPr>
          <p:nvPr>
            <p:ph type="subTitle" idx="1"/>
          </p:nvPr>
        </p:nvSpPr>
        <p:spPr>
          <a:xfrm>
            <a:off x="838199" y="4983276"/>
            <a:ext cx="10512552" cy="1126680"/>
          </a:xfrm>
        </p:spPr>
        <p:txBody>
          <a:bodyPr>
            <a:normAutofit/>
          </a:bodyPr>
          <a:lstStyle/>
          <a:p>
            <a:pPr algn="l">
              <a:lnSpc>
                <a:spcPct val="90000"/>
              </a:lnSpc>
            </a:pPr>
            <a:r>
              <a:rPr lang="uk-UA" sz="2000" dirty="0"/>
              <a:t>Здобувач</a:t>
            </a:r>
            <a:r>
              <a:rPr lang="uk-UA" sz="2000"/>
              <a:t>: аспірант Кондратов </a:t>
            </a:r>
            <a:r>
              <a:rPr lang="uk-UA" sz="2000" dirty="0"/>
              <a:t>Олексій Михайлович</a:t>
            </a:r>
          </a:p>
          <a:p>
            <a:pPr algn="l">
              <a:lnSpc>
                <a:spcPct val="90000"/>
              </a:lnSpc>
            </a:pPr>
            <a:r>
              <a:rPr lang="uk-UA" sz="2000" dirty="0"/>
              <a:t>Науковий керівник: </a:t>
            </a:r>
            <a:r>
              <a:rPr lang="uk-UA" sz="2000" dirty="0" err="1"/>
              <a:t>д.т.н</a:t>
            </a:r>
            <a:r>
              <a:rPr lang="uk-UA" sz="2000" dirty="0"/>
              <a:t>., проф. Нікуліна Олена Миколаївна</a:t>
            </a:r>
          </a:p>
          <a:p>
            <a:pPr algn="l">
              <a:lnSpc>
                <a:spcPct val="90000"/>
              </a:lnSpc>
            </a:pPr>
            <a:r>
              <a:rPr lang="uk-UA" sz="2000" dirty="0"/>
              <a:t>НТУ «ХПІ» – Харків, 2026</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0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0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Актуальність теми</a:t>
            </a:r>
          </a:p>
        </p:txBody>
      </p:sp>
      <p:pic>
        <p:nvPicPr>
          <p:cNvPr id="6" name="Picture 5">
            <a:extLst>
              <a:ext uri="{FF2B5EF4-FFF2-40B4-BE49-F238E27FC236}">
                <a16:creationId xmlns:a16="http://schemas.microsoft.com/office/drawing/2014/main" id="{54E83EC8-C942-8A17-E268-63F6AD7E72A7}"/>
              </a:ext>
            </a:extLst>
          </p:cNvPr>
          <p:cNvPicPr>
            <a:picLocks noChangeAspect="1"/>
          </p:cNvPicPr>
          <p:nvPr/>
        </p:nvPicPr>
        <p:blipFill>
          <a:blip r:embed="rId3"/>
          <a:srcRect l="12723" r="32991" b="-1"/>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4210533"/>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a:t>Мета, об’єкт, предмет та методи</a:t>
            </a:r>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38200" y="1929384"/>
            <a:ext cx="10515600" cy="4251960"/>
          </a:xfrm>
        </p:spPr>
        <p:txBody>
          <a:bodyPr>
            <a:normAutofit/>
          </a:bodyPr>
          <a:lstStyle/>
          <a:p>
            <a:r>
              <a:rPr lang="uk-UA" sz="2200" dirty="0"/>
              <a:t>Мета: підвищення точності та надійності ДІПДО</a:t>
            </a:r>
          </a:p>
          <a:p>
            <a:r>
              <a:rPr lang="uk-UA" sz="2200" dirty="0"/>
              <a:t>Об’єкт дослідження: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Завдання дослідження</a:t>
            </a:r>
          </a:p>
        </p:txBody>
      </p:sp>
      <p:pic>
        <p:nvPicPr>
          <p:cNvPr id="6" name="Picture 5">
            <a:extLst>
              <a:ext uri="{FF2B5EF4-FFF2-40B4-BE49-F238E27FC236}">
                <a16:creationId xmlns:a16="http://schemas.microsoft.com/office/drawing/2014/main" id="{2F00D130-A8D2-5EEF-DEA0-A481DBAC2F79}"/>
              </a:ext>
            </a:extLst>
          </p:cNvPr>
          <p:cNvPicPr>
            <a:picLocks noChangeAspect="1"/>
          </p:cNvPicPr>
          <p:nvPr/>
        </p:nvPicPr>
        <p:blipFill>
          <a:blip r:embed="rId3"/>
          <a:srcRect l="43724" r="6446"/>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BC65AF12-90EA-80FA-9FC4-F1AC81A11EF0}"/>
              </a:ext>
            </a:extLst>
          </p:cNvPr>
          <p:cNvGraphicFramePr>
            <a:graphicFrameLocks noGrp="1"/>
          </p:cNvGraphicFramePr>
          <p:nvPr>
            <p:ph idx="1"/>
            <p:extLst>
              <p:ext uri="{D42A27DB-BD31-4B8C-83A1-F6EECF244321}">
                <p14:modId xmlns:p14="http://schemas.microsoft.com/office/powerpoint/2010/main" val="1267711783"/>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6">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36397" y="502021"/>
            <a:ext cx="9688296" cy="1642969"/>
          </a:xfrm>
        </p:spPr>
        <p:txBody>
          <a:bodyPr anchor="b">
            <a:normAutofit/>
          </a:bodyPr>
          <a:lstStyle/>
          <a:p>
            <a:r>
              <a:rPr lang="uk-UA" sz="4000"/>
              <a:t>Об'єкт та предмет дослідження</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36397" y="2418409"/>
                <a:ext cx="9688296" cy="3454358"/>
              </a:xfrm>
            </p:spPr>
            <p:txBody>
              <a:bodyPr anchor="t">
                <a:normAutofit/>
              </a:bodyPr>
              <a:lstStyle/>
              <a:p>
                <a:r>
                  <a:rPr lang="uk-UA" sz="2000" dirty="0"/>
                  <a:t>Об'єкт: Процес дистанційної ідентифікації параметрів динамічних об'єктів (ДІПДО) у </a:t>
                </a:r>
                <a:r>
                  <a:rPr lang="uk-UA" sz="2000" dirty="0" err="1"/>
                  <a:t>відеопотоках</a:t>
                </a:r>
                <a:r>
                  <a:rPr lang="uk-UA" sz="2000" dirty="0"/>
                  <a:t> та сенсорних даних</a:t>
                </a:r>
              </a:p>
              <a:p>
                <a:r>
                  <a:rPr lang="uk-UA" sz="2000" dirty="0"/>
                  <a:t>Включає етапи: отримання даних, попередню обробку, виділення ознак, прийняття рішень</a:t>
                </a:r>
              </a:p>
              <a:p>
                <a:r>
                  <a:rPr lang="uk-UA" sz="2000" dirty="0"/>
                  <a:t>Предмет: Моделі, методи та інформаційна технологія визначення просторових (</a:t>
                </a:r>
                <a14:m>
                  <m:oMath xmlns:m="http://schemas.openxmlformats.org/officeDocument/2006/math">
                    <m:r>
                      <a:rPr lang="en-US" sz="2000" i="1">
                        <a:latin typeface="Cambria Math" panose="02040503050406030204" pitchFamily="18" charset="0"/>
                      </a:rPr>
                      <m:t>𝑥</m:t>
                    </m:r>
                    <m:r>
                      <a:rPr lang="en-US" sz="2000" i="1">
                        <a:latin typeface="Cambria Math" panose="02040503050406030204" pitchFamily="18" charset="0"/>
                      </a:rPr>
                      <m:t>,</m:t>
                    </m:r>
                    <m:r>
                      <a:rPr lang="en-US" sz="2000" i="1">
                        <a:latin typeface="Cambria Math" panose="02040503050406030204" pitchFamily="18" charset="0"/>
                      </a:rPr>
                      <m:t>𝑦</m:t>
                    </m:r>
                    <m:r>
                      <a:rPr lang="en-US" sz="2000" i="1">
                        <a:latin typeface="Cambria Math" panose="02040503050406030204" pitchFamily="18" charset="0"/>
                      </a:rPr>
                      <m:t>,</m:t>
                    </m:r>
                    <m:r>
                      <a:rPr lang="en-US" sz="2000" i="1">
                        <a:latin typeface="Cambria Math" panose="02040503050406030204" pitchFamily="18" charset="0"/>
                      </a:rPr>
                      <m:t>𝑧</m:t>
                    </m:r>
                  </m:oMath>
                </a14:m>
                <a:r>
                  <a:rPr lang="en-US" sz="2000" dirty="0"/>
                  <a:t>, </a:t>
                </a:r>
                <a:r>
                  <a:rPr lang="uk-UA" sz="2000" dirty="0"/>
                  <a:t>глибина, розміри), кінематичних (</a:t>
                </a:r>
                <a14:m>
                  <m:oMath xmlns:m="http://schemas.openxmlformats.org/officeDocument/2006/math">
                    <m:r>
                      <a:rPr lang="en-US" sz="2000" i="1">
                        <a:latin typeface="Cambria Math" panose="02040503050406030204" pitchFamily="18" charset="0"/>
                      </a:rPr>
                      <m:t>𝑣</m:t>
                    </m:r>
                    <m:r>
                      <a:rPr lang="en-US" sz="2000" i="1">
                        <a:latin typeface="Cambria Math" panose="02040503050406030204" pitchFamily="18" charset="0"/>
                      </a:rPr>
                      <m:t>, </m:t>
                    </m:r>
                    <m:r>
                      <a:rPr lang="en-US" sz="2000" i="1">
                        <a:latin typeface="Cambria Math" panose="02040503050406030204" pitchFamily="18" charset="0"/>
                      </a:rPr>
                      <m:t>𝑎</m:t>
                    </m:r>
                    <m:r>
                      <a:rPr lang="en-US" sz="2000" i="1">
                        <a:latin typeface="Cambria Math" panose="02040503050406030204" pitchFamily="18" charset="0"/>
                      </a:rPr>
                      <m:t>, </m:t>
                    </m:r>
                    <m:r>
                      <a:rPr lang="el-GR" sz="2000" i="1">
                        <a:latin typeface="Cambria Math" panose="02040503050406030204" pitchFamily="18" charset="0"/>
                      </a:rPr>
                      <m:t>𝜃</m:t>
                    </m:r>
                  </m:oMath>
                </a14:m>
                <a:r>
                  <a:rPr lang="el-GR" sz="2000" dirty="0"/>
                  <a:t>, </a:t>
                </a:r>
                <a:r>
                  <a:rPr lang="uk-UA" sz="2000" dirty="0"/>
                  <a:t>траєкторія) та структурних (контур, клас) параметрів</a:t>
                </a:r>
              </a:p>
              <a:p>
                <a:r>
                  <a:rPr lang="uk-UA" sz="2000" dirty="0"/>
                  <a:t>Основна увага – поєднання </a:t>
                </a:r>
                <a:r>
                  <a:rPr lang="uk-UA" sz="2000" dirty="0" err="1"/>
                  <a:t>трансформерів</a:t>
                </a:r>
                <a:r>
                  <a:rPr lang="uk-UA" sz="2000" dirty="0"/>
                  <a:t>, оптичного потоку, </a:t>
                </a:r>
                <a:r>
                  <a:rPr lang="uk-UA" sz="2000" dirty="0" err="1"/>
                  <a:t>нейромережевої</a:t>
                </a:r>
                <a:r>
                  <a:rPr lang="uk-UA" sz="2000" dirty="0"/>
                  <a:t> глибини та ансамблів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36397" y="2418409"/>
                <a:ext cx="9688296" cy="3454358"/>
              </a:xfrm>
              <a:blipFill>
                <a:blip r:embed="rId3"/>
                <a:stretch>
                  <a:fillRect l="-566" t="-1060" r="-943"/>
                </a:stretch>
              </a:blipFill>
            </p:spPr>
            <p:txBody>
              <a:bodyPr/>
              <a:lstStyle/>
              <a:p>
                <a:r>
                  <a:rPr lang="en-US">
                    <a:noFill/>
                  </a:rPr>
                  <a:t> </a:t>
                </a:r>
              </a:p>
            </p:txBody>
          </p:sp>
        </mc:Fallback>
      </mc:AlternateContent>
      <p:sp>
        <p:nvSpPr>
          <p:cNvPr id="24" name="Rectangle 18">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0">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54B67EC-F3F0-B1EC-12FA-17B00F2A85B6}"/>
              </a:ext>
            </a:extLst>
          </p:cNvPr>
          <p:cNvPicPr>
            <a:picLocks noChangeAspect="1"/>
          </p:cNvPicPr>
          <p:nvPr/>
        </p:nvPicPr>
        <p:blipFill>
          <a:blip r:embed="rId3"/>
          <a:srcRect b="625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257363FD-7E77-4145-9483-331A807A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6802" cy="6858000"/>
          </a:xfrm>
          <a:prstGeom prst="rect">
            <a:avLst/>
          </a:prstGeom>
          <a:gradFill flip="none" rotWithShape="1">
            <a:gsLst>
              <a:gs pos="28000">
                <a:schemeClr val="bg2">
                  <a:alpha val="84000"/>
                </a:schemeClr>
              </a:gs>
              <a:gs pos="74000">
                <a:schemeClr val="bg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365125"/>
            <a:ext cx="10515600" cy="1325563"/>
          </a:xfrm>
        </p:spPr>
        <p:txBody>
          <a:bodyPr>
            <a:normAutofit/>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D19E0CF8-CA0E-2CE7-F8F2-143601C6051E}"/>
              </a:ext>
            </a:extLst>
          </p:cNvPr>
          <p:cNvGraphicFramePr>
            <a:graphicFrameLocks noGrp="1"/>
          </p:cNvGraphicFramePr>
          <p:nvPr>
            <p:ph idx="1"/>
            <p:extLst>
              <p:ext uri="{D42A27DB-BD31-4B8C-83A1-F6EECF244321}">
                <p14:modId xmlns:p14="http://schemas.microsoft.com/office/powerpoint/2010/main" val="359344980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23A59E0-ABA3-2976-94EC-E76EB4750100}"/>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F998BE2D-7556-FFAE-C97F-736242A51BCA}"/>
              </a:ext>
            </a:extLst>
          </p:cNvPr>
          <p:cNvGraphicFramePr>
            <a:graphicFrameLocks noGrp="1"/>
          </p:cNvGraphicFramePr>
          <p:nvPr>
            <p:ph idx="1"/>
            <p:extLst>
              <p:ext uri="{D42A27DB-BD31-4B8C-83A1-F6EECF244321}">
                <p14:modId xmlns:p14="http://schemas.microsoft.com/office/powerpoint/2010/main" val="226775634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p:cNvSpPr>
            <a:spLocks noGrp="1"/>
          </p:cNvSpPr>
          <p:nvPr>
            <p:ph idx="1"/>
          </p:nvPr>
        </p:nvSpPr>
        <p:spPr>
          <a:xfrm>
            <a:off x="1957987" y="2431765"/>
            <a:ext cx="8276026" cy="3320031"/>
          </a:xfrm>
        </p:spPr>
        <p:txBody>
          <a:bodyPr anchor="ctr">
            <a:normAutofit/>
          </a:bodyPr>
          <a:lstStyle/>
          <a:p>
            <a:r>
              <a:rPr lang="uk-UA" sz="200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sz="2000">
                <a:solidFill>
                  <a:schemeClr val="tx1">
                    <a:lumMod val="85000"/>
                    <a:lumOff val="15000"/>
                  </a:schemeClr>
                </a:solidFill>
              </a:rPr>
              <a:t>Апробація: </a:t>
            </a:r>
            <a:r>
              <a:rPr lang="en-US" sz="2000">
                <a:solidFill>
                  <a:schemeClr val="tx1">
                    <a:lumMod val="85000"/>
                    <a:lumOff val="15000"/>
                  </a:schemeClr>
                </a:solidFill>
              </a:rPr>
              <a:t>MicroCAD (2023-2025), KhPIWeek (2025), </a:t>
            </a:r>
            <a:r>
              <a:rPr lang="uk-UA" sz="2000">
                <a:solidFill>
                  <a:schemeClr val="tx1">
                    <a:lumMod val="85000"/>
                    <a:lumOff val="15000"/>
                  </a:schemeClr>
                </a:solidFill>
              </a:rPr>
              <a:t>конференції магістрантів та аспірантів НТУ «ХПІ» (2024,2025)</a:t>
            </a:r>
          </a:p>
          <a:p>
            <a:r>
              <a:rPr lang="uk-UA" sz="200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5558489"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838200" y="1825625"/>
            <a:ext cx="5558489" cy="4351338"/>
          </a:xfrm>
        </p:spPr>
        <p:txBody>
          <a:bodyPr>
            <a:normAutofit/>
          </a:bodyPr>
          <a:lstStyle/>
          <a:p>
            <a:pPr>
              <a:lnSpc>
                <a:spcPct val="90000"/>
              </a:lnSpc>
            </a:pPr>
            <a:r>
              <a:rPr lang="uk-UA" sz="2500"/>
              <a:t>Динамічні </a:t>
            </a:r>
            <a:r>
              <a:rPr lang="uk-UA" sz="2500" err="1"/>
              <a:t>об'єкти</a:t>
            </a:r>
            <a:r>
              <a:rPr lang="uk-UA" sz="2500"/>
              <a:t>: </a:t>
            </a:r>
            <a:r>
              <a:rPr lang="uk-UA" sz="2500" err="1"/>
              <a:t>складні</a:t>
            </a:r>
            <a:r>
              <a:rPr lang="uk-UA" sz="2500"/>
              <a:t> </a:t>
            </a:r>
            <a:r>
              <a:rPr lang="uk-UA" sz="2500" err="1"/>
              <a:t>багатовимірні</a:t>
            </a:r>
            <a:r>
              <a:rPr lang="uk-UA" sz="2500"/>
              <a:t> </a:t>
            </a:r>
            <a:r>
              <a:rPr lang="uk-UA" sz="2500" err="1"/>
              <a:t>системи</a:t>
            </a:r>
            <a:r>
              <a:rPr lang="uk-UA" sz="2500"/>
              <a:t>, </a:t>
            </a:r>
            <a:r>
              <a:rPr lang="uk-UA" sz="2500" err="1"/>
              <a:t>стан</a:t>
            </a:r>
            <a:r>
              <a:rPr lang="uk-UA" sz="2500"/>
              <a:t> </a:t>
            </a:r>
            <a:r>
              <a:rPr lang="uk-UA" sz="2500" err="1"/>
              <a:t>яких</a:t>
            </a:r>
            <a:r>
              <a:rPr lang="uk-UA" sz="2500"/>
              <a:t> </a:t>
            </a:r>
            <a:r>
              <a:rPr lang="uk-UA" sz="2500" err="1"/>
              <a:t>безперервно</a:t>
            </a:r>
            <a:r>
              <a:rPr lang="uk-UA" sz="2500"/>
              <a:t> </a:t>
            </a:r>
            <a:r>
              <a:rPr lang="uk-UA" sz="2500" err="1"/>
              <a:t>змінюється</a:t>
            </a:r>
            <a:r>
              <a:rPr lang="uk-UA" sz="2500"/>
              <a:t> в </a:t>
            </a:r>
            <a:r>
              <a:rPr lang="uk-UA" sz="2500" err="1"/>
              <a:t>часі</a:t>
            </a:r>
            <a:endParaRPr lang="uk-UA" sz="2500"/>
          </a:p>
          <a:p>
            <a:pPr>
              <a:lnSpc>
                <a:spcPct val="90000"/>
              </a:lnSpc>
            </a:pPr>
            <a:r>
              <a:rPr lang="uk-UA" sz="2500"/>
              <a:t>Основні </a:t>
            </a:r>
            <a:r>
              <a:rPr lang="uk-UA" sz="2500" err="1"/>
              <a:t>групи</a:t>
            </a:r>
            <a:r>
              <a:rPr lang="uk-UA" sz="2500"/>
              <a:t> </a:t>
            </a:r>
            <a:r>
              <a:rPr lang="uk-UA" sz="2500" err="1"/>
              <a:t>параметрів</a:t>
            </a:r>
            <a:r>
              <a:rPr lang="uk-UA" sz="2500"/>
              <a:t>: </a:t>
            </a:r>
            <a:r>
              <a:rPr lang="uk-UA" sz="2500" err="1"/>
              <a:t>просторові</a:t>
            </a:r>
            <a:r>
              <a:rPr lang="uk-UA" sz="2500"/>
              <a:t>, </a:t>
            </a:r>
            <a:r>
              <a:rPr lang="uk-UA" sz="2500" err="1"/>
              <a:t>кінематичні</a:t>
            </a:r>
            <a:r>
              <a:rPr lang="uk-UA" sz="2500"/>
              <a:t>, </a:t>
            </a:r>
            <a:r>
              <a:rPr lang="uk-UA" sz="2500" err="1"/>
              <a:t>структурні</a:t>
            </a:r>
            <a:endParaRPr lang="uk-UA" sz="2500"/>
          </a:p>
          <a:p>
            <a:pPr>
              <a:lnSpc>
                <a:spcPct val="90000"/>
              </a:lnSpc>
            </a:pPr>
            <a:r>
              <a:rPr lang="uk-UA" sz="2500"/>
              <a:t>Еволюція </a:t>
            </a:r>
            <a:r>
              <a:rPr lang="uk-UA" sz="2500" err="1"/>
              <a:t>методів</a:t>
            </a:r>
            <a:r>
              <a:rPr lang="uk-UA" sz="2500"/>
              <a:t>: </a:t>
            </a:r>
            <a:r>
              <a:rPr lang="uk-UA" sz="2500" err="1"/>
              <a:t>від</a:t>
            </a:r>
            <a:r>
              <a:rPr lang="uk-UA" sz="2500"/>
              <a:t> </a:t>
            </a:r>
            <a:r>
              <a:rPr lang="uk-UA" sz="2500" err="1"/>
              <a:t>класичних</a:t>
            </a:r>
            <a:r>
              <a:rPr lang="uk-UA" sz="2500"/>
              <a:t> (</a:t>
            </a:r>
            <a:r>
              <a:rPr lang="en-US" sz="2500"/>
              <a:t>Viola-Jones, HOG, DPM) </a:t>
            </a:r>
            <a:r>
              <a:rPr lang="uk-UA" sz="2500" err="1"/>
              <a:t>до</a:t>
            </a:r>
            <a:r>
              <a:rPr lang="uk-UA" sz="2500"/>
              <a:t> </a:t>
            </a:r>
            <a:r>
              <a:rPr lang="uk-UA" sz="2500" err="1"/>
              <a:t>сучасних</a:t>
            </a:r>
            <a:r>
              <a:rPr lang="uk-UA" sz="2500"/>
              <a:t> (</a:t>
            </a:r>
            <a:r>
              <a:rPr lang="en-US" sz="2500"/>
              <a:t>CNN, </a:t>
            </a:r>
            <a:r>
              <a:rPr lang="uk-UA" sz="2500" err="1"/>
              <a:t>трансформери</a:t>
            </a:r>
            <a:r>
              <a:rPr lang="uk-UA" sz="2500"/>
              <a:t> </a:t>
            </a:r>
            <a:r>
              <a:rPr lang="en-US" sz="2500"/>
              <a:t>DETR, YOLO)</a:t>
            </a:r>
          </a:p>
          <a:p>
            <a:pPr>
              <a:lnSpc>
                <a:spcPct val="90000"/>
              </a:lnSpc>
            </a:pPr>
            <a:r>
              <a:rPr lang="uk-UA" sz="2500" err="1"/>
              <a:t>Інформаційні</a:t>
            </a:r>
            <a:r>
              <a:rPr lang="uk-UA" sz="2500"/>
              <a:t> </a:t>
            </a:r>
            <a:r>
              <a:rPr lang="uk-UA" sz="2500" err="1"/>
              <a:t>технології</a:t>
            </a:r>
            <a:r>
              <a:rPr lang="uk-UA" sz="2500"/>
              <a:t>: </a:t>
            </a:r>
            <a:r>
              <a:rPr lang="uk-UA" sz="2500" err="1"/>
              <a:t>комп'ютерний</a:t>
            </a:r>
            <a:r>
              <a:rPr lang="uk-UA" sz="2500"/>
              <a:t> </a:t>
            </a:r>
            <a:r>
              <a:rPr lang="uk-UA" sz="2500" err="1"/>
              <a:t>зір</a:t>
            </a:r>
            <a:r>
              <a:rPr lang="uk-UA" sz="2500"/>
              <a:t>, </a:t>
            </a:r>
            <a:r>
              <a:rPr lang="uk-UA" sz="2500" err="1"/>
              <a:t>глибоке</a:t>
            </a:r>
            <a:r>
              <a:rPr lang="uk-UA" sz="2500"/>
              <a:t> </a:t>
            </a:r>
            <a:r>
              <a:rPr lang="uk-UA" sz="2500" err="1"/>
              <a:t>навчання</a:t>
            </a:r>
            <a:r>
              <a:rPr lang="uk-UA" sz="2500"/>
              <a:t>, </a:t>
            </a:r>
            <a:r>
              <a:rPr lang="uk-UA" sz="2500" err="1"/>
              <a:t>ансамблеві</a:t>
            </a:r>
            <a:r>
              <a:rPr lang="uk-UA" sz="2500"/>
              <a:t> </a:t>
            </a:r>
            <a:r>
              <a:rPr lang="uk-UA" sz="2500" err="1"/>
              <a:t>методи</a:t>
            </a:r>
            <a:endParaRPr lang="uk-UA" sz="2500"/>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84805"/>
            <a:ext cx="1051560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93341302"/>
                  </p:ext>
                </p:extLst>
              </p:nvPr>
            </p:nvGraphicFramePr>
            <p:xfrm>
              <a:off x="838200" y="1850038"/>
              <a:ext cx="10512548" cy="4441082"/>
            </p:xfrm>
            <a:graphic>
              <a:graphicData uri="http://schemas.openxmlformats.org/drawingml/2006/table">
                <a:tbl>
                  <a:tblPr firstRow="1" bandRow="1">
                    <a:tableStyleId>{5C22544A-7EE6-4342-B048-85BDC9FD1C3A}</a:tableStyleId>
                  </a:tblPr>
                  <a:tblGrid>
                    <a:gridCol w="2859154">
                      <a:extLst>
                        <a:ext uri="{9D8B030D-6E8A-4147-A177-3AD203B41FA5}">
                          <a16:colId xmlns:a16="http://schemas.microsoft.com/office/drawing/2014/main" val="20000"/>
                        </a:ext>
                      </a:extLst>
                    </a:gridCol>
                    <a:gridCol w="7653394">
                      <a:extLst>
                        <a:ext uri="{9D8B030D-6E8A-4147-A177-3AD203B41FA5}">
                          <a16:colId xmlns:a16="http://schemas.microsoft.com/office/drawing/2014/main" val="20001"/>
                        </a:ext>
                      </a:extLst>
                    </a:gridCol>
                  </a:tblGrid>
                  <a:tr h="734615">
                    <a:tc>
                      <a:txBody>
                        <a:bodyPr/>
                        <a:lstStyle/>
                        <a:p>
                          <a:pPr>
                            <a:defRPr b="1"/>
                          </a:pPr>
                          <a:r>
                            <a:rPr lang="uk-UA" sz="3300"/>
                            <a:t>Категорія</a:t>
                          </a:r>
                        </a:p>
                      </a:txBody>
                      <a:tcPr marL="166958" marR="166958" marT="83479" marB="83479"/>
                    </a:tc>
                    <a:tc>
                      <a:txBody>
                        <a:bodyPr/>
                        <a:lstStyle/>
                        <a:p>
                          <a:pPr>
                            <a:defRPr b="1"/>
                          </a:pPr>
                          <a:r>
                            <a:rPr lang="uk-UA" sz="3300"/>
                            <a:t>Параметри</a:t>
                          </a:r>
                        </a:p>
                      </a:txBody>
                      <a:tcPr marL="166958" marR="166958" marT="83479" marB="83479"/>
                    </a:tc>
                    <a:extLst>
                      <a:ext uri="{0D108BD9-81ED-4DB2-BD59-A6C34878D82A}">
                        <a16:rowId xmlns:a16="http://schemas.microsoft.com/office/drawing/2014/main" val="10000"/>
                      </a:ext>
                    </a:extLst>
                  </a:tr>
                  <a:tr h="1235489">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235489">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235489">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93341302"/>
                  </p:ext>
                </p:extLst>
              </p:nvPr>
            </p:nvGraphicFramePr>
            <p:xfrm>
              <a:off x="838200" y="1850038"/>
              <a:ext cx="10512548" cy="4441082"/>
            </p:xfrm>
            <a:graphic>
              <a:graphicData uri="http://schemas.openxmlformats.org/drawingml/2006/table">
                <a:tbl>
                  <a:tblPr firstRow="1" bandRow="1">
                    <a:tableStyleId>{5C22544A-7EE6-4342-B048-85BDC9FD1C3A}</a:tableStyleId>
                  </a:tblPr>
                  <a:tblGrid>
                    <a:gridCol w="2859154">
                      <a:extLst>
                        <a:ext uri="{9D8B030D-6E8A-4147-A177-3AD203B41FA5}">
                          <a16:colId xmlns:a16="http://schemas.microsoft.com/office/drawing/2014/main" val="20000"/>
                        </a:ext>
                      </a:extLst>
                    </a:gridCol>
                    <a:gridCol w="7653394">
                      <a:extLst>
                        <a:ext uri="{9D8B030D-6E8A-4147-A177-3AD203B41FA5}">
                          <a16:colId xmlns:a16="http://schemas.microsoft.com/office/drawing/2014/main" val="20001"/>
                        </a:ext>
                      </a:extLst>
                    </a:gridCol>
                  </a:tblGrid>
                  <a:tr h="734615">
                    <a:tc>
                      <a:txBody>
                        <a:bodyPr/>
                        <a:lstStyle/>
                        <a:p>
                          <a:pPr>
                            <a:defRPr b="1"/>
                          </a:pPr>
                          <a:r>
                            <a:rPr lang="uk-UA" sz="3300"/>
                            <a:t>Категорія</a:t>
                          </a:r>
                        </a:p>
                      </a:txBody>
                      <a:tcPr marL="166958" marR="166958" marT="83479" marB="83479"/>
                    </a:tc>
                    <a:tc>
                      <a:txBody>
                        <a:bodyPr/>
                        <a:lstStyle/>
                        <a:p>
                          <a:pPr>
                            <a:defRPr b="1"/>
                          </a:pPr>
                          <a:r>
                            <a:rPr lang="uk-UA" sz="3300"/>
                            <a:t>Параметри</a:t>
                          </a:r>
                        </a:p>
                      </a:txBody>
                      <a:tcPr marL="166958" marR="166958" marT="83479" marB="83479"/>
                    </a:tc>
                    <a:extLst>
                      <a:ext uri="{0D108BD9-81ED-4DB2-BD59-A6C34878D82A}">
                        <a16:rowId xmlns:a16="http://schemas.microsoft.com/office/drawing/2014/main" val="10000"/>
                      </a:ext>
                    </a:extLst>
                  </a:tr>
                  <a:tr h="1235489">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20" t="-63054" r="-398" b="-208867"/>
                          </a:stretch>
                        </a:blipFill>
                      </a:tcPr>
                    </a:tc>
                    <a:extLst>
                      <a:ext uri="{0D108BD9-81ED-4DB2-BD59-A6C34878D82A}">
                        <a16:rowId xmlns:a16="http://schemas.microsoft.com/office/drawing/2014/main" val="10001"/>
                      </a:ext>
                    </a:extLst>
                  </a:tr>
                  <a:tr h="1235489">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20" t="-163054" r="-398" b="-108867"/>
                          </a:stretch>
                        </a:blipFill>
                      </a:tcPr>
                    </a:tc>
                    <a:extLst>
                      <a:ext uri="{0D108BD9-81ED-4DB2-BD59-A6C34878D82A}">
                        <a16:rowId xmlns:a16="http://schemas.microsoft.com/office/drawing/2014/main" val="10002"/>
                      </a:ext>
                    </a:extLst>
                  </a:tr>
                  <a:tr h="1235489">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20" t="-263054" r="-398" b="-8867"/>
                          </a:stretch>
                        </a:blipFill>
                      </a:tcPr>
                    </a:tc>
                    <a:extLst>
                      <a:ext uri="{0D108BD9-81ED-4DB2-BD59-A6C34878D82A}">
                        <a16:rowId xmlns:a16="http://schemas.microsoft.com/office/drawing/2014/main" val="10003"/>
                      </a:ext>
                    </a:extLst>
                  </a:tr>
                </a:tbl>
              </a:graphicData>
            </a:graphic>
          </p:graphicFrame>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71442" y="685800"/>
            <a:ext cx="4353116" cy="1474666"/>
          </a:xfrm>
        </p:spPr>
        <p:txBody>
          <a:bodyPr anchor="b">
            <a:normAutofit/>
          </a:bodyPr>
          <a:lstStyle/>
          <a:p>
            <a:pPr>
              <a:lnSpc>
                <a:spcPct val="90000"/>
              </a:lnSpc>
            </a:pPr>
            <a:r>
              <a:rPr lang="ru-RU" sz="3200">
                <a:solidFill>
                  <a:srgbClr val="595959"/>
                </a:solidFill>
              </a:rPr>
              <a:t>Еволюція класичних методів виявлення об'єктів</a:t>
            </a:r>
          </a:p>
        </p:txBody>
      </p:sp>
      <p:sp>
        <p:nvSpPr>
          <p:cNvPr id="3" name="Content Placeholder 2"/>
          <p:cNvSpPr>
            <a:spLocks noGrp="1"/>
          </p:cNvSpPr>
          <p:nvPr>
            <p:ph idx="1"/>
          </p:nvPr>
        </p:nvSpPr>
        <p:spPr>
          <a:xfrm>
            <a:off x="871442" y="2447337"/>
            <a:ext cx="4353116" cy="3770434"/>
          </a:xfrm>
        </p:spPr>
        <p:txBody>
          <a:bodyPr anchor="t">
            <a:normAutofit/>
          </a:bodyPr>
          <a:lstStyle/>
          <a:p>
            <a:r>
              <a:rPr lang="en-US" sz="2000" dirty="0">
                <a:solidFill>
                  <a:srgbClr val="595959"/>
                </a:solidFill>
              </a:rPr>
              <a:t>Viola-Jones → HOG → DPM → Aggregated Channel Features</a:t>
            </a:r>
          </a:p>
          <a:p>
            <a:r>
              <a:rPr lang="uk-UA" sz="2000" dirty="0">
                <a:solidFill>
                  <a:srgbClr val="595959"/>
                </a:solidFill>
              </a:rPr>
              <a:t>В овалах: 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205472" y="-188506"/>
            <a:ext cx="3828288" cy="70567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a:t>Одноетапні </a:t>
            </a:r>
            <a:r>
              <a:rPr lang="en-US"/>
              <a:t>CNN-</a:t>
            </a:r>
            <a:r>
              <a:rPr lang="uk-UA"/>
              <a:t>детектори</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1094724" y="511293"/>
            <a:ext cx="3994297"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a:t>YOLO (2015) → SSD (2015) → RetinaNet (2017) → CornerNet (2018) → CenterNet (2019) → DETR (2020) → Deformable DETR (2021)</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1378007" y="511293"/>
            <a:ext cx="3427730"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71074" y="1396686"/>
            <a:ext cx="3240506" cy="4064628"/>
          </a:xfrm>
        </p:spPr>
        <p:txBody>
          <a:bodyPr>
            <a:normAutofit/>
          </a:bodyPr>
          <a:lstStyle/>
          <a:p>
            <a:r>
              <a:rPr lang="uk-UA"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70153" y="1526033"/>
                <a:ext cx="5536397" cy="3935281"/>
              </a:xfrm>
            </p:spPr>
            <p:txBody>
              <a:bodyPr>
                <a:normAutofit/>
              </a:bodyPr>
              <a:lstStyle/>
              <a:p>
                <a:pPr>
                  <a:lnSpc>
                    <a:spcPct val="90000"/>
                  </a:lnSpc>
                </a:pPr>
                <a:r>
                  <a:rPr lang="uk-UA" sz="2500" err="1"/>
                  <a:t>Концептуальна</a:t>
                </a:r>
                <a:r>
                  <a:rPr lang="uk-UA" sz="2500"/>
                  <a:t> </a:t>
                </a:r>
                <a:r>
                  <a:rPr lang="uk-UA" sz="2500" err="1"/>
                  <a:t>модель</a:t>
                </a:r>
                <a:r>
                  <a:rPr lang="uk-UA" sz="2500"/>
                  <a:t>: </a:t>
                </a:r>
                <a14:m>
                  <m:oMath xmlns:m="http://schemas.openxmlformats.org/officeDocument/2006/math">
                    <m:r>
                      <m:rPr>
                        <m:sty m:val="p"/>
                      </m:rPr>
                      <a:rPr lang="el-GR" sz="2500" i="0" dirty="0" smtClean="0">
                        <a:latin typeface="Cambria Math" panose="02040503050406030204" pitchFamily="18" charset="0"/>
                      </a:rPr>
                      <m:t>Θ</m:t>
                    </m:r>
                    <m:r>
                      <a:rPr lang="el-GR" sz="2500" i="1" dirty="0">
                        <a:latin typeface="Cambria Math" panose="02040503050406030204" pitchFamily="18" charset="0"/>
                      </a:rPr>
                      <m:t>=</m:t>
                    </m:r>
                    <m:r>
                      <a:rPr lang="el-GR" sz="2500" i="1" dirty="0">
                        <a:latin typeface="Cambria Math" panose="02040503050406030204" pitchFamily="18" charset="0"/>
                      </a:rPr>
                      <m:t>ℱ</m:t>
                    </m:r>
                    <m:d>
                      <m:dPr>
                        <m:ctrlPr>
                          <a:rPr lang="ar-AE" sz="2500" i="1" dirty="0">
                            <a:latin typeface="Cambria Math" panose="02040503050406030204" pitchFamily="18" charset="0"/>
                          </a:rPr>
                        </m:ctrlPr>
                      </m:dPr>
                      <m:e>
                        <m:r>
                          <a:rPr lang="ar-AE" sz="2500" i="1" dirty="0">
                            <a:latin typeface="Cambria Math" panose="02040503050406030204" pitchFamily="18" charset="0"/>
                          </a:rPr>
                          <m:t>𝑉</m:t>
                        </m:r>
                        <m:d>
                          <m:dPr>
                            <m:ctrlPr>
                              <a:rPr lang="ar-AE" sz="2500" i="1" dirty="0">
                                <a:latin typeface="Cambria Math" panose="02040503050406030204" pitchFamily="18" charset="0"/>
                              </a:rPr>
                            </m:ctrlPr>
                          </m:dPr>
                          <m:e>
                            <m:r>
                              <a:rPr lang="ar-AE" sz="2500" i="1" dirty="0" err="1">
                                <a:latin typeface="Cambria Math" panose="02040503050406030204" pitchFamily="18" charset="0"/>
                              </a:rPr>
                              <m:t>𝑥</m:t>
                            </m:r>
                            <m:r>
                              <a:rPr lang="ar-AE" sz="2500" i="1" dirty="0" err="1">
                                <a:latin typeface="Cambria Math" panose="02040503050406030204" pitchFamily="18" charset="0"/>
                              </a:rPr>
                              <m:t>,</m:t>
                            </m:r>
                            <m:r>
                              <a:rPr lang="ar-AE" sz="2500" i="1" dirty="0" err="1">
                                <a:latin typeface="Cambria Math" panose="02040503050406030204" pitchFamily="18" charset="0"/>
                              </a:rPr>
                              <m:t>𝑦</m:t>
                            </m:r>
                            <m:r>
                              <a:rPr lang="ar-AE" sz="2500" i="1" dirty="0" err="1">
                                <a:latin typeface="Cambria Math" panose="02040503050406030204" pitchFamily="18" charset="0"/>
                              </a:rPr>
                              <m:t>,</m:t>
                            </m:r>
                            <m:r>
                              <a:rPr lang="ar-AE" sz="2500" i="1" dirty="0" err="1">
                                <a:latin typeface="Cambria Math" panose="02040503050406030204" pitchFamily="18" charset="0"/>
                              </a:rPr>
                              <m:t>𝑡</m:t>
                            </m:r>
                          </m:e>
                        </m:d>
                        <m:r>
                          <a:rPr lang="ar-AE" sz="2500" i="1" dirty="0">
                            <a:latin typeface="Cambria Math" panose="02040503050406030204" pitchFamily="18" charset="0"/>
                          </a:rPr>
                          <m:t>,</m:t>
                        </m:r>
                        <m:r>
                          <a:rPr lang="ar-AE" sz="2500" i="1" dirty="0">
                            <a:latin typeface="Cambria Math" panose="02040503050406030204" pitchFamily="18" charset="0"/>
                          </a:rPr>
                          <m:t>ℳ</m:t>
                        </m:r>
                        <m:r>
                          <a:rPr lang="ar-AE" sz="2500" i="1" dirty="0">
                            <a:latin typeface="Cambria Math" panose="02040503050406030204" pitchFamily="18" charset="0"/>
                          </a:rPr>
                          <m:t>,</m:t>
                        </m:r>
                        <m:r>
                          <a:rPr lang="ar-AE" sz="2500" i="1" dirty="0">
                            <a:latin typeface="Cambria Math" panose="02040503050406030204" pitchFamily="18" charset="0"/>
                          </a:rPr>
                          <m:t>𝒜</m:t>
                        </m:r>
                      </m:e>
                    </m:d>
                  </m:oMath>
                </a14:m>
                <a:endParaRPr lang="ar-AE" sz="2500"/>
              </a:p>
              <a:p>
                <a:pPr>
                  <a:lnSpc>
                    <a:spcPct val="90000"/>
                  </a:lnSpc>
                </a:pPr>
                <a:r>
                  <a:rPr lang="uk-UA" sz="2500" err="1"/>
                  <a:t>Вектор</a:t>
                </a:r>
                <a:r>
                  <a:rPr lang="uk-UA" sz="2500"/>
                  <a:t> </a:t>
                </a:r>
                <a:r>
                  <a:rPr lang="uk-UA" sz="2500" err="1"/>
                  <a:t>стану</a:t>
                </a:r>
                <a:r>
                  <a:rPr lang="uk-UA" sz="2500"/>
                  <a:t>: </a:t>
                </a:r>
                <a14:m>
                  <m:oMath xmlns:m="http://schemas.openxmlformats.org/officeDocument/2006/math">
                    <m:r>
                      <a:rPr lang="uk-UA" sz="2500" i="1" dirty="0" smtClean="0">
                        <a:latin typeface="Cambria Math" panose="02040503050406030204" pitchFamily="18" charset="0"/>
                      </a:rPr>
                      <m:t>𝑆</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d>
                      <m:dPr>
                        <m:begChr m:val="["/>
                        <m:endChr m:val="]"/>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𝑥</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𝑦</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sSub>
                          <m:sSubPr>
                            <m:ctrlPr>
                              <a:rPr lang="ar-AE" sz="2500" i="1" dirty="0" err="1" smtClean="0">
                                <a:latin typeface="Cambria Math" panose="02040503050406030204" pitchFamily="18" charset="0"/>
                              </a:rPr>
                            </m:ctrlPr>
                          </m:sSubPr>
                          <m:e>
                            <m:r>
                              <a:rPr lang="ar-AE" sz="2500" i="1" dirty="0" err="1">
                                <a:latin typeface="Cambria Math" panose="02040503050406030204" pitchFamily="18" charset="0"/>
                              </a:rPr>
                              <m:t>𝑣</m:t>
                            </m:r>
                          </m:e>
                          <m:sub>
                            <m:r>
                              <a:rPr lang="ar-AE" sz="2500" i="1" dirty="0" err="1">
                                <a:latin typeface="Cambria Math" panose="02040503050406030204" pitchFamily="18" charset="0"/>
                              </a:rPr>
                              <m:t>𝑥</m:t>
                            </m:r>
                          </m:sub>
                        </m:sSub>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r>
                          <a:rPr lang="ar-AE" sz="2500" i="1" dirty="0">
                            <a:latin typeface="Cambria Math" panose="02040503050406030204" pitchFamily="18" charset="0"/>
                          </a:rPr>
                          <m:t>,</m:t>
                        </m:r>
                        <m:sSub>
                          <m:sSubPr>
                            <m:ctrlPr>
                              <a:rPr lang="ar-AE" sz="2500" i="1" dirty="0" err="1">
                                <a:latin typeface="Cambria Math" panose="02040503050406030204" pitchFamily="18" charset="0"/>
                              </a:rPr>
                            </m:ctrlPr>
                          </m:sSubPr>
                          <m:e>
                            <m:r>
                              <a:rPr lang="ar-AE" sz="2500" i="1" dirty="0" err="1">
                                <a:latin typeface="Cambria Math" panose="02040503050406030204" pitchFamily="18" charset="0"/>
                              </a:rPr>
                              <m:t>𝑣</m:t>
                            </m:r>
                          </m:e>
                          <m:sub>
                            <m:r>
                              <a:rPr lang="ar-AE" sz="2500" i="1" dirty="0" err="1">
                                <a:latin typeface="Cambria Math" panose="02040503050406030204" pitchFamily="18" charset="0"/>
                              </a:rPr>
                              <m:t>𝑦</m:t>
                            </m:r>
                          </m:sub>
                        </m:sSub>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r>
                          <a:rPr lang="ar-AE" sz="2500" i="1" dirty="0">
                            <a:latin typeface="Cambria Math" panose="02040503050406030204" pitchFamily="18" charset="0"/>
                          </a:rPr>
                          <m:t>,</m:t>
                        </m:r>
                        <m:r>
                          <a:rPr lang="ar-AE" sz="2500" i="1" dirty="0">
                            <a:latin typeface="Cambria Math" panose="02040503050406030204" pitchFamily="18" charset="0"/>
                          </a:rPr>
                          <m:t>𝜃</m:t>
                        </m:r>
                        <m:d>
                          <m:dPr>
                            <m:ctrlPr>
                              <a:rPr lang="ar-AE" sz="2500" i="1" dirty="0">
                                <a:latin typeface="Cambria Math" panose="02040503050406030204" pitchFamily="18" charset="0"/>
                              </a:rPr>
                            </m:ctrlPr>
                          </m:dPr>
                          <m:e>
                            <m:r>
                              <a:rPr lang="ar-AE" sz="2500" i="1" dirty="0">
                                <a:latin typeface="Cambria Math" panose="02040503050406030204" pitchFamily="18" charset="0"/>
                              </a:rPr>
                              <m:t>𝑡</m:t>
                            </m:r>
                          </m:e>
                        </m:d>
                      </m:e>
                    </m:d>
                    <m:r>
                      <a:rPr lang="en-US" sz="2500" i="1" dirty="0">
                        <a:latin typeface="Cambria Math" panose="02040503050406030204" pitchFamily="18" charset="0"/>
                      </a:rPr>
                      <m:t>ᵀ</m:t>
                    </m:r>
                  </m:oMath>
                </a14:m>
                <a:endParaRPr lang="en-US" sz="2500"/>
              </a:p>
              <a:p>
                <a:pPr>
                  <a:lnSpc>
                    <a:spcPct val="90000"/>
                  </a:lnSpc>
                </a:pPr>
                <a:r>
                  <a:rPr lang="uk-UA" sz="2500"/>
                  <a:t>Динамічна </a:t>
                </a:r>
                <a:r>
                  <a:rPr lang="uk-UA" sz="2500" err="1"/>
                  <a:t>модель</a:t>
                </a:r>
                <a:r>
                  <a:rPr lang="uk-UA" sz="2500"/>
                  <a:t>: </a:t>
                </a:r>
                <a14:m>
                  <m:oMath xmlns:m="http://schemas.openxmlformats.org/officeDocument/2006/math">
                    <m:r>
                      <a:rPr lang="en-US" sz="2500" i="1" dirty="0" smtClean="0">
                        <a:latin typeface="Cambria Math" panose="02040503050406030204" pitchFamily="18" charset="0"/>
                      </a:rPr>
                      <m:t>ṡ</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𝑓</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𝑠</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r>
                          <a:rPr lang="ar-AE" sz="2500" i="1" dirty="0" smtClean="0">
                            <a:latin typeface="Cambria Math" panose="02040503050406030204" pitchFamily="18" charset="0"/>
                          </a:rPr>
                          <m:t>,</m:t>
                        </m:r>
                        <m:r>
                          <a:rPr lang="ar-AE" sz="2500" i="1" dirty="0" smtClean="0">
                            <a:latin typeface="Cambria Math" panose="02040503050406030204" pitchFamily="18" charset="0"/>
                          </a:rPr>
                          <m:t>𝑤</m:t>
                        </m:r>
                        <m:d>
                          <m:dPr>
                            <m:ctrlPr>
                              <a:rPr lang="ar-AE" sz="2500" i="1" dirty="0" smtClean="0">
                                <a:latin typeface="Cambria Math" panose="02040503050406030204" pitchFamily="18" charset="0"/>
                              </a:rPr>
                            </m:ctrlPr>
                          </m:dPr>
                          <m:e>
                            <m:r>
                              <a:rPr lang="ar-AE" sz="2500" i="1" dirty="0" smtClean="0">
                                <a:latin typeface="Cambria Math" panose="02040503050406030204" pitchFamily="18" charset="0"/>
                              </a:rPr>
                              <m:t>𝑡</m:t>
                            </m:r>
                          </m:e>
                        </m:d>
                      </m:e>
                    </m:d>
                  </m:oMath>
                </a14:m>
                <a:endParaRPr lang="ar-AE" sz="2500"/>
              </a:p>
              <a:p>
                <a:pPr>
                  <a:lnSpc>
                    <a:spcPct val="90000"/>
                  </a:lnSpc>
                </a:pPr>
                <a:r>
                  <a:rPr lang="uk-UA" sz="2500" err="1"/>
                  <a:t>Інтеграція</a:t>
                </a:r>
                <a:r>
                  <a:rPr lang="uk-UA" sz="2500"/>
                  <a:t> </a:t>
                </a:r>
                <a:r>
                  <a:rPr lang="en-US" sz="2500"/>
                  <a:t>DETR, </a:t>
                </a:r>
                <a:r>
                  <a:rPr lang="uk-UA" sz="2500" err="1"/>
                  <a:t>оптичного</a:t>
                </a:r>
                <a:r>
                  <a:rPr lang="uk-UA" sz="2500"/>
                  <a:t> </a:t>
                </a:r>
                <a:r>
                  <a:rPr lang="uk-UA" sz="2500" err="1"/>
                  <a:t>потоку</a:t>
                </a:r>
                <a:r>
                  <a:rPr lang="uk-UA" sz="2500"/>
                  <a:t>, </a:t>
                </a:r>
                <a:r>
                  <a:rPr lang="en-US" sz="2500" err="1"/>
                  <a:t>GeoNet</a:t>
                </a:r>
                <a:r>
                  <a:rPr lang="en-US" sz="2500"/>
                  <a:t> </a:t>
                </a:r>
                <a:r>
                  <a:rPr lang="uk-UA" sz="2500" err="1"/>
                  <a:t>та</a:t>
                </a:r>
                <a:r>
                  <a:rPr lang="uk-UA" sz="2500"/>
                  <a:t> </a:t>
                </a:r>
                <a:r>
                  <a:rPr lang="uk-UA" sz="2500" err="1"/>
                  <a:t>ансамблів</a:t>
                </a:r>
                <a:r>
                  <a:rPr lang="uk-UA" sz="2500"/>
                  <a:t> </a:t>
                </a:r>
                <a:r>
                  <a:rPr lang="uk-UA" sz="2500" err="1"/>
                  <a:t>забезпечує</a:t>
                </a:r>
                <a:r>
                  <a:rPr lang="uk-UA" sz="2500"/>
                  <a:t> </a:t>
                </a:r>
                <a:r>
                  <a:rPr lang="uk-UA" sz="2500" err="1"/>
                  <a:t>просторово-часове</a:t>
                </a:r>
                <a:r>
                  <a:rPr lang="uk-UA" sz="2500"/>
                  <a:t> </a:t>
                </a:r>
                <a:r>
                  <a:rPr lang="uk-UA" sz="2500" err="1"/>
                  <a:t>представлення</a:t>
                </a:r>
                <a:endParaRPr lang="uk-UA" sz="250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70153" y="1526033"/>
                <a:ext cx="5536397" cy="3935281"/>
              </a:xfrm>
              <a:blipFill>
                <a:blip r:embed="rId3"/>
                <a:stretch>
                  <a:fillRect l="-1652" t="-2012"/>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370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en-US" sz="2200" dirty="0"/>
                  <a:t>Bagging (Bootstrap Aggregating): </a:t>
                </a:r>
                <a:r>
                  <a:rPr lang="uk-UA" sz="2200" dirty="0"/>
                  <a:t>усереднення результатів на різних підвибірках – зменшення дисперсії</a:t>
                </a:r>
              </a:p>
              <a:p>
                <a:r>
                  <a:rPr lang="en-US" sz="2200" dirty="0"/>
                  <a:t>Boosting: </a:t>
                </a:r>
                <a:r>
                  <a:rPr lang="uk-UA" sz="2200" dirty="0"/>
                  <a:t>послідовне виправлення помилок попередніх моделей – зменшення зміщення</a:t>
                </a:r>
              </a:p>
              <a:p>
                <a:r>
                  <a:rPr lang="uk-UA" sz="2200" dirty="0"/>
                  <a:t>Формули: </a:t>
                </a:r>
                <a14:m>
                  <m:oMath xmlns:m="http://schemas.openxmlformats.org/officeDocument/2006/math">
                    <m:r>
                      <a:rPr lang="uk-UA" sz="2200" i="1">
                        <a:latin typeface="Cambria Math" panose="02040503050406030204" pitchFamily="18" charset="0"/>
                      </a:rPr>
                      <m:t>𝑦</m:t>
                    </m:r>
                    <m:sSub>
                      <m:sSubPr>
                        <m:ctrlPr>
                          <a:rPr lang="ar-AE" sz="2200" i="1">
                            <a:latin typeface="Cambria Math" panose="02040503050406030204" pitchFamily="18" charset="0"/>
                          </a:rPr>
                        </m:ctrlPr>
                      </m:sSubPr>
                      <m:e>
                        <m:r>
                          <a:rPr lang="ar-AE" sz="2200" i="1">
                            <a:latin typeface="Cambria Math" panose="02040503050406030204" pitchFamily="18" charset="0"/>
                          </a:rPr>
                          <m:t>̂</m:t>
                        </m:r>
                      </m:e>
                      <m:sub>
                        <m:r>
                          <a:rPr lang="ar-AE" sz="2200" i="1">
                            <a:latin typeface="Cambria Math" panose="02040503050406030204" pitchFamily="18" charset="0"/>
                          </a:rPr>
                          <m:t>𝑏𝑎𝑔</m:t>
                        </m:r>
                      </m:sub>
                    </m:sSub>
                    <m:r>
                      <a:rPr lang="ar-AE" sz="2200" i="1">
                        <a:latin typeface="Cambria Math" panose="02040503050406030204" pitchFamily="18" charset="0"/>
                      </a:rPr>
                      <m:t>=</m:t>
                    </m:r>
                    <m:d>
                      <m:dPr>
                        <m:ctrlPr>
                          <a:rPr lang="ar-AE" sz="2200" i="1">
                            <a:latin typeface="Cambria Math" panose="02040503050406030204" pitchFamily="18" charset="0"/>
                          </a:rPr>
                        </m:ctrlPr>
                      </m:dPr>
                      <m:e>
                        <m:r>
                          <a:rPr lang="ar-AE" sz="2200" i="1">
                            <a:latin typeface="Cambria Math" panose="02040503050406030204" pitchFamily="18" charset="0"/>
                          </a:rPr>
                          <m:t>1</m:t>
                        </m:r>
                        <m:r>
                          <m:rPr>
                            <m:lit/>
                          </m:rPr>
                          <a:rPr lang="ar-AE" sz="2200" i="1">
                            <a:latin typeface="Cambria Math" panose="02040503050406030204" pitchFamily="18" charset="0"/>
                          </a:rPr>
                          <m:t>/</m:t>
                        </m:r>
                        <m:r>
                          <a:rPr lang="ar-AE" sz="2200" i="1">
                            <a:latin typeface="Cambria Math" panose="02040503050406030204" pitchFamily="18" charset="0"/>
                          </a:rPr>
                          <m:t>𝑀</m:t>
                        </m:r>
                      </m:e>
                    </m:d>
                    <m:nary>
                      <m:naryPr>
                        <m:chr m:val="∑"/>
                        <m:subHide m:val="on"/>
                        <m:supHide m:val="on"/>
                        <m:ctrlPr>
                          <a:rPr lang="ar-AE" sz="2200" i="1">
                            <a:latin typeface="Cambria Math" panose="02040503050406030204" pitchFamily="18" charset="0"/>
                          </a:rPr>
                        </m:ctrlPr>
                      </m:naryPr>
                      <m:sub/>
                      <m:sup/>
                      <m:e>
                        <m:sSub>
                          <m:sSubPr>
                            <m:ctrlPr>
                              <a:rPr lang="ar-AE" sz="2200" i="1">
                                <a:latin typeface="Cambria Math" panose="02040503050406030204" pitchFamily="18" charset="0"/>
                              </a:rPr>
                            </m:ctrlPr>
                          </m:sSubPr>
                          <m:e>
                            <m:r>
                              <a:rPr lang="ar-AE" sz="2200" i="1">
                                <a:latin typeface="Cambria Math" panose="02040503050406030204" pitchFamily="18" charset="0"/>
                              </a:rPr>
                              <m:t>𝑓</m:t>
                            </m:r>
                          </m:e>
                          <m:sub>
                            <m:r>
                              <a:rPr lang="ar-AE" sz="2200" i="1">
                                <a:latin typeface="Cambria Math" panose="02040503050406030204" pitchFamily="18" charset="0"/>
                              </a:rPr>
                              <m:t>𝑖</m:t>
                            </m:r>
                          </m:sub>
                        </m:sSub>
                        <m:d>
                          <m:dPr>
                            <m:ctrlPr>
                              <a:rPr lang="ar-AE" sz="2200" i="1">
                                <a:latin typeface="Cambria Math" panose="02040503050406030204" pitchFamily="18" charset="0"/>
                              </a:rPr>
                            </m:ctrlPr>
                          </m:dPr>
                          <m:e>
                            <m:r>
                              <a:rPr lang="ar-AE" sz="2200" i="1">
                                <a:latin typeface="Cambria Math" panose="02040503050406030204" pitchFamily="18" charset="0"/>
                              </a:rPr>
                              <m:t>𝑥</m:t>
                            </m:r>
                          </m:e>
                        </m:d>
                      </m:e>
                    </m:nary>
                  </m:oMath>
                </a14:m>
                <a:r>
                  <a:rPr lang="ar-AE" sz="2200" dirty="0"/>
                  <a:t>,   </a:t>
                </a:r>
                <a14:m>
                  <m:oMath xmlns:m="http://schemas.openxmlformats.org/officeDocument/2006/math">
                    <m:r>
                      <a:rPr lang="ar-AE" sz="2200" i="1">
                        <a:latin typeface="Cambria Math" panose="02040503050406030204" pitchFamily="18" charset="0"/>
                      </a:rPr>
                      <m:t>𝑦</m:t>
                    </m:r>
                    <m:sSub>
                      <m:sSubPr>
                        <m:ctrlPr>
                          <a:rPr lang="ar-AE" sz="2200" i="1">
                            <a:latin typeface="Cambria Math" panose="02040503050406030204" pitchFamily="18" charset="0"/>
                          </a:rPr>
                        </m:ctrlPr>
                      </m:sSubPr>
                      <m:e>
                        <m:r>
                          <a:rPr lang="ar-AE" sz="2200" i="1">
                            <a:latin typeface="Cambria Math" panose="02040503050406030204" pitchFamily="18" charset="0"/>
                          </a:rPr>
                          <m:t>̂</m:t>
                        </m:r>
                      </m:e>
                      <m:sub>
                        <m:r>
                          <a:rPr lang="ar-AE" sz="2200" i="1">
                            <a:latin typeface="Cambria Math" panose="02040503050406030204" pitchFamily="18" charset="0"/>
                          </a:rPr>
                          <m:t>𝑏𝑜𝑜𝑠𝑡</m:t>
                        </m:r>
                      </m:sub>
                    </m:sSub>
                    <m:r>
                      <a:rPr lang="ar-AE" sz="2200" i="1">
                        <a:latin typeface="Cambria Math" panose="02040503050406030204" pitchFamily="18" charset="0"/>
                      </a:rPr>
                      <m:t>=</m:t>
                    </m:r>
                    <m:nary>
                      <m:naryPr>
                        <m:chr m:val="∑"/>
                        <m:subHide m:val="on"/>
                        <m:supHide m:val="on"/>
                        <m:ctrlPr>
                          <a:rPr lang="ar-AE" sz="2200" i="1">
                            <a:latin typeface="Cambria Math" panose="02040503050406030204" pitchFamily="18" charset="0"/>
                          </a:rPr>
                        </m:ctrlPr>
                      </m:naryPr>
                      <m:sub/>
                      <m:sup/>
                      <m:e>
                        <m:sSub>
                          <m:sSubPr>
                            <m:ctrlPr>
                              <a:rPr lang="ar-AE" sz="2200" i="1">
                                <a:latin typeface="Cambria Math" panose="02040503050406030204" pitchFamily="18" charset="0"/>
                              </a:rPr>
                            </m:ctrlPr>
                          </m:sSubPr>
                          <m:e>
                            <m:r>
                              <a:rPr lang="ar-AE" sz="2200" i="1">
                                <a:latin typeface="Cambria Math" panose="02040503050406030204" pitchFamily="18" charset="0"/>
                              </a:rPr>
                              <m:t>𝛼</m:t>
                            </m:r>
                          </m:e>
                          <m:sub>
                            <m:r>
                              <a:rPr lang="ar-AE" sz="2200" i="1">
                                <a:latin typeface="Cambria Math" panose="02040503050406030204" pitchFamily="18" charset="0"/>
                              </a:rPr>
                              <m:t>𝑖</m:t>
                            </m:r>
                          </m:sub>
                        </m:sSub>
                        <m:sSub>
                          <m:sSubPr>
                            <m:ctrlPr>
                              <a:rPr lang="ar-AE" sz="2200" i="1">
                                <a:latin typeface="Cambria Math" panose="02040503050406030204" pitchFamily="18" charset="0"/>
                              </a:rPr>
                            </m:ctrlPr>
                          </m:sSubPr>
                          <m:e>
                            <m:r>
                              <a:rPr lang="ar-AE" sz="2200" i="1">
                                <a:latin typeface="Cambria Math" panose="02040503050406030204" pitchFamily="18" charset="0"/>
                              </a:rPr>
                              <m:t>𝑓</m:t>
                            </m:r>
                          </m:e>
                          <m:sub>
                            <m:r>
                              <a:rPr lang="ar-AE" sz="2200" i="1">
                                <a:latin typeface="Cambria Math" panose="02040503050406030204" pitchFamily="18" charset="0"/>
                              </a:rPr>
                              <m:t>𝑖</m:t>
                            </m:r>
                          </m:sub>
                        </m:sSub>
                        <m:d>
                          <m:dPr>
                            <m:ctrlPr>
                              <a:rPr lang="ar-AE" sz="2200" i="1">
                                <a:latin typeface="Cambria Math" panose="02040503050406030204" pitchFamily="18" charset="0"/>
                              </a:rPr>
                            </m:ctrlPr>
                          </m:dPr>
                          <m:e>
                            <m:r>
                              <a:rPr lang="ar-AE" sz="2200" i="1">
                                <a:latin typeface="Cambria Math" panose="02040503050406030204" pitchFamily="18" charset="0"/>
                              </a:rPr>
                              <m:t>𝑥</m:t>
                            </m:r>
                          </m:e>
                        </m:d>
                      </m:e>
                    </m:nary>
                  </m:oMath>
                </a14:m>
                <a:r>
                  <a:rPr lang="ar-AE" sz="2200" dirty="0"/>
                  <a:t>, </a:t>
                </a:r>
                <a14:m>
                  <m:oMath xmlns:m="http://schemas.openxmlformats.org/officeDocument/2006/math">
                    <m:sSub>
                      <m:sSubPr>
                        <m:ctrlPr>
                          <a:rPr lang="ar-AE" sz="2200" i="1">
                            <a:latin typeface="Cambria Math" panose="02040503050406030204" pitchFamily="18" charset="0"/>
                          </a:rPr>
                        </m:ctrlPr>
                      </m:sSubPr>
                      <m:e>
                        <m:r>
                          <a:rPr lang="ar-AE" sz="2200" i="1">
                            <a:latin typeface="Cambria Math" panose="02040503050406030204" pitchFamily="18" charset="0"/>
                          </a:rPr>
                          <m:t>𝛼</m:t>
                        </m:r>
                      </m:e>
                      <m:sub>
                        <m:r>
                          <a:rPr lang="ar-AE" sz="2200" i="1">
                            <a:latin typeface="Cambria Math" panose="02040503050406030204" pitchFamily="18" charset="0"/>
                          </a:rPr>
                          <m:t>𝑖</m:t>
                        </m:r>
                      </m:sub>
                    </m:sSub>
                    <m:r>
                      <a:rPr lang="ar-AE" sz="2200" i="1">
                        <a:latin typeface="Cambria Math" panose="02040503050406030204" pitchFamily="18" charset="0"/>
                      </a:rPr>
                      <m:t>=½</m:t>
                    </m:r>
                    <m:r>
                      <a:rPr lang="ar-AE" sz="2200" i="1">
                        <a:latin typeface="Cambria Math" panose="02040503050406030204" pitchFamily="18" charset="0"/>
                      </a:rPr>
                      <m:t>𝑙</m:t>
                    </m:r>
                    <m:func>
                      <m:funcPr>
                        <m:ctrlPr>
                          <a:rPr lang="ar-AE" sz="2200" i="1">
                            <a:latin typeface="Cambria Math" panose="02040503050406030204" pitchFamily="18" charset="0"/>
                          </a:rPr>
                        </m:ctrlPr>
                      </m:funcPr>
                      <m:fName>
                        <m:r>
                          <a:rPr lang="ar-AE" sz="2200" i="1">
                            <a:latin typeface="Cambria Math" panose="02040503050406030204" pitchFamily="18" charset="0"/>
                          </a:rPr>
                          <m:t>𝑛</m:t>
                        </m:r>
                      </m:fName>
                      <m:e>
                        <m:d>
                          <m:dPr>
                            <m:ctrlPr>
                              <a:rPr lang="ar-AE" sz="2200" i="1">
                                <a:latin typeface="Cambria Math" panose="02040503050406030204" pitchFamily="18" charset="0"/>
                              </a:rPr>
                            </m:ctrlPr>
                          </m:dPr>
                          <m:e>
                            <m:d>
                              <m:dPr>
                                <m:ctrlPr>
                                  <a:rPr lang="ar-AE" sz="2200" i="1">
                                    <a:latin typeface="Cambria Math" panose="02040503050406030204" pitchFamily="18" charset="0"/>
                                  </a:rPr>
                                </m:ctrlPr>
                              </m:dPr>
                              <m:e>
                                <m:r>
                                  <a:rPr lang="ar-AE" sz="2200" i="1">
                                    <a:latin typeface="Cambria Math" panose="02040503050406030204" pitchFamily="18" charset="0"/>
                                  </a:rPr>
                                  <m:t>1</m:t>
                                </m:r>
                                <m:r>
                                  <a:rPr lang="ar-AE" sz="2200" i="1">
                                    <a:latin typeface="Cambria Math" panose="02040503050406030204" pitchFamily="18" charset="0"/>
                                  </a:rPr>
                                  <m:t>−</m:t>
                                </m:r>
                                <m:sSub>
                                  <m:sSubPr>
                                    <m:ctrlPr>
                                      <a:rPr lang="ar-AE" sz="2200" i="1">
                                        <a:latin typeface="Cambria Math" panose="02040503050406030204" pitchFamily="18" charset="0"/>
                                      </a:rPr>
                                    </m:ctrlPr>
                                  </m:sSubPr>
                                  <m:e>
                                    <m:r>
                                      <a:rPr lang="ar-AE" sz="2200" i="1">
                                        <a:latin typeface="Cambria Math" panose="02040503050406030204" pitchFamily="18" charset="0"/>
                                      </a:rPr>
                                      <m:t>𝜀</m:t>
                                    </m:r>
                                  </m:e>
                                  <m:sub>
                                    <m:r>
                                      <a:rPr lang="ar-AE" sz="2200" i="1">
                                        <a:latin typeface="Cambria Math" panose="02040503050406030204" pitchFamily="18" charset="0"/>
                                      </a:rPr>
                                      <m:t>𝑖</m:t>
                                    </m:r>
                                  </m:sub>
                                </m:sSub>
                              </m:e>
                            </m:d>
                            <m:r>
                              <m:rPr>
                                <m:lit/>
                              </m:rPr>
                              <a:rPr lang="ar-AE" sz="2200" i="1">
                                <a:latin typeface="Cambria Math" panose="02040503050406030204" pitchFamily="18" charset="0"/>
                              </a:rPr>
                              <m:t>/</m:t>
                            </m:r>
                            <m:sSub>
                              <m:sSubPr>
                                <m:ctrlPr>
                                  <a:rPr lang="ar-AE" sz="2200" i="1">
                                    <a:latin typeface="Cambria Math" panose="02040503050406030204" pitchFamily="18" charset="0"/>
                                  </a:rPr>
                                </m:ctrlPr>
                              </m:sSubPr>
                              <m:e>
                                <m:r>
                                  <a:rPr lang="ar-AE" sz="2200" i="1">
                                    <a:latin typeface="Cambria Math" panose="02040503050406030204" pitchFamily="18" charset="0"/>
                                  </a:rPr>
                                  <m:t>𝜀</m:t>
                                </m:r>
                              </m:e>
                              <m:sub>
                                <m:r>
                                  <a:rPr lang="ar-AE" sz="2200" i="1">
                                    <a:latin typeface="Cambria Math" panose="02040503050406030204" pitchFamily="18" charset="0"/>
                                  </a:rPr>
                                  <m:t>𝑖</m:t>
                                </m:r>
                              </m:sub>
                            </m:sSub>
                          </m:e>
                        </m:d>
                      </m:e>
                    </m:func>
                  </m:oMath>
                </a14:m>
                <a:endParaRPr lang="ar-AE" sz="2200" dirty="0"/>
              </a:p>
              <a:p>
                <a:r>
                  <a:rPr lang="uk-UA" sz="2200" dirty="0"/>
                  <a:t>У роботі адаптовано для оцінки глибини та оптичного потоку</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a:stretch>
              </a:blipFill>
            </p:spPr>
            <p:txBody>
              <a:bodyPr/>
              <a:lstStyle/>
              <a:p>
                <a:r>
                  <a:rPr lang="en-US">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uk-UA" sz="360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79226" y="3329677"/>
                <a:ext cx="9833548" cy="2457269"/>
              </a:xfrm>
            </p:spPr>
            <p:txBody>
              <a:bodyPr>
                <a:normAutofit/>
              </a:bodyPr>
              <a:lstStyle/>
              <a:p>
                <a:r>
                  <a:rPr lang="en-US" sz="1800">
                    <a:solidFill>
                      <a:schemeClr val="tx2"/>
                    </a:solidFill>
                  </a:rPr>
                  <a:t>Lucas-Kanade (</a:t>
                </a:r>
                <a:r>
                  <a:rPr lang="uk-UA" sz="1800">
                    <a:solidFill>
                      <a:schemeClr val="tx2"/>
                    </a:solidFill>
                  </a:rPr>
                  <a:t>локальний): </a:t>
                </a:r>
                <a14:m>
                  <m:oMath xmlns:m="http://schemas.openxmlformats.org/officeDocument/2006/math">
                    <m:r>
                      <a:rPr lang="uk-UA"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 </m:t>
                    </m:r>
                    <m:r>
                      <a:rPr lang="en-US" sz="1800" i="1">
                        <a:solidFill>
                          <a:schemeClr val="tx2"/>
                        </a:solidFill>
                        <a:latin typeface="Cambria Math" panose="02040503050406030204" pitchFamily="18" charset="0"/>
                      </a:rPr>
                      <m:t>𝑣</m:t>
                    </m:r>
                    <m:r>
                      <a:rPr lang="en-US" sz="1800" i="1">
                        <a:solidFill>
                          <a:schemeClr val="tx2"/>
                        </a:solidFill>
                        <a:latin typeface="Cambria Math" panose="02040503050406030204" pitchFamily="18" charset="0"/>
                      </a:rPr>
                      <m:t> = </m:t>
                    </m:r>
                    <m:r>
                      <a:rPr lang="en-US" sz="1800" i="1">
                        <a:solidFill>
                          <a:schemeClr val="tx2"/>
                        </a:solidFill>
                        <a:latin typeface="Cambria Math" panose="02040503050406030204" pitchFamily="18" charset="0"/>
                      </a:rPr>
                      <m:t>𝐴</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𝑏</m:t>
                    </m:r>
                  </m:oMath>
                </a14:m>
                <a:r>
                  <a:rPr lang="en-US" sz="1800">
                    <a:solidFill>
                      <a:schemeClr val="tx2"/>
                    </a:solidFill>
                  </a:rPr>
                  <a:t>, </a:t>
                </a:r>
                <a:r>
                  <a:rPr lang="uk-UA" sz="1800">
                    <a:solidFill>
                      <a:schemeClr val="tx2"/>
                    </a:solidFill>
                  </a:rPr>
                  <a:t>розв'язок МНК</a:t>
                </a:r>
              </a:p>
              <a:p>
                <a:r>
                  <a:rPr lang="en-US" sz="1800">
                    <a:solidFill>
                      <a:schemeClr val="tx2"/>
                    </a:solidFill>
                  </a:rPr>
                  <a:t>Horn-Schunck (</a:t>
                </a:r>
                <a:r>
                  <a:rPr lang="uk-UA" sz="1800">
                    <a:solidFill>
                      <a:schemeClr val="tx2"/>
                    </a:solidFill>
                  </a:rPr>
                  <a:t>глобальний): </a:t>
                </a:r>
                <a14:m>
                  <m:oMath xmlns:m="http://schemas.openxmlformats.org/officeDocument/2006/math">
                    <m:r>
                      <a:rPr lang="uk-UA" sz="1800" i="1">
                        <a:solidFill>
                          <a:schemeClr val="tx2"/>
                        </a:solidFill>
                        <a:latin typeface="Cambria Math" panose="02040503050406030204" pitchFamily="18" charset="0"/>
                      </a:rPr>
                      <m:t>𝐸</m:t>
                    </m:r>
                    <m:r>
                      <a:rPr lang="uk-UA" sz="1800" i="1">
                        <a:solidFill>
                          <a:schemeClr val="tx2"/>
                        </a:solidFill>
                        <a:latin typeface="Cambria Math" panose="02040503050406030204" pitchFamily="18" charset="0"/>
                      </a:rPr>
                      <m:t>=</m:t>
                    </m:r>
                    <m:nary>
                      <m:naryPr>
                        <m:chr m:val="∬"/>
                        <m:subHide m:val="on"/>
                        <m:supHide m:val="on"/>
                        <m:ctrlPr>
                          <a:rPr lang="ar-AE" sz="1800" i="1">
                            <a:solidFill>
                              <a:schemeClr val="tx2"/>
                            </a:solidFill>
                            <a:latin typeface="Cambria Math" panose="02040503050406030204" pitchFamily="18" charset="0"/>
                          </a:rPr>
                        </m:ctrlPr>
                      </m:naryPr>
                      <m:sub/>
                      <m:sup/>
                      <m:e>
                        <m:d>
                          <m:dPr>
                            <m:begChr m:val="["/>
                            <m:endChr m:val="]"/>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𝑥</m:t>
                                        </m:r>
                                      </m:sub>
                                    </m:sSub>
                                    <m:r>
                                      <a:rPr lang="ar-AE" sz="1800" i="1">
                                        <a:solidFill>
                                          <a:schemeClr val="tx2"/>
                                        </a:solidFill>
                                        <a:latin typeface="Cambria Math" panose="02040503050406030204" pitchFamily="18" charset="0"/>
                                      </a:rPr>
                                      <m:t>𝑢</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𝑦</m:t>
                                        </m:r>
                                      </m:sub>
                                    </m:sSub>
                                    <m:r>
                                      <a:rPr lang="ar-AE" sz="1800" i="1">
                                        <a:solidFill>
                                          <a:schemeClr val="tx2"/>
                                        </a:solidFill>
                                        <a:latin typeface="Cambria Math" panose="02040503050406030204" pitchFamily="18" charset="0"/>
                                      </a:rPr>
                                      <m:t>𝑣</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𝐼</m:t>
                                        </m:r>
                                      </m:e>
                                      <m:sub>
                                        <m:r>
                                          <a:rPr lang="ar-AE" sz="1800" i="1">
                                            <a:solidFill>
                                              <a:schemeClr val="tx2"/>
                                            </a:solidFill>
                                            <a:latin typeface="Cambria Math" panose="02040503050406030204" pitchFamily="18" charset="0"/>
                                          </a:rPr>
                                          <m:t>𝑡</m:t>
                                        </m:r>
                                      </m:sub>
                                    </m:sSub>
                                  </m:e>
                                </m:d>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𝛼</m:t>
                                </m:r>
                              </m:e>
                              <m:sup>
                                <m:r>
                                  <a:rPr lang="ar-AE" sz="1800" i="1">
                                    <a:solidFill>
                                      <a:schemeClr val="tx2"/>
                                    </a:solidFill>
                                    <a:latin typeface="Cambria Math" panose="02040503050406030204" pitchFamily="18" charset="0"/>
                                  </a:rPr>
                                  <m:t>2</m:t>
                                </m:r>
                              </m:sup>
                            </m:sSup>
                            <m:d>
                              <m:dPr>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r>
                                          <m:rPr>
                                            <m:sty m:val="p"/>
                                          </m:rPr>
                                          <a:rPr lang="ar-AE" sz="1800" i="0">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𝑢</m:t>
                                        </m:r>
                                      </m:e>
                                    </m:d>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r>
                                          <m:rPr>
                                            <m:sty m:val="p"/>
                                          </m:rPr>
                                          <a:rPr lang="ar-AE" sz="1800" i="0">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𝑣</m:t>
                                        </m:r>
                                      </m:e>
                                    </m:d>
                                  </m:e>
                                  <m:sup>
                                    <m:r>
                                      <a:rPr lang="ar-AE" sz="1800" i="1">
                                        <a:solidFill>
                                          <a:schemeClr val="tx2"/>
                                        </a:solidFill>
                                        <a:latin typeface="Cambria Math" panose="02040503050406030204" pitchFamily="18" charset="0"/>
                                      </a:rPr>
                                      <m:t>2</m:t>
                                    </m:r>
                                  </m:sup>
                                </m:sSup>
                              </m:e>
                            </m:d>
                          </m:e>
                        </m:d>
                        <m:r>
                          <a:rPr lang="ar-AE" sz="1800" i="1">
                            <a:solidFill>
                              <a:schemeClr val="tx2"/>
                            </a:solidFill>
                            <a:latin typeface="Cambria Math" panose="02040503050406030204" pitchFamily="18" charset="0"/>
                          </a:rPr>
                          <m:t>𝑑𝑥𝑑𝑦</m:t>
                        </m:r>
                      </m:e>
                    </m:nary>
                  </m:oMath>
                </a14:m>
                <a:endParaRPr lang="ar-AE" sz="1800">
                  <a:solidFill>
                    <a:schemeClr val="tx2"/>
                  </a:solidFill>
                </a:endParaRPr>
              </a:p>
              <a:p>
                <a:r>
                  <a:rPr lang="en-US" sz="1800">
                    <a:solidFill>
                      <a:schemeClr val="tx2"/>
                    </a:solidFill>
                  </a:rPr>
                  <a:t>Farneback (</a:t>
                </a:r>
                <a:r>
                  <a:rPr lang="uk-UA" sz="1800">
                    <a:solidFill>
                      <a:schemeClr val="tx2"/>
                    </a:solidFill>
                  </a:rPr>
                  <a:t>поліноміальний): </a:t>
                </a:r>
                <a14:m>
                  <m:oMath xmlns:m="http://schemas.openxmlformats.org/officeDocument/2006/math">
                    <m:r>
                      <a:rPr lang="uk-UA" sz="1800" i="1">
                        <a:solidFill>
                          <a:schemeClr val="tx2"/>
                        </a:solidFill>
                        <a:latin typeface="Cambria Math" panose="02040503050406030204" pitchFamily="18" charset="0"/>
                      </a:rPr>
                      <m:t>𝑓</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𝑥</m:t>
                        </m:r>
                      </m:e>
                    </m:d>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𝑥</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𝐴𝑥</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𝑏</m:t>
                    </m:r>
                    <m:r>
                      <a:rPr lang="en-US" sz="1800" i="1">
                        <a:solidFill>
                          <a:schemeClr val="tx2"/>
                        </a:solidFill>
                        <a:latin typeface="Cambria Math" panose="02040503050406030204" pitchFamily="18" charset="0"/>
                      </a:rPr>
                      <m:t>ᵀ</m:t>
                    </m:r>
                    <m:r>
                      <a:rPr lang="en-US" sz="1800" i="1">
                        <a:solidFill>
                          <a:schemeClr val="tx2"/>
                        </a:solidFill>
                        <a:latin typeface="Cambria Math" panose="02040503050406030204" pitchFamily="18" charset="0"/>
                      </a:rPr>
                      <m:t>𝑥</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𝑐</m:t>
                    </m:r>
                    <m:r>
                      <a:rPr lang="en-US" sz="1800" i="1">
                        <a:solidFill>
                          <a:schemeClr val="tx2"/>
                        </a:solidFill>
                        <a:latin typeface="Cambria Math" panose="02040503050406030204" pitchFamily="18" charset="0"/>
                      </a:rPr>
                      <m:t>,</m:t>
                    </m:r>
                    <m:r>
                      <a:rPr lang="en-US" sz="1800" i="1">
                        <a:solidFill>
                          <a:schemeClr val="tx2"/>
                        </a:solidFill>
                        <a:latin typeface="Cambria Math" panose="02040503050406030204" pitchFamily="18" charset="0"/>
                      </a:rPr>
                      <m:t>𝑑</m:t>
                    </m:r>
                    <m:r>
                      <a:rPr lang="en-US" sz="1800" i="1">
                        <a:solidFill>
                          <a:schemeClr val="tx2"/>
                        </a:solidFill>
                        <a:latin typeface="Cambria Math" panose="02040503050406030204" pitchFamily="18" charset="0"/>
                      </a:rPr>
                      <m:t>=−½</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𝐴</m:t>
                        </m:r>
                      </m:e>
                      <m:sup>
                        <m:r>
                          <a:rPr lang="ar-AE" sz="1800" i="1">
                            <a:solidFill>
                              <a:schemeClr val="tx2"/>
                            </a:solidFill>
                            <a:latin typeface="Cambria Math" panose="02040503050406030204" pitchFamily="18" charset="0"/>
                          </a:rPr>
                          <m:t>1</m:t>
                        </m:r>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1</m:t>
                        </m:r>
                      </m:sup>
                    </m:sSup>
                    <m:d>
                      <m:dPr>
                        <m:ctrlPr>
                          <a:rPr lang="ar-AE" sz="1800" i="1">
                            <a:solidFill>
                              <a:schemeClr val="tx2"/>
                            </a:solidFill>
                            <a:latin typeface="Cambria Math" panose="02040503050406030204" pitchFamily="18" charset="0"/>
                          </a:rPr>
                        </m:ctrlPr>
                      </m:dPr>
                      <m:e>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𝑏</m:t>
                            </m:r>
                          </m:e>
                          <m:sup>
                            <m:r>
                              <a:rPr lang="ar-AE" sz="1800" i="1">
                                <a:solidFill>
                                  <a:schemeClr val="tx2"/>
                                </a:solidFill>
                                <a:latin typeface="Cambria Math" panose="02040503050406030204" pitchFamily="18" charset="0"/>
                              </a:rPr>
                              <m:t>2</m:t>
                            </m:r>
                          </m:sup>
                        </m:sSup>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𝑏</m:t>
                            </m:r>
                          </m:e>
                          <m:sup>
                            <m:r>
                              <a:rPr lang="ar-AE" sz="1800" i="1">
                                <a:solidFill>
                                  <a:schemeClr val="tx2"/>
                                </a:solidFill>
                                <a:latin typeface="Cambria Math" panose="02040503050406030204" pitchFamily="18" charset="0"/>
                              </a:rPr>
                              <m:t>1</m:t>
                            </m:r>
                          </m:sup>
                        </m:sSup>
                      </m:e>
                    </m:d>
                  </m:oMath>
                </a14:m>
                <a:endParaRPr lang="ar-AE" sz="1800">
                  <a:solidFill>
                    <a:schemeClr val="tx2"/>
                  </a:solidFill>
                </a:endParaRPr>
              </a:p>
              <a:p>
                <a:r>
                  <a:rPr lang="uk-UA" sz="1800">
                    <a:solidFill>
                      <a:schemeClr val="tx2"/>
                    </a:solidFill>
                  </a:rPr>
                  <a:t>Нейромережеві: </a:t>
                </a:r>
                <a:r>
                  <a:rPr lang="en-US" sz="1800">
                    <a:solidFill>
                      <a:schemeClr val="tx2"/>
                    </a:solidFill>
                  </a:rPr>
                  <a:t>FlowNet (end-to-end), RAFT (</a:t>
                </a:r>
                <a:r>
                  <a:rPr lang="uk-UA" sz="1800">
                    <a:solidFill>
                      <a:schemeClr val="tx2"/>
                    </a:solidFill>
                  </a:rPr>
                  <a:t>рекурентний), </a:t>
                </a:r>
                <a:r>
                  <a:rPr lang="en-US" sz="1800">
                    <a:solidFill>
                      <a:schemeClr val="tx2"/>
                    </a:solidFill>
                  </a:rPr>
                  <a:t>GeoNet (</a:t>
                </a:r>
                <a:r>
                  <a:rPr lang="uk-UA" sz="1800">
                    <a:solidFill>
                      <a:schemeClr val="tx2"/>
                    </a:solidFill>
                  </a:rPr>
                  <a:t>сумісна оцінка)</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t="-4963"/>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uk-UA" sz="3600">
                <a:solidFill>
                  <a:schemeClr val="tx2"/>
                </a:solidFill>
              </a:rPr>
              <a:t>Нейромережеві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179226" y="3329677"/>
                <a:ext cx="9833548" cy="2457269"/>
              </a:xfrm>
            </p:spPr>
            <p:txBody>
              <a:bodyPr>
                <a:normAutofit/>
              </a:bodyPr>
              <a:lstStyle/>
              <a:p>
                <a:r>
                  <a:rPr lang="en-US" sz="1800" dirty="0" err="1">
                    <a:solidFill>
                      <a:schemeClr val="tx2"/>
                    </a:solidFill>
                  </a:rPr>
                  <a:t>FlowNet</a:t>
                </a:r>
                <a:r>
                  <a:rPr lang="en-US" sz="1800" dirty="0">
                    <a:solidFill>
                      <a:schemeClr val="tx2"/>
                    </a:solidFill>
                  </a:rPr>
                  <a:t>: </a:t>
                </a:r>
                <a:r>
                  <a:rPr lang="uk-UA" sz="1800" dirty="0" err="1">
                    <a:solidFill>
                      <a:schemeClr val="tx2"/>
                    </a:solidFill>
                  </a:rPr>
                  <a:t>енкодер</a:t>
                </a:r>
                <a:r>
                  <a:rPr lang="uk-UA" sz="1800" dirty="0">
                    <a:solidFill>
                      <a:schemeClr val="tx2"/>
                    </a:solidFill>
                  </a:rPr>
                  <a:t>-декодер, втрата </a:t>
                </a:r>
                <a14:m>
                  <m:oMath xmlns:m="http://schemas.openxmlformats.org/officeDocument/2006/math">
                    <m:r>
                      <a:rPr lang="uk-UA" sz="1800" i="1">
                        <a:solidFill>
                          <a:schemeClr val="tx2"/>
                        </a:solidFill>
                        <a:latin typeface="Cambria Math" panose="02040503050406030204" pitchFamily="18" charset="0"/>
                      </a:rPr>
                      <m:t>𝐸𝑃𝐸</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1</m:t>
                        </m:r>
                        <m:r>
                          <m:rPr>
                            <m:lit/>
                          </m:rP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𝑁</m:t>
                        </m:r>
                      </m:e>
                    </m:d>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d>
                          <m:dPr>
                            <m:begChr m:val="‖"/>
                            <m:endChr m:val="‖"/>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𝐹</m:t>
                                </m:r>
                              </m:e>
                              <m:sub>
                                <m:r>
                                  <a:rPr lang="ar-AE" sz="1800" i="1">
                                    <a:solidFill>
                                      <a:schemeClr val="tx2"/>
                                    </a:solidFill>
                                    <a:latin typeface="Cambria Math" panose="02040503050406030204" pitchFamily="18" charset="0"/>
                                  </a:rPr>
                                  <m:t>𝑝𝑟𝑒𝑑</m:t>
                                </m:r>
                              </m:sub>
                            </m:sSub>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𝐹</m:t>
                                </m:r>
                              </m:e>
                              <m:sub>
                                <m:r>
                                  <a:rPr lang="ar-AE" sz="1800" i="1">
                                    <a:solidFill>
                                      <a:schemeClr val="tx2"/>
                                    </a:solidFill>
                                    <a:latin typeface="Cambria Math" panose="02040503050406030204" pitchFamily="18" charset="0"/>
                                  </a:rPr>
                                  <m:t>𝑔𝑡</m:t>
                                </m:r>
                              </m:sub>
                            </m:sSub>
                          </m:e>
                        </m:d>
                      </m:e>
                      <m:sup>
                        <m:r>
                          <a:rPr lang="ar-AE" sz="1800" i="1">
                            <a:solidFill>
                              <a:schemeClr val="tx2"/>
                            </a:solidFill>
                            <a:latin typeface="Cambria Math" panose="02040503050406030204" pitchFamily="18" charset="0"/>
                          </a:rPr>
                          <m:t>2</m:t>
                        </m:r>
                      </m:sup>
                    </m:sSup>
                  </m:oMath>
                </a14:m>
                <a:endParaRPr lang="ar-AE" sz="1800" dirty="0">
                  <a:solidFill>
                    <a:schemeClr val="tx2"/>
                  </a:solidFill>
                </a:endParaRPr>
              </a:p>
              <a:p>
                <a:r>
                  <a:rPr lang="en-US" sz="1800" dirty="0">
                    <a:solidFill>
                      <a:schemeClr val="tx2"/>
                    </a:solidFill>
                  </a:rPr>
                  <a:t>RAFT: </a:t>
                </a:r>
                <a:r>
                  <a:rPr lang="uk-UA" sz="1800" dirty="0">
                    <a:solidFill>
                      <a:schemeClr val="tx2"/>
                    </a:solidFill>
                  </a:rPr>
                  <a:t>кореляційний об'єм </a:t>
                </a:r>
                <a14:m>
                  <m:oMath xmlns:m="http://schemas.openxmlformats.org/officeDocument/2006/math">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𝐶</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𝑗𝑘𝑙</m:t>
                    </m:r>
                    <m:r>
                      <a:rPr lang="ar-AE" sz="1800" i="1">
                        <a:solidFill>
                          <a:schemeClr val="tx2"/>
                        </a:solidFill>
                        <a:latin typeface="Cambria Math" panose="02040503050406030204" pitchFamily="18" charset="0"/>
                      </a:rPr>
                      <m:t>=</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1</m:t>
                        </m:r>
                        <m:r>
                          <m:rPr>
                            <m:lit/>
                          </m:rPr>
                          <a:rPr lang="ar-AE" sz="1800" i="1">
                            <a:solidFill>
                              <a:schemeClr val="tx2"/>
                            </a:solidFill>
                            <a:latin typeface="Cambria Math" panose="02040503050406030204" pitchFamily="18" charset="0"/>
                          </a:rPr>
                          <m:t>/</m:t>
                        </m:r>
                        <m:rad>
                          <m:radPr>
                            <m:degHide m:val="on"/>
                            <m:ctrlPr>
                              <a:rPr lang="ar-AE" sz="1800" i="1">
                                <a:solidFill>
                                  <a:schemeClr val="tx2"/>
                                </a:solidFill>
                                <a:latin typeface="Cambria Math" panose="02040503050406030204" pitchFamily="18" charset="0"/>
                              </a:rPr>
                            </m:ctrlPr>
                          </m:radPr>
                          <m:deg/>
                          <m:e>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𝐻𝑊</m:t>
                                </m:r>
                              </m:e>
                            </m:d>
                          </m:e>
                        </m:rad>
                      </m:e>
                    </m:d>
                    <m:nary>
                      <m:naryPr>
                        <m:chr m:val="∑"/>
                        <m:subHide m:val="on"/>
                        <m:supHide m:val="on"/>
                        <m:ctrlPr>
                          <a:rPr lang="ar-AE" sz="1800" i="1">
                            <a:solidFill>
                              <a:schemeClr val="tx2"/>
                            </a:solidFill>
                            <a:latin typeface="Cambria Math" panose="02040503050406030204" pitchFamily="18" charset="0"/>
                          </a:rPr>
                        </m:ctrlPr>
                      </m:naryPr>
                      <m:sub/>
                      <m:sup/>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𝑓</m:t>
                            </m:r>
                          </m:e>
                          <m:sub>
                            <m:r>
                              <a:rPr lang="ar-AE" sz="1800" i="1">
                                <a:solidFill>
                                  <a:schemeClr val="tx2"/>
                                </a:solidFill>
                                <a:latin typeface="Cambria Math" panose="02040503050406030204" pitchFamily="18" charset="0"/>
                              </a:rPr>
                              <m:t>𝑖𝑗</m:t>
                            </m:r>
                            <m:r>
                              <a:rPr lang="ar-AE" sz="1800" i="1">
                                <a:solidFill>
                                  <a:schemeClr val="tx2"/>
                                </a:solidFill>
                                <a:latin typeface="Cambria Math" panose="02040503050406030204" pitchFamily="18" charset="0"/>
                              </a:rPr>
                              <m:t>h</m:t>
                            </m:r>
                            <m:r>
                              <a:rPr lang="ar-AE" sz="1800" i="1">
                                <a:solidFill>
                                  <a:schemeClr val="tx2"/>
                                </a:solidFill>
                                <a:latin typeface="Cambria Math" panose="02040503050406030204" pitchFamily="18" charset="0"/>
                              </a:rPr>
                              <m:t>𝑤</m:t>
                            </m:r>
                          </m:sub>
                        </m:sSub>
                      </m:e>
                    </m:nary>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𝑔</m:t>
                        </m:r>
                      </m:e>
                      <m:sub>
                        <m:r>
                          <a:rPr lang="ar-AE" sz="1800" i="1">
                            <a:solidFill>
                              <a:schemeClr val="tx2"/>
                            </a:solidFill>
                            <a:latin typeface="Cambria Math" panose="02040503050406030204" pitchFamily="18" charset="0"/>
                          </a:rPr>
                          <m:t>𝑘𝑙</m:t>
                        </m:r>
                        <m:r>
                          <a:rPr lang="ar-AE" sz="1800" i="1">
                            <a:solidFill>
                              <a:schemeClr val="tx2"/>
                            </a:solidFill>
                            <a:latin typeface="Cambria Math" panose="02040503050406030204" pitchFamily="18" charset="0"/>
                          </a:rPr>
                          <m:t>h</m:t>
                        </m:r>
                        <m:r>
                          <a:rPr lang="ar-AE" sz="1800" i="1">
                            <a:solidFill>
                              <a:schemeClr val="tx2"/>
                            </a:solidFill>
                            <a:latin typeface="Cambria Math" panose="02040503050406030204" pitchFamily="18" charset="0"/>
                          </a:rPr>
                          <m:t>𝑤</m:t>
                        </m:r>
                      </m:sub>
                    </m:sSub>
                  </m:oMath>
                </a14:m>
                <a:r>
                  <a:rPr lang="ar-AE" sz="1800" dirty="0">
                    <a:solidFill>
                      <a:schemeClr val="tx2"/>
                    </a:solidFill>
                  </a:rPr>
                  <a:t>, </a:t>
                </a:r>
                <a:r>
                  <a:rPr lang="en-US" sz="1800" dirty="0">
                    <a:solidFill>
                      <a:schemeClr val="tx2"/>
                    </a:solidFill>
                  </a:rPr>
                  <a:t>GRU-</a:t>
                </a:r>
                <a:r>
                  <a:rPr lang="uk-UA" sz="1800" dirty="0">
                    <a:solidFill>
                      <a:schemeClr val="tx2"/>
                    </a:solidFill>
                  </a:rPr>
                  <a:t>оновлення</a:t>
                </a:r>
              </a:p>
              <a:p>
                <a:r>
                  <a:rPr lang="en-US" sz="1800" dirty="0" err="1">
                    <a:solidFill>
                      <a:schemeClr val="tx2"/>
                    </a:solidFill>
                  </a:rPr>
                  <a:t>GeoNet</a:t>
                </a:r>
                <a:r>
                  <a:rPr lang="en-US" sz="1800" dirty="0">
                    <a:solidFill>
                      <a:schemeClr val="tx2"/>
                    </a:solidFill>
                  </a:rPr>
                  <a:t>: </a:t>
                </a:r>
                <a:r>
                  <a:rPr lang="uk-UA" sz="1800" dirty="0">
                    <a:solidFill>
                      <a:schemeClr val="tx2"/>
                    </a:solidFill>
                  </a:rPr>
                  <a:t>сумісна оцінка глибини та оптичного потоку з геометричними обмеженнями</a:t>
                </a:r>
              </a:p>
              <a:p>
                <a:r>
                  <a:rPr lang="en-US" sz="1800" dirty="0">
                    <a:solidFill>
                      <a:schemeClr val="tx2"/>
                    </a:solidFill>
                  </a:rPr>
                  <a:t>DETR: </a:t>
                </a:r>
                <a:r>
                  <a:rPr lang="uk-UA" sz="1800" dirty="0" err="1">
                    <a:solidFill>
                      <a:schemeClr val="tx2"/>
                    </a:solidFill>
                  </a:rPr>
                  <a:t>трансформер</a:t>
                </a:r>
                <a:r>
                  <a:rPr lang="uk-UA" sz="1800" dirty="0">
                    <a:solidFill>
                      <a:schemeClr val="tx2"/>
                    </a:solidFill>
                  </a:rPr>
                  <a:t> для виявлення об'єктів, угорська втрата для парування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09898"/>
            <a:ext cx="9942716" cy="1554480"/>
          </a:xfrm>
        </p:spPr>
        <p:txBody>
          <a:bodyPr anchor="ctr">
            <a:normAutofit/>
          </a:bodyPr>
          <a:lstStyle/>
          <a:p>
            <a:r>
              <a:rPr lang="uk-UA" sz="4800"/>
              <a:t>Ансамблеві методи (</a:t>
            </a:r>
            <a:r>
              <a:rPr lang="en-US" sz="4800"/>
              <a:t>Bagging, Boosting)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045028" y="3017522"/>
                <a:ext cx="9941319" cy="3124658"/>
              </a:xfrm>
            </p:spPr>
            <p:txBody>
              <a:bodyPr anchor="ctr">
                <a:normAutofit/>
              </a:bodyPr>
              <a:lstStyle/>
              <a:p>
                <a:r>
                  <a:rPr lang="en-US" sz="2400" dirty="0"/>
                  <a:t>Bagging: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𝑏𝑎𝑔</m:t>
                        </m:r>
                      </m:sub>
                    </m:sSub>
                    <m:d>
                      <m:dPr>
                        <m:ctrlPr>
                          <a:rPr lang="ar-AE" sz="2400" i="1">
                            <a:latin typeface="Cambria Math" panose="02040503050406030204" pitchFamily="18" charset="0"/>
                          </a:rPr>
                        </m:ctrlPr>
                      </m:dPr>
                      <m:e>
                        <m:r>
                          <a:rPr lang="ar-AE" sz="2400" i="1">
                            <a:latin typeface="Cambria Math" panose="02040503050406030204" pitchFamily="18" charset="0"/>
                          </a:rPr>
                          <m:t>𝑥</m:t>
                        </m:r>
                        <m:r>
                          <a:rPr lang="ar-AE" sz="2400" i="1">
                            <a:latin typeface="Cambria Math" panose="02040503050406030204" pitchFamily="18" charset="0"/>
                          </a:rPr>
                          <m:t>,</m:t>
                        </m:r>
                        <m:r>
                          <a:rPr lang="ar-AE" sz="2400" i="1">
                            <a:latin typeface="Cambria Math" panose="02040503050406030204" pitchFamily="18" charset="0"/>
                          </a:rPr>
                          <m:t>𝑦</m:t>
                        </m:r>
                      </m:e>
                    </m:d>
                    <m:r>
                      <a:rPr lang="ar-AE" sz="2400" i="1">
                        <a:latin typeface="Cambria Math" panose="02040503050406030204" pitchFamily="18" charset="0"/>
                      </a:rPr>
                      <m:t>=</m:t>
                    </m:r>
                    <m:d>
                      <m:dPr>
                        <m:ctrlPr>
                          <a:rPr lang="ar-AE" sz="2400" i="1">
                            <a:latin typeface="Cambria Math" panose="02040503050406030204" pitchFamily="18" charset="0"/>
                          </a:rPr>
                        </m:ctrlPr>
                      </m:dPr>
                      <m:e>
                        <m:r>
                          <a:rPr lang="ar-AE" sz="2400" i="1">
                            <a:latin typeface="Cambria Math" panose="02040503050406030204" pitchFamily="18" charset="0"/>
                          </a:rPr>
                          <m:t>1</m:t>
                        </m:r>
                        <m:r>
                          <m:rPr>
                            <m:lit/>
                          </m:rPr>
                          <a:rPr lang="ar-AE" sz="2400" i="1">
                            <a:latin typeface="Cambria Math" panose="02040503050406030204" pitchFamily="18" charset="0"/>
                          </a:rPr>
                          <m:t>/</m:t>
                        </m:r>
                        <m:r>
                          <a:rPr lang="ar-AE" sz="2400" i="1">
                            <a:latin typeface="Cambria Math" panose="02040503050406030204" pitchFamily="18" charset="0"/>
                          </a:rPr>
                          <m:t>𝑀</m:t>
                        </m:r>
                      </m:e>
                    </m:d>
                    <m:nary>
                      <m:naryPr>
                        <m:chr m:val="∑"/>
                        <m:subHide m:val="on"/>
                        <m:supHide m:val="on"/>
                        <m:ctrlPr>
                          <a:rPr lang="ar-AE" sz="2400" i="1">
                            <a:latin typeface="Cambria Math" panose="02040503050406030204" pitchFamily="18" charset="0"/>
                          </a:rPr>
                        </m:ctrlPr>
                      </m:naryPr>
                      <m:sub/>
                      <m:sup/>
                      <m:e>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𝑖</m:t>
                            </m:r>
                          </m:sub>
                        </m:sSub>
                        <m:d>
                          <m:dPr>
                            <m:ctrlPr>
                              <a:rPr lang="ar-AE" sz="2400" i="1">
                                <a:latin typeface="Cambria Math" panose="02040503050406030204" pitchFamily="18" charset="0"/>
                              </a:rPr>
                            </m:ctrlPr>
                          </m:dPr>
                          <m:e>
                            <m:r>
                              <a:rPr lang="ar-AE" sz="2400" i="1">
                                <a:latin typeface="Cambria Math" panose="02040503050406030204" pitchFamily="18" charset="0"/>
                              </a:rPr>
                              <m:t>𝑥</m:t>
                            </m:r>
                            <m:r>
                              <a:rPr lang="ar-AE" sz="2400" i="1">
                                <a:latin typeface="Cambria Math" panose="02040503050406030204" pitchFamily="18" charset="0"/>
                              </a:rPr>
                              <m:t>,</m:t>
                            </m:r>
                            <m:r>
                              <a:rPr lang="ar-AE" sz="2400" i="1">
                                <a:latin typeface="Cambria Math" panose="02040503050406030204" pitchFamily="18" charset="0"/>
                              </a:rPr>
                              <m:t>𝑦</m:t>
                            </m:r>
                          </m:e>
                        </m:d>
                      </m:e>
                    </m:nary>
                  </m:oMath>
                </a14:m>
                <a:r>
                  <a:rPr lang="ar-AE" sz="2400" dirty="0"/>
                  <a:t>– </a:t>
                </a:r>
                <a:r>
                  <a:rPr lang="uk-UA" sz="2400" dirty="0"/>
                  <a:t>усереднення карт глибини</a:t>
                </a:r>
              </a:p>
              <a:p>
                <a:r>
                  <a:rPr lang="en-US" sz="2400" dirty="0"/>
                  <a:t>Boosting: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𝐷</m:t>
                        </m:r>
                      </m:e>
                      <m:sub>
                        <m:r>
                          <a:rPr lang="ar-AE" sz="2400" i="1">
                            <a:latin typeface="Cambria Math" panose="02040503050406030204" pitchFamily="18" charset="0"/>
                          </a:rPr>
                          <m:t>𝑓</m:t>
                        </m:r>
                      </m:sub>
                    </m:sSub>
                    <m:r>
                      <a:rPr lang="ar-AE" sz="2400" i="1">
                        <a:latin typeface="Cambria Math" panose="02040503050406030204" pitchFamily="18" charset="0"/>
                      </a:rPr>
                      <m:t>𝑖𝑛𝑎𝑙</m:t>
                    </m:r>
                    <m:d>
                      <m:dPr>
                        <m:ctrlPr>
                          <a:rPr lang="ar-AE" sz="2400" i="1">
                            <a:latin typeface="Cambria Math" panose="02040503050406030204" pitchFamily="18" charset="0"/>
                          </a:rPr>
                        </m:ctrlPr>
                      </m:dPr>
                      <m:e>
                        <m:r>
                          <a:rPr lang="ar-AE" sz="2400" i="1">
                            <a:latin typeface="Cambria Math" panose="02040503050406030204" pitchFamily="18" charset="0"/>
                          </a:rPr>
                          <m:t>𝑥</m:t>
                        </m:r>
                      </m:e>
                    </m:d>
                    <m:r>
                      <a:rPr lang="ar-AE" sz="2400" i="1">
                        <a:latin typeface="Cambria Math" panose="02040503050406030204" pitchFamily="18" charset="0"/>
                      </a:rPr>
                      <m:t>=</m:t>
                    </m:r>
                    <m:sSup>
                      <m:sSupPr>
                        <m:ctrlPr>
                          <a:rPr lang="ar-AE" sz="2400" i="1">
                            <a:latin typeface="Cambria Math" panose="02040503050406030204" pitchFamily="18" charset="0"/>
                          </a:rPr>
                        </m:ctrlPr>
                      </m:sSupPr>
                      <m:e>
                        <m:r>
                          <a:rPr lang="ar-AE" sz="2400" i="1">
                            <a:latin typeface="Cambria Math" panose="02040503050406030204" pitchFamily="18" charset="0"/>
                          </a:rPr>
                          <m:t>𝐷</m:t>
                        </m:r>
                      </m:e>
                      <m:sup>
                        <m:r>
                          <a:rPr lang="ar-AE" sz="2400" i="1">
                            <a:latin typeface="Cambria Math" panose="02040503050406030204" pitchFamily="18" charset="0"/>
                          </a:rPr>
                          <m:t>1</m:t>
                        </m:r>
                      </m:sup>
                    </m:sSup>
                    <m:d>
                      <m:dPr>
                        <m:ctrlPr>
                          <a:rPr lang="ar-AE" sz="2400" i="1">
                            <a:latin typeface="Cambria Math" panose="02040503050406030204" pitchFamily="18" charset="0"/>
                          </a:rPr>
                        </m:ctrlPr>
                      </m:dPr>
                      <m:e>
                        <m:r>
                          <a:rPr lang="ar-AE" sz="2400" i="1">
                            <a:latin typeface="Cambria Math" panose="02040503050406030204" pitchFamily="18" charset="0"/>
                          </a:rPr>
                          <m:t>𝑥</m:t>
                        </m:r>
                      </m:e>
                    </m:d>
                  </m:oMath>
                </a14:m>
                <a:r>
                  <a:rPr lang="uk-UA" sz="2400" dirty="0"/>
                  <a:t>якщо </a:t>
                </a:r>
                <a14:m>
                  <m:oMath xmlns:m="http://schemas.openxmlformats.org/officeDocument/2006/math">
                    <m:r>
                      <a:rPr lang="uk-UA" sz="2400" i="1">
                        <a:latin typeface="Cambria Math" panose="02040503050406030204" pitchFamily="18" charset="0"/>
                      </a:rPr>
                      <m:t>|</m:t>
                    </m:r>
                    <m:r>
                      <m:rPr>
                        <m:sty m:val="p"/>
                      </m:rPr>
                      <a:rPr lang="uk-UA" sz="2400" i="0">
                        <a:latin typeface="Cambria Math" panose="02040503050406030204" pitchFamily="18" charset="0"/>
                      </a:rPr>
                      <m:t>∇</m:t>
                    </m:r>
                    <m:r>
                      <a:rPr lang="uk-UA" sz="2400" i="1">
                        <a:latin typeface="Cambria Math" panose="02040503050406030204" pitchFamily="18" charset="0"/>
                      </a:rPr>
                      <m:t>𝐷</m:t>
                    </m:r>
                    <m:r>
                      <a:rPr lang="uk-UA" sz="2400" i="1">
                        <a:latin typeface="Cambria Math" panose="02040503050406030204" pitchFamily="18" charset="0"/>
                      </a:rPr>
                      <m:t>₁</m:t>
                    </m:r>
                    <m:r>
                      <a:rPr lang="uk-UA" sz="2400" i="1">
                        <a:latin typeface="Cambria Math" panose="02040503050406030204" pitchFamily="18" charset="0"/>
                      </a:rPr>
                      <m:t>(</m:t>
                    </m:r>
                    <m:r>
                      <a:rPr lang="uk-UA" sz="2400" i="1">
                        <a:latin typeface="Cambria Math" panose="02040503050406030204" pitchFamily="18" charset="0"/>
                      </a:rPr>
                      <m:t>𝑥</m:t>
                    </m:r>
                    <m:r>
                      <a:rPr lang="uk-UA" sz="2400" i="1">
                        <a:latin typeface="Cambria Math" panose="02040503050406030204" pitchFamily="18" charset="0"/>
                      </a:rPr>
                      <m:t>)|≤</m:t>
                    </m:r>
                    <m:r>
                      <a:rPr lang="uk-UA" sz="2400" i="1">
                        <a:latin typeface="Cambria Math" panose="02040503050406030204" pitchFamily="18" charset="0"/>
                      </a:rPr>
                      <m:t>𝜏</m:t>
                    </m:r>
                  </m:oMath>
                </a14:m>
                <a:r>
                  <a:rPr lang="uk-UA" sz="2400" dirty="0"/>
                  <a:t>, інакше </a:t>
                </a:r>
                <a14:m>
                  <m:oMath xmlns:m="http://schemas.openxmlformats.org/officeDocument/2006/math">
                    <m:r>
                      <a:rPr lang="uk-UA" sz="2400" i="1">
                        <a:latin typeface="Cambria Math" panose="02040503050406030204" pitchFamily="18" charset="0"/>
                      </a:rPr>
                      <m:t>𝐷</m:t>
                    </m:r>
                    <m:r>
                      <a:rPr lang="uk-UA" sz="2400" i="1">
                        <a:latin typeface="Cambria Math" panose="02040503050406030204" pitchFamily="18" charset="0"/>
                      </a:rPr>
                      <m:t>₂</m:t>
                    </m:r>
                    <m:r>
                      <a:rPr lang="uk-UA" sz="2400" i="1">
                        <a:latin typeface="Cambria Math" panose="02040503050406030204" pitchFamily="18" charset="0"/>
                      </a:rPr>
                      <m:t>(</m:t>
                    </m:r>
                    <m:r>
                      <a:rPr lang="uk-UA" sz="2400" i="1">
                        <a:latin typeface="Cambria Math" panose="02040503050406030204" pitchFamily="18" charset="0"/>
                      </a:rPr>
                      <m:t>𝑥</m:t>
                    </m:r>
                    <m:r>
                      <a:rPr lang="uk-UA" sz="2400" i="1">
                        <a:latin typeface="Cambria Math" panose="02040503050406030204" pitchFamily="18" charset="0"/>
                      </a:rPr>
                      <m:t>)</m:t>
                    </m:r>
                  </m:oMath>
                </a14:m>
                <a:r>
                  <a:rPr lang="uk-UA" sz="2400" dirty="0"/>
                  <a:t> (адаптивне комбінування)</a:t>
                </a:r>
              </a:p>
              <a:p>
                <a:r>
                  <a:rPr lang="uk-UA" sz="2400" dirty="0"/>
                  <a:t>Вага моделі в </a:t>
                </a:r>
                <a:r>
                  <a:rPr lang="uk-UA" sz="2400" dirty="0" err="1"/>
                  <a:t>бустингу</a:t>
                </a:r>
                <a:r>
                  <a:rPr lang="uk-UA" sz="2400" dirty="0"/>
                  <a:t>: </a:t>
                </a:r>
                <a14:m>
                  <m:oMath xmlns:m="http://schemas.openxmlformats.org/officeDocument/2006/math">
                    <m:sSub>
                      <m:sSubPr>
                        <m:ctrlPr>
                          <a:rPr lang="ar-AE" sz="2400" i="1">
                            <a:latin typeface="Cambria Math" panose="02040503050406030204" pitchFamily="18" charset="0"/>
                          </a:rPr>
                        </m:ctrlPr>
                      </m:sSubPr>
                      <m:e>
                        <m:r>
                          <a:rPr lang="ar-AE" sz="2400" i="1">
                            <a:latin typeface="Cambria Math" panose="02040503050406030204" pitchFamily="18" charset="0"/>
                          </a:rPr>
                          <m:t>𝛼</m:t>
                        </m:r>
                      </m:e>
                      <m:sub>
                        <m:r>
                          <a:rPr lang="ar-AE" sz="2400" i="1">
                            <a:latin typeface="Cambria Math" panose="02040503050406030204" pitchFamily="18" charset="0"/>
                          </a:rPr>
                          <m:t>𝑖</m:t>
                        </m:r>
                      </m:sub>
                    </m:sSub>
                    <m:r>
                      <a:rPr lang="ar-AE" sz="2400" i="1">
                        <a:latin typeface="Cambria Math" panose="02040503050406030204" pitchFamily="18" charset="0"/>
                      </a:rPr>
                      <m:t>=½</m:t>
                    </m:r>
                    <m:r>
                      <a:rPr lang="ar-AE" sz="2400" i="1">
                        <a:latin typeface="Cambria Math" panose="02040503050406030204" pitchFamily="18" charset="0"/>
                      </a:rPr>
                      <m:t>𝑙</m:t>
                    </m:r>
                    <m:func>
                      <m:funcPr>
                        <m:ctrlPr>
                          <a:rPr lang="ar-AE" sz="2400" i="1">
                            <a:latin typeface="Cambria Math" panose="02040503050406030204" pitchFamily="18" charset="0"/>
                          </a:rPr>
                        </m:ctrlPr>
                      </m:funcPr>
                      <m:fName>
                        <m:r>
                          <a:rPr lang="ar-AE" sz="2400" i="1">
                            <a:latin typeface="Cambria Math" panose="02040503050406030204" pitchFamily="18" charset="0"/>
                          </a:rPr>
                          <m:t>𝑛</m:t>
                        </m:r>
                      </m:fName>
                      <m:e>
                        <m:d>
                          <m:dPr>
                            <m:ctrlPr>
                              <a:rPr lang="ar-AE" sz="2400" i="1">
                                <a:latin typeface="Cambria Math" panose="02040503050406030204" pitchFamily="18" charset="0"/>
                              </a:rPr>
                            </m:ctrlPr>
                          </m:dPr>
                          <m:e>
                            <m:d>
                              <m:dPr>
                                <m:ctrlPr>
                                  <a:rPr lang="ar-AE" sz="2400" i="1">
                                    <a:latin typeface="Cambria Math" panose="02040503050406030204" pitchFamily="18" charset="0"/>
                                  </a:rPr>
                                </m:ctrlPr>
                              </m:dPr>
                              <m:e>
                                <m:r>
                                  <a:rPr lang="ar-AE" sz="2400" i="1">
                                    <a:latin typeface="Cambria Math" panose="02040503050406030204" pitchFamily="18" charset="0"/>
                                  </a:rPr>
                                  <m:t>1</m:t>
                                </m:r>
                                <m:r>
                                  <a:rPr lang="ar-AE" sz="2400" i="1">
                                    <a:latin typeface="Cambria Math" panose="02040503050406030204" pitchFamily="18" charset="0"/>
                                  </a:rPr>
                                  <m:t>−</m:t>
                                </m:r>
                                <m:sSub>
                                  <m:sSubPr>
                                    <m:ctrlPr>
                                      <a:rPr lang="ar-AE" sz="2400" i="1">
                                        <a:latin typeface="Cambria Math" panose="02040503050406030204" pitchFamily="18" charset="0"/>
                                      </a:rPr>
                                    </m:ctrlPr>
                                  </m:sSubPr>
                                  <m:e>
                                    <m:r>
                                      <a:rPr lang="ar-AE" sz="2400" i="1">
                                        <a:latin typeface="Cambria Math" panose="02040503050406030204" pitchFamily="18" charset="0"/>
                                      </a:rPr>
                                      <m:t>𝜀</m:t>
                                    </m:r>
                                  </m:e>
                                  <m:sub>
                                    <m:r>
                                      <a:rPr lang="ar-AE" sz="2400" i="1">
                                        <a:latin typeface="Cambria Math" panose="02040503050406030204" pitchFamily="18" charset="0"/>
                                      </a:rPr>
                                      <m:t>𝑖</m:t>
                                    </m:r>
                                  </m:sub>
                                </m:sSub>
                              </m:e>
                            </m:d>
                            <m:r>
                              <m:rPr>
                                <m:lit/>
                              </m:rPr>
                              <a:rPr lang="ar-AE" sz="2400" i="1">
                                <a:latin typeface="Cambria Math" panose="02040503050406030204" pitchFamily="18" charset="0"/>
                              </a:rPr>
                              <m:t>/</m:t>
                            </m:r>
                            <m:sSub>
                              <m:sSubPr>
                                <m:ctrlPr>
                                  <a:rPr lang="ar-AE" sz="2400" i="1">
                                    <a:latin typeface="Cambria Math" panose="02040503050406030204" pitchFamily="18" charset="0"/>
                                  </a:rPr>
                                </m:ctrlPr>
                              </m:sSubPr>
                              <m:e>
                                <m:r>
                                  <a:rPr lang="ar-AE" sz="2400" i="1">
                                    <a:latin typeface="Cambria Math" panose="02040503050406030204" pitchFamily="18" charset="0"/>
                                  </a:rPr>
                                  <m:t>𝜀</m:t>
                                </m:r>
                              </m:e>
                              <m:sub>
                                <m:r>
                                  <a:rPr lang="ar-AE" sz="2400" i="1">
                                    <a:latin typeface="Cambria Math" panose="02040503050406030204" pitchFamily="18" charset="0"/>
                                  </a:rPr>
                                  <m:t>𝑖</m:t>
                                </m:r>
                              </m:sub>
                            </m:sSub>
                          </m:e>
                        </m:d>
                      </m:e>
                    </m:func>
                  </m:oMath>
                </a14:m>
                <a:endParaRPr lang="ar-AE" sz="2400" dirty="0"/>
              </a:p>
              <a:p>
                <a:r>
                  <a:rPr lang="uk-UA" sz="2400" dirty="0"/>
                  <a:t>Застосовано до комбінацій </a:t>
                </a:r>
                <a:r>
                  <a:rPr lang="en-US" sz="2400" dirty="0" err="1"/>
                  <a:t>MiDaS</a:t>
                </a:r>
                <a:r>
                  <a:rPr lang="en-US" sz="2400" dirty="0"/>
                  <a:t>, DPT, </a:t>
                </a:r>
                <a:r>
                  <a:rPr lang="en-US" sz="2400" dirty="0" err="1"/>
                  <a:t>GeoNet</a:t>
                </a:r>
                <a:r>
                  <a:rPr lang="en-US" sz="2400" dirty="0"/>
                  <a:t> – </a:t>
                </a:r>
                <a:r>
                  <a:rPr lang="uk-UA" sz="2400" dirty="0"/>
                  <a:t>підвищує стійкість на межах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045028" y="3017522"/>
                <a:ext cx="9941319" cy="3124658"/>
              </a:xfrm>
              <a:blipFill>
                <a:blip r:embed="rId3"/>
                <a:stretch>
                  <a:fillRect l="-797" t="-11306"/>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pPr>
              <a:lnSpc>
                <a:spcPct val="90000"/>
              </a:lnSpc>
            </a:pPr>
            <a:r>
              <a:rPr lang="uk-UA" sz="4100"/>
              <a:t>Об'єднання методів (просторово-часова модель)</a:t>
            </a:r>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uk-UA" sz="2200" dirty="0"/>
                  <a:t>Просторово-часова модель: </a:t>
                </a:r>
                <a14:m>
                  <m:oMath xmlns:m="http://schemas.openxmlformats.org/officeDocument/2006/math">
                    <m:r>
                      <a:rPr lang="uk-UA" sz="2200" i="1">
                        <a:latin typeface="Cambria Math" panose="02040503050406030204" pitchFamily="18" charset="0"/>
                      </a:rPr>
                      <m:t>𝐼</m:t>
                    </m:r>
                    <m:r>
                      <a:rPr lang="uk-UA" sz="2200" i="1">
                        <a:latin typeface="Cambria Math" panose="02040503050406030204" pitchFamily="18" charset="0"/>
                      </a:rPr>
                      <m:t>(</m:t>
                    </m:r>
                    <m:r>
                      <a:rPr lang="uk-UA" sz="2200" i="1">
                        <a:latin typeface="Cambria Math" panose="02040503050406030204" pitchFamily="18" charset="0"/>
                      </a:rPr>
                      <m:t>𝑥</m:t>
                    </m:r>
                    <m:r>
                      <a:rPr lang="uk-UA" sz="2200" i="1">
                        <a:latin typeface="Cambria Math" panose="02040503050406030204" pitchFamily="18" charset="0"/>
                      </a:rPr>
                      <m:t>,</m:t>
                    </m:r>
                    <m:r>
                      <a:rPr lang="uk-UA" sz="2200" i="1">
                        <a:latin typeface="Cambria Math" panose="02040503050406030204" pitchFamily="18" charset="0"/>
                      </a:rPr>
                      <m:t>𝑦</m:t>
                    </m:r>
                    <m:r>
                      <a:rPr lang="uk-UA" sz="2200" i="1">
                        <a:latin typeface="Cambria Math" panose="02040503050406030204" pitchFamily="18" charset="0"/>
                      </a:rPr>
                      <m:t>,</m:t>
                    </m:r>
                    <m:r>
                      <a:rPr lang="uk-UA" sz="2200" i="1">
                        <a:latin typeface="Cambria Math" panose="02040503050406030204" pitchFamily="18" charset="0"/>
                      </a:rPr>
                      <m:t>𝑡</m:t>
                    </m:r>
                    <m:r>
                      <a:rPr lang="uk-UA" sz="2200" i="1">
                        <a:latin typeface="Cambria Math" panose="02040503050406030204" pitchFamily="18" charset="0"/>
                      </a:rPr>
                      <m:t>)</m:t>
                    </m:r>
                  </m:oMath>
                </a14:m>
                <a:r>
                  <a:rPr lang="uk-UA" sz="2200" dirty="0"/>
                  <a:t>: </a:t>
                </a:r>
                <a14:m>
                  <m:oMath xmlns:m="http://schemas.openxmlformats.org/officeDocument/2006/math">
                    <m:r>
                      <m:rPr>
                        <m:sty m:val="p"/>
                      </m:rPr>
                      <a:rPr lang="el-GR" sz="2200" i="0">
                        <a:latin typeface="Cambria Math" panose="02040503050406030204" pitchFamily="18" charset="0"/>
                      </a:rPr>
                      <m:t>Ω</m:t>
                    </m:r>
                    <m:r>
                      <a:rPr lang="el-GR" sz="2200" i="1">
                        <a:latin typeface="Cambria Math" panose="02040503050406030204" pitchFamily="18" charset="0"/>
                      </a:rPr>
                      <m:t> ⊂ </m:t>
                    </m:r>
                    <m:r>
                      <a:rPr lang="el-GR" sz="2200" i="1">
                        <a:latin typeface="Cambria Math" panose="02040503050406030204" pitchFamily="18" charset="0"/>
                      </a:rPr>
                      <m:t>ℝ</m:t>
                    </m:r>
                    <m:r>
                      <a:rPr lang="el-GR" sz="2200" i="1">
                        <a:latin typeface="Cambria Math" panose="02040503050406030204" pitchFamily="18" charset="0"/>
                      </a:rPr>
                      <m:t>²</m:t>
                    </m:r>
                    <m:r>
                      <a:rPr lang="el-GR" sz="2200" i="1">
                        <a:latin typeface="Cambria Math" panose="02040503050406030204" pitchFamily="18" charset="0"/>
                      </a:rPr>
                      <m:t>×[</m:t>
                    </m:r>
                    <m:r>
                      <a:rPr lang="el-GR" sz="2200" i="1">
                        <a:latin typeface="Cambria Math" panose="02040503050406030204" pitchFamily="18" charset="0"/>
                      </a:rPr>
                      <m:t>0</m:t>
                    </m:r>
                    <m:r>
                      <a:rPr lang="el-GR" sz="2200" i="1">
                        <a:latin typeface="Cambria Math" panose="02040503050406030204" pitchFamily="18" charset="0"/>
                      </a:rPr>
                      <m:t>,</m:t>
                    </m:r>
                    <m:r>
                      <a:rPr lang="el-GR" sz="2200" i="1">
                        <a:latin typeface="Cambria Math" panose="02040503050406030204" pitchFamily="18" charset="0"/>
                      </a:rPr>
                      <m:t>𝑇</m:t>
                    </m:r>
                    <m:r>
                      <a:rPr lang="el-GR" sz="2200" i="1">
                        <a:latin typeface="Cambria Math" panose="02040503050406030204" pitchFamily="18" charset="0"/>
                      </a:rPr>
                      <m:t>] → </m:t>
                    </m:r>
                    <m:r>
                      <a:rPr lang="el-GR" sz="2200" i="1">
                        <a:latin typeface="Cambria Math" panose="02040503050406030204" pitchFamily="18" charset="0"/>
                      </a:rPr>
                      <m:t>ℝ</m:t>
                    </m:r>
                  </m:oMath>
                </a14:m>
                <a:endParaRPr lang="el-GR" sz="2200" dirty="0"/>
              </a:p>
              <a:p>
                <a:r>
                  <a:rPr lang="uk-UA" sz="2200" dirty="0"/>
                  <a:t>Сумісна оцінка </a:t>
                </a:r>
                <a:r>
                  <a:rPr lang="en-US" sz="2200" dirty="0" err="1"/>
                  <a:t>GeoNet</a:t>
                </a:r>
                <a:r>
                  <a:rPr lang="en-US" sz="2200" dirty="0"/>
                  <a:t>: </a:t>
                </a:r>
                <a14:m>
                  <m:oMath xmlns:m="http://schemas.openxmlformats.org/officeDocument/2006/math">
                    <m:r>
                      <a:rPr lang="en-US" sz="2200" i="1">
                        <a:latin typeface="Cambria Math" panose="02040503050406030204" pitchFamily="18" charset="0"/>
                      </a:rPr>
                      <m:t>𝐼</m:t>
                    </m:r>
                    <m:r>
                      <a:rPr lang="en-US" sz="2200" i="1">
                        <a:latin typeface="Cambria Math" panose="02040503050406030204" pitchFamily="18" charset="0"/>
                      </a:rPr>
                      <m:t>₂</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 = </m:t>
                    </m:r>
                    <m:r>
                      <a:rPr lang="en-US" sz="2200" i="1">
                        <a:latin typeface="Cambria Math" panose="02040503050406030204" pitchFamily="18" charset="0"/>
                      </a:rPr>
                      <m:t>𝐼</m:t>
                    </m:r>
                    <m:r>
                      <a:rPr lang="en-US" sz="2200" i="1">
                        <a:latin typeface="Cambria Math" panose="02040503050406030204" pitchFamily="18" charset="0"/>
                      </a:rPr>
                      <m:t>₁</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𝑓</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oMath>
                </a14:m>
                <a:r>
                  <a:rPr lang="en-US" sz="2200" dirty="0"/>
                  <a:t>, </a:t>
                </a:r>
                <a14:m>
                  <m:oMath xmlns:m="http://schemas.openxmlformats.org/officeDocument/2006/math">
                    <m:r>
                      <a:rPr lang="en-US" sz="2200" i="1">
                        <a:latin typeface="Cambria Math" panose="02040503050406030204" pitchFamily="18" charset="0"/>
                      </a:rPr>
                      <m:t>𝑓</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 = </m:t>
                    </m:r>
                    <m:r>
                      <a:rPr lang="en-US" sz="2200" i="1">
                        <a:latin typeface="Cambria Math" panose="02040503050406030204" pitchFamily="18" charset="0"/>
                      </a:rPr>
                      <m:t>𝑇</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₀</m:t>
                    </m:r>
                    <m:r>
                      <a:rPr lang="en-US" sz="2200" i="1">
                        <a:latin typeface="Cambria Math" panose="02040503050406030204" pitchFamily="18" charset="0"/>
                      </a:rPr>
                      <m:t>)/</m:t>
                    </m:r>
                    <m:r>
                      <a:rPr lang="en-US" sz="2200" i="1">
                        <a:latin typeface="Cambria Math" panose="02040503050406030204" pitchFamily="18" charset="0"/>
                      </a:rPr>
                      <m:t>𝑍</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r>
                      <a:rPr lang="en-US" sz="2200" i="1">
                        <a:latin typeface="Cambria Math" panose="02040503050406030204" pitchFamily="18" charset="0"/>
                      </a:rPr>
                      <m:t>𝑝𝑟𝑜𝑗</m:t>
                    </m:r>
                    <m:r>
                      <a:rPr lang="en-US" sz="2200" i="1">
                        <a:latin typeface="Cambria Math" panose="02040503050406030204" pitchFamily="18" charset="0"/>
                      </a:rPr>
                      <m:t>(</m:t>
                    </m:r>
                    <m:r>
                      <a:rPr lang="en-US" sz="2200" i="1">
                        <a:latin typeface="Cambria Math" panose="02040503050406030204" pitchFamily="18" charset="0"/>
                      </a:rPr>
                      <m:t>𝑝</m:t>
                    </m:r>
                    <m:r>
                      <a:rPr lang="en-US" sz="2200" i="1">
                        <a:latin typeface="Cambria Math" panose="02040503050406030204" pitchFamily="18" charset="0"/>
                      </a:rPr>
                      <m:t>)</m:t>
                    </m:r>
                  </m:oMath>
                </a14:m>
                <a:endParaRPr lang="en-US" sz="2200" dirty="0"/>
              </a:p>
              <a:p>
                <a:r>
                  <a:rPr lang="uk-UA" sz="2200" dirty="0"/>
                  <a:t>Обчислення кінематичних параметрів за полем оптичного потоку (</a:t>
                </a:r>
                <a14:m>
                  <m:oMath xmlns:m="http://schemas.openxmlformats.org/officeDocument/2006/math">
                    <m:r>
                      <a:rPr lang="uk-UA" sz="2200" i="1">
                        <a:latin typeface="Cambria Math" panose="02040503050406030204" pitchFamily="18" charset="0"/>
                      </a:rPr>
                      <m:t>𝑣</m:t>
                    </m:r>
                  </m:oMath>
                </a14:m>
                <a:r>
                  <a:rPr lang="uk-UA" sz="2200" dirty="0"/>
                  <a:t>, </a:t>
                </a:r>
                <a14:m>
                  <m:oMath xmlns:m="http://schemas.openxmlformats.org/officeDocument/2006/math">
                    <m:r>
                      <a:rPr lang="uk-UA" sz="2200" i="1">
                        <a:latin typeface="Cambria Math" panose="02040503050406030204" pitchFamily="18" charset="0"/>
                      </a:rPr>
                      <m:t>𝜃</m:t>
                    </m:r>
                  </m:oMath>
                </a14:m>
                <a:r>
                  <a:rPr lang="uk-UA" sz="2200" dirty="0"/>
                  <a:t>, траєкторія, прискорення)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r="-1430"/>
                </a:stretch>
              </a:blipFill>
            </p:spPr>
            <p:txBody>
              <a:bodyPr/>
              <a:lstStyle/>
              <a:p>
                <a:r>
                  <a:rPr lang="en-US">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56218" y="1463039"/>
                <a:ext cx="5542387" cy="4300447"/>
              </a:xfrm>
            </p:spPr>
            <p:txBody>
              <a:bodyPr anchor="t">
                <a:normAutofit/>
              </a:bodyPr>
              <a:lstStyle/>
              <a:p>
                <a:r>
                  <a:rPr lang="uk-UA" sz="2200" dirty="0"/>
                  <a:t>Три рівні: виявлення об'єктів (</a:t>
                </a:r>
                <a:r>
                  <a:rPr lang="en-US" sz="2200" dirty="0"/>
                  <a:t>DETR), </a:t>
                </a:r>
                <a:r>
                  <a:rPr lang="uk-UA" sz="2200" dirty="0"/>
                  <a:t>оцінка руху (оптичний потік), просторова структура (глибина)</a:t>
                </a:r>
              </a:p>
              <a:p>
                <a:r>
                  <a:rPr lang="uk-UA" sz="2200" dirty="0"/>
                  <a:t>Інтеграція дозволяє перейти від </a:t>
                </a:r>
                <a:r>
                  <a:rPr lang="uk-UA" sz="2200" dirty="0" err="1"/>
                  <a:t>покадрового</a:t>
                </a:r>
                <a:r>
                  <a:rPr lang="uk-UA" sz="2200" dirty="0"/>
                  <a:t> виявлення до просторово-часового опису</a:t>
                </a:r>
              </a:p>
              <a:p>
                <a:r>
                  <a:rPr lang="uk-UA" sz="2200" dirty="0"/>
                  <a:t>Архітектура системи: </a:t>
                </a:r>
                <a14:m>
                  <m:oMath xmlns:m="http://schemas.openxmlformats.org/officeDocument/2006/math">
                    <m:r>
                      <a:rPr lang="uk-UA" sz="2200" i="1">
                        <a:latin typeface="Cambria Math" panose="02040503050406030204" pitchFamily="18" charset="0"/>
                      </a:rPr>
                      <m:t>𝑆</m:t>
                    </m:r>
                    <m:r>
                      <a:rPr lang="uk-UA" sz="2200" i="1">
                        <a:latin typeface="Cambria Math" panose="02040503050406030204" pitchFamily="18" charset="0"/>
                      </a:rPr>
                      <m:t> = {</m:t>
                    </m:r>
                    <m:r>
                      <a:rPr lang="uk-UA" sz="2200" i="1">
                        <a:latin typeface="Cambria Math" panose="02040503050406030204" pitchFamily="18" charset="0"/>
                      </a:rPr>
                      <m:t>𝐷</m:t>
                    </m:r>
                    <m:r>
                      <a:rPr lang="uk-UA" sz="2200" i="1">
                        <a:latin typeface="Cambria Math" panose="02040503050406030204" pitchFamily="18" charset="0"/>
                      </a:rPr>
                      <m:t>, </m:t>
                    </m:r>
                    <m:r>
                      <a:rPr lang="uk-UA" sz="2200" i="1">
                        <a:latin typeface="Cambria Math" panose="02040503050406030204" pitchFamily="18" charset="0"/>
                      </a:rPr>
                      <m:t>𝐹</m:t>
                    </m:r>
                    <m:r>
                      <a:rPr lang="uk-UA" sz="2200" i="1">
                        <a:latin typeface="Cambria Math" panose="02040503050406030204" pitchFamily="18" charset="0"/>
                      </a:rPr>
                      <m:t>, </m:t>
                    </m:r>
                    <m:r>
                      <a:rPr lang="uk-UA" sz="2200" i="1">
                        <a:latin typeface="Cambria Math" panose="02040503050406030204" pitchFamily="18" charset="0"/>
                      </a:rPr>
                      <m:t>𝑍</m:t>
                    </m:r>
                    <m:r>
                      <a:rPr lang="uk-UA" sz="2200" i="1">
                        <a:latin typeface="Cambria Math" panose="02040503050406030204" pitchFamily="18" charset="0"/>
                      </a:rPr>
                      <m:t>, </m:t>
                    </m:r>
                    <m:r>
                      <a:rPr lang="uk-UA" sz="2200" i="1">
                        <a:latin typeface="Cambria Math" panose="02040503050406030204" pitchFamily="18" charset="0"/>
                      </a:rPr>
                      <m:t>𝑃</m:t>
                    </m:r>
                    <m:r>
                      <a:rPr lang="uk-UA" sz="2200" i="1">
                        <a:latin typeface="Cambria Math" panose="02040503050406030204" pitchFamily="18" charset="0"/>
                      </a:rPr>
                      <m:t>, </m:t>
                    </m:r>
                    <m:r>
                      <a:rPr lang="uk-UA" sz="2200" i="1">
                        <a:latin typeface="Cambria Math" panose="02040503050406030204" pitchFamily="18" charset="0"/>
                      </a:rPr>
                      <m:t>𝑉</m:t>
                    </m:r>
                    <m:r>
                      <a:rPr lang="uk-UA" sz="2200" i="1">
                        <a:latin typeface="Cambria Math" panose="02040503050406030204" pitchFamily="18" charset="0"/>
                      </a:rPr>
                      <m:t>}</m:t>
                    </m:r>
                  </m:oMath>
                </a14:m>
                <a:r>
                  <a:rPr lang="uk-UA" sz="2200" dirty="0"/>
                  <a:t> (детектор, оптичний потік, глибина, параметри, візуалізація)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56218" y="1463039"/>
                <a:ext cx="5542387" cy="4300447"/>
              </a:xfrm>
              <a:blipFill>
                <a:blip r:embed="rId3"/>
                <a:stretch>
                  <a:fillRect l="-1320" t="-993" r="-330"/>
                </a:stretch>
              </a:blipFill>
            </p:spPr>
            <p:txBody>
              <a:bodyPr/>
              <a:lstStyle/>
              <a:p>
                <a:r>
                  <a:rPr lang="en-US">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a:solidFill>
                  <a:schemeClr val="tx2"/>
                </a:solidFill>
              </a:rPr>
              <a:t>Аналітична модель – </a:t>
            </a:r>
            <a:r>
              <a:rPr lang="en-US" sz="3600">
                <a:solidFill>
                  <a:schemeClr val="tx2"/>
                </a:solidFill>
              </a:rPr>
              <a:t>DETR + Optical Flow</a:t>
            </a:r>
          </a:p>
        </p:txBody>
      </p:sp>
      <p:sp>
        <p:nvSpPr>
          <p:cNvPr id="3" name="Content Placeholder 2"/>
          <p:cNvSpPr>
            <a:spLocks noGrp="1"/>
          </p:cNvSpPr>
          <p:nvPr>
            <p:ph idx="1"/>
          </p:nvPr>
        </p:nvSpPr>
        <p:spPr>
          <a:xfrm>
            <a:off x="804672" y="2421683"/>
            <a:ext cx="4765949" cy="3353476"/>
          </a:xfrm>
        </p:spPr>
        <p:txBody>
          <a:bodyPr anchor="t">
            <a:normAutofit/>
          </a:bodyPr>
          <a:lstStyle/>
          <a:p>
            <a:r>
              <a:rPr lang="uk-UA" sz="1800">
                <a:solidFill>
                  <a:schemeClr val="tx2"/>
                </a:solidFill>
              </a:rPr>
              <a:t>Вхідний відеопотік → </a:t>
            </a:r>
            <a:r>
              <a:rPr lang="en-US" sz="1800">
                <a:solidFill>
                  <a:schemeClr val="tx2"/>
                </a:solidFill>
              </a:rPr>
              <a:t>DETR (</a:t>
            </a:r>
            <a:r>
              <a:rPr lang="uk-UA" sz="180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7723601" y="1700784"/>
            <a:ext cx="4111814" cy="437997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280679"/>
            <a:ext cx="9833548" cy="1325563"/>
          </a:xfrm>
        </p:spPr>
        <p:txBody>
          <a:bodyPr anchor="b">
            <a:normAutofit/>
          </a:bodyPr>
          <a:lstStyle/>
          <a:p>
            <a:r>
              <a:rPr lang="uk-UA" sz="3600">
                <a:solidFill>
                  <a:schemeClr val="tx2"/>
                </a:solidFill>
              </a:rPr>
              <a:t>Модель </a:t>
            </a:r>
            <a:r>
              <a:rPr lang="en-US" sz="360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79226" y="2890979"/>
                <a:ext cx="9833548" cy="2693976"/>
              </a:xfrm>
            </p:spPr>
            <p:txBody>
              <a:bodyPr>
                <a:normAutofit/>
              </a:bodyPr>
              <a:lstStyle/>
              <a:p>
                <a:r>
                  <a:rPr lang="uk-UA" sz="1800">
                    <a:solidFill>
                      <a:schemeClr val="tx2"/>
                    </a:solidFill>
                  </a:rPr>
                  <a:t>Багатоголова увага: </a:t>
                </a:r>
                <a14:m>
                  <m:oMath xmlns:m="http://schemas.openxmlformats.org/officeDocument/2006/math">
                    <m:r>
                      <a:rPr lang="uk-UA" sz="1800" i="1">
                        <a:solidFill>
                          <a:schemeClr val="tx2"/>
                        </a:solidFill>
                        <a:latin typeface="Cambria Math" panose="02040503050406030204" pitchFamily="18" charset="0"/>
                      </a:rPr>
                      <m:t>𝑀𝑢𝑙𝑡𝑖𝐻𝑒𝑎𝑑</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𝑄</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𝐾</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𝑉</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𝐶𝑜𝑛𝑐𝑎𝑡</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𝑒𝑎𝑑</m:t>
                    </m:r>
                    <m:r>
                      <a:rPr lang="uk-UA" sz="1800" i="1">
                        <a:solidFill>
                          <a:schemeClr val="tx2"/>
                        </a:solidFill>
                        <a:latin typeface="Cambria Math" panose="02040503050406030204" pitchFamily="18" charset="0"/>
                      </a:rPr>
                      <m:t>₁</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𝑑</m:t>
                        </m:r>
                      </m:e>
                      <m:sub>
                        <m:r>
                          <a:rPr lang="ar-AE" sz="1800" i="1">
                            <a:solidFill>
                              <a:schemeClr val="tx2"/>
                            </a:solidFill>
                            <a:latin typeface="Cambria Math" panose="02040503050406030204" pitchFamily="18" charset="0"/>
                          </a:rPr>
                          <m:t>h</m:t>
                        </m:r>
                      </m:sub>
                    </m:sSub>
                    <m:r>
                      <a:rPr lang="ar-AE" sz="1800" i="1">
                        <a:solidFill>
                          <a:schemeClr val="tx2"/>
                        </a:solidFill>
                        <a:latin typeface="Cambria Math" panose="02040503050406030204" pitchFamily="18" charset="0"/>
                      </a:rPr>
                      <m:t>)</m:t>
                    </m:r>
                    <m:sSup>
                      <m:sSupPr>
                        <m:ctrlPr>
                          <a:rPr lang="ar-AE" sz="1800" i="1">
                            <a:solidFill>
                              <a:schemeClr val="tx2"/>
                            </a:solidFill>
                            <a:latin typeface="Cambria Math" panose="02040503050406030204" pitchFamily="18" charset="0"/>
                          </a:rPr>
                        </m:ctrlPr>
                      </m:sSupPr>
                      <m:e>
                        <m:r>
                          <a:rPr lang="ar-AE" sz="1800" i="1">
                            <a:solidFill>
                              <a:schemeClr val="tx2"/>
                            </a:solidFill>
                            <a:latin typeface="Cambria Math" panose="02040503050406030204" pitchFamily="18" charset="0"/>
                          </a:rPr>
                          <m:t>𝑊</m:t>
                        </m:r>
                      </m:e>
                      <m:sup>
                        <m:r>
                          <a:rPr lang="ar-AE" sz="1800" i="1">
                            <a:solidFill>
                              <a:schemeClr val="tx2"/>
                            </a:solidFill>
                            <a:latin typeface="Cambria Math" panose="02040503050406030204" pitchFamily="18" charset="0"/>
                          </a:rPr>
                          <m:t>𝑂</m:t>
                        </m:r>
                      </m:sup>
                    </m:sSup>
                  </m:oMath>
                </a14:m>
                <a:endParaRPr lang="ar-AE" sz="1800">
                  <a:solidFill>
                    <a:schemeClr val="tx2"/>
                  </a:solidFill>
                </a:endParaRPr>
              </a:p>
              <a:p>
                <a:r>
                  <a:rPr lang="uk-UA" sz="1800">
                    <a:solidFill>
                      <a:schemeClr val="tx2"/>
                    </a:solidFill>
                  </a:rPr>
                  <a:t>Голова уваги: </a:t>
                </a:r>
                <a14:m>
                  <m:oMath xmlns:m="http://schemas.openxmlformats.org/officeDocument/2006/math">
                    <m:r>
                      <a:rPr lang="uk-UA" sz="1800" i="1">
                        <a:solidFill>
                          <a:schemeClr val="tx2"/>
                        </a:solidFill>
                        <a:latin typeface="Cambria Math" panose="02040503050406030204" pitchFamily="18" charset="0"/>
                      </a:rPr>
                      <m:t>h</m:t>
                    </m:r>
                    <m:r>
                      <a:rPr lang="uk-UA" sz="1800" i="1">
                        <a:solidFill>
                          <a:schemeClr val="tx2"/>
                        </a:solidFill>
                        <a:latin typeface="Cambria Math" panose="02040503050406030204" pitchFamily="18" charset="0"/>
                      </a:rPr>
                      <m:t>𝑒𝑎</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𝑑</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𝐴𝑡𝑡𝑒𝑛𝑡𝑖𝑜𝑛</m:t>
                    </m:r>
                    <m:d>
                      <m:dPr>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𝑄</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𝑄</m:t>
                            </m:r>
                          </m:sup>
                        </m:sSubSup>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𝐾</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𝐾</m:t>
                            </m:r>
                          </m:sup>
                        </m:sSubSup>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𝑉</m:t>
                        </m:r>
                        <m:sSubSup>
                          <m:sSubSupPr>
                            <m:ctrlPr>
                              <a:rPr lang="ar-AE" sz="1800" i="1">
                                <a:solidFill>
                                  <a:schemeClr val="tx2"/>
                                </a:solidFill>
                                <a:latin typeface="Cambria Math" panose="02040503050406030204" pitchFamily="18" charset="0"/>
                              </a:rPr>
                            </m:ctrlPr>
                          </m:sSubSupPr>
                          <m:e>
                            <m:r>
                              <a:rPr lang="ar-AE" sz="1800" i="1">
                                <a:solidFill>
                                  <a:schemeClr val="tx2"/>
                                </a:solidFill>
                                <a:latin typeface="Cambria Math" panose="02040503050406030204" pitchFamily="18" charset="0"/>
                              </a:rPr>
                              <m:t>𝑊</m:t>
                            </m:r>
                          </m:e>
                          <m:sub>
                            <m:r>
                              <a:rPr lang="ar-AE" sz="1800" i="1">
                                <a:solidFill>
                                  <a:schemeClr val="tx2"/>
                                </a:solidFill>
                                <a:latin typeface="Cambria Math" panose="02040503050406030204" pitchFamily="18" charset="0"/>
                              </a:rPr>
                              <m:t>𝑖</m:t>
                            </m:r>
                          </m:sub>
                          <m:sup>
                            <m:r>
                              <a:rPr lang="ar-AE" sz="1800" i="1">
                                <a:solidFill>
                                  <a:schemeClr val="tx2"/>
                                </a:solidFill>
                                <a:latin typeface="Cambria Math" panose="02040503050406030204" pitchFamily="18" charset="0"/>
                              </a:rPr>
                              <m:t>𝑉</m:t>
                            </m:r>
                          </m:sup>
                        </m:sSubSup>
                      </m:e>
                    </m:d>
                  </m:oMath>
                </a14:m>
                <a:endParaRPr lang="ar-AE" sz="1800">
                  <a:solidFill>
                    <a:schemeClr val="tx2"/>
                  </a:solidFill>
                </a:endParaRPr>
              </a:p>
              <a:p>
                <a:r>
                  <a:rPr lang="uk-UA" sz="1800">
                    <a:solidFill>
                      <a:schemeClr val="tx2"/>
                    </a:solidFill>
                  </a:rPr>
                  <a:t>Угорська втрата: </a:t>
                </a:r>
                <a14:m>
                  <m:oMath xmlns:m="http://schemas.openxmlformats.org/officeDocument/2006/math">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𝐻</m:t>
                        </m:r>
                      </m:sub>
                    </m:sSub>
                    <m:r>
                      <a:rPr lang="ar-AE" sz="1800" i="1">
                        <a:solidFill>
                          <a:schemeClr val="tx2"/>
                        </a:solidFill>
                        <a:latin typeface="Cambria Math" panose="02040503050406030204" pitchFamily="18" charset="0"/>
                      </a:rPr>
                      <m:t>𝑢𝑛𝑔𝑎𝑟𝑖𝑎𝑛</m:t>
                    </m:r>
                    <m:r>
                      <a:rPr lang="ar-AE" sz="1800" i="1">
                        <a:solidFill>
                          <a:schemeClr val="tx2"/>
                        </a:solidFill>
                        <a:latin typeface="Cambria Math" panose="02040503050406030204" pitchFamily="18" charset="0"/>
                      </a:rPr>
                      <m:t>=</m:t>
                    </m:r>
                    <m:nary>
                      <m:naryPr>
                        <m:chr m:val="∑"/>
                        <m:subHide m:val="on"/>
                        <m:supHide m:val="on"/>
                        <m:ctrlPr>
                          <a:rPr lang="ar-AE" sz="1800" i="1">
                            <a:solidFill>
                              <a:schemeClr val="tx2"/>
                            </a:solidFill>
                            <a:latin typeface="Cambria Math" panose="02040503050406030204" pitchFamily="18" charset="0"/>
                          </a:rPr>
                        </m:ctrlPr>
                      </m:naryPr>
                      <m:sub/>
                      <m:sup/>
                      <m:e>
                        <m:d>
                          <m:dPr>
                            <m:begChr m:val="["/>
                            <m:endChr m:val="]"/>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𝑙𝑜</m:t>
                            </m:r>
                            <m:func>
                              <m:funcPr>
                                <m:ctrlPr>
                                  <a:rPr lang="ar-AE" sz="1800" i="1">
                                    <a:solidFill>
                                      <a:schemeClr val="tx2"/>
                                    </a:solidFill>
                                    <a:latin typeface="Cambria Math" panose="02040503050406030204" pitchFamily="18" charset="0"/>
                                  </a:rPr>
                                </m:ctrlPr>
                              </m:funcPr>
                              <m:fName>
                                <m:r>
                                  <a:rPr lang="ar-AE" sz="1800" i="1">
                                    <a:solidFill>
                                      <a:schemeClr val="tx2"/>
                                    </a:solidFill>
                                    <a:latin typeface="Cambria Math" panose="02040503050406030204" pitchFamily="18" charset="0"/>
                                  </a:rPr>
                                  <m:t>𝑔</m:t>
                                </m:r>
                              </m:fName>
                              <m:e>
                                <m:r>
                                  <a:rPr lang="ar-AE" sz="1800" i="1">
                                    <a:solidFill>
                                      <a:schemeClr val="tx2"/>
                                    </a:solidFill>
                                    <a:latin typeface="Cambria Math" panose="02040503050406030204" pitchFamily="18" charset="0"/>
                                  </a:rPr>
                                  <m:t>𝑝</m:t>
                                </m:r>
                                <m:acc>
                                  <m:accPr>
                                    <m:chr m:val="̂"/>
                                    <m:ctrlPr>
                                      <a:rPr lang="ar-AE" sz="1800" i="1">
                                        <a:solidFill>
                                          <a:schemeClr val="tx2"/>
                                        </a:solidFill>
                                        <a:latin typeface="Cambria Math" panose="02040503050406030204" pitchFamily="18" charset="0"/>
                                      </a:rPr>
                                    </m:ctrlPr>
                                  </m:accPr>
                                  <m:e>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𝑐</m:t>
                                            </m:r>
                                          </m:e>
                                          <m:sub>
                                            <m:r>
                                              <a:rPr lang="ar-AE" sz="1800" i="1">
                                                <a:solidFill>
                                                  <a:schemeClr val="tx2"/>
                                                </a:solidFill>
                                                <a:latin typeface="Cambria Math" panose="02040503050406030204" pitchFamily="18" charset="0"/>
                                              </a:rPr>
                                              <m:t>𝑖</m:t>
                                            </m:r>
                                          </m:sub>
                                        </m:sSub>
                                      </m:e>
                                    </m:d>
                                  </m:e>
                                </m:acc>
                              </m:e>
                            </m:func>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1</m:t>
                                </m:r>
                              </m:e>
                              <m:sub>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𝑐</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m:t>
                                </m:r>
                              </m:sub>
                            </m:sSub>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𝑏</m:t>
                                </m:r>
                              </m:sub>
                            </m:sSub>
                            <m:r>
                              <a:rPr lang="ar-AE" sz="1800" i="1">
                                <a:solidFill>
                                  <a:schemeClr val="tx2"/>
                                </a:solidFill>
                                <a:latin typeface="Cambria Math" panose="02040503050406030204" pitchFamily="18" charset="0"/>
                              </a:rPr>
                              <m:t>𝑜𝑥</m:t>
                            </m:r>
                            <m:d>
                              <m:dPr>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𝑏</m:t>
                                    </m:r>
                                  </m:e>
                                  <m:sub>
                                    <m:r>
                                      <a:rPr lang="ar-AE" sz="1800" i="1">
                                        <a:solidFill>
                                          <a:schemeClr val="tx2"/>
                                        </a:solidFill>
                                        <a:latin typeface="Cambria Math" panose="02040503050406030204" pitchFamily="18" charset="0"/>
                                      </a:rPr>
                                      <m:t>𝑖</m:t>
                                    </m:r>
                                  </m:sub>
                                </m:sSub>
                                <m:r>
                                  <a:rPr lang="ar-AE" sz="1800" i="1">
                                    <a:solidFill>
                                      <a:schemeClr val="tx2"/>
                                    </a:solidFill>
                                    <a:latin typeface="Cambria Math" panose="02040503050406030204" pitchFamily="18" charset="0"/>
                                  </a:rPr>
                                  <m:t>, </m:t>
                                </m:r>
                                <m:acc>
                                  <m:accPr>
                                    <m:chr m:val="̂"/>
                                    <m:ctrlPr>
                                      <a:rPr lang="ar-AE" sz="1800" i="1">
                                        <a:solidFill>
                                          <a:schemeClr val="tx2"/>
                                        </a:solidFill>
                                        <a:latin typeface="Cambria Math" panose="02040503050406030204" pitchFamily="18" charset="0"/>
                                      </a:rPr>
                                    </m:ctrlPr>
                                  </m:accPr>
                                  <m:e>
                                    <m:r>
                                      <a:rPr lang="ar-AE" sz="1800" i="1">
                                        <a:solidFill>
                                          <a:schemeClr val="tx2"/>
                                        </a:solidFill>
                                        <a:latin typeface="Cambria Math" panose="02040503050406030204" pitchFamily="18" charset="0"/>
                                      </a:rPr>
                                      <m:t>𝑏</m:t>
                                    </m:r>
                                  </m:e>
                                </m:acc>
                              </m:e>
                            </m:d>
                          </m:e>
                        </m:d>
                      </m:e>
                    </m:nary>
                  </m:oMath>
                </a14:m>
                <a:endParaRPr lang="ar-AE" sz="1800">
                  <a:solidFill>
                    <a:schemeClr val="tx2"/>
                  </a:solidFill>
                </a:endParaRPr>
              </a:p>
              <a:p>
                <a:r>
                  <a:rPr lang="uk-UA" sz="1800">
                    <a:solidFill>
                      <a:schemeClr val="tx2"/>
                    </a:solidFill>
                  </a:rPr>
                  <a:t>Позиційне кодування, кодер-декодер, </a:t>
                </a:r>
                <a:r>
                  <a:rPr lang="en-US" sz="1800">
                    <a:solidFill>
                      <a:schemeClr val="tx2"/>
                    </a:solidFill>
                  </a:rPr>
                  <a:t>FFN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79226" y="2890979"/>
                <a:ext cx="9833548" cy="2693976"/>
              </a:xfrm>
              <a:blipFill>
                <a:blip r:embed="rId3"/>
                <a:stretch>
                  <a:fillRect l="-372" t="-905"/>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594707"/>
            <a:ext cx="9833548" cy="1325563"/>
          </a:xfrm>
        </p:spPr>
        <p:txBody>
          <a:bodyPr anchor="b">
            <a:normAutofit/>
          </a:bodyPr>
          <a:lstStyle/>
          <a:p>
            <a:r>
              <a:rPr lang="ru-RU" sz="3600">
                <a:solidFill>
                  <a:schemeClr val="tx2"/>
                </a:solidFill>
              </a:rPr>
              <a:t>Модель GeoNet (сумісна оцінка глибини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79226" y="3329677"/>
                <a:ext cx="9833548" cy="2457269"/>
              </a:xfrm>
            </p:spPr>
            <p:txBody>
              <a:bodyPr>
                <a:normAutofit/>
              </a:bodyPr>
              <a:lstStyle/>
              <a:p>
                <a:r>
                  <a:rPr lang="uk-UA" sz="1800">
                    <a:solidFill>
                      <a:schemeClr val="tx2"/>
                    </a:solidFill>
                  </a:rPr>
                  <a:t>Фотометрична узгодженість: </a:t>
                </a:r>
                <a14:m>
                  <m:oMath xmlns:m="http://schemas.openxmlformats.org/officeDocument/2006/math">
                    <m:r>
                      <a:rPr lang="uk-UA" sz="1800" i="1">
                        <a:solidFill>
                          <a:schemeClr val="tx2"/>
                        </a:solidFill>
                        <a:latin typeface="Cambria Math" panose="02040503050406030204" pitchFamily="18" charset="0"/>
                      </a:rPr>
                      <m:t>𝐼</m:t>
                    </m:r>
                    <m:r>
                      <a:rPr lang="uk-UA" sz="1800" i="1">
                        <a:solidFill>
                          <a:schemeClr val="tx2"/>
                        </a:solidFill>
                        <a:latin typeface="Cambria Math" panose="02040503050406030204" pitchFamily="18" charset="0"/>
                      </a:rPr>
                      <m:t>₂</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𝐼</m:t>
                    </m:r>
                    <m:r>
                      <a:rPr lang="uk-UA" sz="1800" i="1">
                        <a:solidFill>
                          <a:schemeClr val="tx2"/>
                        </a:solidFill>
                        <a:latin typeface="Cambria Math" panose="02040503050406030204" pitchFamily="18" charset="0"/>
                      </a:rPr>
                      <m:t>₁</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𝑓</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oMath>
                </a14:m>
                <a:endParaRPr lang="uk-UA" sz="1800">
                  <a:solidFill>
                    <a:schemeClr val="tx2"/>
                  </a:solidFill>
                </a:endParaRPr>
              </a:p>
              <a:p>
                <a:r>
                  <a:rPr lang="uk-UA" sz="1800">
                    <a:solidFill>
                      <a:schemeClr val="tx2"/>
                    </a:solidFill>
                  </a:rPr>
                  <a:t>Геометрична модель: </a:t>
                </a:r>
                <a14:m>
                  <m:oMath xmlns:m="http://schemas.openxmlformats.org/officeDocument/2006/math">
                    <m:r>
                      <a:rPr lang="uk-UA" sz="1800" i="1">
                        <a:solidFill>
                          <a:schemeClr val="tx2"/>
                        </a:solidFill>
                        <a:latin typeface="Cambria Math" panose="02040503050406030204" pitchFamily="18" charset="0"/>
                      </a:rPr>
                      <m:t>𝑓</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 = </m:t>
                    </m:r>
                    <m:r>
                      <a:rPr lang="uk-UA" sz="1800" i="1">
                        <a:solidFill>
                          <a:schemeClr val="tx2"/>
                        </a:solidFill>
                        <a:latin typeface="Cambria Math" panose="02040503050406030204" pitchFamily="18" charset="0"/>
                      </a:rPr>
                      <m:t>𝑇</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₀</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𝑍</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𝑝𝑟𝑜𝑗</m:t>
                    </m:r>
                    <m:r>
                      <a:rPr lang="uk-UA" sz="1800" i="1">
                        <a:solidFill>
                          <a:schemeClr val="tx2"/>
                        </a:solidFill>
                        <a:latin typeface="Cambria Math" panose="02040503050406030204" pitchFamily="18" charset="0"/>
                      </a:rPr>
                      <m:t>(</m:t>
                    </m:r>
                    <m:r>
                      <a:rPr lang="uk-UA" sz="1800" i="1">
                        <a:solidFill>
                          <a:schemeClr val="tx2"/>
                        </a:solidFill>
                        <a:latin typeface="Cambria Math" panose="02040503050406030204" pitchFamily="18" charset="0"/>
                      </a:rPr>
                      <m:t>𝑝</m:t>
                    </m:r>
                    <m:r>
                      <a:rPr lang="uk-UA" sz="1800" i="1">
                        <a:solidFill>
                          <a:schemeClr val="tx2"/>
                        </a:solidFill>
                        <a:latin typeface="Cambria Math" panose="02040503050406030204" pitchFamily="18" charset="0"/>
                      </a:rPr>
                      <m:t>)</m:t>
                    </m:r>
                  </m:oMath>
                </a14:m>
                <a:endParaRPr lang="uk-UA" sz="1800">
                  <a:solidFill>
                    <a:schemeClr val="tx2"/>
                  </a:solidFill>
                </a:endParaRPr>
              </a:p>
              <a:p>
                <a:r>
                  <a:rPr lang="uk-UA" sz="1800">
                    <a:solidFill>
                      <a:schemeClr val="tx2"/>
                    </a:solidFill>
                  </a:rPr>
                  <a:t>Функція втрат: </a:t>
                </a:r>
                <a14:m>
                  <m:oMath xmlns:m="http://schemas.openxmlformats.org/officeDocument/2006/math">
                    <m:r>
                      <a:rPr lang="uk-UA" sz="1800" i="1">
                        <a:solidFill>
                          <a:schemeClr val="tx2"/>
                        </a:solidFill>
                        <a:latin typeface="Cambria Math" panose="02040503050406030204" pitchFamily="18" charset="0"/>
                      </a:rPr>
                      <m:t>𝐿</m:t>
                    </m:r>
                    <m:r>
                      <a:rPr lang="uk-UA"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m:rPr>
                            <m:sty m:val="p"/>
                          </m:rPr>
                          <a:rPr lang="el-GR" sz="1800" i="0">
                            <a:solidFill>
                              <a:schemeClr val="tx2"/>
                            </a:solidFill>
                            <a:latin typeface="Cambria Math" panose="02040503050406030204" pitchFamily="18" charset="0"/>
                          </a:rPr>
                          <m:t>Σ</m:t>
                        </m:r>
                      </m:e>
                      <m:sub>
                        <m:r>
                          <a:rPr lang="ar-AE" sz="1800" i="1">
                            <a:solidFill>
                              <a:schemeClr val="tx2"/>
                            </a:solidFill>
                            <a:latin typeface="Cambria Math" panose="02040503050406030204" pitchFamily="18" charset="0"/>
                          </a:rPr>
                          <m:t>𝑙</m:t>
                        </m:r>
                      </m:sub>
                    </m:sSub>
                    <m:sSub>
                      <m:sSubPr>
                        <m:ctrlPr>
                          <a:rPr lang="ar-AE" sz="1800" i="1">
                            <a:solidFill>
                              <a:schemeClr val="tx2"/>
                            </a:solidFill>
                            <a:latin typeface="Cambria Math" panose="02040503050406030204" pitchFamily="18" charset="0"/>
                          </a:rPr>
                        </m:ctrlPr>
                      </m:sSubPr>
                      <m:e>
                        <m:r>
                          <m:rPr>
                            <m:sty m:val="p"/>
                          </m:rPr>
                          <a:rPr lang="el-GR" sz="1800" i="0">
                            <a:solidFill>
                              <a:schemeClr val="tx2"/>
                            </a:solidFill>
                            <a:latin typeface="Cambria Math" panose="02040503050406030204" pitchFamily="18" charset="0"/>
                          </a:rPr>
                          <m:t>Σ</m:t>
                        </m:r>
                      </m:e>
                      <m:sub>
                        <m:d>
                          <m:dPr>
                            <m:begChr m:val="⟨"/>
                            <m:endChr m:val="⟩"/>
                            <m:ctrlPr>
                              <a:rPr lang="ar-AE" sz="1800" i="1">
                                <a:solidFill>
                                  <a:schemeClr val="tx2"/>
                                </a:solidFill>
                                <a:latin typeface="Cambria Math" panose="02040503050406030204" pitchFamily="18" charset="0"/>
                              </a:rPr>
                            </m:ctrlPr>
                          </m:dPr>
                          <m:e>
                            <m:r>
                              <a:rPr lang="ar-AE" sz="1800" i="1">
                                <a:solidFill>
                                  <a:schemeClr val="tx2"/>
                                </a:solidFill>
                                <a:latin typeface="Cambria Math" panose="02040503050406030204" pitchFamily="18" charset="0"/>
                              </a:rPr>
                              <m:t>𝑡</m:t>
                            </m:r>
                            <m:r>
                              <a:rPr lang="ar-AE" sz="1800" i="1">
                                <a:solidFill>
                                  <a:schemeClr val="tx2"/>
                                </a:solidFill>
                                <a:latin typeface="Cambria Math" panose="02040503050406030204" pitchFamily="18" charset="0"/>
                              </a:rPr>
                              <m:t>,</m:t>
                            </m:r>
                            <m:r>
                              <a:rPr lang="ar-AE" sz="1800" i="1">
                                <a:solidFill>
                                  <a:schemeClr val="tx2"/>
                                </a:solidFill>
                                <a:latin typeface="Cambria Math" panose="02040503050406030204" pitchFamily="18" charset="0"/>
                              </a:rPr>
                              <m:t>𝑠</m:t>
                            </m:r>
                          </m:e>
                        </m:d>
                      </m:sub>
                    </m:sSub>
                    <m:d>
                      <m:dPr>
                        <m:begChr m:val="["/>
                        <m:endChr m:val="]"/>
                        <m:ctrlPr>
                          <a:rPr lang="ar-AE" sz="1800" i="1">
                            <a:solidFill>
                              <a:schemeClr val="tx2"/>
                            </a:solidFill>
                            <a:latin typeface="Cambria Math" panose="02040503050406030204" pitchFamily="18" charset="0"/>
                          </a:rPr>
                        </m:ctrlPr>
                      </m:dPr>
                      <m:e>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𝑟</m:t>
                            </m:r>
                          </m:sub>
                        </m:sSub>
                        <m:r>
                          <a:rPr lang="ar-AE" sz="1800" i="1">
                            <a:solidFill>
                              <a:schemeClr val="tx2"/>
                            </a:solidFill>
                            <a:latin typeface="Cambria Math" panose="02040503050406030204" pitchFamily="18" charset="0"/>
                          </a:rPr>
                          <m:t>𝑤</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𝑑</m:t>
                            </m:r>
                          </m:sub>
                        </m:sSub>
                        <m:r>
                          <a:rPr lang="ar-AE" sz="1800" i="1">
                            <a:solidFill>
                              <a:schemeClr val="tx2"/>
                            </a:solidFill>
                            <a:latin typeface="Cambria Math" panose="02040503050406030204" pitchFamily="18" charset="0"/>
                          </a:rPr>
                          <m:t>𝑠</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𝑑</m:t>
                            </m:r>
                          </m:sub>
                        </m:sSub>
                        <m:r>
                          <a:rPr lang="ar-AE" sz="1800" i="1">
                            <a:solidFill>
                              <a:schemeClr val="tx2"/>
                            </a:solidFill>
                            <a:latin typeface="Cambria Math" panose="02040503050406030204" pitchFamily="18" charset="0"/>
                          </a:rPr>
                          <m:t>𝑠</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𝑤</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𝑠</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𝑓</m:t>
                            </m:r>
                          </m:sub>
                        </m:sSub>
                        <m:r>
                          <a:rPr lang="ar-AE" sz="1800" i="1">
                            <a:solidFill>
                              <a:schemeClr val="tx2"/>
                            </a:solidFill>
                            <a:latin typeface="Cambria Math" panose="02040503050406030204" pitchFamily="18" charset="0"/>
                          </a:rPr>
                          <m:t>𝑠</m:t>
                        </m:r>
                        <m:r>
                          <a:rPr lang="ar-AE" sz="1800" i="1">
                            <a:solidFill>
                              <a:schemeClr val="tx2"/>
                            </a:solidFill>
                            <a:latin typeface="Cambria Math" panose="02040503050406030204" pitchFamily="18" charset="0"/>
                          </a:rPr>
                          <m:t>+</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𝜆</m:t>
                            </m:r>
                          </m:e>
                          <m:sub>
                            <m:r>
                              <a:rPr lang="ar-AE" sz="1800" i="1">
                                <a:solidFill>
                                  <a:schemeClr val="tx2"/>
                                </a:solidFill>
                                <a:latin typeface="Cambria Math" panose="02040503050406030204" pitchFamily="18" charset="0"/>
                              </a:rPr>
                              <m:t>𝑔</m:t>
                            </m:r>
                          </m:sub>
                        </m:sSub>
                        <m:r>
                          <a:rPr lang="ar-AE" sz="1800" i="1">
                            <a:solidFill>
                              <a:schemeClr val="tx2"/>
                            </a:solidFill>
                            <a:latin typeface="Cambria Math" panose="02040503050406030204" pitchFamily="18" charset="0"/>
                          </a:rPr>
                          <m:t>𝑐</m:t>
                        </m:r>
                        <m:sSub>
                          <m:sSubPr>
                            <m:ctrlPr>
                              <a:rPr lang="ar-AE" sz="1800" i="1">
                                <a:solidFill>
                                  <a:schemeClr val="tx2"/>
                                </a:solidFill>
                                <a:latin typeface="Cambria Math" panose="02040503050406030204" pitchFamily="18" charset="0"/>
                              </a:rPr>
                            </m:ctrlPr>
                          </m:sSubPr>
                          <m:e>
                            <m:r>
                              <a:rPr lang="ar-AE" sz="1800" i="1">
                                <a:solidFill>
                                  <a:schemeClr val="tx2"/>
                                </a:solidFill>
                                <a:latin typeface="Cambria Math" panose="02040503050406030204" pitchFamily="18" charset="0"/>
                              </a:rPr>
                              <m:t>𝐿</m:t>
                            </m:r>
                          </m:e>
                          <m:sub>
                            <m:r>
                              <a:rPr lang="ar-AE" sz="1800" i="1">
                                <a:solidFill>
                                  <a:schemeClr val="tx2"/>
                                </a:solidFill>
                                <a:latin typeface="Cambria Math" panose="02040503050406030204" pitchFamily="18" charset="0"/>
                              </a:rPr>
                              <m:t>𝑔</m:t>
                            </m:r>
                          </m:sub>
                        </m:sSub>
                        <m:r>
                          <a:rPr lang="ar-AE" sz="1800" i="1">
                            <a:solidFill>
                              <a:schemeClr val="tx2"/>
                            </a:solidFill>
                            <a:latin typeface="Cambria Math" panose="02040503050406030204" pitchFamily="18" charset="0"/>
                          </a:rPr>
                          <m:t>𝑐</m:t>
                        </m:r>
                      </m:e>
                    </m:d>
                  </m:oMath>
                </a14:m>
                <a:endParaRPr lang="ar-AE" sz="1800">
                  <a:solidFill>
                    <a:schemeClr val="tx2"/>
                  </a:solidFill>
                </a:endParaRPr>
              </a:p>
              <a:p>
                <a:r>
                  <a:rPr lang="uk-UA" sz="1800">
                    <a:solidFill>
                      <a:schemeClr val="tx2"/>
                    </a:solidFill>
                  </a:rPr>
                  <a:t>Використовується для відокремлення руху камери від руху об'єктів</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79226" y="3329677"/>
                <a:ext cx="9833548" cy="2457269"/>
              </a:xfrm>
              <a:blipFill>
                <a:blip r:embed="rId3"/>
                <a:stretch>
                  <a:fillRect l="-372" t="-124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027924" y="991261"/>
            <a:ext cx="5754696" cy="1837349"/>
          </a:xfrm>
        </p:spPr>
        <p:txBody>
          <a:bodyPr>
            <a:normAutofit/>
          </a:bodyPr>
          <a:lstStyle/>
          <a:p>
            <a:r>
              <a:rPr lang="ru-RU" sz="3600">
                <a:solidFill>
                  <a:schemeClr val="tx2"/>
                </a:solidFill>
              </a:rPr>
              <a:t>Визначення параметрів методами оптичного потоку</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50412" y="2979336"/>
                <a:ext cx="5709721" cy="2430864"/>
              </a:xfrm>
            </p:spPr>
            <p:txBody>
              <a:bodyPr anchor="t">
                <a:normAutofit/>
              </a:bodyPr>
              <a:lstStyle/>
              <a:p>
                <a:r>
                  <a:rPr lang="uk-UA" sz="2000">
                    <a:solidFill>
                      <a:schemeClr val="tx2"/>
                    </a:solidFill>
                  </a:rPr>
                  <a:t>Швидкість: </a:t>
                </a:r>
                <a14:m>
                  <m:oMath xmlns:m="http://schemas.openxmlformats.org/officeDocument/2006/math">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1</m:t>
                    </m:r>
                    <m:r>
                      <a:rPr lang="uk-UA" sz="2000" i="1">
                        <a:solidFill>
                          <a:schemeClr val="tx2"/>
                        </a:solidFill>
                        <a:latin typeface="Cambria Math" panose="02040503050406030204" pitchFamily="18" charset="0"/>
                      </a:rPr>
                      <m:t>/|</m:t>
                    </m:r>
                    <m:r>
                      <m:rPr>
                        <m:sty m:val="p"/>
                      </m:rPr>
                      <a:rPr lang="el-GR" sz="2000" i="0">
                        <a:solidFill>
                          <a:schemeClr val="tx2"/>
                        </a:solidFill>
                        <a:latin typeface="Cambria Math" panose="02040503050406030204" pitchFamily="18" charset="0"/>
                      </a:rPr>
                      <m:t>Ω</m:t>
                    </m:r>
                    <m:r>
                      <a:rPr lang="el-GR" sz="2000" i="1">
                        <a:solidFill>
                          <a:schemeClr val="tx2"/>
                        </a:solidFill>
                        <a:latin typeface="Cambria Math" panose="02040503050406030204" pitchFamily="18" charset="0"/>
                      </a:rPr>
                      <m:t>|)∬_</m:t>
                    </m:r>
                    <m:r>
                      <m:rPr>
                        <m:sty m:val="p"/>
                      </m:rPr>
                      <a:rPr lang="el-GR" sz="2000" i="0">
                        <a:solidFill>
                          <a:schemeClr val="tx2"/>
                        </a:solidFill>
                        <a:latin typeface="Cambria Math" panose="02040503050406030204" pitchFamily="18" charset="0"/>
                      </a:rPr>
                      <m:t>Ω</m:t>
                    </m:r>
                    <m:r>
                      <a:rPr lang="el-GR" sz="2000" i="1">
                        <a:solidFill>
                          <a:schemeClr val="tx2"/>
                        </a:solidFill>
                        <a:latin typeface="Cambria Math" panose="02040503050406030204" pitchFamily="18" charset="0"/>
                      </a:rPr>
                      <m:t> √(</m:t>
                    </m:r>
                    <m:r>
                      <a:rPr lang="el-GR" sz="2000" i="1">
                        <a:solidFill>
                          <a:schemeClr val="tx2"/>
                        </a:solidFill>
                        <a:latin typeface="Cambria Math" panose="02040503050406030204" pitchFamily="18" charset="0"/>
                      </a:rPr>
                      <m:t>𝑢</m:t>
                    </m:r>
                    <m:r>
                      <a:rPr lang="el-GR" sz="2000" i="1">
                        <a:solidFill>
                          <a:schemeClr val="tx2"/>
                        </a:solidFill>
                        <a:latin typeface="Cambria Math" panose="02040503050406030204" pitchFamily="18" charset="0"/>
                      </a:rPr>
                      <m:t>²</m:t>
                    </m:r>
                    <m:r>
                      <a:rPr lang="el-GR" sz="2000" i="1">
                        <a:solidFill>
                          <a:schemeClr val="tx2"/>
                        </a:solidFill>
                        <a:latin typeface="Cambria Math" panose="02040503050406030204" pitchFamily="18" charset="0"/>
                      </a:rPr>
                      <m:t>+</m:t>
                    </m:r>
                    <m:r>
                      <a:rPr lang="el-GR" sz="2000" i="1">
                        <a:solidFill>
                          <a:schemeClr val="tx2"/>
                        </a:solidFill>
                        <a:latin typeface="Cambria Math" panose="02040503050406030204" pitchFamily="18" charset="0"/>
                      </a:rPr>
                      <m:t>𝑣</m:t>
                    </m:r>
                    <m:r>
                      <a:rPr lang="el-GR" sz="2000" i="1">
                        <a:solidFill>
                          <a:schemeClr val="tx2"/>
                        </a:solidFill>
                        <a:latin typeface="Cambria Math" panose="02040503050406030204" pitchFamily="18" charset="0"/>
                      </a:rPr>
                      <m:t>²</m:t>
                    </m:r>
                    <m:r>
                      <a:rPr lang="el-GR" sz="2000" i="1">
                        <a:solidFill>
                          <a:schemeClr val="tx2"/>
                        </a:solidFill>
                        <a:latin typeface="Cambria Math" panose="02040503050406030204" pitchFamily="18" charset="0"/>
                      </a:rPr>
                      <m:t>) </m:t>
                    </m:r>
                    <m:r>
                      <a:rPr lang="el-GR" sz="2000" i="1">
                        <a:solidFill>
                          <a:schemeClr val="tx2"/>
                        </a:solidFill>
                        <a:latin typeface="Cambria Math" panose="02040503050406030204" pitchFamily="18" charset="0"/>
                      </a:rPr>
                      <m:t>𝑑𝑥𝑑𝑦</m:t>
                    </m:r>
                  </m:oMath>
                </a14:m>
                <a:endParaRPr lang="el-GR" sz="2000">
                  <a:solidFill>
                    <a:schemeClr val="tx2"/>
                  </a:solidFill>
                </a:endParaRPr>
              </a:p>
              <a:p>
                <a:r>
                  <a:rPr lang="uk-UA" sz="2000">
                    <a:solidFill>
                      <a:schemeClr val="tx2"/>
                    </a:solidFill>
                  </a:rPr>
                  <a:t>Напрямок: </a:t>
                </a:r>
                <a14:m>
                  <m:oMath xmlns:m="http://schemas.openxmlformats.org/officeDocument/2006/math">
                    <m:r>
                      <a:rPr lang="uk-UA" sz="2000" i="1">
                        <a:solidFill>
                          <a:schemeClr val="tx2"/>
                        </a:solidFill>
                        <a:latin typeface="Cambria Math" panose="02040503050406030204" pitchFamily="18" charset="0"/>
                      </a:rPr>
                      <m:t>𝜃</m:t>
                    </m:r>
                    <m:r>
                      <a:rPr lang="uk-UA" sz="2000" i="1">
                        <a:solidFill>
                          <a:schemeClr val="tx2"/>
                        </a:solidFill>
                        <a:latin typeface="Cambria Math" panose="02040503050406030204" pitchFamily="18" charset="0"/>
                      </a:rPr>
                      <m:t> = </m:t>
                    </m:r>
                    <m:r>
                      <m:rPr>
                        <m:sty m:val="p"/>
                      </m:rPr>
                      <a:rPr lang="en-US" sz="2000" i="1">
                        <a:solidFill>
                          <a:schemeClr val="tx2"/>
                        </a:solidFill>
                        <a:latin typeface="Cambria Math" panose="02040503050406030204" pitchFamily="18" charset="0"/>
                      </a:rPr>
                      <m:t>arctan</m:t>
                    </m:r>
                    <m:r>
                      <a:rPr lang="en-US" sz="2000" i="1">
                        <a:solidFill>
                          <a:schemeClr val="tx2"/>
                        </a:solidFill>
                        <a:latin typeface="Cambria Math" panose="02040503050406030204" pitchFamily="18" charset="0"/>
                      </a:rPr>
                      <m:t>⁡(∑ </m:t>
                    </m:r>
                    <m:r>
                      <m:rPr>
                        <m:sty m:val="p"/>
                      </m:rPr>
                      <a:rPr lang="en-US" sz="2000" i="1">
                        <a:solidFill>
                          <a:schemeClr val="tx2"/>
                        </a:solidFill>
                        <a:latin typeface="Cambria Math" panose="02040503050406030204" pitchFamily="18" charset="0"/>
                      </a:rPr>
                      <m:t>sin</m:t>
                    </m:r>
                    <m:r>
                      <a:rPr lang="en-US" sz="2000" i="1">
                        <a:solidFill>
                          <a:schemeClr val="tx2"/>
                        </a:solidFill>
                        <a:latin typeface="Cambria Math" panose="02040503050406030204" pitchFamily="18" charset="0"/>
                      </a:rPr>
                      <m:t>𝜃</m:t>
                    </m:r>
                    <m:r>
                      <a:rPr lang="en-US" sz="2000" i="1">
                        <a:solidFill>
                          <a:schemeClr val="tx2"/>
                        </a:solidFill>
                        <a:latin typeface="Cambria Math" panose="02040503050406030204" pitchFamily="18" charset="0"/>
                      </a:rPr>
                      <m:t>_</m:t>
                    </m:r>
                    <m:r>
                      <a:rPr lang="en-US" sz="2000" i="1">
                        <a:solidFill>
                          <a:schemeClr val="tx2"/>
                        </a:solidFill>
                        <a:latin typeface="Cambria Math" panose="02040503050406030204" pitchFamily="18" charset="0"/>
                      </a:rPr>
                      <m:t>𝑖</m:t>
                    </m:r>
                    <m:r>
                      <a:rPr lang="en-US" sz="2000" i="1">
                        <a:solidFill>
                          <a:schemeClr val="tx2"/>
                        </a:solidFill>
                        <a:latin typeface="Cambria Math" panose="02040503050406030204" pitchFamily="18" charset="0"/>
                      </a:rPr>
                      <m:t> / ∑ </m:t>
                    </m:r>
                    <m:r>
                      <m:rPr>
                        <m:sty m:val="p"/>
                      </m:rPr>
                      <a:rPr lang="en-US" sz="2000" i="1">
                        <a:solidFill>
                          <a:schemeClr val="tx2"/>
                        </a:solidFill>
                        <a:latin typeface="Cambria Math" panose="02040503050406030204" pitchFamily="18" charset="0"/>
                      </a:rPr>
                      <m:t>cos</m:t>
                    </m:r>
                    <m:r>
                      <a:rPr lang="en-US" sz="2000" i="1">
                        <a:solidFill>
                          <a:schemeClr val="tx2"/>
                        </a:solidFill>
                        <a:latin typeface="Cambria Math" panose="02040503050406030204" pitchFamily="18" charset="0"/>
                      </a:rPr>
                      <m:t>𝜃</m:t>
                    </m:r>
                    <m:r>
                      <a:rPr lang="en-US" sz="2000" i="1">
                        <a:solidFill>
                          <a:schemeClr val="tx2"/>
                        </a:solidFill>
                        <a:latin typeface="Cambria Math" panose="02040503050406030204" pitchFamily="18" charset="0"/>
                      </a:rPr>
                      <m:t>_</m:t>
                    </m:r>
                    <m:r>
                      <a:rPr lang="en-US" sz="2000" i="1">
                        <a:solidFill>
                          <a:schemeClr val="tx2"/>
                        </a:solidFill>
                        <a:latin typeface="Cambria Math" panose="02040503050406030204" pitchFamily="18" charset="0"/>
                      </a:rPr>
                      <m:t>𝑖</m:t>
                    </m:r>
                    <m:r>
                      <a:rPr lang="en-US" sz="2000" i="1">
                        <a:solidFill>
                          <a:schemeClr val="tx2"/>
                        </a:solidFill>
                        <a:latin typeface="Cambria Math" panose="02040503050406030204" pitchFamily="18" charset="0"/>
                      </a:rPr>
                      <m:t>)</m:t>
                    </m:r>
                  </m:oMath>
                </a14:m>
                <a:endParaRPr lang="en-US" sz="2000">
                  <a:solidFill>
                    <a:schemeClr val="tx2"/>
                  </a:solidFill>
                </a:endParaRPr>
              </a:p>
              <a:p>
                <a:r>
                  <a:rPr lang="uk-UA" sz="2000">
                    <a:solidFill>
                      <a:schemeClr val="tx2"/>
                    </a:solidFill>
                  </a:rPr>
                  <a:t>Траєкторія: </a:t>
                </a:r>
                <a14:m>
                  <m:oMath xmlns:m="http://schemas.openxmlformats.org/officeDocument/2006/math">
                    <m:r>
                      <a:rPr lang="uk-UA" sz="2000" i="1">
                        <a:solidFill>
                          <a:schemeClr val="tx2"/>
                        </a:solidFill>
                        <a:latin typeface="Cambria Math" panose="02040503050406030204" pitchFamily="18" charset="0"/>
                      </a:rPr>
                      <m:t>𝑇</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𝑝</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₁</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𝑝</m:t>
                    </m:r>
                    <m:r>
                      <a:rPr lang="uk-UA" sz="2000" i="1">
                        <a:solidFill>
                          <a:schemeClr val="tx2"/>
                        </a:solidFill>
                        <a:latin typeface="Cambria Math" panose="02040503050406030204" pitchFamily="18" charset="0"/>
                      </a:rPr>
                      <m:t>(</m:t>
                    </m:r>
                    <m:sSub>
                      <m:sSubPr>
                        <m:ctrlPr>
                          <a:rPr lang="ar-AE" sz="2000" i="1">
                            <a:solidFill>
                              <a:schemeClr val="tx2"/>
                            </a:solidFill>
                            <a:latin typeface="Cambria Math" panose="02040503050406030204" pitchFamily="18" charset="0"/>
                          </a:rPr>
                        </m:ctrlPr>
                      </m:sSubPr>
                      <m:e>
                        <m:r>
                          <a:rPr lang="ar-AE" sz="2000" i="1">
                            <a:solidFill>
                              <a:schemeClr val="tx2"/>
                            </a:solidFill>
                            <a:latin typeface="Cambria Math" panose="02040503050406030204" pitchFamily="18" charset="0"/>
                          </a:rPr>
                          <m:t>𝑡</m:t>
                        </m:r>
                      </m:e>
                      <m:sub>
                        <m:r>
                          <a:rPr lang="ar-AE" sz="2000" i="1">
                            <a:solidFill>
                              <a:schemeClr val="tx2"/>
                            </a:solidFill>
                            <a:latin typeface="Cambria Math" panose="02040503050406030204" pitchFamily="18" charset="0"/>
                          </a:rPr>
                          <m:t>𝑛</m:t>
                        </m:r>
                      </m:sub>
                    </m:sSub>
                    <m:r>
                      <a:rPr lang="ar-AE" sz="2000" i="1">
                        <a:solidFill>
                          <a:schemeClr val="tx2"/>
                        </a:solidFill>
                        <a:latin typeface="Cambria Math" panose="02040503050406030204" pitchFamily="18" charset="0"/>
                      </a:rPr>
                      <m:t>)}</m:t>
                    </m:r>
                  </m:oMath>
                </a14:m>
                <a:r>
                  <a:rPr lang="ar-AE" sz="2000">
                    <a:solidFill>
                      <a:schemeClr val="tx2"/>
                    </a:solidFill>
                  </a:rPr>
                  <a:t>, </a:t>
                </a:r>
                <a:r>
                  <a:rPr lang="uk-UA" sz="2000">
                    <a:solidFill>
                      <a:schemeClr val="tx2"/>
                    </a:solidFill>
                  </a:rPr>
                  <a:t>згладжена ковзним середнім</a:t>
                </a:r>
              </a:p>
              <a:p>
                <a:r>
                  <a:rPr lang="uk-UA" sz="2000">
                    <a:solidFill>
                      <a:schemeClr val="tx2"/>
                    </a:solidFill>
                  </a:rPr>
                  <a:t>Прискорення: </a:t>
                </a:r>
                <a14:m>
                  <m:oMath xmlns:m="http://schemas.openxmlformats.org/officeDocument/2006/math">
                    <m:r>
                      <a:rPr lang="uk-UA" sz="2000" i="1">
                        <a:solidFill>
                          <a:schemeClr val="tx2"/>
                        </a:solidFill>
                        <a:latin typeface="Cambria Math" panose="02040503050406030204" pitchFamily="18" charset="0"/>
                      </a:rPr>
                      <m:t>𝑎</m:t>
                    </m:r>
                    <m:r>
                      <a:rPr lang="uk-UA" sz="2000" i="1">
                        <a:solidFill>
                          <a:schemeClr val="tx2"/>
                        </a:solidFill>
                        <a:latin typeface="Cambria Math" panose="02040503050406030204" pitchFamily="18" charset="0"/>
                      </a:rPr>
                      <m:t> = (</m:t>
                    </m:r>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1</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𝑣</m:t>
                    </m:r>
                    <m:r>
                      <a:rPr lang="uk-UA" sz="2000" i="1">
                        <a:solidFill>
                          <a:schemeClr val="tx2"/>
                        </a:solidFill>
                        <a:latin typeface="Cambria Math" panose="02040503050406030204" pitchFamily="18" charset="0"/>
                      </a:rPr>
                      <m:t>(</m:t>
                    </m:r>
                    <m:r>
                      <a:rPr lang="uk-UA" sz="2000" i="1">
                        <a:solidFill>
                          <a:schemeClr val="tx2"/>
                        </a:solidFill>
                        <a:latin typeface="Cambria Math" panose="02040503050406030204" pitchFamily="18" charset="0"/>
                      </a:rPr>
                      <m:t>𝑡</m:t>
                    </m:r>
                    <m:r>
                      <a:rPr lang="uk-UA" sz="2000" i="1">
                        <a:solidFill>
                          <a:schemeClr val="tx2"/>
                        </a:solidFill>
                        <a:latin typeface="Cambria Math" panose="02040503050406030204" pitchFamily="18" charset="0"/>
                      </a:rPr>
                      <m:t>))/</m:t>
                    </m:r>
                    <m:r>
                      <m:rPr>
                        <m:sty m:val="p"/>
                      </m:rPr>
                      <a:rPr lang="el-GR" sz="2000" i="0">
                        <a:solidFill>
                          <a:schemeClr val="tx2"/>
                        </a:solidFill>
                        <a:latin typeface="Cambria Math" panose="02040503050406030204" pitchFamily="18" charset="0"/>
                      </a:rPr>
                      <m:t>Δ</m:t>
                    </m:r>
                    <m:r>
                      <a:rPr lang="el-GR" sz="2000" i="1">
                        <a:solidFill>
                          <a:schemeClr val="tx2"/>
                        </a:solidFill>
                        <a:latin typeface="Cambria Math" panose="02040503050406030204" pitchFamily="18" charset="0"/>
                      </a:rPr>
                      <m:t>𝑡</m:t>
                    </m:r>
                  </m:oMath>
                </a14:m>
                <a:endParaRPr lang="el-GR" sz="2000">
                  <a:solidFill>
                    <a:schemeClr val="tx2"/>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50412" y="2979336"/>
                <a:ext cx="5709721" cy="2430864"/>
              </a:xfrm>
              <a:blipFill>
                <a:blip r:embed="rId3"/>
                <a:stretch>
                  <a:fillRect l="-961" t="-50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336390"/>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803776" y="2829330"/>
            <a:ext cx="6190412" cy="3344459"/>
          </a:xfrm>
        </p:spPr>
        <p:txBody>
          <a:bodyPr anchor="t">
            <a:normAutofit/>
          </a:bodyPr>
          <a:lstStyle/>
          <a:p>
            <a:r>
              <a:rPr lang="ru-RU" sz="2000" dirty="0">
                <a:solidFill>
                  <a:schemeClr val="tx1">
                    <a:alpha val="80000"/>
                  </a:schemeClr>
                </a:solidFill>
              </a:rPr>
              <a:t>Кадри → </a:t>
            </a:r>
            <a:r>
              <a:rPr lang="ru-RU" sz="2000" dirty="0" err="1">
                <a:solidFill>
                  <a:schemeClr val="tx1">
                    <a:alpha val="80000"/>
                  </a:schemeClr>
                </a:solidFill>
              </a:rPr>
              <a:t>оптичний</a:t>
            </a:r>
            <a:r>
              <a:rPr lang="ru-RU" sz="2000" dirty="0">
                <a:solidFill>
                  <a:schemeClr val="tx1">
                    <a:alpha val="80000"/>
                  </a:schemeClr>
                </a:solidFill>
              </a:rPr>
              <a:t> </a:t>
            </a:r>
            <a:r>
              <a:rPr lang="ru-RU" sz="2000" dirty="0" err="1">
                <a:solidFill>
                  <a:schemeClr val="tx1">
                    <a:alpha val="80000"/>
                  </a:schemeClr>
                </a:solidFill>
              </a:rPr>
              <a:t>потік</a:t>
            </a:r>
            <a:r>
              <a:rPr lang="ru-RU" sz="2000" dirty="0">
                <a:solidFill>
                  <a:schemeClr val="tx1">
                    <a:alpha val="80000"/>
                  </a:schemeClr>
                </a:solidFill>
              </a:rPr>
              <a:t> → </a:t>
            </a:r>
            <a:r>
              <a:rPr lang="ru-RU" sz="2000" dirty="0" err="1">
                <a:solidFill>
                  <a:schemeClr val="tx1">
                    <a:alpha val="80000"/>
                  </a:schemeClr>
                </a:solidFill>
              </a:rPr>
              <a:t>вектори</a:t>
            </a:r>
            <a:r>
              <a:rPr lang="ru-RU" sz="2000" dirty="0">
                <a:solidFill>
                  <a:schemeClr val="tx1">
                    <a:alpha val="80000"/>
                  </a:schemeClr>
                </a:solidFill>
              </a:rPr>
              <a:t> руху → </a:t>
            </a:r>
            <a:r>
              <a:rPr lang="ru-RU" sz="2000" dirty="0" err="1">
                <a:solidFill>
                  <a:schemeClr val="tx1">
                    <a:alpha val="80000"/>
                  </a:schemeClr>
                </a:solidFill>
              </a:rPr>
              <a:t>трансформерна</a:t>
            </a:r>
            <a:r>
              <a:rPr lang="ru-RU" sz="2000" dirty="0">
                <a:solidFill>
                  <a:schemeClr val="tx1">
                    <a:alpha val="80000"/>
                  </a:schemeClr>
                </a:solidFill>
              </a:rPr>
              <a:t> </a:t>
            </a:r>
            <a:r>
              <a:rPr lang="ru-RU" sz="2000" dirty="0" err="1">
                <a:solidFill>
                  <a:schemeClr val="tx1">
                    <a:alpha val="80000"/>
                  </a:schemeClr>
                </a:solidFill>
              </a:rPr>
              <a:t>обробка</a:t>
            </a:r>
            <a:r>
              <a:rPr lang="ru-RU" sz="2000" dirty="0">
                <a:solidFill>
                  <a:schemeClr val="tx1">
                    <a:alpha val="80000"/>
                  </a:schemeClr>
                </a:solidFill>
              </a:rPr>
              <a:t> → </a:t>
            </a:r>
            <a:r>
              <a:rPr lang="ru-RU" sz="2000" dirty="0" err="1">
                <a:solidFill>
                  <a:schemeClr val="tx1">
                    <a:alpha val="80000"/>
                  </a:schemeClr>
                </a:solidFill>
              </a:rPr>
              <a:t>параметри</a:t>
            </a:r>
            <a:r>
              <a:rPr lang="ru-RU" sz="2000" dirty="0">
                <a:solidFill>
                  <a:schemeClr val="tx1">
                    <a:alpha val="80000"/>
                  </a:schemeClr>
                </a:solidFill>
              </a:rPr>
              <a:t> (</a:t>
            </a:r>
            <a:r>
              <a:rPr lang="ru-RU" sz="2000" dirty="0" err="1">
                <a:solidFill>
                  <a:schemeClr val="tx1">
                    <a:alpha val="80000"/>
                  </a:schemeClr>
                </a:solidFill>
              </a:rPr>
              <a:t>положення</a:t>
            </a:r>
            <a:r>
              <a:rPr lang="ru-RU" sz="2000" dirty="0">
                <a:solidFill>
                  <a:schemeClr val="tx1">
                    <a:alpha val="80000"/>
                  </a:schemeClr>
                </a:solidFill>
              </a:rPr>
              <a:t>, </a:t>
            </a:r>
            <a:r>
              <a:rPr lang="ru-RU" sz="2000" dirty="0" err="1">
                <a:solidFill>
                  <a:schemeClr val="tx1">
                    <a:alpha val="80000"/>
                  </a:schemeClr>
                </a:solidFill>
              </a:rPr>
              <a:t>швидкість</a:t>
            </a:r>
            <a:r>
              <a:rPr lang="ru-RU" sz="2000" dirty="0">
                <a:solidFill>
                  <a:schemeClr val="tx1">
                    <a:alpha val="80000"/>
                  </a:schemeClr>
                </a:solidFill>
              </a:rPr>
              <a:t>, </a:t>
            </a:r>
            <a:r>
              <a:rPr lang="ru-RU" sz="2000" dirty="0" err="1">
                <a:solidFill>
                  <a:schemeClr val="tx1">
                    <a:alpha val="80000"/>
                  </a:schemeClr>
                </a:solidFill>
              </a:rPr>
              <a:t>прискорення</a:t>
            </a:r>
            <a:r>
              <a:rPr lang="ru-RU" sz="2000" dirty="0">
                <a:solidFill>
                  <a:schemeClr val="tx1">
                    <a:alpha val="80000"/>
                  </a:schemeClr>
                </a:solidFill>
              </a:rPr>
              <a:t>, </a:t>
            </a:r>
            <a:r>
              <a:rPr lang="ru-RU" sz="2000" dirty="0" err="1">
                <a:solidFill>
                  <a:schemeClr val="tx1">
                    <a:alpha val="80000"/>
                  </a:schemeClr>
                </a:solidFill>
              </a:rPr>
              <a:t>напрям</a:t>
            </a:r>
            <a:r>
              <a:rPr lang="ru-RU" sz="2000"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5653287" y="2447337"/>
            <a:ext cx="5667269" cy="3539220"/>
          </a:xfrm>
        </p:spPr>
        <p:txBody>
          <a:bodyPr anchor="t">
            <a:normAutofit/>
          </a:bodyPr>
          <a:lstStyle/>
          <a:p>
            <a:r>
              <a:rPr lang="uk-UA" sz="2000">
                <a:solidFill>
                  <a:srgbClr val="595959"/>
                </a:solidFill>
              </a:rPr>
              <a:t>Відеопотік → оптичний потік → трансформерна мережа → ансамблевий модуль (</a:t>
            </a:r>
            <a:r>
              <a:rPr lang="en-US" sz="2000">
                <a:solidFill>
                  <a:srgbClr val="595959"/>
                </a:solidFill>
              </a:rPr>
              <a:t>Bagging/Boosting) → </a:t>
            </a:r>
            <a:r>
              <a:rPr lang="uk-UA" sz="2000">
                <a:solidFill>
                  <a:srgbClr val="595959"/>
                </a:solidFill>
              </a:rPr>
              <a:t>прогноз параметрів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1045029" y="2524721"/>
            <a:ext cx="4991629" cy="3677123"/>
          </a:xfrm>
        </p:spPr>
        <p:txBody>
          <a:bodyPr anchor="ctr">
            <a:normAutofit/>
          </a:bodyPr>
          <a:lstStyle/>
          <a:p>
            <a:r>
              <a:rPr lang="uk-UA" sz="180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7002026" y="901032"/>
            <a:ext cx="4080185" cy="5116220"/>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en-US" sz="2200"/>
              <a:t>Video Stream Processing → DETR Model → Optical Flow → Forming and Displaying Results</a:t>
            </a:r>
          </a:p>
          <a:p>
            <a:r>
              <a:rPr lang="uk-UA" sz="2200"/>
              <a:t>Модульна архітектура, можливість заміни компонентів (</a:t>
            </a:r>
            <a:r>
              <a:rPr lang="en-US" sz="2200"/>
              <a:t>YOLO </a:t>
            </a:r>
            <a:r>
              <a:rPr lang="uk-UA" sz="2200"/>
              <a:t>замість </a:t>
            </a:r>
            <a:r>
              <a:rPr lang="en-US" sz="2200"/>
              <a:t>DETR, FlowNet </a:t>
            </a:r>
            <a:r>
              <a:rPr lang="uk-UA" sz="2200"/>
              <a:t>замість </a:t>
            </a:r>
            <a:r>
              <a:rPr lang="en-US" sz="2200"/>
              <a:t>Farneback)</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en-US" sz="2200"/>
              <a:t>Bagging (</a:t>
            </a:r>
            <a:r>
              <a:rPr lang="uk-UA" sz="2200"/>
              <a:t>паралельний): різні модифікації кадрів → </a:t>
            </a:r>
            <a:r>
              <a:rPr lang="en-US" sz="2200"/>
              <a:t>GeoNet → </a:t>
            </a:r>
            <a:r>
              <a:rPr lang="uk-UA" sz="2200"/>
              <a:t>усереднення карт глибини</a:t>
            </a:r>
          </a:p>
          <a:p>
            <a:r>
              <a:rPr lang="en-US" sz="2200"/>
              <a:t>Boosting (</a:t>
            </a:r>
            <a:r>
              <a:rPr lang="uk-UA" sz="220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6372617" y="640080"/>
            <a:ext cx="4911829" cy="557784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1070304778"/>
              </p:ext>
            </p:extLst>
          </p:nvPr>
        </p:nvGraphicFramePr>
        <p:xfrm>
          <a:off x="320040" y="2782619"/>
          <a:ext cx="11548875" cy="3288061"/>
        </p:xfrm>
        <a:graphic>
          <a:graphicData uri="http://schemas.openxmlformats.org/drawingml/2006/table">
            <a:tbl>
              <a:tblPr firstRow="1" bandRow="1">
                <a:tableStyleId>{3B4B98B0-60AC-42C2-AFA5-B58CD77FA1E5}</a:tableStyleId>
              </a:tblPr>
              <a:tblGrid>
                <a:gridCol w="960810">
                  <a:extLst>
                    <a:ext uri="{9D8B030D-6E8A-4147-A177-3AD203B41FA5}">
                      <a16:colId xmlns:a16="http://schemas.microsoft.com/office/drawing/2014/main" val="20000"/>
                    </a:ext>
                  </a:extLst>
                </a:gridCol>
                <a:gridCol w="1437618">
                  <a:extLst>
                    <a:ext uri="{9D8B030D-6E8A-4147-A177-3AD203B41FA5}">
                      <a16:colId xmlns:a16="http://schemas.microsoft.com/office/drawing/2014/main" val="20001"/>
                    </a:ext>
                  </a:extLst>
                </a:gridCol>
                <a:gridCol w="1830088">
                  <a:extLst>
                    <a:ext uri="{9D8B030D-6E8A-4147-A177-3AD203B41FA5}">
                      <a16:colId xmlns:a16="http://schemas.microsoft.com/office/drawing/2014/main" val="20002"/>
                    </a:ext>
                  </a:extLst>
                </a:gridCol>
                <a:gridCol w="1830088">
                  <a:extLst>
                    <a:ext uri="{9D8B030D-6E8A-4147-A177-3AD203B41FA5}">
                      <a16:colId xmlns:a16="http://schemas.microsoft.com/office/drawing/2014/main" val="20003"/>
                    </a:ext>
                  </a:extLst>
                </a:gridCol>
                <a:gridCol w="1830088">
                  <a:extLst>
                    <a:ext uri="{9D8B030D-6E8A-4147-A177-3AD203B41FA5}">
                      <a16:colId xmlns:a16="http://schemas.microsoft.com/office/drawing/2014/main" val="20004"/>
                    </a:ext>
                  </a:extLst>
                </a:gridCol>
                <a:gridCol w="1830088">
                  <a:extLst>
                    <a:ext uri="{9D8B030D-6E8A-4147-A177-3AD203B41FA5}">
                      <a16:colId xmlns:a16="http://schemas.microsoft.com/office/drawing/2014/main" val="20005"/>
                    </a:ext>
                  </a:extLst>
                </a:gridCol>
                <a:gridCol w="1830095">
                  <a:extLst>
                    <a:ext uri="{9D8B030D-6E8A-4147-A177-3AD203B41FA5}">
                      <a16:colId xmlns:a16="http://schemas.microsoft.com/office/drawing/2014/main" val="20006"/>
                    </a:ext>
                  </a:extLst>
                </a:gridCol>
              </a:tblGrid>
              <a:tr h="469723">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469723">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469723">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469723">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469723">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469723">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469723">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a:t>147,5</a:t>
                      </a:r>
                    </a:p>
                  </a:txBody>
                  <a:tcPr marL="106755" marR="106755" marT="53378" marB="53378"/>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00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660904"/>
            <a:ext cx="4818888" cy="3547872"/>
          </a:xfrm>
        </p:spPr>
        <p:txBody>
          <a:bodyPr anchor="t">
            <a:normAutofit/>
          </a:bodyPr>
          <a:lstStyle/>
          <a:p>
            <a:r>
              <a:rPr lang="uk-UA" sz="2200"/>
              <a:t>На кадрі накладаються </a:t>
            </a:r>
            <a:r>
              <a:rPr lang="en-US" sz="2200"/>
              <a:t>bounding boxes, </a:t>
            </a:r>
            <a:r>
              <a:rPr lang="uk-UA" sz="2200"/>
              <a:t>вектори швидкості, значення глибини</a:t>
            </a:r>
          </a:p>
          <a:p>
            <a:r>
              <a:rPr lang="uk-UA" sz="2200"/>
              <a:t>Кольорове кодування напрямку руху (</a:t>
            </a:r>
            <a:r>
              <a:rPr lang="en-US" sz="220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099048" y="1290904"/>
            <a:ext cx="5458968" cy="4276191"/>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a:t>Farneback + MiDaS : </a:t>
            </a:r>
            <a:r>
              <a:rPr lang="uk-UA" sz="1500"/>
              <a:t>класичний оптичний потік + трансформерна глибина</a:t>
            </a:r>
          </a:p>
          <a:p>
            <a:pPr>
              <a:lnSpc>
                <a:spcPct val="90000"/>
              </a:lnSpc>
            </a:pPr>
            <a:r>
              <a:rPr lang="en-US" sz="1500"/>
              <a:t>FlowNet + DPT_Large : </a:t>
            </a:r>
            <a:r>
              <a:rPr lang="uk-UA" sz="1500"/>
              <a:t>нейромережевий потік + щільний трансформер глибини</a:t>
            </a:r>
          </a:p>
          <a:p>
            <a:pPr>
              <a:lnSpc>
                <a:spcPct val="90000"/>
              </a:lnSpc>
            </a:pPr>
            <a:r>
              <a:rPr lang="en-US" sz="1500"/>
              <a:t>GeoNet </a:t>
            </a:r>
            <a:r>
              <a:rPr lang="uk-UA" sz="1500"/>
              <a:t>сумісна оцінка – найкраща узгодженість руху та глибини</a:t>
            </a:r>
          </a:p>
          <a:p>
            <a:pPr>
              <a:lnSpc>
                <a:spcPct val="90000"/>
              </a:lnSpc>
            </a:pPr>
            <a:r>
              <a:rPr lang="en-US" sz="1500"/>
              <a:t>Horn-Schunck + Bagging : </a:t>
            </a:r>
            <a:r>
              <a:rPr lang="uk-UA" sz="150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795867" y="2569464"/>
            <a:ext cx="4809066" cy="3678936"/>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584019" y="2569464"/>
            <a:ext cx="4809066" cy="3678936"/>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2202534068"/>
              </p:ext>
            </p:extLst>
          </p:nvPr>
        </p:nvGraphicFramePr>
        <p:xfrm>
          <a:off x="4654296" y="971095"/>
          <a:ext cx="7214618" cy="4888380"/>
        </p:xfrm>
        <a:graphic>
          <a:graphicData uri="http://schemas.openxmlformats.org/drawingml/2006/table">
            <a:tbl>
              <a:tblPr firstRow="1" bandRow="1">
                <a:noFill/>
                <a:tableStyleId>{5C22544A-7EE6-4342-B048-85BDC9FD1C3A}</a:tableStyleId>
              </a:tblPr>
              <a:tblGrid>
                <a:gridCol w="1591817">
                  <a:extLst>
                    <a:ext uri="{9D8B030D-6E8A-4147-A177-3AD203B41FA5}">
                      <a16:colId xmlns:a16="http://schemas.microsoft.com/office/drawing/2014/main" val="20000"/>
                    </a:ext>
                  </a:extLst>
                </a:gridCol>
                <a:gridCol w="1025590">
                  <a:extLst>
                    <a:ext uri="{9D8B030D-6E8A-4147-A177-3AD203B41FA5}">
                      <a16:colId xmlns:a16="http://schemas.microsoft.com/office/drawing/2014/main" val="20001"/>
                    </a:ext>
                  </a:extLst>
                </a:gridCol>
                <a:gridCol w="1025590">
                  <a:extLst>
                    <a:ext uri="{9D8B030D-6E8A-4147-A177-3AD203B41FA5}">
                      <a16:colId xmlns:a16="http://schemas.microsoft.com/office/drawing/2014/main" val="20002"/>
                    </a:ext>
                  </a:extLst>
                </a:gridCol>
                <a:gridCol w="1666783">
                  <a:extLst>
                    <a:ext uri="{9D8B030D-6E8A-4147-A177-3AD203B41FA5}">
                      <a16:colId xmlns:a16="http://schemas.microsoft.com/office/drawing/2014/main" val="20003"/>
                    </a:ext>
                  </a:extLst>
                </a:gridCol>
                <a:gridCol w="1904838">
                  <a:extLst>
                    <a:ext uri="{9D8B030D-6E8A-4147-A177-3AD203B41FA5}">
                      <a16:colId xmlns:a16="http://schemas.microsoft.com/office/drawing/2014/main" val="20004"/>
                    </a:ext>
                  </a:extLst>
                </a:gridCol>
              </a:tblGrid>
              <a:tr h="734980">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830680">
                <a:tc>
                  <a:txBody>
                    <a:bodyPr/>
                    <a:lstStyle/>
                    <a:p>
                      <a:r>
                        <a:rPr sz="2000" cap="none" spc="0">
                          <a:solidFill>
                            <a:schemeClr val="tx1"/>
                          </a:solidFill>
                        </a:rPr>
                        <a:t>Farneback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830680">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830680">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830680">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830680">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994772503"/>
              </p:ext>
            </p:extLst>
          </p:nvPr>
        </p:nvGraphicFramePr>
        <p:xfrm>
          <a:off x="4654296" y="1283533"/>
          <a:ext cx="7214619" cy="4263507"/>
        </p:xfrm>
        <a:graphic>
          <a:graphicData uri="http://schemas.openxmlformats.org/drawingml/2006/table">
            <a:tbl>
              <a:tblPr firstRow="1" bandRow="1">
                <a:noFill/>
                <a:tableStyleId>{5C22544A-7EE6-4342-B048-85BDC9FD1C3A}</a:tableStyleId>
              </a:tblPr>
              <a:tblGrid>
                <a:gridCol w="1368583">
                  <a:extLst>
                    <a:ext uri="{9D8B030D-6E8A-4147-A177-3AD203B41FA5}">
                      <a16:colId xmlns:a16="http://schemas.microsoft.com/office/drawing/2014/main" val="20000"/>
                    </a:ext>
                  </a:extLst>
                </a:gridCol>
                <a:gridCol w="1332978">
                  <a:extLst>
                    <a:ext uri="{9D8B030D-6E8A-4147-A177-3AD203B41FA5}">
                      <a16:colId xmlns:a16="http://schemas.microsoft.com/office/drawing/2014/main" val="20001"/>
                    </a:ext>
                  </a:extLst>
                </a:gridCol>
                <a:gridCol w="1180928">
                  <a:extLst>
                    <a:ext uri="{9D8B030D-6E8A-4147-A177-3AD203B41FA5}">
                      <a16:colId xmlns:a16="http://schemas.microsoft.com/office/drawing/2014/main" val="20002"/>
                    </a:ext>
                  </a:extLst>
                </a:gridCol>
                <a:gridCol w="1134996">
                  <a:extLst>
                    <a:ext uri="{9D8B030D-6E8A-4147-A177-3AD203B41FA5}">
                      <a16:colId xmlns:a16="http://schemas.microsoft.com/office/drawing/2014/main" val="20003"/>
                    </a:ext>
                  </a:extLst>
                </a:gridCol>
                <a:gridCol w="1041548">
                  <a:extLst>
                    <a:ext uri="{9D8B030D-6E8A-4147-A177-3AD203B41FA5}">
                      <a16:colId xmlns:a16="http://schemas.microsoft.com/office/drawing/2014/main" val="20004"/>
                    </a:ext>
                  </a:extLst>
                </a:gridCol>
                <a:gridCol w="1155586">
                  <a:extLst>
                    <a:ext uri="{9D8B030D-6E8A-4147-A177-3AD203B41FA5}">
                      <a16:colId xmlns:a16="http://schemas.microsoft.com/office/drawing/2014/main" val="20005"/>
                    </a:ext>
                  </a:extLst>
                </a:gridCol>
              </a:tblGrid>
              <a:tr h="857566">
                <a:tc>
                  <a:txBody>
                    <a:bodyPr/>
                    <a:lstStyle/>
                    <a:p>
                      <a:pPr>
                        <a:defRPr b="1"/>
                      </a:pPr>
                      <a:r>
                        <a:rPr sz="1800">
                          <a:solidFill>
                            <a:schemeClr val="tx1">
                              <a:lumMod val="75000"/>
                              <a:lumOff val="25000"/>
                            </a:schemeClr>
                          </a:solidFill>
                        </a:rPr>
                        <a:t>Метод</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486563">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486563">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486563">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486563">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486563">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486563">
                <a:tc>
                  <a:txBody>
                    <a:bodyPr/>
                    <a:lstStyle/>
                    <a:p>
                      <a:r>
                        <a:rPr sz="140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486563">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47755603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a:t>Висновки</a:t>
            </a:r>
          </a:p>
        </p:txBody>
      </p:sp>
      <p:pic>
        <p:nvPicPr>
          <p:cNvPr id="6" name="Picture 5">
            <a:extLst>
              <a:ext uri="{FF2B5EF4-FFF2-40B4-BE49-F238E27FC236}">
                <a16:creationId xmlns:a16="http://schemas.microsoft.com/office/drawing/2014/main" id="{C084832D-AC85-4567-6E6A-ADD8511D3CA6}"/>
              </a:ext>
            </a:extLst>
          </p:cNvPr>
          <p:cNvPicPr>
            <a:picLocks noChangeAspect="1"/>
          </p:cNvPicPr>
          <p:nvPr/>
        </p:nvPicPr>
        <p:blipFill>
          <a:blip r:embed="rId3"/>
          <a:srcRect l="28148" r="17768" b="-2"/>
          <a:stretch>
            <a:fillRect/>
          </a:stretch>
        </p:blipFill>
        <p:spPr>
          <a:xfrm>
            <a:off x="7989293" y="1904282"/>
            <a:ext cx="3423093" cy="4224808"/>
          </a:xfrm>
          <a:prstGeom prst="rect">
            <a:avLst/>
          </a:prstGeom>
        </p:spPr>
      </p:pic>
      <p:graphicFrame>
        <p:nvGraphicFramePr>
          <p:cNvPr id="5" name="Content Placeholder 2">
            <a:extLst>
              <a:ext uri="{FF2B5EF4-FFF2-40B4-BE49-F238E27FC236}">
                <a16:creationId xmlns:a16="http://schemas.microsoft.com/office/drawing/2014/main" id="{E1368ADC-F220-8A64-06BA-8A0B2969707E}"/>
              </a:ext>
            </a:extLst>
          </p:cNvPr>
          <p:cNvGraphicFramePr>
            <a:graphicFrameLocks noGrp="1"/>
          </p:cNvGraphicFramePr>
          <p:nvPr>
            <p:ph idx="1"/>
            <p:extLst>
              <p:ext uri="{D42A27DB-BD31-4B8C-83A1-F6EECF244321}">
                <p14:modId xmlns:p14="http://schemas.microsoft.com/office/powerpoint/2010/main" val="1908127264"/>
              </p:ext>
            </p:extLst>
          </p:nvPr>
        </p:nvGraphicFramePr>
        <p:xfrm>
          <a:off x="838200" y="1825625"/>
          <a:ext cx="6714744" cy="4303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uk-UA" sz="3400">
                <a:solidFill>
                  <a:srgbClr val="FFFFFF"/>
                </a:solidFill>
              </a:rPr>
              <a:t>Публікації та впровадження</a:t>
            </a:r>
          </a:p>
        </p:txBody>
      </p:sp>
      <p:graphicFrame>
        <p:nvGraphicFramePr>
          <p:cNvPr id="5" name="Content Placeholder 2">
            <a:extLst>
              <a:ext uri="{FF2B5EF4-FFF2-40B4-BE49-F238E27FC236}">
                <a16:creationId xmlns:a16="http://schemas.microsoft.com/office/drawing/2014/main" id="{22F6799A-7D60-60B1-A4A6-8B9EA7F536F7}"/>
              </a:ext>
            </a:extLst>
          </p:cNvPr>
          <p:cNvGraphicFramePr>
            <a:graphicFrameLocks noGrp="1"/>
          </p:cNvGraphicFramePr>
          <p:nvPr>
            <p:ph idx="1"/>
            <p:extLst>
              <p:ext uri="{D42A27DB-BD31-4B8C-83A1-F6EECF244321}">
                <p14:modId xmlns:p14="http://schemas.microsoft.com/office/powerpoint/2010/main" val="548236316"/>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TotalTime>
  <Words>9208</Words>
  <Application>Microsoft Office PowerPoint</Application>
  <PresentationFormat>Широкий екран</PresentationFormat>
  <Paragraphs>742</Paragraphs>
  <Slides>37</Slides>
  <Notes>37</Notes>
  <HiddenSlides>0</HiddenSlides>
  <MMClips>0</MMClips>
  <ScaleCrop>false</ScaleCrop>
  <HeadingPairs>
    <vt:vector size="6" baseType="variant">
      <vt:variant>
        <vt:lpstr>Використані шрифти</vt:lpstr>
      </vt:variant>
      <vt:variant>
        <vt:i4>4</vt:i4>
      </vt:variant>
      <vt:variant>
        <vt:lpstr>Тема</vt:lpstr>
      </vt:variant>
      <vt:variant>
        <vt:i4>1</vt:i4>
      </vt:variant>
      <vt:variant>
        <vt:lpstr>Заголовки слайдів</vt:lpstr>
      </vt:variant>
      <vt:variant>
        <vt:i4>37</vt:i4>
      </vt:variant>
    </vt:vector>
  </HeadingPairs>
  <TitlesOfParts>
    <vt:vector size="42" baseType="lpstr">
      <vt:lpstr>Aptos</vt:lpstr>
      <vt:lpstr>Arial</vt:lpstr>
      <vt:lpstr>Calibri</vt:lpstr>
      <vt:lpstr>Cambria Math</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Завдання дослідження</vt:lpstr>
      <vt:lpstr>Об'єкт та предмет дослідження</vt:lpstr>
      <vt:lpstr>Наукова новизна отриманих результатів</vt:lpstr>
      <vt:lpstr>Практичне значення</vt:lpstr>
      <vt:lpstr>Апробація та публікації</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Висновки</vt:lpstr>
      <vt:lpstr>Публікації та впровадження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Кондратов Олексій Михайлович</cp:lastModifiedBy>
  <cp:revision>43</cp:revision>
  <dcterms:created xsi:type="dcterms:W3CDTF">2013-01-27T09:14:16Z</dcterms:created>
  <dcterms:modified xsi:type="dcterms:W3CDTF">2026-05-08T19:41:46Z</dcterms:modified>
  <cp:category/>
</cp:coreProperties>
</file>