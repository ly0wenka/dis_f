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0144" y="320041"/>
            <a:ext cx="11411712" cy="3280410"/>
          </a:xfrm>
        </p:spPr>
        <p:txBody>
          <a:bodyPr>
            <a:normAutofit/>
          </a:bodyPr>
          <a:lstStyle/>
          <a:p>
            <a:r>
              <a:rPr dirty="0"/>
              <a:t>МОДЕЛІ, МЕТОДИ ТА ІНФОРМАЦІЙНА ТЕХНОЛОГІЯ</a:t>
            </a:r>
          </a:p>
          <a:p>
            <a:r>
              <a:rPr dirty="0"/>
              <a:t>ДИСТАНЦІЙНОЇ ІДЕНТИФІКАЦІЇ ПАРАМЕТРІВ ДИНАМІЧНИХ ОБ'ЄКТІВ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116" y="3886200"/>
            <a:ext cx="9573768" cy="2743200"/>
          </a:xfrm>
        </p:spPr>
        <p:txBody>
          <a:bodyPr/>
          <a:lstStyle/>
          <a:p>
            <a:r>
              <a:rPr dirty="0" err="1"/>
              <a:t>Здобувач</a:t>
            </a:r>
            <a:r>
              <a:rPr dirty="0"/>
              <a:t>: Кондратов Олексій Михайлович</a:t>
            </a:r>
          </a:p>
          <a:p>
            <a:r>
              <a:rPr dirty="0" err="1"/>
              <a:t>Науковий</a:t>
            </a:r>
            <a:r>
              <a:rPr dirty="0"/>
              <a:t> </a:t>
            </a:r>
            <a:r>
              <a:rPr dirty="0" err="1"/>
              <a:t>керівник</a:t>
            </a:r>
            <a:r>
              <a:rPr dirty="0"/>
              <a:t>: </a:t>
            </a:r>
            <a:r>
              <a:rPr dirty="0" err="1"/>
              <a:t>д.т.н</a:t>
            </a:r>
            <a:r>
              <a:rPr dirty="0"/>
              <a:t>., </a:t>
            </a:r>
            <a:r>
              <a:rPr dirty="0" err="1"/>
              <a:t>проф</a:t>
            </a:r>
            <a:r>
              <a:rPr dirty="0"/>
              <a:t>. </a:t>
            </a:r>
            <a:r>
              <a:rPr dirty="0" err="1"/>
              <a:t>Нікуліна</a:t>
            </a:r>
            <a:r>
              <a:rPr dirty="0"/>
              <a:t> </a:t>
            </a:r>
            <a:r>
              <a:rPr dirty="0" err="1"/>
              <a:t>Олена</a:t>
            </a:r>
            <a:r>
              <a:rPr dirty="0"/>
              <a:t> </a:t>
            </a:r>
            <a:r>
              <a:rPr dirty="0" err="1"/>
              <a:t>Миколаївна</a:t>
            </a:r>
            <a:endParaRPr dirty="0"/>
          </a:p>
          <a:p>
            <a:r>
              <a:rPr dirty="0"/>
              <a:t>НТУ «ХПІ» – </a:t>
            </a:r>
            <a:r>
              <a:rPr dirty="0" err="1"/>
              <a:t>Харків</a:t>
            </a:r>
            <a:r>
              <a:rPr dirty="0"/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Актуальність</a:t>
            </a:r>
            <a:r>
              <a:rPr dirty="0"/>
              <a:t> </a:t>
            </a:r>
            <a:r>
              <a:rPr dirty="0" err="1"/>
              <a:t>теми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Підвищення </a:t>
            </a:r>
            <a:r>
              <a:rPr dirty="0" err="1"/>
              <a:t>точності</a:t>
            </a:r>
            <a:r>
              <a:rPr dirty="0"/>
              <a:t>, </a:t>
            </a:r>
            <a:r>
              <a:rPr dirty="0" err="1"/>
              <a:t>надійності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адаптивності</a:t>
            </a:r>
            <a:r>
              <a:rPr dirty="0"/>
              <a:t> </a:t>
            </a:r>
            <a:r>
              <a:rPr dirty="0" err="1"/>
              <a:t>дистанційної</a:t>
            </a:r>
            <a:r>
              <a:rPr dirty="0"/>
              <a:t> </a:t>
            </a:r>
            <a:r>
              <a:rPr dirty="0" err="1"/>
              <a:t>ідентифікації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(ДІПДО)</a:t>
            </a:r>
          </a:p>
          <a:p>
            <a:r>
              <a:rPr dirty="0" err="1"/>
              <a:t>Інтеграція</a:t>
            </a:r>
            <a:r>
              <a:rPr dirty="0"/>
              <a:t> </a:t>
            </a:r>
            <a:r>
              <a:rPr dirty="0" err="1"/>
              <a:t>трансформерних</a:t>
            </a:r>
            <a:r>
              <a:rPr dirty="0"/>
              <a:t> </a:t>
            </a:r>
            <a:r>
              <a:rPr dirty="0" err="1"/>
              <a:t>детекторів</a:t>
            </a:r>
            <a:r>
              <a:rPr dirty="0"/>
              <a:t> (DETR),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(</a:t>
            </a:r>
            <a:r>
              <a:rPr dirty="0" err="1"/>
              <a:t>Farneback</a:t>
            </a:r>
            <a:r>
              <a:rPr dirty="0"/>
              <a:t>, Lucas-Kanade, Horn-Schunck, </a:t>
            </a:r>
            <a:r>
              <a:rPr dirty="0" err="1"/>
              <a:t>FlowNet</a:t>
            </a:r>
            <a:r>
              <a:rPr dirty="0"/>
              <a:t>, </a:t>
            </a:r>
            <a:r>
              <a:rPr dirty="0" err="1"/>
              <a:t>GeoNet</a:t>
            </a:r>
            <a:r>
              <a:rPr dirty="0"/>
              <a:t>), </a:t>
            </a:r>
            <a:r>
              <a:rPr dirty="0" err="1"/>
              <a:t>оцінки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(</a:t>
            </a:r>
            <a:r>
              <a:rPr dirty="0" err="1"/>
              <a:t>MiDaS</a:t>
            </a:r>
            <a:r>
              <a:rPr dirty="0"/>
              <a:t>, DPT, </a:t>
            </a:r>
            <a:r>
              <a:rPr dirty="0" err="1"/>
              <a:t>GeoNet</a:t>
            </a:r>
            <a:r>
              <a:rPr dirty="0"/>
              <a:t>)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ансамблів</a:t>
            </a:r>
            <a:r>
              <a:rPr dirty="0"/>
              <a:t> (Bagging, Boosting)</a:t>
            </a:r>
          </a:p>
          <a:p>
            <a:r>
              <a:rPr dirty="0"/>
              <a:t>Існуючі </a:t>
            </a:r>
            <a:r>
              <a:rPr dirty="0" err="1"/>
              <a:t>системи</a:t>
            </a:r>
            <a:r>
              <a:rPr dirty="0"/>
              <a:t> </a:t>
            </a:r>
            <a:r>
              <a:rPr dirty="0" err="1"/>
              <a:t>працюють</a:t>
            </a:r>
            <a:r>
              <a:rPr dirty="0"/>
              <a:t> в </a:t>
            </a:r>
            <a:r>
              <a:rPr dirty="0" err="1"/>
              <a:t>обмежених</a:t>
            </a:r>
            <a:r>
              <a:rPr dirty="0"/>
              <a:t> </a:t>
            </a:r>
            <a:r>
              <a:rPr dirty="0" err="1"/>
              <a:t>умовах</a:t>
            </a:r>
            <a:r>
              <a:rPr dirty="0"/>
              <a:t> (</a:t>
            </a:r>
            <a:r>
              <a:rPr dirty="0" err="1"/>
              <a:t>статична</a:t>
            </a:r>
            <a:r>
              <a:rPr dirty="0"/>
              <a:t> </a:t>
            </a:r>
            <a:r>
              <a:rPr dirty="0" err="1"/>
              <a:t>камера</a:t>
            </a:r>
            <a:r>
              <a:rPr dirty="0"/>
              <a:t>, </a:t>
            </a:r>
            <a:r>
              <a:rPr dirty="0" err="1"/>
              <a:t>фіксоване</a:t>
            </a:r>
            <a:r>
              <a:rPr dirty="0"/>
              <a:t> </a:t>
            </a:r>
            <a:r>
              <a:rPr dirty="0" err="1"/>
              <a:t>освітлення</a:t>
            </a:r>
            <a:r>
              <a:rPr dirty="0"/>
              <a:t>)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потребують</a:t>
            </a:r>
            <a:r>
              <a:rPr dirty="0"/>
              <a:t> </a:t>
            </a:r>
            <a:r>
              <a:rPr dirty="0" err="1"/>
              <a:t>значних</a:t>
            </a:r>
            <a:r>
              <a:rPr dirty="0"/>
              <a:t> </a:t>
            </a:r>
            <a:r>
              <a:rPr dirty="0" err="1"/>
              <a:t>обчислювальних</a:t>
            </a:r>
            <a:r>
              <a:rPr dirty="0"/>
              <a:t> </a:t>
            </a:r>
            <a:r>
              <a:rPr dirty="0" err="1"/>
              <a:t>ресурсів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Мета</a:t>
            </a:r>
            <a:r>
              <a:rPr dirty="0"/>
              <a:t>, </a:t>
            </a:r>
            <a:r>
              <a:rPr dirty="0" err="1"/>
              <a:t>об’єкт</a:t>
            </a:r>
            <a:r>
              <a:rPr dirty="0"/>
              <a:t>,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методи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dirty="0" err="1"/>
              <a:t>Мета</a:t>
            </a:r>
            <a:r>
              <a:rPr dirty="0"/>
              <a:t>: </a:t>
            </a:r>
            <a:r>
              <a:rPr dirty="0" err="1"/>
              <a:t>підвищення</a:t>
            </a:r>
            <a:r>
              <a:rPr dirty="0"/>
              <a:t> </a:t>
            </a:r>
            <a:r>
              <a:rPr dirty="0" err="1"/>
              <a:t>точності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надійності</a:t>
            </a:r>
            <a:r>
              <a:rPr dirty="0"/>
              <a:t> ДІПДО</a:t>
            </a:r>
          </a:p>
          <a:p>
            <a:r>
              <a:rPr dirty="0"/>
              <a:t>Об’єкт </a:t>
            </a:r>
            <a:r>
              <a:rPr dirty="0" err="1"/>
              <a:t>дослідження</a:t>
            </a:r>
            <a:r>
              <a:rPr dirty="0"/>
              <a:t>: </a:t>
            </a:r>
            <a:r>
              <a:rPr dirty="0" err="1"/>
              <a:t>процес</a:t>
            </a:r>
            <a:r>
              <a:rPr dirty="0"/>
              <a:t> </a:t>
            </a:r>
            <a:r>
              <a:rPr dirty="0" err="1"/>
              <a:t>дистанційної</a:t>
            </a:r>
            <a:r>
              <a:rPr dirty="0"/>
              <a:t> </a:t>
            </a:r>
            <a:r>
              <a:rPr dirty="0" err="1"/>
              <a:t>ідентифікації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у </a:t>
            </a:r>
            <a:r>
              <a:rPr dirty="0" err="1"/>
              <a:t>відеопотоках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сенсорних</a:t>
            </a:r>
            <a:r>
              <a:rPr dirty="0"/>
              <a:t> </a:t>
            </a:r>
            <a:r>
              <a:rPr dirty="0" err="1"/>
              <a:t>даних</a:t>
            </a:r>
            <a:endParaRPr dirty="0"/>
          </a:p>
          <a:p>
            <a:r>
              <a:rPr dirty="0"/>
              <a:t>Предмет </a:t>
            </a:r>
            <a:r>
              <a:rPr dirty="0" err="1"/>
              <a:t>дослідження</a:t>
            </a:r>
            <a:r>
              <a:rPr dirty="0"/>
              <a:t>: </a:t>
            </a:r>
            <a:r>
              <a:rPr dirty="0" err="1"/>
              <a:t>моделі</a:t>
            </a:r>
            <a:r>
              <a:rPr dirty="0"/>
              <a:t>,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інформаційна</a:t>
            </a:r>
            <a:r>
              <a:rPr dirty="0"/>
              <a:t> </a:t>
            </a:r>
            <a:r>
              <a:rPr dirty="0" err="1"/>
              <a:t>технологія</a:t>
            </a:r>
            <a:r>
              <a:rPr dirty="0"/>
              <a:t>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просторових</a:t>
            </a:r>
            <a:r>
              <a:rPr dirty="0"/>
              <a:t>, </a:t>
            </a:r>
            <a:r>
              <a:rPr dirty="0" err="1"/>
              <a:t>кінематичних</a:t>
            </a:r>
            <a:r>
              <a:rPr dirty="0"/>
              <a:t> і </a:t>
            </a:r>
            <a:r>
              <a:rPr dirty="0" err="1"/>
              <a:t>структурних</a:t>
            </a:r>
            <a:r>
              <a:rPr dirty="0"/>
              <a:t> </a:t>
            </a:r>
            <a:r>
              <a:rPr dirty="0" err="1"/>
              <a:t>параметрів</a:t>
            </a:r>
            <a:endParaRPr dirty="0"/>
          </a:p>
          <a:p>
            <a:r>
              <a:rPr dirty="0" err="1"/>
              <a:t>Методи</a:t>
            </a:r>
            <a:r>
              <a:rPr dirty="0"/>
              <a:t>: </a:t>
            </a:r>
            <a:r>
              <a:rPr dirty="0" err="1"/>
              <a:t>комп'ютерний</a:t>
            </a:r>
            <a:r>
              <a:rPr dirty="0"/>
              <a:t> </a:t>
            </a:r>
            <a:r>
              <a:rPr dirty="0" err="1"/>
              <a:t>зір</a:t>
            </a:r>
            <a:r>
              <a:rPr dirty="0"/>
              <a:t> (</a:t>
            </a:r>
            <a:r>
              <a:rPr dirty="0" err="1"/>
              <a:t>оптичний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), </a:t>
            </a:r>
            <a:r>
              <a:rPr dirty="0" err="1"/>
              <a:t>глибоке</a:t>
            </a:r>
            <a:r>
              <a:rPr dirty="0"/>
              <a:t> </a:t>
            </a:r>
            <a:r>
              <a:rPr dirty="0" err="1"/>
              <a:t>навчання</a:t>
            </a:r>
            <a:r>
              <a:rPr dirty="0"/>
              <a:t> (DETR, </a:t>
            </a:r>
            <a:r>
              <a:rPr dirty="0" err="1"/>
              <a:t>FlowNet</a:t>
            </a:r>
            <a:r>
              <a:rPr dirty="0"/>
              <a:t>, </a:t>
            </a:r>
            <a:r>
              <a:rPr dirty="0" err="1"/>
              <a:t>MiDaS</a:t>
            </a:r>
            <a:r>
              <a:rPr dirty="0"/>
              <a:t>, DPT), </a:t>
            </a:r>
            <a:r>
              <a:rPr dirty="0" err="1"/>
              <a:t>ансамблеві</a:t>
            </a:r>
            <a:r>
              <a:rPr dirty="0"/>
              <a:t> </a:t>
            </a:r>
            <a:r>
              <a:rPr dirty="0" err="1"/>
              <a:t>методи</a:t>
            </a:r>
            <a:r>
              <a:rPr dirty="0"/>
              <a:t> (Bagging, Boosting), </a:t>
            </a:r>
            <a:r>
              <a:rPr dirty="0" err="1"/>
              <a:t>математичне</a:t>
            </a:r>
            <a:r>
              <a:rPr dirty="0"/>
              <a:t> </a:t>
            </a:r>
            <a:r>
              <a:rPr dirty="0" err="1"/>
              <a:t>моделювання</a:t>
            </a:r>
            <a:r>
              <a:rPr dirty="0"/>
              <a:t>, </a:t>
            </a:r>
            <a:r>
              <a:rPr dirty="0" err="1"/>
              <a:t>теорія</a:t>
            </a:r>
            <a:r>
              <a:rPr dirty="0"/>
              <a:t> </a:t>
            </a:r>
            <a:r>
              <a:rPr dirty="0" err="1"/>
              <a:t>ймовірностей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Завдання</a:t>
            </a:r>
            <a:r>
              <a:rPr dirty="0"/>
              <a:t> </a:t>
            </a:r>
            <a:r>
              <a:rPr dirty="0" err="1"/>
              <a:t>дослідження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1. Аналіз </a:t>
            </a:r>
            <a:r>
              <a:rPr dirty="0" err="1"/>
              <a:t>сучасних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ДІПДО,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обмежень</a:t>
            </a:r>
            <a:endParaRPr dirty="0"/>
          </a:p>
          <a:p>
            <a:r>
              <a:rPr dirty="0"/>
              <a:t>2. </a:t>
            </a:r>
            <a:r>
              <a:rPr dirty="0" err="1"/>
              <a:t>Класифікація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їх</a:t>
            </a:r>
            <a:r>
              <a:rPr dirty="0"/>
              <a:t> </a:t>
            </a:r>
            <a:r>
              <a:rPr dirty="0" err="1"/>
              <a:t>визначення</a:t>
            </a:r>
            <a:endParaRPr dirty="0"/>
          </a:p>
          <a:p>
            <a:r>
              <a:rPr dirty="0"/>
              <a:t>3. Розробка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інтеграції</a:t>
            </a:r>
            <a:r>
              <a:rPr dirty="0"/>
              <a:t> DETR,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нейромережевої</a:t>
            </a:r>
            <a:r>
              <a:rPr dirty="0"/>
              <a:t> </a:t>
            </a:r>
            <a:r>
              <a:rPr dirty="0" err="1"/>
              <a:t>оцінки</a:t>
            </a:r>
            <a:r>
              <a:rPr dirty="0"/>
              <a:t> </a:t>
            </a:r>
            <a:r>
              <a:rPr dirty="0" err="1"/>
              <a:t>глибини</a:t>
            </a:r>
            <a:endParaRPr dirty="0"/>
          </a:p>
          <a:p>
            <a:r>
              <a:rPr dirty="0"/>
              <a:t>4. </a:t>
            </a:r>
            <a:r>
              <a:rPr dirty="0" err="1"/>
              <a:t>Обґрунтування</a:t>
            </a:r>
            <a:r>
              <a:rPr dirty="0"/>
              <a:t> </a:t>
            </a:r>
            <a:r>
              <a:rPr dirty="0" err="1"/>
              <a:t>використання</a:t>
            </a:r>
            <a:r>
              <a:rPr dirty="0"/>
              <a:t> Bagging </a:t>
            </a:r>
            <a:r>
              <a:rPr dirty="0" err="1"/>
              <a:t>та</a:t>
            </a:r>
            <a:r>
              <a:rPr dirty="0"/>
              <a:t> Boosting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підвищення</a:t>
            </a:r>
            <a:r>
              <a:rPr dirty="0"/>
              <a:t> </a:t>
            </a:r>
            <a:r>
              <a:rPr dirty="0" err="1"/>
              <a:t>стійкості</a:t>
            </a:r>
            <a:endParaRPr dirty="0"/>
          </a:p>
          <a:p>
            <a:r>
              <a:rPr dirty="0"/>
              <a:t>5. Програмна </a:t>
            </a:r>
            <a:r>
              <a:rPr dirty="0" err="1"/>
              <a:t>реалізація</a:t>
            </a:r>
            <a:r>
              <a:rPr dirty="0"/>
              <a:t> </a:t>
            </a:r>
            <a:r>
              <a:rPr dirty="0" err="1"/>
              <a:t>інформаційної</a:t>
            </a:r>
            <a:r>
              <a:rPr dirty="0"/>
              <a:t> </a:t>
            </a:r>
            <a:r>
              <a:rPr dirty="0" err="1"/>
              <a:t>технології</a:t>
            </a:r>
            <a:endParaRPr dirty="0"/>
          </a:p>
          <a:p>
            <a:r>
              <a:rPr dirty="0"/>
              <a:t>6. </a:t>
            </a:r>
            <a:r>
              <a:rPr dirty="0" err="1"/>
              <a:t>Експериментальне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35 </a:t>
            </a:r>
            <a:r>
              <a:rPr dirty="0" err="1"/>
              <a:t>комбінацій</a:t>
            </a:r>
            <a:r>
              <a:rPr dirty="0"/>
              <a:t> </a:t>
            </a:r>
            <a:r>
              <a:rPr dirty="0" err="1"/>
              <a:t>методів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дослідження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 err="1"/>
              <a:t>Об'єкт</a:t>
            </a:r>
            <a:r>
              <a:rPr dirty="0"/>
              <a:t>: </a:t>
            </a:r>
            <a:r>
              <a:rPr dirty="0" err="1"/>
              <a:t>Процес</a:t>
            </a:r>
            <a:r>
              <a:rPr dirty="0"/>
              <a:t> </a:t>
            </a:r>
            <a:r>
              <a:rPr dirty="0" err="1"/>
              <a:t>дистанційної</a:t>
            </a:r>
            <a:r>
              <a:rPr dirty="0"/>
              <a:t> </a:t>
            </a:r>
            <a:r>
              <a:rPr dirty="0" err="1"/>
              <a:t>ідентифікації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(ДІПДО) у </a:t>
            </a:r>
            <a:r>
              <a:rPr dirty="0" err="1"/>
              <a:t>відеопотоках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сенсорних</a:t>
            </a:r>
            <a:r>
              <a:rPr dirty="0"/>
              <a:t> </a:t>
            </a:r>
            <a:r>
              <a:rPr dirty="0" err="1"/>
              <a:t>даних</a:t>
            </a:r>
            <a:endParaRPr dirty="0"/>
          </a:p>
          <a:p>
            <a:r>
              <a:rPr dirty="0"/>
              <a:t>   - </a:t>
            </a:r>
            <a:r>
              <a:rPr dirty="0" err="1"/>
              <a:t>Включає</a:t>
            </a:r>
            <a:r>
              <a:rPr dirty="0"/>
              <a:t> </a:t>
            </a:r>
            <a:r>
              <a:rPr dirty="0" err="1"/>
              <a:t>етапи</a:t>
            </a:r>
            <a:r>
              <a:rPr dirty="0"/>
              <a:t>: </a:t>
            </a:r>
            <a:r>
              <a:rPr dirty="0" err="1"/>
              <a:t>отримання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, </a:t>
            </a:r>
            <a:r>
              <a:rPr dirty="0" err="1"/>
              <a:t>попередню</a:t>
            </a:r>
            <a:r>
              <a:rPr dirty="0"/>
              <a:t> </a:t>
            </a:r>
            <a:r>
              <a:rPr dirty="0" err="1"/>
              <a:t>обробку</a:t>
            </a:r>
            <a:r>
              <a:rPr dirty="0"/>
              <a:t>, </a:t>
            </a:r>
            <a:r>
              <a:rPr dirty="0" err="1"/>
              <a:t>виділення</a:t>
            </a:r>
            <a:r>
              <a:rPr dirty="0"/>
              <a:t> </a:t>
            </a:r>
            <a:r>
              <a:rPr dirty="0" err="1"/>
              <a:t>ознак</a:t>
            </a:r>
            <a:r>
              <a:rPr dirty="0"/>
              <a:t>, </a:t>
            </a:r>
            <a:r>
              <a:rPr dirty="0" err="1"/>
              <a:t>прийняття</a:t>
            </a:r>
            <a:r>
              <a:rPr dirty="0"/>
              <a:t> </a:t>
            </a:r>
            <a:r>
              <a:rPr dirty="0" err="1"/>
              <a:t>рішень</a:t>
            </a:r>
            <a:endParaRPr dirty="0"/>
          </a:p>
          <a:p>
            <a:r>
              <a:rPr dirty="0" err="1"/>
              <a:t>Предмет</a:t>
            </a:r>
            <a:r>
              <a:rPr dirty="0"/>
              <a:t>: </a:t>
            </a:r>
            <a:r>
              <a:rPr dirty="0" err="1"/>
              <a:t>Моделі</a:t>
            </a:r>
            <a:r>
              <a:rPr dirty="0"/>
              <a:t>,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інформаційна</a:t>
            </a:r>
            <a:r>
              <a:rPr dirty="0"/>
              <a:t> </a:t>
            </a:r>
            <a:r>
              <a:rPr dirty="0" err="1"/>
              <a:t>технологія</a:t>
            </a:r>
            <a:r>
              <a:rPr dirty="0"/>
              <a:t>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просторових</a:t>
            </a:r>
            <a:r>
              <a:rPr dirty="0"/>
              <a:t> (</a:t>
            </a:r>
            <a:r>
              <a:rPr dirty="0" err="1"/>
              <a:t>x,y,z</a:t>
            </a:r>
            <a:r>
              <a:rPr dirty="0"/>
              <a:t>, </a:t>
            </a:r>
            <a:r>
              <a:rPr dirty="0" err="1"/>
              <a:t>глибина</a:t>
            </a:r>
            <a:r>
              <a:rPr dirty="0"/>
              <a:t>, </a:t>
            </a:r>
            <a:r>
              <a:rPr dirty="0" err="1"/>
              <a:t>розміри</a:t>
            </a:r>
            <a:r>
              <a:rPr dirty="0"/>
              <a:t>), </a:t>
            </a:r>
            <a:r>
              <a:rPr dirty="0" err="1"/>
              <a:t>кінематичних</a:t>
            </a:r>
            <a:r>
              <a:rPr dirty="0"/>
              <a:t> (v, a, θ, </a:t>
            </a:r>
            <a:r>
              <a:rPr dirty="0" err="1"/>
              <a:t>траєкторія</a:t>
            </a:r>
            <a:r>
              <a:rPr dirty="0"/>
              <a:t>)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структурних</a:t>
            </a:r>
            <a:r>
              <a:rPr dirty="0"/>
              <a:t> (</a:t>
            </a:r>
            <a:r>
              <a:rPr dirty="0" err="1"/>
              <a:t>контур</a:t>
            </a:r>
            <a:r>
              <a:rPr dirty="0"/>
              <a:t>, </a:t>
            </a:r>
            <a:r>
              <a:rPr dirty="0" err="1"/>
              <a:t>клас</a:t>
            </a:r>
            <a:r>
              <a:rPr dirty="0"/>
              <a:t>) </a:t>
            </a:r>
            <a:r>
              <a:rPr dirty="0" err="1"/>
              <a:t>параметрів</a:t>
            </a:r>
            <a:endParaRPr dirty="0"/>
          </a:p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увага</a:t>
            </a:r>
            <a:r>
              <a:rPr dirty="0"/>
              <a:t> – </a:t>
            </a:r>
            <a:r>
              <a:rPr dirty="0" err="1"/>
              <a:t>поєднання</a:t>
            </a:r>
            <a:r>
              <a:rPr dirty="0"/>
              <a:t> </a:t>
            </a:r>
            <a:r>
              <a:rPr dirty="0" err="1"/>
              <a:t>трансформерів</a:t>
            </a:r>
            <a:r>
              <a:rPr dirty="0"/>
              <a:t>,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, </a:t>
            </a:r>
            <a:r>
              <a:rPr dirty="0" err="1"/>
              <a:t>нейромережевої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ансамблів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74638"/>
            <a:ext cx="10588752" cy="1143000"/>
          </a:xfrm>
        </p:spPr>
        <p:txBody>
          <a:bodyPr>
            <a:normAutofit/>
          </a:bodyPr>
          <a:lstStyle/>
          <a:p>
            <a:r>
              <a:rPr dirty="0" err="1"/>
              <a:t>Наукова</a:t>
            </a:r>
            <a:r>
              <a:rPr dirty="0"/>
              <a:t> </a:t>
            </a:r>
            <a:r>
              <a:rPr dirty="0" err="1"/>
              <a:t>новизна</a:t>
            </a:r>
            <a:r>
              <a:rPr dirty="0"/>
              <a:t> </a:t>
            </a:r>
            <a:r>
              <a:rPr dirty="0" err="1"/>
              <a:t>отриманих</a:t>
            </a:r>
            <a:r>
              <a:rPr dirty="0"/>
              <a:t> </a:t>
            </a:r>
            <a:r>
              <a:rPr dirty="0" err="1"/>
              <a:t>результатів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1. </a:t>
            </a:r>
            <a:r>
              <a:rPr dirty="0" err="1"/>
              <a:t>Вперше</a:t>
            </a:r>
            <a:r>
              <a:rPr dirty="0"/>
              <a:t>: </a:t>
            </a:r>
            <a:r>
              <a:rPr dirty="0" err="1"/>
              <a:t>метод</a:t>
            </a:r>
            <a:r>
              <a:rPr dirty="0"/>
              <a:t> ДІПДО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основі</a:t>
            </a:r>
            <a:r>
              <a:rPr dirty="0"/>
              <a:t> DETR +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– </a:t>
            </a:r>
            <a:r>
              <a:rPr dirty="0" err="1"/>
              <a:t>одночасне</a:t>
            </a:r>
            <a:r>
              <a:rPr dirty="0"/>
              <a:t> </a:t>
            </a:r>
            <a:r>
              <a:rPr dirty="0" err="1"/>
              <a:t>виявлення</a:t>
            </a:r>
            <a:r>
              <a:rPr dirty="0"/>
              <a:t>, </a:t>
            </a:r>
            <a:r>
              <a:rPr dirty="0" err="1"/>
              <a:t>відстеження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оцінювання</a:t>
            </a:r>
            <a:r>
              <a:rPr dirty="0"/>
              <a:t> </a:t>
            </a:r>
            <a:r>
              <a:rPr dirty="0" err="1"/>
              <a:t>швидкості</a:t>
            </a:r>
            <a:r>
              <a:rPr dirty="0"/>
              <a:t>/</a:t>
            </a:r>
            <a:r>
              <a:rPr dirty="0" err="1"/>
              <a:t>траєкторії</a:t>
            </a:r>
            <a:endParaRPr dirty="0"/>
          </a:p>
          <a:p>
            <a:r>
              <a:rPr dirty="0"/>
              <a:t>2. </a:t>
            </a:r>
            <a:r>
              <a:rPr dirty="0" err="1"/>
              <a:t>Вперше</a:t>
            </a:r>
            <a:r>
              <a:rPr dirty="0"/>
              <a:t>: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інформаційної</a:t>
            </a:r>
            <a:r>
              <a:rPr dirty="0"/>
              <a:t> </a:t>
            </a:r>
            <a:r>
              <a:rPr dirty="0" err="1"/>
              <a:t>технології</a:t>
            </a:r>
            <a:r>
              <a:rPr dirty="0"/>
              <a:t> з </a:t>
            </a:r>
            <a:r>
              <a:rPr dirty="0" err="1"/>
              <a:t>інтеграцією</a:t>
            </a:r>
            <a:r>
              <a:rPr dirty="0"/>
              <a:t> </a:t>
            </a:r>
            <a:r>
              <a:rPr dirty="0" err="1"/>
              <a:t>FlowNet</a:t>
            </a:r>
            <a:r>
              <a:rPr dirty="0"/>
              <a:t>, </a:t>
            </a:r>
            <a:r>
              <a:rPr dirty="0" err="1"/>
              <a:t>GeoNet</a:t>
            </a:r>
            <a:r>
              <a:rPr dirty="0"/>
              <a:t>, </a:t>
            </a:r>
            <a:r>
              <a:rPr dirty="0" err="1"/>
              <a:t>трансформерів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ансамблевої</a:t>
            </a:r>
            <a:r>
              <a:rPr dirty="0"/>
              <a:t> </a:t>
            </a:r>
            <a:r>
              <a:rPr dirty="0" err="1"/>
              <a:t>корекції</a:t>
            </a:r>
            <a:endParaRPr dirty="0"/>
          </a:p>
          <a:p>
            <a:r>
              <a:rPr dirty="0"/>
              <a:t>3. Удосконалено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оцінювання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</a:t>
            </a:r>
            <a:r>
              <a:rPr dirty="0" err="1"/>
              <a:t>шляхом</a:t>
            </a:r>
            <a:r>
              <a:rPr dirty="0"/>
              <a:t> </a:t>
            </a:r>
            <a:r>
              <a:rPr dirty="0" err="1"/>
              <a:t>адаптивного</a:t>
            </a:r>
            <a:r>
              <a:rPr dirty="0"/>
              <a:t> </a:t>
            </a:r>
            <a:r>
              <a:rPr dirty="0" err="1"/>
              <a:t>комбінування</a:t>
            </a:r>
            <a:r>
              <a:rPr dirty="0"/>
              <a:t> </a:t>
            </a:r>
            <a:r>
              <a:rPr dirty="0" err="1"/>
              <a:t>MiDaS</a:t>
            </a:r>
            <a:r>
              <a:rPr dirty="0"/>
              <a:t>, DPT, </a:t>
            </a:r>
            <a:r>
              <a:rPr dirty="0" err="1"/>
              <a:t>GeoNet</a:t>
            </a:r>
            <a:r>
              <a:rPr dirty="0"/>
              <a:t> з Bagging </a:t>
            </a:r>
            <a:r>
              <a:rPr dirty="0" err="1"/>
              <a:t>та</a:t>
            </a:r>
            <a:r>
              <a:rPr dirty="0"/>
              <a:t> Boosting</a:t>
            </a:r>
          </a:p>
          <a:p>
            <a:r>
              <a:rPr dirty="0"/>
              <a:t>4. Удосконалено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ансамблевої</a:t>
            </a:r>
            <a:r>
              <a:rPr dirty="0"/>
              <a:t> </a:t>
            </a:r>
            <a:r>
              <a:rPr dirty="0" err="1"/>
              <a:t>агрегації</a:t>
            </a:r>
            <a:r>
              <a:rPr dirty="0"/>
              <a:t> (Bagging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зменшення</a:t>
            </a:r>
            <a:r>
              <a:rPr dirty="0"/>
              <a:t> </a:t>
            </a:r>
            <a:r>
              <a:rPr dirty="0" err="1"/>
              <a:t>дисперсії</a:t>
            </a:r>
            <a:r>
              <a:rPr dirty="0"/>
              <a:t>, Boosting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уточнення</a:t>
            </a:r>
            <a:r>
              <a:rPr dirty="0"/>
              <a:t> </a:t>
            </a:r>
            <a:r>
              <a:rPr dirty="0" err="1"/>
              <a:t>меж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оклюзій</a:t>
            </a:r>
            <a:r>
              <a:rPr dirty="0"/>
              <a:t>)</a:t>
            </a:r>
          </a:p>
          <a:p>
            <a:r>
              <a:rPr dirty="0"/>
              <a:t>5. Удосконалено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метрик</a:t>
            </a:r>
            <a:r>
              <a:rPr dirty="0"/>
              <a:t> (EPE, AAE, RMSE, MAE, PSNR, </a:t>
            </a:r>
            <a:r>
              <a:rPr dirty="0" err="1"/>
              <a:t>IoU</a:t>
            </a:r>
            <a:r>
              <a:rPr dirty="0"/>
              <a:t>, Dice)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порівняння</a:t>
            </a:r>
            <a:r>
              <a:rPr dirty="0"/>
              <a:t> 35 </a:t>
            </a:r>
            <a:r>
              <a:rPr dirty="0" err="1"/>
              <a:t>комбінацій</a:t>
            </a:r>
            <a:endParaRPr dirty="0"/>
          </a:p>
          <a:p>
            <a:r>
              <a:rPr dirty="0"/>
              <a:t>6. Подальший </a:t>
            </a:r>
            <a:r>
              <a:rPr dirty="0" err="1"/>
              <a:t>розвиток</a:t>
            </a:r>
            <a:r>
              <a:rPr dirty="0"/>
              <a:t> </a:t>
            </a:r>
            <a:r>
              <a:rPr dirty="0" err="1"/>
              <a:t>методу</a:t>
            </a:r>
            <a:r>
              <a:rPr dirty="0"/>
              <a:t> </a:t>
            </a:r>
            <a:r>
              <a:rPr dirty="0" err="1"/>
              <a:t>синтезу</a:t>
            </a:r>
            <a:r>
              <a:rPr dirty="0"/>
              <a:t> </a:t>
            </a:r>
            <a:r>
              <a:rPr dirty="0" err="1"/>
              <a:t>просторово-часових</a:t>
            </a:r>
            <a:r>
              <a:rPr dirty="0"/>
              <a:t> </a:t>
            </a:r>
            <a:r>
              <a:rPr dirty="0" err="1"/>
              <a:t>ознак</a:t>
            </a:r>
            <a:r>
              <a:rPr dirty="0"/>
              <a:t> </a:t>
            </a:r>
            <a:r>
              <a:rPr dirty="0" err="1"/>
              <a:t>шляхом</a:t>
            </a:r>
            <a:r>
              <a:rPr dirty="0"/>
              <a:t> </a:t>
            </a:r>
            <a:r>
              <a:rPr dirty="0" err="1"/>
              <a:t>інтеграції</a:t>
            </a:r>
            <a:r>
              <a:rPr dirty="0"/>
              <a:t> </a:t>
            </a:r>
            <a:r>
              <a:rPr dirty="0" err="1"/>
              <a:t>трансформерної</a:t>
            </a:r>
            <a:r>
              <a:rPr dirty="0"/>
              <a:t> </a:t>
            </a:r>
            <a:r>
              <a:rPr dirty="0" err="1"/>
              <a:t>уваги</a:t>
            </a:r>
            <a:r>
              <a:rPr dirty="0"/>
              <a:t> з </a:t>
            </a:r>
            <a:r>
              <a:rPr dirty="0" err="1"/>
              <a:t>векторними</a:t>
            </a:r>
            <a:r>
              <a:rPr dirty="0"/>
              <a:t> </a:t>
            </a:r>
            <a:r>
              <a:rPr dirty="0" err="1"/>
              <a:t>полями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Практичне</a:t>
            </a:r>
            <a:r>
              <a:rPr dirty="0"/>
              <a:t> </a:t>
            </a:r>
            <a:r>
              <a:rPr dirty="0" err="1"/>
              <a:t>значення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Безпека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оборона</a:t>
            </a:r>
            <a:r>
              <a:rPr dirty="0"/>
              <a:t>: </a:t>
            </a:r>
            <a:r>
              <a:rPr dirty="0" err="1"/>
              <a:t>висока</a:t>
            </a:r>
            <a:r>
              <a:rPr dirty="0"/>
              <a:t> </a:t>
            </a:r>
            <a:r>
              <a:rPr dirty="0" err="1"/>
              <a:t>точність</a:t>
            </a:r>
            <a:r>
              <a:rPr dirty="0"/>
              <a:t> </a:t>
            </a:r>
            <a:r>
              <a:rPr dirty="0" err="1"/>
              <a:t>відстеження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у </a:t>
            </a:r>
            <a:r>
              <a:rPr dirty="0" err="1"/>
              <a:t>реальному</a:t>
            </a:r>
            <a:r>
              <a:rPr dirty="0"/>
              <a:t> </a:t>
            </a:r>
            <a:r>
              <a:rPr dirty="0" err="1"/>
              <a:t>часі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відеоспостереження</a:t>
            </a:r>
            <a:r>
              <a:rPr dirty="0"/>
              <a:t>, БПЛА</a:t>
            </a:r>
          </a:p>
          <a:p>
            <a:r>
              <a:rPr dirty="0" err="1"/>
              <a:t>Автономний</a:t>
            </a:r>
            <a:r>
              <a:rPr dirty="0"/>
              <a:t> </a:t>
            </a:r>
            <a:r>
              <a:rPr dirty="0" err="1"/>
              <a:t>транспорт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логістика</a:t>
            </a:r>
            <a:r>
              <a:rPr dirty="0"/>
              <a:t>: </a:t>
            </a:r>
            <a:r>
              <a:rPr dirty="0" err="1"/>
              <a:t>уникнення</a:t>
            </a:r>
            <a:r>
              <a:rPr dirty="0"/>
              <a:t> </a:t>
            </a:r>
            <a:r>
              <a:rPr dirty="0" err="1"/>
              <a:t>зіткнень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основі</a:t>
            </a:r>
            <a:r>
              <a:rPr dirty="0"/>
              <a:t> </a:t>
            </a:r>
            <a:r>
              <a:rPr dirty="0" err="1"/>
              <a:t>швидкості</a:t>
            </a:r>
            <a:r>
              <a:rPr dirty="0"/>
              <a:t>, </a:t>
            </a:r>
            <a:r>
              <a:rPr dirty="0" err="1"/>
              <a:t>траєкторії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глибини</a:t>
            </a:r>
            <a:endParaRPr dirty="0"/>
          </a:p>
          <a:p>
            <a:r>
              <a:rPr dirty="0" err="1"/>
              <a:t>Цифровізація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економіка</a:t>
            </a:r>
            <a:r>
              <a:rPr dirty="0"/>
              <a:t>: </a:t>
            </a:r>
            <a:r>
              <a:rPr dirty="0" err="1"/>
              <a:t>розгортання</a:t>
            </a:r>
            <a:r>
              <a:rPr dirty="0"/>
              <a:t> </a:t>
            </a:r>
            <a:r>
              <a:rPr dirty="0" err="1"/>
              <a:t>інтелектуальних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мобільних</a:t>
            </a:r>
            <a:r>
              <a:rPr dirty="0"/>
              <a:t> </a:t>
            </a:r>
            <a:r>
              <a:rPr dirty="0" err="1"/>
              <a:t>пристроях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вбудованих</a:t>
            </a:r>
            <a:r>
              <a:rPr dirty="0"/>
              <a:t> </a:t>
            </a:r>
            <a:r>
              <a:rPr dirty="0" err="1"/>
              <a:t>платформах</a:t>
            </a:r>
            <a:endParaRPr dirty="0"/>
          </a:p>
          <a:p>
            <a:r>
              <a:rPr dirty="0" err="1"/>
              <a:t>Медицина</a:t>
            </a:r>
            <a:r>
              <a:rPr dirty="0"/>
              <a:t>: </a:t>
            </a:r>
            <a:r>
              <a:rPr dirty="0" err="1"/>
              <a:t>неінвазивна</a:t>
            </a:r>
            <a:r>
              <a:rPr dirty="0"/>
              <a:t> </a:t>
            </a:r>
            <a:r>
              <a:rPr dirty="0" err="1"/>
              <a:t>діагностика</a:t>
            </a:r>
            <a:r>
              <a:rPr dirty="0"/>
              <a:t> (</a:t>
            </a:r>
            <a:r>
              <a:rPr dirty="0" err="1"/>
              <a:t>швидкість</a:t>
            </a:r>
            <a:r>
              <a:rPr dirty="0"/>
              <a:t> </a:t>
            </a:r>
            <a:r>
              <a:rPr dirty="0" err="1"/>
              <a:t>кровотоку</a:t>
            </a:r>
            <a:r>
              <a:rPr dirty="0"/>
              <a:t>, </a:t>
            </a:r>
            <a:r>
              <a:rPr dirty="0" err="1"/>
              <a:t>рух</a:t>
            </a:r>
            <a:r>
              <a:rPr dirty="0"/>
              <a:t> </a:t>
            </a:r>
            <a:r>
              <a:rPr dirty="0" err="1"/>
              <a:t>серця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Апробація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публікації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dirty="0"/>
              <a:t>15 </a:t>
            </a:r>
            <a:r>
              <a:rPr dirty="0" err="1"/>
              <a:t>наукових</a:t>
            </a:r>
            <a:r>
              <a:rPr dirty="0"/>
              <a:t> </a:t>
            </a:r>
            <a:r>
              <a:rPr dirty="0" err="1"/>
              <a:t>праць</a:t>
            </a:r>
            <a:r>
              <a:rPr dirty="0"/>
              <a:t>: 7 </a:t>
            </a:r>
            <a:r>
              <a:rPr dirty="0" err="1"/>
              <a:t>статей</a:t>
            </a:r>
            <a:r>
              <a:rPr dirty="0"/>
              <a:t> у </a:t>
            </a:r>
            <a:r>
              <a:rPr dirty="0" err="1"/>
              <a:t>фахових</a:t>
            </a:r>
            <a:r>
              <a:rPr dirty="0"/>
              <a:t> </a:t>
            </a:r>
            <a:r>
              <a:rPr dirty="0" err="1"/>
              <a:t>виданнях</a:t>
            </a:r>
            <a:r>
              <a:rPr dirty="0"/>
              <a:t> </a:t>
            </a:r>
            <a:r>
              <a:rPr dirty="0" err="1"/>
              <a:t>категорії</a:t>
            </a:r>
            <a:r>
              <a:rPr dirty="0"/>
              <a:t> Б, </a:t>
            </a:r>
            <a:r>
              <a:rPr lang="uk-UA" dirty="0"/>
              <a:t>8</a:t>
            </a:r>
            <a:r>
              <a:rPr dirty="0"/>
              <a:t> </a:t>
            </a:r>
            <a:r>
              <a:rPr dirty="0" err="1"/>
              <a:t>матеріалів</a:t>
            </a:r>
            <a:r>
              <a:rPr dirty="0"/>
              <a:t> </a:t>
            </a:r>
            <a:r>
              <a:rPr dirty="0" err="1"/>
              <a:t>апробаційного</a:t>
            </a:r>
            <a:r>
              <a:rPr dirty="0"/>
              <a:t> </a:t>
            </a:r>
            <a:r>
              <a:rPr dirty="0" err="1"/>
              <a:t>характеру</a:t>
            </a:r>
            <a:endParaRPr dirty="0"/>
          </a:p>
          <a:p>
            <a:r>
              <a:rPr dirty="0" err="1"/>
              <a:t>Апробація</a:t>
            </a:r>
            <a:r>
              <a:rPr dirty="0"/>
              <a:t>: </a:t>
            </a:r>
            <a:r>
              <a:rPr dirty="0" err="1"/>
              <a:t>MicroCAD</a:t>
            </a:r>
            <a:r>
              <a:rPr dirty="0"/>
              <a:t> (2023-2025), </a:t>
            </a:r>
            <a:r>
              <a:rPr dirty="0" err="1"/>
              <a:t>KhPIWeek</a:t>
            </a:r>
            <a:r>
              <a:rPr dirty="0"/>
              <a:t> (2025), </a:t>
            </a:r>
            <a:r>
              <a:rPr dirty="0" err="1"/>
              <a:t>конференції</a:t>
            </a:r>
            <a:r>
              <a:rPr dirty="0"/>
              <a:t> </a:t>
            </a:r>
            <a:r>
              <a:rPr dirty="0" err="1"/>
              <a:t>магістрантів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аспірантів</a:t>
            </a:r>
            <a:r>
              <a:rPr dirty="0"/>
              <a:t> НТУ «ХПІ» (2024,2025)</a:t>
            </a:r>
          </a:p>
          <a:p>
            <a:r>
              <a:rPr dirty="0" err="1"/>
              <a:t>Впровадження</a:t>
            </a:r>
            <a:r>
              <a:rPr dirty="0"/>
              <a:t>: НТУ «ХПІ», ТОВ «</a:t>
            </a:r>
            <a:r>
              <a:rPr dirty="0" err="1"/>
              <a:t>Метінвест</a:t>
            </a:r>
            <a:r>
              <a:rPr dirty="0"/>
              <a:t> Політехніка», </a:t>
            </a:r>
            <a:r>
              <a:rPr dirty="0" err="1"/>
              <a:t>Радіоастрономічний</a:t>
            </a:r>
            <a:r>
              <a:rPr dirty="0"/>
              <a:t> </a:t>
            </a:r>
            <a:r>
              <a:rPr dirty="0" err="1"/>
              <a:t>інститут</a:t>
            </a:r>
            <a:r>
              <a:rPr dirty="0"/>
              <a:t> НАН </a:t>
            </a:r>
            <a:r>
              <a:rPr dirty="0" err="1"/>
              <a:t>України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Розділ</a:t>
            </a:r>
            <a:r>
              <a:rPr dirty="0"/>
              <a:t> 1 – </a:t>
            </a:r>
            <a:r>
              <a:rPr dirty="0" err="1"/>
              <a:t>Аналіз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ДІПДО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Динамічні </a:t>
            </a:r>
            <a:r>
              <a:rPr dirty="0" err="1"/>
              <a:t>об'єкти</a:t>
            </a:r>
            <a:r>
              <a:rPr dirty="0"/>
              <a:t>: </a:t>
            </a:r>
            <a:r>
              <a:rPr dirty="0" err="1"/>
              <a:t>складні</a:t>
            </a:r>
            <a:r>
              <a:rPr dirty="0"/>
              <a:t> </a:t>
            </a:r>
            <a:r>
              <a:rPr dirty="0" err="1"/>
              <a:t>багатовимірні</a:t>
            </a:r>
            <a:r>
              <a:rPr dirty="0"/>
              <a:t> </a:t>
            </a:r>
            <a:r>
              <a:rPr dirty="0" err="1"/>
              <a:t>системи</a:t>
            </a:r>
            <a:r>
              <a:rPr dirty="0"/>
              <a:t>, </a:t>
            </a:r>
            <a:r>
              <a:rPr dirty="0" err="1"/>
              <a:t>стан</a:t>
            </a:r>
            <a:r>
              <a:rPr dirty="0"/>
              <a:t> </a:t>
            </a:r>
            <a:r>
              <a:rPr dirty="0" err="1"/>
              <a:t>яких</a:t>
            </a:r>
            <a:r>
              <a:rPr dirty="0"/>
              <a:t> </a:t>
            </a:r>
            <a:r>
              <a:rPr dirty="0" err="1"/>
              <a:t>безперервно</a:t>
            </a:r>
            <a:r>
              <a:rPr dirty="0"/>
              <a:t> </a:t>
            </a:r>
            <a:r>
              <a:rPr dirty="0" err="1"/>
              <a:t>змінюється</a:t>
            </a:r>
            <a:r>
              <a:rPr dirty="0"/>
              <a:t> в </a:t>
            </a:r>
            <a:r>
              <a:rPr dirty="0" err="1"/>
              <a:t>часі</a:t>
            </a:r>
            <a:endParaRPr dirty="0"/>
          </a:p>
          <a:p>
            <a:r>
              <a:rPr dirty="0"/>
              <a:t>Основні </a:t>
            </a:r>
            <a:r>
              <a:rPr dirty="0" err="1"/>
              <a:t>групи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: </a:t>
            </a:r>
            <a:r>
              <a:rPr dirty="0" err="1"/>
              <a:t>просторові</a:t>
            </a:r>
            <a:r>
              <a:rPr dirty="0"/>
              <a:t>, </a:t>
            </a:r>
            <a:r>
              <a:rPr dirty="0" err="1"/>
              <a:t>кінематичні</a:t>
            </a:r>
            <a:r>
              <a:rPr dirty="0"/>
              <a:t>, </a:t>
            </a:r>
            <a:r>
              <a:rPr dirty="0" err="1"/>
              <a:t>структурні</a:t>
            </a:r>
            <a:endParaRPr dirty="0"/>
          </a:p>
          <a:p>
            <a:r>
              <a:rPr dirty="0"/>
              <a:t>Еволюція </a:t>
            </a:r>
            <a:r>
              <a:rPr dirty="0" err="1"/>
              <a:t>методів</a:t>
            </a:r>
            <a:r>
              <a:rPr dirty="0"/>
              <a:t>: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класичних</a:t>
            </a:r>
            <a:r>
              <a:rPr dirty="0"/>
              <a:t> (Viola-Jones, HOG, DPM)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сучасних</a:t>
            </a:r>
            <a:r>
              <a:rPr dirty="0"/>
              <a:t> (CNN, </a:t>
            </a:r>
            <a:r>
              <a:rPr dirty="0" err="1"/>
              <a:t>трансформери</a:t>
            </a:r>
            <a:r>
              <a:rPr dirty="0"/>
              <a:t> DETR, YOLO)</a:t>
            </a:r>
          </a:p>
          <a:p>
            <a:r>
              <a:rPr dirty="0" err="1"/>
              <a:t>Інформаційні</a:t>
            </a:r>
            <a:r>
              <a:rPr dirty="0"/>
              <a:t> </a:t>
            </a:r>
            <a:r>
              <a:rPr dirty="0" err="1"/>
              <a:t>технології</a:t>
            </a:r>
            <a:r>
              <a:rPr dirty="0"/>
              <a:t>: </a:t>
            </a:r>
            <a:r>
              <a:rPr dirty="0" err="1"/>
              <a:t>комп'ютерний</a:t>
            </a:r>
            <a:r>
              <a:rPr dirty="0"/>
              <a:t> </a:t>
            </a:r>
            <a:r>
              <a:rPr dirty="0" err="1"/>
              <a:t>зір</a:t>
            </a:r>
            <a:r>
              <a:rPr dirty="0"/>
              <a:t>, </a:t>
            </a:r>
            <a:r>
              <a:rPr dirty="0" err="1"/>
              <a:t>глибоке</a:t>
            </a:r>
            <a:r>
              <a:rPr dirty="0"/>
              <a:t> </a:t>
            </a:r>
            <a:r>
              <a:rPr dirty="0" err="1"/>
              <a:t>навчання</a:t>
            </a:r>
            <a:r>
              <a:rPr dirty="0"/>
              <a:t>, </a:t>
            </a:r>
            <a:r>
              <a:rPr dirty="0" err="1"/>
              <a:t>ансамблеві</a:t>
            </a:r>
            <a:r>
              <a:rPr dirty="0"/>
              <a:t> </a:t>
            </a:r>
            <a:r>
              <a:rPr dirty="0" err="1"/>
              <a:t>методи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dirty="0" err="1"/>
              <a:t>Класифікація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213004"/>
              </p:ext>
            </p:extLst>
          </p:nvPr>
        </p:nvGraphicFramePr>
        <p:xfrm>
          <a:off x="6096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Категорія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 err="1"/>
                        <a:t>Параметри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Просторові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Координати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x,y,z</a:t>
                      </a:r>
                      <a:r>
                        <a:rPr dirty="0"/>
                        <a:t>), </a:t>
                      </a:r>
                      <a:r>
                        <a:rPr dirty="0" err="1"/>
                        <a:t>глибина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розміри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w,h</a:t>
                      </a:r>
                      <a:r>
                        <a:rPr dirty="0"/>
                        <a:t>), </a:t>
                      </a:r>
                      <a:r>
                        <a:rPr dirty="0" err="1"/>
                        <a:t>орієнтація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Кінематичні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Швидкість (v), прискорення (a), напрям руху (θ), траєкторія (T)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t>Структурні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Контур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площа</a:t>
                      </a:r>
                      <a:r>
                        <a:rPr dirty="0"/>
                        <a:t> (S), </a:t>
                      </a:r>
                      <a:r>
                        <a:rPr dirty="0" err="1"/>
                        <a:t>клас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об'єкта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ознаки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форми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Еволюція </a:t>
            </a:r>
            <a:r>
              <a:rPr dirty="0" err="1"/>
              <a:t>класичних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виявлення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(рис.1.1)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/>
              <a:t>Viola-Jones → HOG → DPM → Aggregated Channel Features</a:t>
            </a:r>
          </a:p>
          <a:p>
            <a:r>
              <a:rPr dirty="0"/>
              <a:t>В </a:t>
            </a:r>
            <a:r>
              <a:rPr dirty="0" err="1"/>
              <a:t>овалах</a:t>
            </a:r>
            <a:r>
              <a:rPr dirty="0"/>
              <a:t>: </a:t>
            </a:r>
            <a:r>
              <a:rPr dirty="0" err="1"/>
              <a:t>інтегральне</a:t>
            </a:r>
            <a:r>
              <a:rPr dirty="0"/>
              <a:t> </a:t>
            </a:r>
            <a:r>
              <a:rPr dirty="0" err="1"/>
              <a:t>представлення</a:t>
            </a:r>
            <a:r>
              <a:rPr dirty="0"/>
              <a:t>, </a:t>
            </a:r>
            <a:r>
              <a:rPr dirty="0" err="1"/>
              <a:t>гістограми</a:t>
            </a:r>
            <a:r>
              <a:rPr dirty="0"/>
              <a:t> </a:t>
            </a:r>
            <a:r>
              <a:rPr dirty="0" err="1"/>
              <a:t>градієнтів</a:t>
            </a:r>
            <a:r>
              <a:rPr dirty="0"/>
              <a:t>, </a:t>
            </a:r>
            <a:r>
              <a:rPr dirty="0" err="1"/>
              <a:t>деформовані</a:t>
            </a:r>
            <a:r>
              <a:rPr dirty="0"/>
              <a:t> </a:t>
            </a:r>
            <a:r>
              <a:rPr dirty="0" err="1"/>
              <a:t>частини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>
                <a:solidFill>
                  <a:srgbClr val="808080"/>
                </a:solidFill>
              </a:defRPr>
            </a:pPr>
            <a:r>
              <a:rPr dirty="0"/>
              <a:t>▶ ТУТ МАЄ БУТИ РИСУНОК: рис.1.1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Одноетапні</a:t>
            </a:r>
            <a:r>
              <a:rPr dirty="0"/>
              <a:t> CNN-</a:t>
            </a:r>
            <a:r>
              <a:rPr dirty="0" err="1"/>
              <a:t>детектори</a:t>
            </a:r>
            <a:r>
              <a:rPr dirty="0"/>
              <a:t> (рис.1.2)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/>
              <a:t>YOLO (2015) → SSD (2015) → </a:t>
            </a:r>
            <a:r>
              <a:rPr dirty="0" err="1"/>
              <a:t>RetinaNet</a:t>
            </a:r>
            <a:r>
              <a:rPr dirty="0"/>
              <a:t> (2017) → </a:t>
            </a:r>
            <a:r>
              <a:rPr dirty="0" err="1"/>
              <a:t>CornerNet</a:t>
            </a:r>
            <a:r>
              <a:rPr dirty="0"/>
              <a:t> (2018) → </a:t>
            </a:r>
            <a:r>
              <a:rPr dirty="0" err="1"/>
              <a:t>CenterNet</a:t>
            </a:r>
            <a:r>
              <a:rPr dirty="0"/>
              <a:t> (2019) → DETR (2020) → Deformable DETR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рис.1.2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Двоетапні </a:t>
            </a:r>
            <a:r>
              <a:rPr dirty="0" err="1"/>
              <a:t>архітектури</a:t>
            </a:r>
            <a:r>
              <a:rPr dirty="0"/>
              <a:t> R-CNN (рис.1.3)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/>
              <a:t>R-CNN → SPP-Net → Fast R-CNN → Faster R-CNN → Mask R-CNN → Cascade R-CNN</a:t>
            </a:r>
          </a:p>
          <a:p>
            <a:r>
              <a:rPr dirty="0" err="1"/>
              <a:t>Ключові</a:t>
            </a:r>
            <a:r>
              <a:rPr dirty="0"/>
              <a:t> </a:t>
            </a:r>
            <a:r>
              <a:rPr dirty="0" err="1"/>
              <a:t>особливості</a:t>
            </a:r>
            <a:r>
              <a:rPr dirty="0"/>
              <a:t>: ROI pooling, RPN, </a:t>
            </a:r>
            <a:r>
              <a:rPr dirty="0" err="1"/>
              <a:t>багатозадачне</a:t>
            </a:r>
            <a:r>
              <a:rPr dirty="0"/>
              <a:t> </a:t>
            </a:r>
            <a:r>
              <a:rPr dirty="0" err="1"/>
              <a:t>навчання</a:t>
            </a:r>
            <a:r>
              <a:rPr dirty="0"/>
              <a:t>, </a:t>
            </a:r>
            <a:r>
              <a:rPr dirty="0" err="1"/>
              <a:t>сегментація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>
                <a:solidFill>
                  <a:srgbClr val="808080"/>
                </a:solidFill>
              </a:defRPr>
            </a:pPr>
            <a:r>
              <a:rPr dirty="0"/>
              <a:t>▶ ТУТ МАЄ БУТИ РИСУНОК: рис.1.3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/>
              <a:t>Моделі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об'єктів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dirty="0" err="1"/>
                  <a:t>Концептуальна</a:t>
                </a:r>
                <a:r>
                  <a:rPr dirty="0"/>
                  <a:t> </a:t>
                </a:r>
                <a:r>
                  <a:rPr dirty="0" err="1"/>
                  <a:t>модель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ℳ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endParaRPr dirty="0"/>
              </a:p>
              <a:p>
                <a:r>
                  <a:rPr dirty="0" err="1"/>
                  <a:t>Вектор</a:t>
                </a:r>
                <a:r>
                  <a:rPr dirty="0"/>
                  <a:t> </a:t>
                </a:r>
                <a:r>
                  <a:rPr dirty="0" err="1"/>
                  <a:t>стану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ᵀ</m:t>
                    </m:r>
                  </m:oMath>
                </a14:m>
                <a:endParaRPr dirty="0"/>
              </a:p>
              <a:p>
                <a:r>
                  <a:rPr dirty="0"/>
                  <a:t>Динамічна </a:t>
                </a:r>
                <a:r>
                  <a:rPr dirty="0" err="1"/>
                  <a:t>модель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ṡ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dirty="0"/>
              </a:p>
              <a:p>
                <a:r>
                  <a:rPr dirty="0" err="1"/>
                  <a:t>Інтеграція</a:t>
                </a:r>
                <a:r>
                  <a:rPr dirty="0"/>
                  <a:t> DETR, </a:t>
                </a:r>
                <a:r>
                  <a:rPr dirty="0" err="1"/>
                  <a:t>оптичного</a:t>
                </a:r>
                <a:r>
                  <a:rPr dirty="0"/>
                  <a:t> </a:t>
                </a:r>
                <a:r>
                  <a:rPr dirty="0" err="1"/>
                  <a:t>потоку</a:t>
                </a:r>
                <a:r>
                  <a:rPr dirty="0"/>
                  <a:t>, </a:t>
                </a:r>
                <a:r>
                  <a:rPr dirty="0" err="1"/>
                  <a:t>GeoNet</a:t>
                </a:r>
                <a:r>
                  <a:rPr dirty="0"/>
                  <a:t> </a:t>
                </a:r>
                <a:r>
                  <a:rPr dirty="0" err="1"/>
                  <a:t>та</a:t>
                </a:r>
                <a:r>
                  <a:rPr dirty="0"/>
                  <a:t> </a:t>
                </a:r>
                <a:r>
                  <a:rPr dirty="0" err="1"/>
                  <a:t>ансамблів</a:t>
                </a:r>
                <a:r>
                  <a:rPr dirty="0"/>
                  <a:t> </a:t>
                </a:r>
                <a:r>
                  <a:rPr dirty="0" err="1"/>
                  <a:t>забезпечує</a:t>
                </a:r>
                <a:r>
                  <a:rPr dirty="0"/>
                  <a:t> </a:t>
                </a:r>
                <a:r>
                  <a:rPr dirty="0" err="1"/>
                  <a:t>просторово-часове</a:t>
                </a:r>
                <a:r>
                  <a:rPr dirty="0"/>
                  <a:t> </a:t>
                </a:r>
                <a:r>
                  <a:rPr dirty="0" err="1"/>
                  <a:t>представлення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1617" r="-741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Методи обчислювального інтелекту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dirty="0"/>
                  <a:t>Bagging (Bootstrap Aggregating): </a:t>
                </a:r>
                <a:r>
                  <a:rPr dirty="0" err="1"/>
                  <a:t>усереднення</a:t>
                </a:r>
                <a:r>
                  <a:rPr dirty="0"/>
                  <a:t> </a:t>
                </a:r>
                <a:r>
                  <a:rPr dirty="0" err="1"/>
                  <a:t>результатів</a:t>
                </a:r>
                <a:r>
                  <a:rPr dirty="0"/>
                  <a:t> </a:t>
                </a:r>
                <a:r>
                  <a:rPr dirty="0" err="1"/>
                  <a:t>на</a:t>
                </a:r>
                <a:r>
                  <a:rPr dirty="0"/>
                  <a:t> </a:t>
                </a:r>
                <a:r>
                  <a:rPr dirty="0" err="1"/>
                  <a:t>різних</a:t>
                </a:r>
                <a:r>
                  <a:rPr dirty="0"/>
                  <a:t> </a:t>
                </a:r>
                <a:r>
                  <a:rPr dirty="0" err="1"/>
                  <a:t>підвибірках</a:t>
                </a:r>
                <a:r>
                  <a:rPr dirty="0"/>
                  <a:t> – </a:t>
                </a:r>
                <a:r>
                  <a:rPr dirty="0" err="1"/>
                  <a:t>зменшення</a:t>
                </a:r>
                <a:r>
                  <a:rPr dirty="0"/>
                  <a:t> </a:t>
                </a:r>
                <a:r>
                  <a:rPr dirty="0" err="1"/>
                  <a:t>дисперсії</a:t>
                </a:r>
                <a:endParaRPr dirty="0"/>
              </a:p>
              <a:p>
                <a:r>
                  <a:rPr dirty="0"/>
                  <a:t>Boosting: </a:t>
                </a:r>
                <a:r>
                  <a:rPr dirty="0" err="1"/>
                  <a:t>послідовне</a:t>
                </a:r>
                <a:r>
                  <a:rPr dirty="0"/>
                  <a:t> </a:t>
                </a:r>
                <a:r>
                  <a:rPr dirty="0" err="1"/>
                  <a:t>виправлення</a:t>
                </a:r>
                <a:r>
                  <a:rPr dirty="0"/>
                  <a:t> </a:t>
                </a:r>
                <a:r>
                  <a:rPr dirty="0" err="1"/>
                  <a:t>помилок</a:t>
                </a:r>
                <a:r>
                  <a:rPr dirty="0"/>
                  <a:t> </a:t>
                </a:r>
                <a:r>
                  <a:rPr dirty="0" err="1"/>
                  <a:t>попередніх</a:t>
                </a:r>
                <a:r>
                  <a:rPr dirty="0"/>
                  <a:t> </a:t>
                </a:r>
                <a:r>
                  <a:rPr dirty="0" err="1"/>
                  <a:t>моделей</a:t>
                </a:r>
                <a:r>
                  <a:rPr dirty="0"/>
                  <a:t> – </a:t>
                </a:r>
                <a:r>
                  <a:rPr dirty="0" err="1"/>
                  <a:t>зменшення</a:t>
                </a:r>
                <a:r>
                  <a:rPr dirty="0"/>
                  <a:t> </a:t>
                </a:r>
                <a:r>
                  <a:rPr dirty="0" err="1"/>
                  <a:t>зміщення</a:t>
                </a:r>
                <a:endParaRPr dirty="0"/>
              </a:p>
              <a:p>
                <a:r>
                  <a:rPr dirty="0" err="1"/>
                  <a:t>Формули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𝑎𝑔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dirty="0"/>
                  <a:t>,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𝑜𝑜𝑠𝑡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lit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dirty="0"/>
              </a:p>
              <a:p>
                <a:r>
                  <a:rPr dirty="0"/>
                  <a:t>У </a:t>
                </a:r>
                <a:r>
                  <a:rPr dirty="0" err="1"/>
                  <a:t>роботі</a:t>
                </a:r>
                <a:r>
                  <a:rPr dirty="0"/>
                  <a:t> </a:t>
                </a:r>
                <a:r>
                  <a:rPr dirty="0" err="1"/>
                  <a:t>адаптовано</a:t>
                </a:r>
                <a:r>
                  <a:rPr dirty="0"/>
                  <a:t> </a:t>
                </a:r>
                <a:r>
                  <a:rPr dirty="0" err="1"/>
                  <a:t>для</a:t>
                </a:r>
                <a:r>
                  <a:rPr dirty="0"/>
                  <a:t> </a:t>
                </a:r>
                <a:r>
                  <a:rPr dirty="0" err="1"/>
                  <a:t>оцінки</a:t>
                </a:r>
                <a:r>
                  <a:rPr dirty="0"/>
                  <a:t> </a:t>
                </a:r>
                <a:r>
                  <a:rPr dirty="0" err="1"/>
                  <a:t>глибини</a:t>
                </a:r>
                <a:r>
                  <a:rPr dirty="0"/>
                  <a:t> </a:t>
                </a:r>
                <a:r>
                  <a:rPr dirty="0" err="1"/>
                  <a:t>та</a:t>
                </a:r>
                <a:r>
                  <a:rPr dirty="0"/>
                  <a:t> </a:t>
                </a:r>
                <a:r>
                  <a:rPr dirty="0" err="1"/>
                  <a:t>оптичного</a:t>
                </a:r>
                <a:r>
                  <a:rPr dirty="0"/>
                  <a:t> </a:t>
                </a:r>
                <a:r>
                  <a:rPr dirty="0" err="1"/>
                  <a:t>потоку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481" t="-2695" r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 оптичного потоку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dirty="0"/>
                  <a:t>Lucas-Kanade (</a:t>
                </a:r>
                <a:r>
                  <a:rPr dirty="0" err="1"/>
                  <a:t>локальний</a:t>
                </a:r>
                <a:r>
                  <a:rPr dirty="0"/>
                  <a:t>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dirty="0"/>
                  <a:t>, </a:t>
                </a:r>
                <a:r>
                  <a:rPr dirty="0" err="1"/>
                  <a:t>розв'язок</a:t>
                </a:r>
                <a:r>
                  <a:rPr dirty="0"/>
                  <a:t> МНК</a:t>
                </a:r>
              </a:p>
              <a:p>
                <a:r>
                  <a:rPr dirty="0"/>
                  <a:t>Horn-Schunck (</a:t>
                </a:r>
                <a:r>
                  <a:rPr dirty="0" err="1"/>
                  <a:t>глобальний</a:t>
                </a:r>
                <a:r>
                  <a:rPr dirty="0"/>
                  <a:t>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dirty="0">
                                            <a:latin typeface="Cambria Math" panose="02040503050406030204" pitchFamily="18" charset="0"/>
                                          </a:rPr>
                                          <m:t>∇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dirty="0">
                                            <a:latin typeface="Cambria Math" panose="02040503050406030204" pitchFamily="18" charset="0"/>
                                          </a:rPr>
                                          <m:t>∇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</m:oMath>
                </a14:m>
                <a:endParaRPr dirty="0"/>
              </a:p>
              <a:p>
                <a:r>
                  <a:rPr dirty="0" err="1"/>
                  <a:t>Farneback</a:t>
                </a:r>
                <a:r>
                  <a:rPr dirty="0"/>
                  <a:t> (</a:t>
                </a:r>
                <a:r>
                  <a:rPr dirty="0" err="1"/>
                  <a:t>поліноміальний</a:t>
                </a:r>
                <a:r>
                  <a:rPr dirty="0"/>
                  <a:t>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ᵀ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=−½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1-1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dirty="0"/>
              </a:p>
              <a:p>
                <a:r>
                  <a:rPr dirty="0" err="1"/>
                  <a:t>Нейромережеві</a:t>
                </a:r>
                <a:r>
                  <a:rPr dirty="0"/>
                  <a:t>: </a:t>
                </a:r>
                <a:r>
                  <a:rPr dirty="0" err="1"/>
                  <a:t>FlowNet</a:t>
                </a:r>
                <a:r>
                  <a:rPr dirty="0"/>
                  <a:t> (end-to-end), RAFT (</a:t>
                </a:r>
                <a:r>
                  <a:rPr dirty="0" err="1"/>
                  <a:t>рекурентний</a:t>
                </a:r>
                <a:r>
                  <a:rPr dirty="0"/>
                  <a:t>), </a:t>
                </a:r>
                <a:r>
                  <a:rPr dirty="0" err="1"/>
                  <a:t>GeoNet</a:t>
                </a:r>
                <a:r>
                  <a:rPr dirty="0"/>
                  <a:t> (</a:t>
                </a:r>
                <a:r>
                  <a:rPr dirty="0" err="1"/>
                  <a:t>сумісна</a:t>
                </a:r>
                <a:r>
                  <a:rPr dirty="0"/>
                  <a:t> </a:t>
                </a:r>
                <a:r>
                  <a:rPr dirty="0" err="1"/>
                  <a:t>оцінка</a:t>
                </a:r>
                <a:r>
                  <a:rPr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2695" r="-1556" b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Нейромережеві моделі аналізу руху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dirty="0" err="1"/>
                  <a:t>FlowNet</a:t>
                </a:r>
                <a:r>
                  <a:rPr dirty="0"/>
                  <a:t>: </a:t>
                </a:r>
                <a:r>
                  <a:rPr dirty="0" err="1"/>
                  <a:t>енкодер-декодер</a:t>
                </a:r>
                <a:r>
                  <a:rPr dirty="0"/>
                  <a:t>, </a:t>
                </a:r>
                <a:r>
                  <a:rPr dirty="0" err="1"/>
                  <a:t>втрата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𝐸𝑃𝐸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=∑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𝑟𝑒𝑑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/>
              </a:p>
              <a:p>
                <a:r>
                  <a:rPr dirty="0"/>
                  <a:t>RAFT: </a:t>
                </a:r>
                <a:r>
                  <a:rPr dirty="0" err="1"/>
                  <a:t>кореляційний</a:t>
                </a:r>
                <a:r>
                  <a:rPr dirty="0"/>
                  <a:t> </a:t>
                </a:r>
                <a:r>
                  <a:rPr dirty="0" err="1"/>
                  <a:t>об'єм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𝑗𝑘𝑙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𝐻𝑊</m:t>
                                </m:r>
                              </m:e>
                            </m:d>
                          </m:e>
                        </m:rad>
                      </m:e>
                    </m:d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𝑗h𝑤</m:t>
                            </m:r>
                          </m:sub>
                        </m:sSub>
                      </m:e>
                    </m:nary>
                    <m:r>
                      <a:rPr lang="en-US" i="1" dirty="0" err="1">
                        <a:latin typeface="Cambria Math" panose="02040503050406030204" pitchFamily="18" charset="0"/>
                      </a:rPr>
                      <m:t>·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𝑙h𝑤</m:t>
                        </m:r>
                      </m:sub>
                    </m:sSub>
                  </m:oMath>
                </a14:m>
                <a:r>
                  <a:rPr dirty="0"/>
                  <a:t>, GRU-</a:t>
                </a:r>
                <a:r>
                  <a:rPr dirty="0" err="1"/>
                  <a:t>оновлення</a:t>
                </a:r>
                <a:endParaRPr dirty="0"/>
              </a:p>
              <a:p>
                <a:r>
                  <a:rPr dirty="0" err="1"/>
                  <a:t>GeoNet</a:t>
                </a:r>
                <a:r>
                  <a:rPr dirty="0"/>
                  <a:t>: </a:t>
                </a:r>
                <a:r>
                  <a:rPr dirty="0" err="1"/>
                  <a:t>сумісна</a:t>
                </a:r>
                <a:r>
                  <a:rPr dirty="0"/>
                  <a:t> </a:t>
                </a:r>
                <a:r>
                  <a:rPr dirty="0" err="1"/>
                  <a:t>оцінка</a:t>
                </a:r>
                <a:r>
                  <a:rPr dirty="0"/>
                  <a:t> </a:t>
                </a:r>
                <a:r>
                  <a:rPr dirty="0" err="1"/>
                  <a:t>глибини</a:t>
                </a:r>
                <a:r>
                  <a:rPr dirty="0"/>
                  <a:t> </a:t>
                </a:r>
                <a:r>
                  <a:rPr dirty="0" err="1"/>
                  <a:t>та</a:t>
                </a:r>
                <a:r>
                  <a:rPr dirty="0"/>
                  <a:t> </a:t>
                </a:r>
                <a:r>
                  <a:rPr dirty="0" err="1"/>
                  <a:t>оптичного</a:t>
                </a:r>
                <a:r>
                  <a:rPr dirty="0"/>
                  <a:t> </a:t>
                </a:r>
                <a:r>
                  <a:rPr dirty="0" err="1"/>
                  <a:t>потоку</a:t>
                </a:r>
                <a:r>
                  <a:rPr dirty="0"/>
                  <a:t> з </a:t>
                </a:r>
                <a:r>
                  <a:rPr dirty="0" err="1"/>
                  <a:t>геометричними</a:t>
                </a:r>
                <a:r>
                  <a:rPr dirty="0"/>
                  <a:t> </a:t>
                </a:r>
                <a:r>
                  <a:rPr dirty="0" err="1"/>
                  <a:t>обмеженнями</a:t>
                </a:r>
                <a:endParaRPr dirty="0"/>
              </a:p>
              <a:p>
                <a:r>
                  <a:rPr dirty="0"/>
                  <a:t>DETR: </a:t>
                </a:r>
                <a:r>
                  <a:rPr dirty="0" err="1"/>
                  <a:t>трансформер</a:t>
                </a:r>
                <a:r>
                  <a:rPr dirty="0"/>
                  <a:t> </a:t>
                </a:r>
                <a:r>
                  <a:rPr dirty="0" err="1"/>
                  <a:t>для</a:t>
                </a:r>
                <a:r>
                  <a:rPr dirty="0"/>
                  <a:t> </a:t>
                </a:r>
                <a:r>
                  <a:rPr dirty="0" err="1"/>
                  <a:t>виявлення</a:t>
                </a:r>
                <a:r>
                  <a:rPr dirty="0"/>
                  <a:t> </a:t>
                </a:r>
                <a:r>
                  <a:rPr dirty="0" err="1"/>
                  <a:t>об'єктів</a:t>
                </a:r>
                <a:r>
                  <a:rPr dirty="0"/>
                  <a:t>, </a:t>
                </a:r>
                <a:r>
                  <a:rPr dirty="0" err="1"/>
                  <a:t>угорська</a:t>
                </a:r>
                <a:r>
                  <a:rPr dirty="0"/>
                  <a:t> </a:t>
                </a:r>
                <a:r>
                  <a:rPr dirty="0" err="1"/>
                  <a:t>втрата</a:t>
                </a:r>
                <a:r>
                  <a:rPr dirty="0"/>
                  <a:t> </a:t>
                </a:r>
                <a:r>
                  <a:rPr dirty="0" err="1"/>
                  <a:t>для</a:t>
                </a:r>
                <a:r>
                  <a:rPr dirty="0"/>
                  <a:t> </a:t>
                </a:r>
                <a:r>
                  <a:rPr dirty="0" err="1"/>
                  <a:t>парування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481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Ансамблеві </a:t>
            </a:r>
            <a:r>
              <a:rPr dirty="0" err="1"/>
              <a:t>методи</a:t>
            </a:r>
            <a:r>
              <a:rPr dirty="0"/>
              <a:t> (Bagging, Boosting)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dirty="0"/>
                  <a:t>Bagging: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𝑎𝑔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r>
                  <a:rPr dirty="0"/>
                  <a:t>– </a:t>
                </a:r>
                <a:r>
                  <a:rPr dirty="0" err="1"/>
                  <a:t>усереднення</a:t>
                </a:r>
                <a:r>
                  <a:rPr dirty="0"/>
                  <a:t> </a:t>
                </a:r>
                <a:r>
                  <a:rPr dirty="0" err="1"/>
                  <a:t>карт</a:t>
                </a:r>
                <a:r>
                  <a:rPr dirty="0"/>
                  <a:t> </a:t>
                </a:r>
                <a:r>
                  <a:rPr dirty="0" err="1"/>
                  <a:t>глибини</a:t>
                </a:r>
                <a:endParaRPr dirty="0"/>
              </a:p>
              <a:p>
                <a:r>
                  <a:rPr dirty="0"/>
                  <a:t>Boosting: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𝑖𝑛𝑎𝑙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 err="1"/>
                  <a:t>якщо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)|≤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dirty="0"/>
                  <a:t>, </a:t>
                </a:r>
                <a:r>
                  <a:rPr dirty="0" err="1"/>
                  <a:t>інакше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(</a:t>
                </a:r>
                <a:r>
                  <a:rPr dirty="0" err="1"/>
                  <a:t>адаптивне</a:t>
                </a:r>
                <a:r>
                  <a:rPr dirty="0"/>
                  <a:t> </a:t>
                </a:r>
                <a:r>
                  <a:rPr dirty="0" err="1"/>
                  <a:t>комбінування</a:t>
                </a:r>
                <a:r>
                  <a:rPr dirty="0"/>
                  <a:t>)</a:t>
                </a:r>
              </a:p>
              <a:p>
                <a:r>
                  <a:rPr dirty="0"/>
                  <a:t>Вага </a:t>
                </a:r>
                <a:r>
                  <a:rPr dirty="0" err="1"/>
                  <a:t>моделі</a:t>
                </a:r>
                <a:r>
                  <a:rPr dirty="0"/>
                  <a:t> в </a:t>
                </a:r>
                <a:r>
                  <a:rPr dirty="0" err="1"/>
                  <a:t>бустингу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lit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dirty="0"/>
              </a:p>
              <a:p>
                <a:r>
                  <a:rPr dirty="0" err="1"/>
                  <a:t>Застосовано</a:t>
                </a:r>
                <a:r>
                  <a:rPr dirty="0"/>
                  <a:t> </a:t>
                </a:r>
                <a:r>
                  <a:rPr dirty="0" err="1"/>
                  <a:t>до</a:t>
                </a:r>
                <a:r>
                  <a:rPr dirty="0"/>
                  <a:t> </a:t>
                </a:r>
                <a:r>
                  <a:rPr dirty="0" err="1"/>
                  <a:t>комбінацій</a:t>
                </a:r>
                <a:r>
                  <a:rPr dirty="0"/>
                  <a:t> </a:t>
                </a:r>
                <a:r>
                  <a:rPr dirty="0" err="1"/>
                  <a:t>MiDaS</a:t>
                </a:r>
                <a:r>
                  <a:rPr dirty="0"/>
                  <a:t>, DPT, </a:t>
                </a:r>
                <a:r>
                  <a:rPr dirty="0" err="1"/>
                  <a:t>GeoNet</a:t>
                </a:r>
                <a:r>
                  <a:rPr dirty="0"/>
                  <a:t> – </a:t>
                </a:r>
                <a:r>
                  <a:rPr dirty="0" err="1"/>
                  <a:t>підвищує</a:t>
                </a:r>
                <a:r>
                  <a:rPr dirty="0"/>
                  <a:t> </a:t>
                </a:r>
                <a:r>
                  <a:rPr dirty="0" err="1"/>
                  <a:t>стійкість</a:t>
                </a:r>
                <a:r>
                  <a:rPr dirty="0"/>
                  <a:t> </a:t>
                </a:r>
                <a:r>
                  <a:rPr dirty="0" err="1"/>
                  <a:t>на</a:t>
                </a:r>
                <a:r>
                  <a:rPr dirty="0"/>
                  <a:t> </a:t>
                </a:r>
                <a:r>
                  <a:rPr dirty="0" err="1"/>
                  <a:t>межах</a:t>
                </a:r>
                <a:r>
                  <a:rPr dirty="0"/>
                  <a:t> </a:t>
                </a:r>
                <a:r>
                  <a:rPr dirty="0" err="1"/>
                  <a:t>об</a:t>
                </a:r>
                <a:r>
                  <a:rPr lang="uk-UA" dirty="0"/>
                  <a:t>'</a:t>
                </a:r>
                <a:r>
                  <a:rPr dirty="0" err="1"/>
                  <a:t>єктів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481" t="-1617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Об'єднання </a:t>
            </a:r>
            <a:r>
              <a:rPr dirty="0" err="1"/>
              <a:t>методів</a:t>
            </a:r>
            <a:r>
              <a:rPr dirty="0"/>
              <a:t> (</a:t>
            </a:r>
            <a:r>
              <a:rPr dirty="0" err="1"/>
              <a:t>просторово-часова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/>
              <a:lstStyle/>
              <a:p>
                <a:r>
                  <a:rPr dirty="0" err="1"/>
                  <a:t>Просторово-часова</a:t>
                </a:r>
                <a:r>
                  <a:rPr dirty="0"/>
                  <a:t> </a:t>
                </a:r>
                <a:r>
                  <a:rPr dirty="0" err="1"/>
                  <a:t>модель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⊂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×[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] 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dirty="0"/>
              </a:p>
              <a:p>
                <a:r>
                  <a:rPr dirty="0" err="1"/>
                  <a:t>Сумісна</a:t>
                </a:r>
                <a:r>
                  <a:rPr dirty="0"/>
                  <a:t> </a:t>
                </a:r>
                <a:r>
                  <a:rPr dirty="0" err="1"/>
                  <a:t>оцінка</a:t>
                </a:r>
                <a:r>
                  <a:rPr dirty="0"/>
                  <a:t> </a:t>
                </a:r>
                <a:r>
                  <a:rPr dirty="0" err="1"/>
                  <a:t>GeoNet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)·(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𝑝𝑟𝑜𝑗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r>
                  <a:rPr dirty="0" err="1"/>
                  <a:t>Обчислення</a:t>
                </a:r>
                <a:r>
                  <a:rPr dirty="0"/>
                  <a:t> </a:t>
                </a:r>
                <a:r>
                  <a:rPr dirty="0" err="1"/>
                  <a:t>кінематичних</a:t>
                </a:r>
                <a:r>
                  <a:rPr dirty="0"/>
                  <a:t> </a:t>
                </a:r>
                <a:r>
                  <a:rPr dirty="0" err="1"/>
                  <a:t>параметрів</a:t>
                </a:r>
                <a:r>
                  <a:rPr dirty="0"/>
                  <a:t> </a:t>
                </a:r>
                <a:r>
                  <a:rPr dirty="0" err="1"/>
                  <a:t>за</a:t>
                </a:r>
                <a:r>
                  <a:rPr dirty="0"/>
                  <a:t> </a:t>
                </a:r>
                <a:r>
                  <a:rPr dirty="0" err="1"/>
                  <a:t>полем</a:t>
                </a:r>
                <a:r>
                  <a:rPr dirty="0"/>
                  <a:t> </a:t>
                </a:r>
                <a:r>
                  <a:rPr dirty="0" err="1"/>
                  <a:t>оптичного</a:t>
                </a:r>
                <a:r>
                  <a:rPr dirty="0"/>
                  <a:t> </a:t>
                </a:r>
                <a:r>
                  <a:rPr dirty="0" err="1"/>
                  <a:t>потоку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, </a:t>
                </a:r>
                <a:r>
                  <a:rPr dirty="0" err="1"/>
                  <a:t>траєкторія</a:t>
                </a:r>
                <a:r>
                  <a:rPr dirty="0"/>
                  <a:t>, </a:t>
                </a:r>
                <a:r>
                  <a:rPr dirty="0" err="1"/>
                  <a:t>прискорення</a:t>
                </a:r>
                <a:r>
                  <a:rPr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Розділ</a:t>
            </a:r>
            <a:r>
              <a:rPr dirty="0"/>
              <a:t> 3 – </a:t>
            </a:r>
            <a:r>
              <a:rPr dirty="0" err="1"/>
              <a:t>Концепція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ДІПДО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dirty="0"/>
                  <a:t>Три </a:t>
                </a:r>
                <a:r>
                  <a:rPr dirty="0" err="1"/>
                  <a:t>рівні</a:t>
                </a:r>
                <a:r>
                  <a:rPr dirty="0"/>
                  <a:t>: </a:t>
                </a:r>
                <a:r>
                  <a:rPr dirty="0" err="1"/>
                  <a:t>виявлення</a:t>
                </a:r>
                <a:r>
                  <a:rPr dirty="0"/>
                  <a:t> </a:t>
                </a:r>
                <a:r>
                  <a:rPr dirty="0" err="1"/>
                  <a:t>об'єктів</a:t>
                </a:r>
                <a:r>
                  <a:rPr dirty="0"/>
                  <a:t> (DETR), </a:t>
                </a:r>
                <a:r>
                  <a:rPr dirty="0" err="1"/>
                  <a:t>оцінка</a:t>
                </a:r>
                <a:r>
                  <a:rPr dirty="0"/>
                  <a:t> </a:t>
                </a:r>
                <a:r>
                  <a:rPr dirty="0" err="1"/>
                  <a:t>руху</a:t>
                </a:r>
                <a:r>
                  <a:rPr dirty="0"/>
                  <a:t> (</a:t>
                </a:r>
                <a:r>
                  <a:rPr dirty="0" err="1"/>
                  <a:t>оптичний</a:t>
                </a:r>
                <a:r>
                  <a:rPr dirty="0"/>
                  <a:t> </a:t>
                </a:r>
                <a:r>
                  <a:rPr dirty="0" err="1"/>
                  <a:t>потік</a:t>
                </a:r>
                <a:r>
                  <a:rPr dirty="0"/>
                  <a:t>), </a:t>
                </a:r>
                <a:r>
                  <a:rPr dirty="0" err="1"/>
                  <a:t>просторова</a:t>
                </a:r>
                <a:r>
                  <a:rPr dirty="0"/>
                  <a:t> </a:t>
                </a:r>
                <a:r>
                  <a:rPr dirty="0" err="1"/>
                  <a:t>структура</a:t>
                </a:r>
                <a:r>
                  <a:rPr dirty="0"/>
                  <a:t> (</a:t>
                </a:r>
                <a:r>
                  <a:rPr dirty="0" err="1"/>
                  <a:t>глибина</a:t>
                </a:r>
                <a:r>
                  <a:rPr dirty="0"/>
                  <a:t>)</a:t>
                </a:r>
              </a:p>
              <a:p>
                <a:r>
                  <a:rPr dirty="0"/>
                  <a:t>Інтеграція </a:t>
                </a:r>
                <a:r>
                  <a:rPr dirty="0" err="1"/>
                  <a:t>дозволяє</a:t>
                </a:r>
                <a:r>
                  <a:rPr dirty="0"/>
                  <a:t> </a:t>
                </a:r>
                <a:r>
                  <a:rPr dirty="0" err="1"/>
                  <a:t>перейти</a:t>
                </a:r>
                <a:r>
                  <a:rPr dirty="0"/>
                  <a:t> </a:t>
                </a:r>
                <a:r>
                  <a:rPr dirty="0" err="1"/>
                  <a:t>від</a:t>
                </a:r>
                <a:r>
                  <a:rPr dirty="0"/>
                  <a:t> </a:t>
                </a:r>
                <a:r>
                  <a:rPr dirty="0" err="1"/>
                  <a:t>покадрового</a:t>
                </a:r>
                <a:r>
                  <a:rPr dirty="0"/>
                  <a:t> </a:t>
                </a:r>
                <a:r>
                  <a:rPr dirty="0" err="1"/>
                  <a:t>виявлення</a:t>
                </a:r>
                <a:r>
                  <a:rPr dirty="0"/>
                  <a:t> </a:t>
                </a:r>
                <a:r>
                  <a:rPr dirty="0" err="1"/>
                  <a:t>до</a:t>
                </a:r>
                <a:r>
                  <a:rPr dirty="0"/>
                  <a:t> </a:t>
                </a:r>
                <a:r>
                  <a:rPr dirty="0" err="1"/>
                  <a:t>просторово-часового</a:t>
                </a:r>
                <a:r>
                  <a:rPr dirty="0"/>
                  <a:t> </a:t>
                </a:r>
                <a:r>
                  <a:rPr dirty="0" err="1"/>
                  <a:t>опису</a:t>
                </a:r>
                <a:endParaRPr dirty="0"/>
              </a:p>
              <a:p>
                <a:r>
                  <a:rPr dirty="0" err="1"/>
                  <a:t>Архітектура</a:t>
                </a:r>
                <a:r>
                  <a:rPr dirty="0"/>
                  <a:t> </a:t>
                </a:r>
                <a:r>
                  <a:rPr dirty="0" err="1"/>
                  <a:t>системи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 (</a:t>
                </a:r>
                <a:r>
                  <a:rPr dirty="0" err="1"/>
                  <a:t>детектор</a:t>
                </a:r>
                <a:r>
                  <a:rPr dirty="0"/>
                  <a:t>, </a:t>
                </a:r>
                <a:r>
                  <a:rPr dirty="0" err="1"/>
                  <a:t>оптичний</a:t>
                </a:r>
                <a:r>
                  <a:rPr dirty="0"/>
                  <a:t> </a:t>
                </a:r>
                <a:r>
                  <a:rPr dirty="0" err="1"/>
                  <a:t>потік</a:t>
                </a:r>
                <a:r>
                  <a:rPr dirty="0"/>
                  <a:t>, </a:t>
                </a:r>
                <a:r>
                  <a:rPr dirty="0" err="1"/>
                  <a:t>глибина</a:t>
                </a:r>
                <a:r>
                  <a:rPr dirty="0"/>
                  <a:t>, </a:t>
                </a:r>
                <a:r>
                  <a:rPr dirty="0" err="1"/>
                  <a:t>параметри</a:t>
                </a:r>
                <a:r>
                  <a:rPr dirty="0"/>
                  <a:t>, </a:t>
                </a:r>
                <a:r>
                  <a:rPr dirty="0" err="1"/>
                  <a:t>візуалізація</a:t>
                </a:r>
                <a:r>
                  <a:rPr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2830" r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Аналітична </a:t>
            </a:r>
            <a:r>
              <a:rPr dirty="0" err="1"/>
              <a:t>модель</a:t>
            </a:r>
            <a:r>
              <a:rPr dirty="0"/>
              <a:t> (рис.3.1) – DETR + Optical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r>
              <a:rPr dirty="0" err="1"/>
              <a:t>Вхідний</a:t>
            </a:r>
            <a:r>
              <a:rPr dirty="0"/>
              <a:t> </a:t>
            </a:r>
            <a:r>
              <a:rPr dirty="0" err="1"/>
              <a:t>відеопотік</a:t>
            </a:r>
            <a:r>
              <a:rPr dirty="0"/>
              <a:t> → DETR (</a:t>
            </a:r>
            <a:r>
              <a:rPr dirty="0" err="1"/>
              <a:t>локалізація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) → </a:t>
            </a:r>
            <a:r>
              <a:rPr dirty="0" err="1"/>
              <a:t>оптичний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 (</a:t>
            </a:r>
            <a:r>
              <a:rPr dirty="0" err="1"/>
              <a:t>вектори</a:t>
            </a:r>
            <a:r>
              <a:rPr dirty="0"/>
              <a:t> </a:t>
            </a:r>
            <a:r>
              <a:rPr dirty="0" err="1"/>
              <a:t>руху</a:t>
            </a:r>
            <a:r>
              <a:rPr dirty="0"/>
              <a:t>) → </a:t>
            </a:r>
            <a:r>
              <a:rPr dirty="0" err="1"/>
              <a:t>аналіз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(</a:t>
            </a:r>
            <a:r>
              <a:rPr dirty="0" err="1"/>
              <a:t>швидкість</a:t>
            </a:r>
            <a:r>
              <a:rPr dirty="0"/>
              <a:t>, </a:t>
            </a:r>
            <a:r>
              <a:rPr dirty="0" err="1"/>
              <a:t>напрямок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Модель DETR (Detection Transformer)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/>
              <a:lstStyle/>
              <a:p>
                <a:r>
                  <a:rPr dirty="0" err="1"/>
                  <a:t>Багатоголова</a:t>
                </a:r>
                <a:r>
                  <a:rPr dirty="0"/>
                  <a:t> </a:t>
                </a:r>
                <a:r>
                  <a:rPr dirty="0" err="1"/>
                  <a:t>увага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𝐶𝑜𝑛𝑐𝑎𝑡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h𝑒𝑎𝑑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₁,…,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endParaRPr dirty="0"/>
              </a:p>
              <a:p>
                <a:r>
                  <a:rPr dirty="0"/>
                  <a:t>Голова </a:t>
                </a:r>
                <a:r>
                  <a:rPr dirty="0" err="1"/>
                  <a:t>уваги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𝑄</m:t>
                        </m:r>
                        <m:sSubSup>
                          <m:sSub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𝐾</m:t>
                        </m:r>
                        <m:sSubSup>
                          <m:sSub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e>
                    </m:d>
                  </m:oMath>
                </a14:m>
                <a:endParaRPr dirty="0"/>
              </a:p>
              <a:p>
                <a:r>
                  <a:rPr dirty="0" err="1"/>
                  <a:t>Угорська</a:t>
                </a:r>
                <a:r>
                  <a:rPr dirty="0"/>
                  <a:t> </a:t>
                </a:r>
                <a:r>
                  <a:rPr dirty="0" err="1"/>
                  <a:t>втрата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𝑢𝑛𝑔𝑎𝑟𝑖𝑎𝑛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𝑙𝑜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fName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 err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 err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acc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≠∅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𝑜𝑥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dirty="0"/>
              </a:p>
              <a:p>
                <a:r>
                  <a:rPr dirty="0"/>
                  <a:t>Позиційне </a:t>
                </a:r>
                <a:r>
                  <a:rPr dirty="0" err="1"/>
                  <a:t>кодування</a:t>
                </a:r>
                <a:r>
                  <a:rPr dirty="0"/>
                  <a:t>, </a:t>
                </a:r>
                <a:r>
                  <a:rPr dirty="0" err="1"/>
                  <a:t>кодер-декодер</a:t>
                </a:r>
                <a:r>
                  <a:rPr dirty="0"/>
                  <a:t>, FFN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Модель </a:t>
            </a:r>
            <a:r>
              <a:rPr dirty="0" err="1"/>
              <a:t>GeoNet</a:t>
            </a:r>
            <a:r>
              <a:rPr dirty="0"/>
              <a:t> (</a:t>
            </a:r>
            <a:r>
              <a:rPr dirty="0" err="1"/>
              <a:t>сумісна</a:t>
            </a:r>
            <a:r>
              <a:rPr dirty="0"/>
              <a:t> </a:t>
            </a:r>
            <a:r>
              <a:rPr dirty="0" err="1"/>
              <a:t>оцінка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dirty="0" err="1"/>
                  <a:t>Фотометрична</a:t>
                </a:r>
                <a:r>
                  <a:rPr dirty="0"/>
                  <a:t> </a:t>
                </a:r>
                <a:r>
                  <a:rPr dirty="0" err="1"/>
                  <a:t>узгодженість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dirty="0"/>
              </a:p>
              <a:p>
                <a:r>
                  <a:rPr dirty="0" err="1"/>
                  <a:t>Геометрична</a:t>
                </a:r>
                <a:r>
                  <a:rPr dirty="0"/>
                  <a:t> </a:t>
                </a:r>
                <a:r>
                  <a:rPr dirty="0" err="1"/>
                  <a:t>модель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)·(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𝑝𝑟𝑜𝑗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/>
                  <a:t>Функція </a:t>
                </a:r>
                <a:r>
                  <a:rPr dirty="0" err="1"/>
                  <a:t>втрат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⟨"/>
                            <m:endChr m:val="⟩"/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l-G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l-GR" i="1" dirty="0" err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l-GR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dirty="0"/>
              </a:p>
              <a:p>
                <a:r>
                  <a:rPr dirty="0" err="1"/>
                  <a:t>Використовується</a:t>
                </a:r>
                <a:r>
                  <a:rPr dirty="0"/>
                  <a:t> </a:t>
                </a:r>
                <a:r>
                  <a:rPr dirty="0" err="1"/>
                  <a:t>для</a:t>
                </a:r>
                <a:r>
                  <a:rPr dirty="0"/>
                  <a:t> </a:t>
                </a:r>
                <a:r>
                  <a:rPr dirty="0" err="1"/>
                  <a:t>відокремлення</a:t>
                </a:r>
                <a:r>
                  <a:rPr dirty="0"/>
                  <a:t> </a:t>
                </a:r>
                <a:r>
                  <a:rPr dirty="0" err="1"/>
                  <a:t>руху</a:t>
                </a:r>
                <a:r>
                  <a:rPr dirty="0"/>
                  <a:t> </a:t>
                </a:r>
                <a:r>
                  <a:rPr dirty="0" err="1"/>
                  <a:t>камери</a:t>
                </a:r>
                <a:r>
                  <a:rPr dirty="0"/>
                  <a:t> </a:t>
                </a:r>
                <a:r>
                  <a:rPr dirty="0" err="1"/>
                  <a:t>від</a:t>
                </a:r>
                <a:r>
                  <a:rPr dirty="0"/>
                  <a:t> </a:t>
                </a:r>
                <a:r>
                  <a:rPr dirty="0" err="1"/>
                  <a:t>руху</a:t>
                </a:r>
                <a:r>
                  <a:rPr dirty="0"/>
                  <a:t> </a:t>
                </a:r>
                <a:r>
                  <a:rPr dirty="0" err="1"/>
                  <a:t>об'єктів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1617" b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Визначення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методами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</p:spPr>
            <p:txBody>
              <a:bodyPr/>
              <a:lstStyle/>
              <a:p>
                <a:r>
                  <a:rPr dirty="0" err="1"/>
                  <a:t>Швидкість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/|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|)∬_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√(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l-GR" i="1" dirty="0" err="1">
                        <a:latin typeface="Cambria Math" panose="02040503050406030204" pitchFamily="18" charset="0"/>
                      </a:rPr>
                      <m:t>𝑑𝑥𝑑𝑦</m:t>
                    </m:r>
                  </m:oMath>
                </a14:m>
                <a:endParaRPr dirty="0"/>
              </a:p>
              <a:p>
                <a:r>
                  <a:rPr dirty="0" err="1"/>
                  <a:t>Напрямок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arctan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⁡(∑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/ ∑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 err="1"/>
                  <a:t>Траєкторія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dirty="0"/>
                  <a:t>, </a:t>
                </a:r>
                <a:r>
                  <a:rPr dirty="0" err="1"/>
                  <a:t>згладжена</a:t>
                </a:r>
                <a:r>
                  <a:rPr dirty="0"/>
                  <a:t> </a:t>
                </a:r>
                <a:r>
                  <a:rPr dirty="0" err="1"/>
                  <a:t>ковзним</a:t>
                </a:r>
                <a:r>
                  <a:rPr dirty="0"/>
                  <a:t> </a:t>
                </a:r>
                <a:r>
                  <a:rPr dirty="0" err="1"/>
                  <a:t>середнім</a:t>
                </a:r>
                <a:endParaRPr dirty="0"/>
              </a:p>
              <a:p>
                <a:r>
                  <a:rPr dirty="0" err="1"/>
                  <a:t>Прискорення</a:t>
                </a: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))/</m:t>
                    </m:r>
                    <m:r>
                      <m:rPr>
                        <m:sty m:val="p"/>
                      </m:rPr>
                      <a:rPr lang="el-GR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525963"/>
              </a:xfrm>
              <a:blipFill>
                <a:blip r:embed="rId2"/>
                <a:stretch>
                  <a:fillRect l="-1704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Схема інтеграції оптичного потоку з трансформером (рис.3.5)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Кадри → оптичний потік → вектори руху → трансформерна обробка → параметри (положення, швидкість, прискорення, напрям)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Об'єднання моделей (рис.3.6) – інтегральна схема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Відеопотік → оптичний потік → трансформерна мережа → ансамблевий модуль (Bagging/Boosting) → прогноз параметрів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рис.3.6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Структура інформаційної технології (рис.4.1-4.3)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Вхідні дані → попередня обробка → три гілки: оптичний потік, структура сцени, виявлення об'єктів → об'єднання → ансамблева корекція → вихід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рис.4.1-4.3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Програмна реалізація (рис.4.4-4.5)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Stream Processing → DETR Model → Optical Flow → Forming and Displaying Results</a:t>
            </a:r>
          </a:p>
          <a:p>
            <a:r>
              <a:t>Модульна архітектура, можливість заміни компонентів (YOLO замість DETR, FlowNet замість Farneback)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рис.4.4-4.5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Ансамблеві модулі (рис.4.6)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Bagging (паралельний): різні модифікації кадрів → GeoNet → усереднення карт глибини</a:t>
            </a:r>
          </a:p>
          <a:p>
            <a:r>
              <a:t>Boosting (послідовний): базова карта глибини → коректор зон помилок → уточнена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088136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Виявлення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 DETR (рис.4.7) – </a:t>
            </a:r>
            <a:r>
              <a:rPr dirty="0" err="1"/>
              <a:t>параметри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7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Клас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Довіра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x,y (пікс)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z (відносна)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 (px/кадр)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θ (град)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658,5;281,0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750,0;70,0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-152,4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689,0;70,5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-143,5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688,5;70,5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-144,8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277,5;264,0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513,5;195,5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Візуалізація ідентифікованих параметрів (рис.4.8)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кадрі</a:t>
            </a:r>
            <a:r>
              <a:rPr dirty="0"/>
              <a:t> </a:t>
            </a:r>
            <a:r>
              <a:rPr dirty="0" err="1"/>
              <a:t>накладаються</a:t>
            </a:r>
            <a:r>
              <a:rPr dirty="0"/>
              <a:t> bounding boxes, </a:t>
            </a:r>
            <a:r>
              <a:rPr dirty="0" err="1"/>
              <a:t>вектори</a:t>
            </a:r>
            <a:r>
              <a:rPr dirty="0"/>
              <a:t> </a:t>
            </a:r>
            <a:r>
              <a:rPr dirty="0" err="1"/>
              <a:t>швидкості</a:t>
            </a:r>
            <a:r>
              <a:rPr dirty="0"/>
              <a:t>, </a:t>
            </a:r>
            <a:r>
              <a:rPr dirty="0" err="1"/>
              <a:t>значення</a:t>
            </a:r>
            <a:r>
              <a:rPr dirty="0"/>
              <a:t> </a:t>
            </a:r>
            <a:r>
              <a:rPr dirty="0" err="1"/>
              <a:t>глибини</a:t>
            </a:r>
            <a:endParaRPr dirty="0"/>
          </a:p>
          <a:p>
            <a:r>
              <a:rPr dirty="0"/>
              <a:t>Кольорове </a:t>
            </a:r>
            <a:r>
              <a:rPr dirty="0" err="1"/>
              <a:t>кодування</a:t>
            </a:r>
            <a:r>
              <a:rPr dirty="0"/>
              <a:t> </a:t>
            </a:r>
            <a:r>
              <a:rPr dirty="0" err="1"/>
              <a:t>напрямку</a:t>
            </a:r>
            <a:r>
              <a:rPr dirty="0"/>
              <a:t> </a:t>
            </a:r>
            <a:r>
              <a:rPr dirty="0" err="1"/>
              <a:t>руху</a:t>
            </a:r>
            <a:r>
              <a:rPr dirty="0"/>
              <a:t> (HSV)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808080"/>
                </a:solidFill>
              </a:defRPr>
            </a:pPr>
            <a:r>
              <a:t>▶ ТУТ МАЄ БУТИ РИСУНОК: рис.4.8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Приклади комбінацій методів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Farneback + MiDaS (рис.4.9): класичний оптичний потік + трансформерна глибина</a:t>
            </a:r>
          </a:p>
          <a:p>
            <a:r>
              <a:t>FlowNet + DPT_Large (рис.4.10): нейромережевий потік + щільний трансформер глибини</a:t>
            </a:r>
          </a:p>
          <a:p>
            <a:r>
              <a:t>GeoNet (рис.4.11): сумісна оцінка – найкраща узгодженість руху та глибини</a:t>
            </a:r>
          </a:p>
          <a:p>
            <a:r>
              <a:t>Horn-Schunck + Bagging (рис.4.12): глобальний потік + ансамбль глибини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dirty="0"/>
              <a:t>Порівняння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(табл.4.4)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EPE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 об'єкта 0 (px/кадр)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Примітка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Farneback (ref)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Базовий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Lucas-Kanade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Розріджений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Horn-Schunck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Гладке поле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FlowNet (проксі)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Резервний Farneback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GeoNet (проксі)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Резервний Farneback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dirty="0"/>
              <a:t>Порівняння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оцінювання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(табл.4.5)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RMSE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PSNR (дБ)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IoU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Dice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MiDaS (ref)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DPT_Large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26,128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GeoNet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43,727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95,356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124,586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/>
              <a:t>Аналіз </a:t>
            </a:r>
            <a:r>
              <a:rPr dirty="0" err="1"/>
              <a:t>отриманих</a:t>
            </a:r>
            <a:r>
              <a:rPr dirty="0"/>
              <a:t> </a:t>
            </a:r>
            <a:r>
              <a:rPr dirty="0" err="1"/>
              <a:t>результатів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Найкраща </a:t>
            </a:r>
            <a:r>
              <a:rPr dirty="0" err="1"/>
              <a:t>точність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: Bagging (RMSE=0,713, PSNR=51,065 </a:t>
            </a:r>
            <a:r>
              <a:rPr dirty="0" err="1"/>
              <a:t>дБ</a:t>
            </a:r>
            <a:r>
              <a:rPr dirty="0"/>
              <a:t>, </a:t>
            </a:r>
            <a:r>
              <a:rPr dirty="0" err="1"/>
              <a:t>IoU</a:t>
            </a:r>
            <a:r>
              <a:rPr dirty="0"/>
              <a:t>=0,996)</a:t>
            </a:r>
          </a:p>
          <a:p>
            <a:r>
              <a:rPr dirty="0" err="1"/>
              <a:t>GeoNet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DPT_Large</a:t>
            </a:r>
            <a:r>
              <a:rPr dirty="0"/>
              <a:t> </a:t>
            </a:r>
            <a:r>
              <a:rPr dirty="0" err="1"/>
              <a:t>також</a:t>
            </a:r>
            <a:r>
              <a:rPr dirty="0"/>
              <a:t> </a:t>
            </a:r>
            <a:r>
              <a:rPr dirty="0" err="1"/>
              <a:t>високі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Bagging </a:t>
            </a:r>
            <a:r>
              <a:rPr dirty="0" err="1"/>
              <a:t>перевершує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рахунок</a:t>
            </a:r>
            <a:r>
              <a:rPr dirty="0"/>
              <a:t> </a:t>
            </a:r>
            <a:r>
              <a:rPr dirty="0" err="1"/>
              <a:t>усереднення</a:t>
            </a:r>
            <a:endParaRPr dirty="0"/>
          </a:p>
          <a:p>
            <a:r>
              <a:rPr dirty="0"/>
              <a:t>Щільні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оптичного</a:t>
            </a:r>
            <a:r>
              <a:rPr dirty="0"/>
              <a:t> </a:t>
            </a:r>
            <a:r>
              <a:rPr dirty="0" err="1"/>
              <a:t>потоку</a:t>
            </a:r>
            <a:r>
              <a:rPr dirty="0"/>
              <a:t> (</a:t>
            </a:r>
            <a:r>
              <a:rPr dirty="0" err="1"/>
              <a:t>Farneback</a:t>
            </a:r>
            <a:r>
              <a:rPr dirty="0"/>
              <a:t>, </a:t>
            </a:r>
            <a:r>
              <a:rPr dirty="0" err="1"/>
              <a:t>FlowNet</a:t>
            </a:r>
            <a:r>
              <a:rPr dirty="0"/>
              <a:t>) </a:t>
            </a:r>
            <a:r>
              <a:rPr dirty="0" err="1"/>
              <a:t>дають</a:t>
            </a:r>
            <a:r>
              <a:rPr dirty="0"/>
              <a:t> </a:t>
            </a:r>
            <a:r>
              <a:rPr dirty="0" err="1"/>
              <a:t>узгоджені</a:t>
            </a:r>
            <a:r>
              <a:rPr dirty="0"/>
              <a:t> </a:t>
            </a:r>
            <a:r>
              <a:rPr dirty="0" err="1"/>
              <a:t>оцінки</a:t>
            </a:r>
            <a:r>
              <a:rPr dirty="0"/>
              <a:t> </a:t>
            </a:r>
            <a:r>
              <a:rPr dirty="0" err="1"/>
              <a:t>швидкості</a:t>
            </a:r>
            <a:endParaRPr dirty="0"/>
          </a:p>
          <a:p>
            <a:r>
              <a:rPr dirty="0"/>
              <a:t>Lucas-Kanade </a:t>
            </a:r>
            <a:r>
              <a:rPr dirty="0" err="1"/>
              <a:t>придатний</a:t>
            </a:r>
            <a:r>
              <a:rPr dirty="0"/>
              <a:t>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супроводу</a:t>
            </a:r>
            <a:r>
              <a:rPr dirty="0"/>
              <a:t> </a:t>
            </a:r>
            <a:r>
              <a:rPr dirty="0" err="1"/>
              <a:t>характерних</a:t>
            </a:r>
            <a:r>
              <a:rPr dirty="0"/>
              <a:t> </a:t>
            </a:r>
            <a:r>
              <a:rPr dirty="0" err="1"/>
              <a:t>точок</a:t>
            </a:r>
            <a:endParaRPr dirty="0"/>
          </a:p>
          <a:p>
            <a:r>
              <a:rPr dirty="0" err="1"/>
              <a:t>Комбінація</a:t>
            </a:r>
            <a:r>
              <a:rPr dirty="0"/>
              <a:t> DETR + </a:t>
            </a:r>
            <a:r>
              <a:rPr dirty="0" err="1"/>
              <a:t>Farneback</a:t>
            </a:r>
            <a:r>
              <a:rPr dirty="0"/>
              <a:t> + Bagging </a:t>
            </a:r>
            <a:r>
              <a:rPr dirty="0" err="1"/>
              <a:t>рекомендується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</a:t>
            </a:r>
            <a:r>
              <a:rPr dirty="0" err="1"/>
              <a:t>часу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Висновки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1. Розроблено </a:t>
            </a:r>
            <a:r>
              <a:rPr dirty="0" err="1"/>
              <a:t>моделі</a:t>
            </a:r>
            <a:r>
              <a:rPr dirty="0"/>
              <a:t>, </a:t>
            </a:r>
            <a:r>
              <a:rPr dirty="0" err="1"/>
              <a:t>методи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інформаційну</a:t>
            </a:r>
            <a:r>
              <a:rPr dirty="0"/>
              <a:t> </a:t>
            </a:r>
            <a:r>
              <a:rPr dirty="0" err="1"/>
              <a:t>технологію</a:t>
            </a:r>
            <a:r>
              <a:rPr dirty="0"/>
              <a:t> ДІПДО,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поєднує</a:t>
            </a:r>
            <a:r>
              <a:rPr dirty="0"/>
              <a:t> DETR, </a:t>
            </a:r>
            <a:r>
              <a:rPr dirty="0" err="1"/>
              <a:t>оптичний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, </a:t>
            </a:r>
            <a:r>
              <a:rPr dirty="0" err="1"/>
              <a:t>оцінку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ансамблі</a:t>
            </a:r>
            <a:endParaRPr dirty="0"/>
          </a:p>
          <a:p>
            <a:r>
              <a:rPr dirty="0"/>
              <a:t>2. </a:t>
            </a:r>
            <a:r>
              <a:rPr dirty="0" err="1"/>
              <a:t>Запропоновано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ДІПДО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основі</a:t>
            </a:r>
            <a:r>
              <a:rPr dirty="0"/>
              <a:t> </a:t>
            </a:r>
            <a:r>
              <a:rPr dirty="0" err="1"/>
              <a:t>DETR+оптичний</a:t>
            </a:r>
            <a:r>
              <a:rPr dirty="0"/>
              <a:t> </a:t>
            </a:r>
            <a:r>
              <a:rPr dirty="0" err="1"/>
              <a:t>потік</a:t>
            </a:r>
            <a:r>
              <a:rPr dirty="0"/>
              <a:t> – </a:t>
            </a:r>
            <a:r>
              <a:rPr dirty="0" err="1"/>
              <a:t>одночасне</a:t>
            </a:r>
            <a:r>
              <a:rPr dirty="0"/>
              <a:t> </a:t>
            </a:r>
            <a:r>
              <a:rPr dirty="0" err="1"/>
              <a:t>виявлення</a:t>
            </a:r>
            <a:r>
              <a:rPr dirty="0"/>
              <a:t>, </a:t>
            </a:r>
            <a:r>
              <a:rPr dirty="0" err="1"/>
              <a:t>відстеження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оцінка</a:t>
            </a:r>
            <a:r>
              <a:rPr dirty="0"/>
              <a:t> </a:t>
            </a:r>
            <a:r>
              <a:rPr dirty="0" err="1"/>
              <a:t>параметрів</a:t>
            </a:r>
            <a:r>
              <a:rPr dirty="0"/>
              <a:t> </a:t>
            </a:r>
            <a:r>
              <a:rPr dirty="0" err="1"/>
              <a:t>руху</a:t>
            </a:r>
            <a:endParaRPr dirty="0"/>
          </a:p>
          <a:p>
            <a:r>
              <a:rPr dirty="0"/>
              <a:t>3. Удосконалено </a:t>
            </a:r>
            <a:r>
              <a:rPr dirty="0" err="1"/>
              <a:t>оцінку</a:t>
            </a:r>
            <a:r>
              <a:rPr dirty="0"/>
              <a:t> </a:t>
            </a:r>
            <a:r>
              <a:rPr dirty="0" err="1"/>
              <a:t>глибини</a:t>
            </a:r>
            <a:r>
              <a:rPr dirty="0"/>
              <a:t> </a:t>
            </a:r>
            <a:r>
              <a:rPr dirty="0" err="1"/>
              <a:t>шляхом</a:t>
            </a:r>
            <a:r>
              <a:rPr dirty="0"/>
              <a:t> </a:t>
            </a:r>
            <a:r>
              <a:rPr dirty="0" err="1"/>
              <a:t>адаптивного</a:t>
            </a:r>
            <a:r>
              <a:rPr dirty="0"/>
              <a:t> </a:t>
            </a:r>
            <a:r>
              <a:rPr dirty="0" err="1"/>
              <a:t>комбінування</a:t>
            </a:r>
            <a:r>
              <a:rPr dirty="0"/>
              <a:t> </a:t>
            </a:r>
            <a:r>
              <a:rPr dirty="0" err="1"/>
              <a:t>MiDaS</a:t>
            </a:r>
            <a:r>
              <a:rPr dirty="0"/>
              <a:t>, DPT, </a:t>
            </a:r>
            <a:r>
              <a:rPr dirty="0" err="1"/>
              <a:t>GeoNet</a:t>
            </a:r>
            <a:r>
              <a:rPr dirty="0"/>
              <a:t> з Bagging </a:t>
            </a:r>
            <a:r>
              <a:rPr dirty="0" err="1"/>
              <a:t>та</a:t>
            </a:r>
            <a:r>
              <a:rPr dirty="0"/>
              <a:t> Boosting</a:t>
            </a:r>
          </a:p>
          <a:p>
            <a:r>
              <a:rPr dirty="0"/>
              <a:t>4. </a:t>
            </a:r>
            <a:r>
              <a:rPr dirty="0" err="1"/>
              <a:t>Експериментально</a:t>
            </a:r>
            <a:r>
              <a:rPr dirty="0"/>
              <a:t> </a:t>
            </a:r>
            <a:r>
              <a:rPr dirty="0" err="1"/>
              <a:t>підтверджено</a:t>
            </a:r>
            <a:r>
              <a:rPr dirty="0"/>
              <a:t> </a:t>
            </a:r>
            <a:r>
              <a:rPr dirty="0" err="1"/>
              <a:t>перевагу</a:t>
            </a:r>
            <a:r>
              <a:rPr dirty="0"/>
              <a:t> Bagging (RMSE=0,713, </a:t>
            </a:r>
            <a:r>
              <a:rPr dirty="0" err="1"/>
              <a:t>IoU</a:t>
            </a:r>
            <a:r>
              <a:rPr dirty="0"/>
              <a:t>=0,996)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окремими</a:t>
            </a:r>
            <a:r>
              <a:rPr dirty="0"/>
              <a:t> </a:t>
            </a:r>
            <a:r>
              <a:rPr dirty="0" err="1"/>
              <a:t>моделями</a:t>
            </a:r>
            <a:endParaRPr dirty="0"/>
          </a:p>
          <a:p>
            <a:r>
              <a:rPr dirty="0"/>
              <a:t>5. Система </a:t>
            </a:r>
            <a:r>
              <a:rPr dirty="0" err="1"/>
              <a:t>працює</a:t>
            </a:r>
            <a:r>
              <a:rPr dirty="0"/>
              <a:t> в </a:t>
            </a:r>
            <a:r>
              <a:rPr dirty="0" err="1"/>
              <a:t>реальному</a:t>
            </a:r>
            <a:r>
              <a:rPr dirty="0"/>
              <a:t> </a:t>
            </a:r>
            <a:r>
              <a:rPr dirty="0" err="1"/>
              <a:t>часі</a:t>
            </a:r>
            <a:r>
              <a:rPr dirty="0"/>
              <a:t>, </a:t>
            </a:r>
            <a:r>
              <a:rPr dirty="0" err="1"/>
              <a:t>стійка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шумів</a:t>
            </a:r>
            <a:r>
              <a:rPr dirty="0"/>
              <a:t>, </a:t>
            </a:r>
            <a:r>
              <a:rPr dirty="0" err="1"/>
              <a:t>оклюзій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зміни</a:t>
            </a:r>
            <a:r>
              <a:rPr dirty="0"/>
              <a:t> </a:t>
            </a:r>
            <a:r>
              <a:rPr dirty="0" err="1"/>
              <a:t>освітлення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Публікації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впровадження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 err="1"/>
              <a:t>Основні</a:t>
            </a:r>
            <a:r>
              <a:rPr dirty="0"/>
              <a:t> </a:t>
            </a:r>
            <a:r>
              <a:rPr dirty="0" err="1"/>
              <a:t>публікації</a:t>
            </a:r>
            <a:r>
              <a:rPr dirty="0"/>
              <a:t>: 7 </a:t>
            </a:r>
            <a:r>
              <a:rPr dirty="0" err="1"/>
              <a:t>фахових</a:t>
            </a:r>
            <a:r>
              <a:rPr dirty="0"/>
              <a:t> </a:t>
            </a:r>
            <a:r>
              <a:rPr dirty="0" err="1"/>
              <a:t>статей</a:t>
            </a:r>
            <a:r>
              <a:rPr dirty="0"/>
              <a:t> (</a:t>
            </a:r>
            <a:r>
              <a:rPr dirty="0" err="1"/>
              <a:t>категорія</a:t>
            </a:r>
            <a:r>
              <a:rPr dirty="0"/>
              <a:t> Б), </a:t>
            </a:r>
            <a:r>
              <a:rPr lang="uk-UA" dirty="0"/>
              <a:t>8</a:t>
            </a:r>
            <a:r>
              <a:rPr dirty="0"/>
              <a:t> </a:t>
            </a:r>
            <a:r>
              <a:rPr dirty="0" err="1"/>
              <a:t>тез</a:t>
            </a:r>
            <a:r>
              <a:rPr dirty="0"/>
              <a:t> </a:t>
            </a:r>
            <a:r>
              <a:rPr dirty="0" err="1"/>
              <a:t>конференцій</a:t>
            </a:r>
            <a:endParaRPr dirty="0"/>
          </a:p>
          <a:p>
            <a:r>
              <a:rPr dirty="0" err="1"/>
              <a:t>Впровадження</a:t>
            </a:r>
            <a:r>
              <a:rPr dirty="0"/>
              <a:t> у </a:t>
            </a:r>
            <a:r>
              <a:rPr dirty="0" err="1"/>
              <a:t>навчальний</a:t>
            </a:r>
            <a:r>
              <a:rPr dirty="0"/>
              <a:t> </a:t>
            </a:r>
            <a:r>
              <a:rPr dirty="0" err="1"/>
              <a:t>процес</a:t>
            </a:r>
            <a:r>
              <a:rPr dirty="0"/>
              <a:t> НТУ «ХПІ» (</a:t>
            </a:r>
            <a:r>
              <a:rPr dirty="0" err="1"/>
              <a:t>дисципліни</a:t>
            </a:r>
            <a:r>
              <a:rPr dirty="0"/>
              <a:t> «</a:t>
            </a:r>
            <a:r>
              <a:rPr dirty="0" err="1"/>
              <a:t>Інтелектуальні</a:t>
            </a:r>
            <a:r>
              <a:rPr dirty="0"/>
              <a:t> </a:t>
            </a:r>
            <a:r>
              <a:rPr dirty="0" err="1"/>
              <a:t>системи</a:t>
            </a:r>
            <a:r>
              <a:rPr dirty="0"/>
              <a:t>», «</a:t>
            </a:r>
            <a:r>
              <a:rPr dirty="0" err="1"/>
              <a:t>Інтелектуальний</a:t>
            </a:r>
            <a:r>
              <a:rPr dirty="0"/>
              <a:t> </a:t>
            </a:r>
            <a:r>
              <a:rPr dirty="0" err="1"/>
              <a:t>аналіз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», «</a:t>
            </a:r>
            <a:r>
              <a:rPr dirty="0" err="1"/>
              <a:t>Дослідження</a:t>
            </a:r>
            <a:r>
              <a:rPr dirty="0"/>
              <a:t> </a:t>
            </a:r>
            <a:r>
              <a:rPr dirty="0" err="1"/>
              <a:t>операцій</a:t>
            </a:r>
            <a:r>
              <a:rPr dirty="0"/>
              <a:t>»)</a:t>
            </a:r>
          </a:p>
          <a:p>
            <a:r>
              <a:rPr dirty="0" err="1"/>
              <a:t>Впровадження</a:t>
            </a:r>
            <a:r>
              <a:rPr dirty="0"/>
              <a:t> у ТОВ «</a:t>
            </a:r>
            <a:r>
              <a:rPr dirty="0" err="1"/>
              <a:t>Технічний</a:t>
            </a:r>
            <a:r>
              <a:rPr dirty="0"/>
              <a:t> </a:t>
            </a:r>
            <a:r>
              <a:rPr dirty="0" err="1"/>
              <a:t>університет</a:t>
            </a:r>
            <a:r>
              <a:rPr dirty="0"/>
              <a:t> «</a:t>
            </a:r>
            <a:r>
              <a:rPr dirty="0" err="1"/>
              <a:t>Метінвест</a:t>
            </a:r>
            <a:r>
              <a:rPr dirty="0"/>
              <a:t> Політехніка» (</a:t>
            </a:r>
            <a:r>
              <a:rPr dirty="0" err="1"/>
              <a:t>дисципліни</a:t>
            </a:r>
            <a:r>
              <a:rPr dirty="0"/>
              <a:t> з </a:t>
            </a:r>
            <a:r>
              <a:rPr dirty="0" err="1"/>
              <a:t>кібербезпеки</a:t>
            </a:r>
            <a:r>
              <a:rPr dirty="0"/>
              <a:t>, GUI, </a:t>
            </a:r>
            <a:r>
              <a:rPr dirty="0" err="1"/>
              <a:t>захисту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)</a:t>
            </a:r>
          </a:p>
          <a:p>
            <a:r>
              <a:rPr dirty="0" err="1"/>
              <a:t>Впровадження</a:t>
            </a:r>
            <a:r>
              <a:rPr dirty="0"/>
              <a:t> у </a:t>
            </a:r>
            <a:r>
              <a:rPr dirty="0" err="1"/>
              <a:t>Радіоастрономічному</a:t>
            </a:r>
            <a:r>
              <a:rPr dirty="0"/>
              <a:t> </a:t>
            </a:r>
            <a:r>
              <a:rPr dirty="0" err="1"/>
              <a:t>інституті</a:t>
            </a:r>
            <a:r>
              <a:rPr dirty="0"/>
              <a:t> НАН </a:t>
            </a:r>
            <a:r>
              <a:rPr dirty="0" err="1"/>
              <a:t>України</a:t>
            </a:r>
            <a:r>
              <a:rPr dirty="0"/>
              <a:t> (</a:t>
            </a:r>
            <a:r>
              <a:rPr dirty="0" err="1"/>
              <a:t>аналіз</a:t>
            </a:r>
            <a:r>
              <a:rPr dirty="0"/>
              <a:t> </a:t>
            </a:r>
            <a:r>
              <a:rPr dirty="0" err="1"/>
              <a:t>динамічних</a:t>
            </a:r>
            <a:r>
              <a:rPr dirty="0"/>
              <a:t> </a:t>
            </a:r>
            <a:r>
              <a:rPr dirty="0" err="1"/>
              <a:t>процесів</a:t>
            </a:r>
            <a:r>
              <a:rPr dirty="0"/>
              <a:t> у </a:t>
            </a:r>
            <a:r>
              <a:rPr dirty="0" err="1"/>
              <a:t>сонячній</a:t>
            </a:r>
            <a:r>
              <a:rPr dirty="0"/>
              <a:t> </a:t>
            </a:r>
            <a:r>
              <a:rPr dirty="0" err="1"/>
              <a:t>атмосфері</a:t>
            </a:r>
            <a:r>
              <a:rPr dirty="0"/>
              <a:t>, </a:t>
            </a:r>
            <a:r>
              <a:rPr dirty="0" err="1"/>
              <a:t>ідентифікація</a:t>
            </a:r>
            <a:r>
              <a:rPr dirty="0"/>
              <a:t> </a:t>
            </a:r>
            <a:r>
              <a:rPr dirty="0" err="1"/>
              <a:t>радіосплесків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2231</Words>
  <Application>Microsoft Office PowerPoint</Application>
  <PresentationFormat>Широкий екран</PresentationFormat>
  <Paragraphs>301</Paragraphs>
  <Slides>37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 Math</vt:lpstr>
      <vt:lpstr>Office Theme</vt:lpstr>
      <vt:lpstr>МОДЕЛІ, МЕТОДИ ТА ІНФОРМАЦІЙНА ТЕХНОЛОГІЯ ДИСТАНЦІЙНОЇ ІДЕНТИФІКАЦІЇ ПАРАМЕТРІВ ДИНАМІЧНИХ ОБ'ЄКТІВ</vt:lpstr>
      <vt:lpstr>Актуальність теми</vt:lpstr>
      <vt:lpstr>Мета, об’єкт, предмет та методи</vt:lpstr>
      <vt:lpstr>Завдання дослідження</vt:lpstr>
      <vt:lpstr>Об'єкт та предмет дослідження</vt:lpstr>
      <vt:lpstr>Наукова новизна отриманих результатів</vt:lpstr>
      <vt:lpstr>Практичне значення</vt:lpstr>
      <vt:lpstr>Апробація та публікації</vt:lpstr>
      <vt:lpstr>Розділ 1 – Аналіз задач та методів ДІПДО</vt:lpstr>
      <vt:lpstr>Класифікація параметрів динамічних об'єктів</vt:lpstr>
      <vt:lpstr>Еволюція класичних методів виявлення об'єктів (рис.1.1)</vt:lpstr>
      <vt:lpstr>Одноетапні CNN-детектори (рис.1.2)</vt:lpstr>
      <vt:lpstr>Двоетапні архітектури R-CNN (рис.1.3)</vt:lpstr>
      <vt:lpstr>Моделі динамічних об'єктів</vt:lpstr>
      <vt:lpstr>Методи обчислювального інтелекту</vt:lpstr>
      <vt:lpstr>Методи оптичного потоку</vt:lpstr>
      <vt:lpstr>Нейромережеві моделі аналізу руху</vt:lpstr>
      <vt:lpstr>Ансамблеві методи (Bagging, Boosting)</vt:lpstr>
      <vt:lpstr>Об'єднання методів (просторово-часова модель)</vt:lpstr>
      <vt:lpstr>Розділ 3 – Концепція моделей ДІПДО</vt:lpstr>
      <vt:lpstr>Аналітична модель (рис.3.1) – DETR + Optical Flow</vt:lpstr>
      <vt:lpstr>Модель DETR (Detection Transformer)</vt:lpstr>
      <vt:lpstr>Модель GeoNet (сумісна оцінка глибини та потоку)</vt:lpstr>
      <vt:lpstr>Визначення параметрів методами оптичного потоку</vt:lpstr>
      <vt:lpstr>Схема інтеграції оптичного потоку з трансформером (рис.3.5)</vt:lpstr>
      <vt:lpstr>Об'єднання моделей (рис.3.6) – інтегральна схема</vt:lpstr>
      <vt:lpstr>Структура інформаційної технології (рис.4.1-4.3)</vt:lpstr>
      <vt:lpstr>Програмна реалізація (рис.4.4-4.5)</vt:lpstr>
      <vt:lpstr>Ансамблеві модулі (рис.4.6)</vt:lpstr>
      <vt:lpstr>Виявлення об'єктів DETR (рис.4.7) – параметри</vt:lpstr>
      <vt:lpstr>Візуалізація ідентифікованих параметрів (рис.4.8)</vt:lpstr>
      <vt:lpstr>Приклади комбінацій методів</vt:lpstr>
      <vt:lpstr>Порівняння методів оптичного потоку (табл.4.4)</vt:lpstr>
      <vt:lpstr>Порівняння методів оцінювання глибини (табл.4.5)</vt:lpstr>
      <vt:lpstr>Аналіз отриманих результатів</vt:lpstr>
      <vt:lpstr>Висновки</vt:lpstr>
      <vt:lpstr>Публікації та впровадження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Кондратов Олексій Михайлович</cp:lastModifiedBy>
  <cp:revision>9</cp:revision>
  <dcterms:created xsi:type="dcterms:W3CDTF">2013-01-27T09:14:16Z</dcterms:created>
  <dcterms:modified xsi:type="dcterms:W3CDTF">2026-05-08T18:19:56Z</dcterms:modified>
  <cp:category/>
</cp:coreProperties>
</file>