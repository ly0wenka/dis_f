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96" r:id="rId5"/>
    <p:sldId id="295" r:id="rId6"/>
    <p:sldId id="259" r:id="rId7"/>
    <p:sldId id="260"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61" r:id="rId36"/>
    <p:sldId id="293" r:id="rId37"/>
    <p:sldId id="262" r:id="rId38"/>
    <p:sldId id="263" r:id="rId39"/>
    <p:sldId id="291" r:id="rId40"/>
    <p:sldId id="294" r:id="rId41"/>
    <p:sldId id="297" r:id="rId42"/>
    <p:sldId id="292"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Світли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Помірний стиль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87651" autoAdjust="0"/>
  </p:normalViewPr>
  <p:slideViewPr>
    <p:cSldViewPr snapToGrid="0" snapToObjects="1">
      <p:cViewPr>
        <p:scale>
          <a:sx n="89" d="100"/>
          <a:sy n="89" d="100"/>
        </p:scale>
        <p:origin x="1428" y="2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6CCD04-853B-46CB-B792-B02318C098C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2889217-C5F4-44C1-8321-3C6554AE4073}">
      <dgm:prSet/>
      <dgm:spPr/>
      <dgm:t>
        <a:bodyPr/>
        <a:lstStyle/>
        <a:p>
          <a:r>
            <a:rPr lang="en-US" dirty="0"/>
            <a:t>Підвищення </a:t>
          </a:r>
          <a:r>
            <a:rPr lang="en-US" dirty="0" err="1"/>
            <a:t>точності</a:t>
          </a:r>
          <a:r>
            <a:rPr lang="en-US" dirty="0"/>
            <a:t>, </a:t>
          </a:r>
          <a:r>
            <a:rPr lang="en-US" dirty="0" err="1"/>
            <a:t>надійності</a:t>
          </a:r>
          <a:r>
            <a:rPr lang="en-US" dirty="0"/>
            <a:t> </a:t>
          </a:r>
          <a:r>
            <a:rPr lang="en-US" dirty="0" err="1"/>
            <a:t>та</a:t>
          </a:r>
          <a:r>
            <a:rPr lang="en-US" dirty="0"/>
            <a:t> </a:t>
          </a:r>
          <a:r>
            <a:rPr lang="en-US" dirty="0" err="1"/>
            <a:t>адаптивності</a:t>
          </a:r>
          <a:r>
            <a:rPr lang="en-US" dirty="0"/>
            <a:t> </a:t>
          </a:r>
          <a:r>
            <a:rPr lang="en-US" dirty="0" err="1"/>
            <a:t>дистанційної</a:t>
          </a:r>
          <a:r>
            <a:rPr lang="en-US" dirty="0"/>
            <a:t> </a:t>
          </a:r>
          <a:r>
            <a:rPr lang="en-US" dirty="0" err="1"/>
            <a:t>ідентифікації</a:t>
          </a:r>
          <a:r>
            <a:rPr lang="en-US" dirty="0"/>
            <a:t> </a:t>
          </a:r>
          <a:r>
            <a:rPr lang="en-US" dirty="0" err="1"/>
            <a:t>параметрів</a:t>
          </a:r>
          <a:r>
            <a:rPr lang="en-US" dirty="0"/>
            <a:t> </a:t>
          </a:r>
          <a:r>
            <a:rPr lang="en-US" dirty="0" err="1"/>
            <a:t>динамічних</a:t>
          </a:r>
          <a:r>
            <a:rPr lang="en-US" dirty="0"/>
            <a:t> </a:t>
          </a:r>
          <a:r>
            <a:rPr lang="en-US" dirty="0" err="1"/>
            <a:t>об'єктів</a:t>
          </a:r>
          <a:r>
            <a:rPr lang="en-US" dirty="0"/>
            <a:t> (ДІПДО)</a:t>
          </a:r>
        </a:p>
      </dgm:t>
    </dgm:pt>
    <dgm:pt modelId="{8A3BDF2D-00A7-43A0-B1F5-538944A51A5F}" type="parTrans" cxnId="{24550F9B-BFDD-4095-A8BF-A933EF6D7633}">
      <dgm:prSet/>
      <dgm:spPr/>
      <dgm:t>
        <a:bodyPr/>
        <a:lstStyle/>
        <a:p>
          <a:endParaRPr lang="en-US"/>
        </a:p>
      </dgm:t>
    </dgm:pt>
    <dgm:pt modelId="{9C72CE90-BC12-4D62-9F7C-06EE13585D4E}" type="sibTrans" cxnId="{24550F9B-BFDD-4095-A8BF-A933EF6D7633}">
      <dgm:prSet/>
      <dgm:spPr/>
      <dgm:t>
        <a:bodyPr/>
        <a:lstStyle/>
        <a:p>
          <a:endParaRPr lang="en-US"/>
        </a:p>
      </dgm:t>
    </dgm:pt>
    <dgm:pt modelId="{947EEA1B-09DB-49A9-8BBA-3AEF71B595B2}">
      <dgm:prSet/>
      <dgm:spPr/>
      <dgm:t>
        <a:bodyPr/>
        <a:lstStyle/>
        <a:p>
          <a:r>
            <a:rPr lang="en-US"/>
            <a:t>Інтеграція трансформерних детекторів (DETR), методів оптичного потоку (Farneback, Lucas-Kanade, Horn-Schunck, FlowNet, GeoNet), оцінки глибини (MiDaS, DPT, GeoNet) та ансамблів (Bagging, Boosting)</a:t>
          </a:r>
        </a:p>
      </dgm:t>
    </dgm:pt>
    <dgm:pt modelId="{E7034946-4DAF-4641-A5EB-D89311D43124}" type="parTrans" cxnId="{CF52F26F-E29D-434B-8573-EB396BEB12FC}">
      <dgm:prSet/>
      <dgm:spPr/>
      <dgm:t>
        <a:bodyPr/>
        <a:lstStyle/>
        <a:p>
          <a:endParaRPr lang="en-US"/>
        </a:p>
      </dgm:t>
    </dgm:pt>
    <dgm:pt modelId="{37D08B57-6812-4726-8DD0-DA0B3267D4CF}" type="sibTrans" cxnId="{CF52F26F-E29D-434B-8573-EB396BEB12FC}">
      <dgm:prSet/>
      <dgm:spPr/>
      <dgm:t>
        <a:bodyPr/>
        <a:lstStyle/>
        <a:p>
          <a:endParaRPr lang="en-US"/>
        </a:p>
      </dgm:t>
    </dgm:pt>
    <dgm:pt modelId="{BED706D0-92FC-4F67-87BC-04E7C58B9D7A}">
      <dgm:prSet/>
      <dgm:spPr/>
      <dgm:t>
        <a:bodyPr/>
        <a:lstStyle/>
        <a:p>
          <a:r>
            <a:rPr lang="en-US"/>
            <a:t>Існуючі системи працюють в обмежених умовах (статична камера, фіксоване освітлення) або потребують значних обчислювальних ресурсів</a:t>
          </a:r>
        </a:p>
      </dgm:t>
    </dgm:pt>
    <dgm:pt modelId="{B7C706C1-D12E-405D-A987-5C35E6DE5BE8}" type="parTrans" cxnId="{C2F090F1-8E6F-44E4-9553-3DDB7EFF0E3F}">
      <dgm:prSet/>
      <dgm:spPr/>
      <dgm:t>
        <a:bodyPr/>
        <a:lstStyle/>
        <a:p>
          <a:endParaRPr lang="en-US"/>
        </a:p>
      </dgm:t>
    </dgm:pt>
    <dgm:pt modelId="{9DC17C5C-2F98-4632-A84F-B1AB7E350C6A}" type="sibTrans" cxnId="{C2F090F1-8E6F-44E4-9553-3DDB7EFF0E3F}">
      <dgm:prSet/>
      <dgm:spPr/>
      <dgm:t>
        <a:bodyPr/>
        <a:lstStyle/>
        <a:p>
          <a:endParaRPr lang="en-US"/>
        </a:p>
      </dgm:t>
    </dgm:pt>
    <dgm:pt modelId="{AF45289B-8869-4155-B43E-0B9482D6B25D}" type="pres">
      <dgm:prSet presAssocID="{0E6CCD04-853B-46CB-B792-B02318C098CA}" presName="vert0" presStyleCnt="0">
        <dgm:presLayoutVars>
          <dgm:dir/>
          <dgm:animOne val="branch"/>
          <dgm:animLvl val="lvl"/>
        </dgm:presLayoutVars>
      </dgm:prSet>
      <dgm:spPr/>
    </dgm:pt>
    <dgm:pt modelId="{F701EC39-82B4-4374-AEC3-FB4CC2082F7F}" type="pres">
      <dgm:prSet presAssocID="{02889217-C5F4-44C1-8321-3C6554AE4073}" presName="thickLine" presStyleLbl="alignNode1" presStyleIdx="0" presStyleCnt="3"/>
      <dgm:spPr/>
    </dgm:pt>
    <dgm:pt modelId="{2C2E33E2-A1EE-4C3A-921B-B419EF81BA0B}" type="pres">
      <dgm:prSet presAssocID="{02889217-C5F4-44C1-8321-3C6554AE4073}" presName="horz1" presStyleCnt="0"/>
      <dgm:spPr/>
    </dgm:pt>
    <dgm:pt modelId="{24B2A9F7-7780-4ECD-BA53-571FBE5C1C60}" type="pres">
      <dgm:prSet presAssocID="{02889217-C5F4-44C1-8321-3C6554AE4073}" presName="tx1" presStyleLbl="revTx" presStyleIdx="0" presStyleCnt="3"/>
      <dgm:spPr/>
    </dgm:pt>
    <dgm:pt modelId="{5B6F92CE-F54E-4080-94A0-9C004AD6A48B}" type="pres">
      <dgm:prSet presAssocID="{02889217-C5F4-44C1-8321-3C6554AE4073}" presName="vert1" presStyleCnt="0"/>
      <dgm:spPr/>
    </dgm:pt>
    <dgm:pt modelId="{273DB9DA-5210-495A-9114-01FD573BA43E}" type="pres">
      <dgm:prSet presAssocID="{947EEA1B-09DB-49A9-8BBA-3AEF71B595B2}" presName="thickLine" presStyleLbl="alignNode1" presStyleIdx="1" presStyleCnt="3"/>
      <dgm:spPr/>
    </dgm:pt>
    <dgm:pt modelId="{7EFB9ABB-198B-43B2-9411-6945CEB6FC37}" type="pres">
      <dgm:prSet presAssocID="{947EEA1B-09DB-49A9-8BBA-3AEF71B595B2}" presName="horz1" presStyleCnt="0"/>
      <dgm:spPr/>
    </dgm:pt>
    <dgm:pt modelId="{1C2891B6-7A59-4981-A918-48994BD8F287}" type="pres">
      <dgm:prSet presAssocID="{947EEA1B-09DB-49A9-8BBA-3AEF71B595B2}" presName="tx1" presStyleLbl="revTx" presStyleIdx="1" presStyleCnt="3"/>
      <dgm:spPr/>
    </dgm:pt>
    <dgm:pt modelId="{648CA99C-7297-41DB-A5E8-C3852972331F}" type="pres">
      <dgm:prSet presAssocID="{947EEA1B-09DB-49A9-8BBA-3AEF71B595B2}" presName="vert1" presStyleCnt="0"/>
      <dgm:spPr/>
    </dgm:pt>
    <dgm:pt modelId="{486F17D4-C955-4D52-96EA-217EED70D353}" type="pres">
      <dgm:prSet presAssocID="{BED706D0-92FC-4F67-87BC-04E7C58B9D7A}" presName="thickLine" presStyleLbl="alignNode1" presStyleIdx="2" presStyleCnt="3"/>
      <dgm:spPr/>
    </dgm:pt>
    <dgm:pt modelId="{65DCAC7B-6D82-47AA-A2C0-A8F47BC1EE00}" type="pres">
      <dgm:prSet presAssocID="{BED706D0-92FC-4F67-87BC-04E7C58B9D7A}" presName="horz1" presStyleCnt="0"/>
      <dgm:spPr/>
    </dgm:pt>
    <dgm:pt modelId="{A30D799D-F3B4-470F-9C57-15F5B15F05A4}" type="pres">
      <dgm:prSet presAssocID="{BED706D0-92FC-4F67-87BC-04E7C58B9D7A}" presName="tx1" presStyleLbl="revTx" presStyleIdx="2" presStyleCnt="3"/>
      <dgm:spPr/>
    </dgm:pt>
    <dgm:pt modelId="{38D52B43-E9DF-49A7-B7A9-08199F5D8F67}" type="pres">
      <dgm:prSet presAssocID="{BED706D0-92FC-4F67-87BC-04E7C58B9D7A}" presName="vert1" presStyleCnt="0"/>
      <dgm:spPr/>
    </dgm:pt>
  </dgm:ptLst>
  <dgm:cxnLst>
    <dgm:cxn modelId="{4BD5751F-4FCC-4F24-A52A-A9FEC8E0C6FD}" type="presOf" srcId="{947EEA1B-09DB-49A9-8BBA-3AEF71B595B2}" destId="{1C2891B6-7A59-4981-A918-48994BD8F287}" srcOrd="0" destOrd="0" presId="urn:microsoft.com/office/officeart/2008/layout/LinedList"/>
    <dgm:cxn modelId="{21C65B35-03DA-4A32-B1D8-2DDC15611311}" type="presOf" srcId="{02889217-C5F4-44C1-8321-3C6554AE4073}" destId="{24B2A9F7-7780-4ECD-BA53-571FBE5C1C60}" srcOrd="0" destOrd="0" presId="urn:microsoft.com/office/officeart/2008/layout/LinedList"/>
    <dgm:cxn modelId="{518BAB62-E28C-449B-A680-D0FBC8F2498D}" type="presOf" srcId="{0E6CCD04-853B-46CB-B792-B02318C098CA}" destId="{AF45289B-8869-4155-B43E-0B9482D6B25D}" srcOrd="0" destOrd="0" presId="urn:microsoft.com/office/officeart/2008/layout/LinedList"/>
    <dgm:cxn modelId="{CF52F26F-E29D-434B-8573-EB396BEB12FC}" srcId="{0E6CCD04-853B-46CB-B792-B02318C098CA}" destId="{947EEA1B-09DB-49A9-8BBA-3AEF71B595B2}" srcOrd="1" destOrd="0" parTransId="{E7034946-4DAF-4641-A5EB-D89311D43124}" sibTransId="{37D08B57-6812-4726-8DD0-DA0B3267D4CF}"/>
    <dgm:cxn modelId="{24550F9B-BFDD-4095-A8BF-A933EF6D7633}" srcId="{0E6CCD04-853B-46CB-B792-B02318C098CA}" destId="{02889217-C5F4-44C1-8321-3C6554AE4073}" srcOrd="0" destOrd="0" parTransId="{8A3BDF2D-00A7-43A0-B1F5-538944A51A5F}" sibTransId="{9C72CE90-BC12-4D62-9F7C-06EE13585D4E}"/>
    <dgm:cxn modelId="{C2F090F1-8E6F-44E4-9553-3DDB7EFF0E3F}" srcId="{0E6CCD04-853B-46CB-B792-B02318C098CA}" destId="{BED706D0-92FC-4F67-87BC-04E7C58B9D7A}" srcOrd="2" destOrd="0" parTransId="{B7C706C1-D12E-405D-A987-5C35E6DE5BE8}" sibTransId="{9DC17C5C-2F98-4632-A84F-B1AB7E350C6A}"/>
    <dgm:cxn modelId="{05268FF4-F951-4AA5-8C18-AA44849B303F}" type="presOf" srcId="{BED706D0-92FC-4F67-87BC-04E7C58B9D7A}" destId="{A30D799D-F3B4-470F-9C57-15F5B15F05A4}" srcOrd="0" destOrd="0" presId="urn:microsoft.com/office/officeart/2008/layout/LinedList"/>
    <dgm:cxn modelId="{0BEC0E13-BBE5-48B4-8301-34272DE415AA}" type="presParOf" srcId="{AF45289B-8869-4155-B43E-0B9482D6B25D}" destId="{F701EC39-82B4-4374-AEC3-FB4CC2082F7F}" srcOrd="0" destOrd="0" presId="urn:microsoft.com/office/officeart/2008/layout/LinedList"/>
    <dgm:cxn modelId="{AC5BAFCB-091B-42EE-9F05-FE8A4C08F0B7}" type="presParOf" srcId="{AF45289B-8869-4155-B43E-0B9482D6B25D}" destId="{2C2E33E2-A1EE-4C3A-921B-B419EF81BA0B}" srcOrd="1" destOrd="0" presId="urn:microsoft.com/office/officeart/2008/layout/LinedList"/>
    <dgm:cxn modelId="{D71183C7-43B4-472A-B37C-B24F41191572}" type="presParOf" srcId="{2C2E33E2-A1EE-4C3A-921B-B419EF81BA0B}" destId="{24B2A9F7-7780-4ECD-BA53-571FBE5C1C60}" srcOrd="0" destOrd="0" presId="urn:microsoft.com/office/officeart/2008/layout/LinedList"/>
    <dgm:cxn modelId="{35329A4B-DC5F-4456-A298-EDD73184EE09}" type="presParOf" srcId="{2C2E33E2-A1EE-4C3A-921B-B419EF81BA0B}" destId="{5B6F92CE-F54E-4080-94A0-9C004AD6A48B}" srcOrd="1" destOrd="0" presId="urn:microsoft.com/office/officeart/2008/layout/LinedList"/>
    <dgm:cxn modelId="{1D6CAD86-7281-4949-A33F-568673DC5F62}" type="presParOf" srcId="{AF45289B-8869-4155-B43E-0B9482D6B25D}" destId="{273DB9DA-5210-495A-9114-01FD573BA43E}" srcOrd="2" destOrd="0" presId="urn:microsoft.com/office/officeart/2008/layout/LinedList"/>
    <dgm:cxn modelId="{7E3BDED3-8746-4B1A-A67D-DD50D8A4A0CE}" type="presParOf" srcId="{AF45289B-8869-4155-B43E-0B9482D6B25D}" destId="{7EFB9ABB-198B-43B2-9411-6945CEB6FC37}" srcOrd="3" destOrd="0" presId="urn:microsoft.com/office/officeart/2008/layout/LinedList"/>
    <dgm:cxn modelId="{FC4AEC21-2E6A-4BF9-9F85-5B436EEF2A5B}" type="presParOf" srcId="{7EFB9ABB-198B-43B2-9411-6945CEB6FC37}" destId="{1C2891B6-7A59-4981-A918-48994BD8F287}" srcOrd="0" destOrd="0" presId="urn:microsoft.com/office/officeart/2008/layout/LinedList"/>
    <dgm:cxn modelId="{0F4C6A98-1582-402E-A87C-974E0DDEB130}" type="presParOf" srcId="{7EFB9ABB-198B-43B2-9411-6945CEB6FC37}" destId="{648CA99C-7297-41DB-A5E8-C3852972331F}" srcOrd="1" destOrd="0" presId="urn:microsoft.com/office/officeart/2008/layout/LinedList"/>
    <dgm:cxn modelId="{9AA61B1A-AD5F-4223-B6A6-10C866E422E5}" type="presParOf" srcId="{AF45289B-8869-4155-B43E-0B9482D6B25D}" destId="{486F17D4-C955-4D52-96EA-217EED70D353}" srcOrd="4" destOrd="0" presId="urn:microsoft.com/office/officeart/2008/layout/LinedList"/>
    <dgm:cxn modelId="{4CCC5E5B-22F0-4CCB-B63D-3284F9650EB5}" type="presParOf" srcId="{AF45289B-8869-4155-B43E-0B9482D6B25D}" destId="{65DCAC7B-6D82-47AA-A2C0-A8F47BC1EE00}" srcOrd="5" destOrd="0" presId="urn:microsoft.com/office/officeart/2008/layout/LinedList"/>
    <dgm:cxn modelId="{86FF83CF-3351-400B-A943-7A2A193F9625}" type="presParOf" srcId="{65DCAC7B-6D82-47AA-A2C0-A8F47BC1EE00}" destId="{A30D799D-F3B4-470F-9C57-15F5B15F05A4}" srcOrd="0" destOrd="0" presId="urn:microsoft.com/office/officeart/2008/layout/LinedList"/>
    <dgm:cxn modelId="{04868CE6-7277-485C-A216-C7049DD1801E}" type="presParOf" srcId="{65DCAC7B-6D82-47AA-A2C0-A8F47BC1EE00}" destId="{38D52B43-E9DF-49A7-B7A9-08199F5D8F6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B057AB2-6CE3-419C-BC55-A88998045CF2}">
      <dgm:prSet/>
      <dgm:spPr/>
      <dgm:t>
        <a:bodyPr/>
        <a:lstStyle/>
        <a:p>
          <a:r>
            <a:rPr lang="uk-UA" dirty="0"/>
            <a:t>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endParaRPr lang="en-US"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0637979E-BC32-4521-9EAC-CA3F4920EF68}">
      <dgm:prSet/>
      <dgm:spPr/>
      <dgm:t>
        <a:bodyPr/>
        <a:lstStyle/>
        <a:p>
          <a:r>
            <a:rPr lang="uk-UA"/>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endParaRPr lang="en-US"/>
        </a:p>
      </dgm:t>
    </dgm:pt>
    <dgm:pt modelId="{B5C0CFCC-9CD0-4A1B-8309-510CB4F3A11C}" type="parTrans" cxnId="{01C3AB2F-E2A3-437F-B4C9-8BA2AB8DF16F}">
      <dgm:prSet/>
      <dgm:spPr/>
      <dgm:t>
        <a:bodyPr/>
        <a:lstStyle/>
        <a:p>
          <a:endParaRPr lang="en-US"/>
        </a:p>
      </dgm:t>
    </dgm:pt>
    <dgm:pt modelId="{F4327B8E-BBF3-4218-8F9B-93CEE7D91A2D}" type="sibTrans" cxnId="{01C3AB2F-E2A3-437F-B4C9-8BA2AB8DF16F}">
      <dgm:prSet/>
      <dgm:spPr/>
      <dgm:t>
        <a:bodyPr/>
        <a:lstStyle/>
        <a:p>
          <a:endParaRPr lang="en-US"/>
        </a:p>
      </dgm:t>
    </dgm:pt>
    <dgm:pt modelId="{20016CA0-1435-4B5A-8370-010E9F53C501}">
      <dgm:prSet/>
      <dgm:spPr/>
      <dgm:t>
        <a:bodyPr/>
        <a:lstStyle/>
        <a:p>
          <a:r>
            <a:rPr lang="uk-UA"/>
            <a:t>розробити моделі та методи інтеграції трансформерного детектора об'єктів </a:t>
          </a:r>
          <a:r>
            <a:rPr lang="en-US"/>
            <a:t>DETR, </a:t>
          </a:r>
          <a:r>
            <a:rPr lang="uk-UA"/>
            <a:t>алгоритмів оптичного потоку (</a:t>
          </a:r>
          <a:r>
            <a:rPr lang="en-US"/>
            <a:t>Farneback, Lucas–Kanade, Horn–Schunck, FlowNet, GeoNet) </a:t>
          </a:r>
          <a:r>
            <a:rPr lang="uk-UA"/>
            <a:t>та нейромережевого оцінювання глибини (</a:t>
          </a:r>
          <a:r>
            <a:rPr lang="en-US"/>
            <a:t>MiDaS, DPT_Large, GeoNet), </a:t>
          </a:r>
          <a:r>
            <a:rPr lang="uk-UA"/>
            <a:t>включаючи метод адаптивного комбінування результатів з використанням ансамблевих підходів </a:t>
          </a:r>
          <a:r>
            <a:rPr lang="en-US"/>
            <a:t>Bagging </a:t>
          </a:r>
          <a:r>
            <a:rPr lang="uk-UA"/>
            <a:t>та </a:t>
          </a:r>
          <a:r>
            <a:rPr lang="en-US"/>
            <a:t>Boosting;</a:t>
          </a:r>
        </a:p>
      </dgm:t>
    </dgm:pt>
    <dgm:pt modelId="{D384EA4E-8EC5-495F-A0B9-4829B28EF55D}" type="parTrans" cxnId="{991F7DEB-0992-4070-877C-DAE1C6888416}">
      <dgm:prSet/>
      <dgm:spPr/>
      <dgm:t>
        <a:bodyPr/>
        <a:lstStyle/>
        <a:p>
          <a:endParaRPr lang="en-US"/>
        </a:p>
      </dgm:t>
    </dgm:pt>
    <dgm:pt modelId="{AB05C551-26EF-4718-BDB9-54D5D01F979E}" type="sibTrans" cxnId="{991F7DEB-0992-4070-877C-DAE1C6888416}">
      <dgm:prSet/>
      <dgm:spPr/>
      <dgm:t>
        <a:bodyPr/>
        <a:lstStyle/>
        <a:p>
          <a:endParaRPr lang="en-US"/>
        </a:p>
      </dgm:t>
    </dgm:pt>
    <dgm:pt modelId="{B763F8F3-B0E7-4023-9D0B-446BA149BF37}">
      <dgm:prSet/>
      <dgm:spPr/>
      <dgm:t>
        <a:bodyPr/>
        <a:lstStyle/>
        <a:p>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dirty="0"/>
        </a:p>
      </dgm:t>
    </dgm:pt>
    <dgm:pt modelId="{3B5A3B5D-EF18-4EDE-B965-4429954F5F32}" type="parTrans" cxnId="{8280B900-3777-472A-BB91-402F5C18B3C9}">
      <dgm:prSet/>
      <dgm:spPr/>
      <dgm:t>
        <a:bodyPr/>
        <a:lstStyle/>
        <a:p>
          <a:endParaRPr lang="en-US"/>
        </a:p>
      </dgm:t>
    </dgm:pt>
    <dgm:pt modelId="{BD238226-DAA9-4516-8F66-672AEE71038D}" type="sibTrans" cxnId="{8280B900-3777-472A-BB91-402F5C18B3C9}">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4">
        <dgm:presLayoutVars>
          <dgm:chMax val="0"/>
          <dgm:bulletEnabled val="1"/>
        </dgm:presLayoutVars>
      </dgm:prSet>
      <dgm:spPr/>
    </dgm:pt>
    <dgm:pt modelId="{2733B3F6-CA3D-4E69-BFFD-04CA70976ED7}" type="pres">
      <dgm:prSet presAssocID="{654B9D1C-B0C7-419C-9ABF-198A7621D9A8}" presName="spacer" presStyleCnt="0"/>
      <dgm:spPr/>
    </dgm:pt>
    <dgm:pt modelId="{A769D06D-850B-4760-B624-D7B52A2852B7}" type="pres">
      <dgm:prSet presAssocID="{0637979E-BC32-4521-9EAC-CA3F4920EF68}" presName="parentText" presStyleLbl="node1" presStyleIdx="1" presStyleCnt="4">
        <dgm:presLayoutVars>
          <dgm:chMax val="0"/>
          <dgm:bulletEnabled val="1"/>
        </dgm:presLayoutVars>
      </dgm:prSet>
      <dgm:spPr/>
    </dgm:pt>
    <dgm:pt modelId="{6C6C2DBD-91DA-477E-BC94-D96519865071}" type="pres">
      <dgm:prSet presAssocID="{F4327B8E-BBF3-4218-8F9B-93CEE7D91A2D}" presName="spacer" presStyleCnt="0"/>
      <dgm:spPr/>
    </dgm:pt>
    <dgm:pt modelId="{285050AC-9EA1-47EE-B3C6-34F3D1BCB553}" type="pres">
      <dgm:prSet presAssocID="{20016CA0-1435-4B5A-8370-010E9F53C501}" presName="parentText" presStyleLbl="node1" presStyleIdx="2" presStyleCnt="4">
        <dgm:presLayoutVars>
          <dgm:chMax val="0"/>
          <dgm:bulletEnabled val="1"/>
        </dgm:presLayoutVars>
      </dgm:prSet>
      <dgm:spPr/>
    </dgm:pt>
    <dgm:pt modelId="{E63AD461-5E2C-49D1-BFDD-786A40E55134}" type="pres">
      <dgm:prSet presAssocID="{AB05C551-26EF-4718-BDB9-54D5D01F979E}" presName="spacer" presStyleCnt="0"/>
      <dgm:spPr/>
    </dgm:pt>
    <dgm:pt modelId="{CDD23F7A-6CCE-4B7E-9ADE-3F0C31AEEE1B}" type="pres">
      <dgm:prSet presAssocID="{B763F8F3-B0E7-4023-9D0B-446BA149BF37}" presName="parentText" presStyleLbl="node1" presStyleIdx="3" presStyleCnt="4">
        <dgm:presLayoutVars>
          <dgm:chMax val="0"/>
          <dgm:bulletEnabled val="1"/>
        </dgm:presLayoutVars>
      </dgm:prSet>
      <dgm:spPr/>
    </dgm:pt>
  </dgm:ptLst>
  <dgm:cxnLst>
    <dgm:cxn modelId="{8280B900-3777-472A-BB91-402F5C18B3C9}" srcId="{9A16F5C8-381D-4F51-BF19-DA236A673BA5}" destId="{B763F8F3-B0E7-4023-9D0B-446BA149BF37}" srcOrd="3" destOrd="0" parTransId="{3B5A3B5D-EF18-4EDE-B965-4429954F5F32}" sibTransId="{BD238226-DAA9-4516-8F66-672AEE71038D}"/>
    <dgm:cxn modelId="{015D342D-E7C5-47F0-85B1-D6DE84E0DD27}" type="presOf" srcId="{9A16F5C8-381D-4F51-BF19-DA236A673BA5}" destId="{563909FB-3C88-45DA-A3B6-1FDFE4078232}" srcOrd="0" destOrd="0" presId="urn:microsoft.com/office/officeart/2005/8/layout/vList2"/>
    <dgm:cxn modelId="{01C3AB2F-E2A3-437F-B4C9-8BA2AB8DF16F}" srcId="{9A16F5C8-381D-4F51-BF19-DA236A673BA5}" destId="{0637979E-BC32-4521-9EAC-CA3F4920EF68}" srcOrd="1" destOrd="0" parTransId="{B5C0CFCC-9CD0-4A1B-8309-510CB4F3A11C}" sibTransId="{F4327B8E-BBF3-4218-8F9B-93CEE7D91A2D}"/>
    <dgm:cxn modelId="{9CC4F65E-52A3-436F-A37F-ACD0F58F0449}" type="presOf" srcId="{0637979E-BC32-4521-9EAC-CA3F4920EF68}" destId="{A769D06D-850B-4760-B624-D7B52A2852B7}" srcOrd="0" destOrd="0" presId="urn:microsoft.com/office/officeart/2005/8/layout/vList2"/>
    <dgm:cxn modelId="{DA481B50-88A0-414D-B25F-2462D84FF428}" type="presOf" srcId="{20016CA0-1435-4B5A-8370-010E9F53C501}" destId="{285050AC-9EA1-47EE-B3C6-34F3D1BCB553}" srcOrd="0" destOrd="0" presId="urn:microsoft.com/office/officeart/2005/8/layout/vList2"/>
    <dgm:cxn modelId="{BA930291-609E-4576-B005-A78BAC43D419}" type="presOf" srcId="{B763F8F3-B0E7-4023-9D0B-446BA149BF37}" destId="{CDD23F7A-6CCE-4B7E-9ADE-3F0C31AEEE1B}"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991F7DEB-0992-4070-877C-DAE1C6888416}" srcId="{9A16F5C8-381D-4F51-BF19-DA236A673BA5}" destId="{20016CA0-1435-4B5A-8370-010E9F53C501}" srcOrd="2" destOrd="0" parTransId="{D384EA4E-8EC5-495F-A0B9-4829B28EF55D}" sibTransId="{AB05C551-26EF-4718-BDB9-54D5D01F979E}"/>
    <dgm:cxn modelId="{EB48E570-9897-496F-9FFA-5552E0D2D1E7}" type="presParOf" srcId="{563909FB-3C88-45DA-A3B6-1FDFE4078232}" destId="{692E2D70-9B97-4307-9102-5C98A07DD5B7}" srcOrd="0" destOrd="0" presId="urn:microsoft.com/office/officeart/2005/8/layout/vList2"/>
    <dgm:cxn modelId="{EDBB68F2-02DE-45D6-A06D-EFB2271585B5}" type="presParOf" srcId="{563909FB-3C88-45DA-A3B6-1FDFE4078232}" destId="{2733B3F6-CA3D-4E69-BFFD-04CA70976ED7}" srcOrd="1" destOrd="0" presId="urn:microsoft.com/office/officeart/2005/8/layout/vList2"/>
    <dgm:cxn modelId="{E81E6B13-98D4-44DF-A947-FF74E3CDC9BA}" type="presParOf" srcId="{563909FB-3C88-45DA-A3B6-1FDFE4078232}" destId="{A769D06D-850B-4760-B624-D7B52A2852B7}" srcOrd="2" destOrd="0" presId="urn:microsoft.com/office/officeart/2005/8/layout/vList2"/>
    <dgm:cxn modelId="{E105F499-1DD3-4CD5-A607-B4217FE23D61}" type="presParOf" srcId="{563909FB-3C88-45DA-A3B6-1FDFE4078232}" destId="{6C6C2DBD-91DA-477E-BC94-D96519865071}" srcOrd="3" destOrd="0" presId="urn:microsoft.com/office/officeart/2005/8/layout/vList2"/>
    <dgm:cxn modelId="{7ABAA247-83BA-447E-8F27-3A308292357B}" type="presParOf" srcId="{563909FB-3C88-45DA-A3B6-1FDFE4078232}" destId="{285050AC-9EA1-47EE-B3C6-34F3D1BCB553}" srcOrd="4" destOrd="0" presId="urn:microsoft.com/office/officeart/2005/8/layout/vList2"/>
    <dgm:cxn modelId="{A332F687-27B0-4470-AA1E-3084D9A871AC}" type="presParOf" srcId="{563909FB-3C88-45DA-A3B6-1FDFE4078232}" destId="{E63AD461-5E2C-49D1-BFDD-786A40E55134}" srcOrd="5" destOrd="0" presId="urn:microsoft.com/office/officeart/2005/8/layout/vList2"/>
    <dgm:cxn modelId="{FE85DB10-CAAA-4774-B73F-839421EA01E4}" type="presParOf" srcId="{563909FB-3C88-45DA-A3B6-1FDFE4078232}" destId="{CDD23F7A-6CCE-4B7E-9ADE-3F0C31AEEE1B}"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EF8375-30C2-4691-A189-3BBB5D13CAE9}" type="doc">
      <dgm:prSet loTypeId="urn:microsoft.com/office/officeart/2008/layout/LinedList" loCatId="list" qsTypeId="urn:microsoft.com/office/officeart/2005/8/quickstyle/simple2" qsCatId="simple" csTypeId="urn:microsoft.com/office/officeart/2005/8/colors/colorful2" csCatId="colorful"/>
      <dgm:spPr/>
      <dgm:t>
        <a:bodyPr/>
        <a:lstStyle/>
        <a:p>
          <a:endParaRPr lang="en-US"/>
        </a:p>
      </dgm:t>
    </dgm:pt>
    <dgm:pt modelId="{D36DFC9C-42F3-48E7-8507-724F63CDE820}">
      <dgm:prSet/>
      <dgm:spPr/>
      <dgm:t>
        <a:bodyPr/>
        <a:lstStyle/>
        <a:p>
          <a:r>
            <a:rPr lang="en-US" dirty="0"/>
            <a:t>1. Аналіз </a:t>
          </a:r>
          <a:r>
            <a:rPr lang="en-US" dirty="0" err="1"/>
            <a:t>сучасних</a:t>
          </a:r>
          <a:r>
            <a:rPr lang="en-US" dirty="0"/>
            <a:t> </a:t>
          </a:r>
          <a:r>
            <a:rPr lang="en-US" dirty="0" err="1"/>
            <a:t>методів</a:t>
          </a:r>
          <a:r>
            <a:rPr lang="en-US" dirty="0"/>
            <a:t> ДІПДО, </a:t>
          </a:r>
          <a:r>
            <a:rPr lang="en-US" dirty="0" err="1"/>
            <a:t>визначення</a:t>
          </a:r>
          <a:r>
            <a:rPr lang="en-US" dirty="0"/>
            <a:t> </a:t>
          </a:r>
          <a:r>
            <a:rPr lang="en-US" dirty="0" err="1"/>
            <a:t>обмежень</a:t>
          </a:r>
          <a:endParaRPr lang="en-US" dirty="0"/>
        </a:p>
      </dgm:t>
    </dgm:pt>
    <dgm:pt modelId="{21174BBC-D2A9-4DDD-80F0-BB286EC5EB7D}" type="parTrans" cxnId="{1F171477-39EB-4846-A4DE-ABEBC4DE36A0}">
      <dgm:prSet/>
      <dgm:spPr/>
      <dgm:t>
        <a:bodyPr/>
        <a:lstStyle/>
        <a:p>
          <a:endParaRPr lang="en-US"/>
        </a:p>
      </dgm:t>
    </dgm:pt>
    <dgm:pt modelId="{9B691CFD-DC23-49DA-9805-0A9F620CAA80}" type="sibTrans" cxnId="{1F171477-39EB-4846-A4DE-ABEBC4DE36A0}">
      <dgm:prSet/>
      <dgm:spPr/>
      <dgm:t>
        <a:bodyPr/>
        <a:lstStyle/>
        <a:p>
          <a:endParaRPr lang="en-US"/>
        </a:p>
      </dgm:t>
    </dgm:pt>
    <dgm:pt modelId="{336C8E62-C777-4D6C-8EDF-E230538D56AD}">
      <dgm:prSet/>
      <dgm:spPr/>
      <dgm:t>
        <a:bodyPr/>
        <a:lstStyle/>
        <a:p>
          <a:r>
            <a:rPr lang="en-US" dirty="0"/>
            <a:t>2. </a:t>
          </a:r>
          <a:r>
            <a:rPr lang="en-US" dirty="0" err="1"/>
            <a:t>Класифікація</a:t>
          </a:r>
          <a:r>
            <a:rPr lang="en-US" dirty="0"/>
            <a:t> </a:t>
          </a:r>
          <a:r>
            <a:rPr lang="en-US" dirty="0" err="1"/>
            <a:t>параметрів</a:t>
          </a:r>
          <a:r>
            <a:rPr lang="en-US" dirty="0"/>
            <a:t> </a:t>
          </a:r>
          <a:r>
            <a:rPr lang="en-US" dirty="0" err="1"/>
            <a:t>динамічних</a:t>
          </a:r>
          <a:r>
            <a:rPr lang="en-US" dirty="0"/>
            <a:t> </a:t>
          </a:r>
          <a:r>
            <a:rPr lang="en-US" dirty="0" err="1"/>
            <a:t>об'єктів</a:t>
          </a:r>
          <a:r>
            <a:rPr lang="en-US" dirty="0"/>
            <a:t> </a:t>
          </a:r>
          <a:r>
            <a:rPr lang="en-US" dirty="0" err="1"/>
            <a:t>та</a:t>
          </a:r>
          <a:r>
            <a:rPr lang="en-US" dirty="0"/>
            <a:t> </a:t>
          </a:r>
          <a:r>
            <a:rPr lang="en-US" dirty="0" err="1"/>
            <a:t>методів</a:t>
          </a:r>
          <a:r>
            <a:rPr lang="en-US" dirty="0"/>
            <a:t> </a:t>
          </a:r>
          <a:r>
            <a:rPr lang="en-US" dirty="0" err="1"/>
            <a:t>їх</a:t>
          </a:r>
          <a:r>
            <a:rPr lang="en-US" dirty="0"/>
            <a:t> </a:t>
          </a:r>
          <a:r>
            <a:rPr lang="en-US" dirty="0" err="1"/>
            <a:t>визначення</a:t>
          </a:r>
          <a:endParaRPr lang="en-US" dirty="0"/>
        </a:p>
      </dgm:t>
    </dgm:pt>
    <dgm:pt modelId="{8EA7DB84-2D91-4C3F-8957-C5E7A6BF12B8}" type="parTrans" cxnId="{11ABD46F-6AC6-4CAD-BA17-D961AB0A6549}">
      <dgm:prSet/>
      <dgm:spPr/>
      <dgm:t>
        <a:bodyPr/>
        <a:lstStyle/>
        <a:p>
          <a:endParaRPr lang="en-US"/>
        </a:p>
      </dgm:t>
    </dgm:pt>
    <dgm:pt modelId="{15AAD6BC-0CF1-42F2-9065-B1B39C71B675}" type="sibTrans" cxnId="{11ABD46F-6AC6-4CAD-BA17-D961AB0A6549}">
      <dgm:prSet/>
      <dgm:spPr/>
      <dgm:t>
        <a:bodyPr/>
        <a:lstStyle/>
        <a:p>
          <a:endParaRPr lang="en-US"/>
        </a:p>
      </dgm:t>
    </dgm:pt>
    <dgm:pt modelId="{C1B47345-CFBE-4ECA-8AD7-EA4A976FD376}">
      <dgm:prSet/>
      <dgm:spPr/>
      <dgm:t>
        <a:bodyPr/>
        <a:lstStyle/>
        <a:p>
          <a:r>
            <a:rPr lang="en-US" dirty="0"/>
            <a:t>3. Розробка </a:t>
          </a:r>
          <a:r>
            <a:rPr lang="en-US" dirty="0" err="1"/>
            <a:t>моделей</a:t>
          </a:r>
          <a:r>
            <a:rPr lang="en-US" dirty="0"/>
            <a:t> </a:t>
          </a:r>
          <a:r>
            <a:rPr lang="en-US" dirty="0" err="1"/>
            <a:t>інтеграції</a:t>
          </a:r>
          <a:r>
            <a:rPr lang="en-US" dirty="0"/>
            <a:t> DETR, </a:t>
          </a:r>
          <a:r>
            <a:rPr lang="en-US" dirty="0" err="1"/>
            <a:t>оптичного</a:t>
          </a:r>
          <a:r>
            <a:rPr lang="en-US" dirty="0"/>
            <a:t> </a:t>
          </a:r>
          <a:r>
            <a:rPr lang="en-US" dirty="0" err="1"/>
            <a:t>потоку</a:t>
          </a:r>
          <a:r>
            <a:rPr lang="en-US" dirty="0"/>
            <a:t> </a:t>
          </a:r>
          <a:r>
            <a:rPr lang="en-US" dirty="0" err="1"/>
            <a:t>та</a:t>
          </a:r>
          <a:r>
            <a:rPr lang="en-US" dirty="0"/>
            <a:t> </a:t>
          </a:r>
          <a:r>
            <a:rPr lang="en-US" dirty="0" err="1"/>
            <a:t>нейромережевої</a:t>
          </a:r>
          <a:r>
            <a:rPr lang="en-US" dirty="0"/>
            <a:t> </a:t>
          </a:r>
          <a:r>
            <a:rPr lang="en-US" dirty="0" err="1"/>
            <a:t>оцінки</a:t>
          </a:r>
          <a:r>
            <a:rPr lang="en-US" dirty="0"/>
            <a:t> </a:t>
          </a:r>
          <a:r>
            <a:rPr lang="en-US" dirty="0" err="1"/>
            <a:t>глибини</a:t>
          </a:r>
          <a:endParaRPr lang="en-US" dirty="0"/>
        </a:p>
      </dgm:t>
    </dgm:pt>
    <dgm:pt modelId="{0024F191-8D47-4A58-9691-43D828D91A05}" type="parTrans" cxnId="{FBF598F9-AE66-4A58-92E7-BD6F089E154C}">
      <dgm:prSet/>
      <dgm:spPr/>
      <dgm:t>
        <a:bodyPr/>
        <a:lstStyle/>
        <a:p>
          <a:endParaRPr lang="en-US"/>
        </a:p>
      </dgm:t>
    </dgm:pt>
    <dgm:pt modelId="{9BD04954-C601-42D1-9606-803D6874E34E}" type="sibTrans" cxnId="{FBF598F9-AE66-4A58-92E7-BD6F089E154C}">
      <dgm:prSet/>
      <dgm:spPr/>
      <dgm:t>
        <a:bodyPr/>
        <a:lstStyle/>
        <a:p>
          <a:endParaRPr lang="en-US"/>
        </a:p>
      </dgm:t>
    </dgm:pt>
    <dgm:pt modelId="{88492EEB-AD0A-4F52-9D77-00222C8EE01F}">
      <dgm:prSet/>
      <dgm:spPr/>
      <dgm:t>
        <a:bodyPr/>
        <a:lstStyle/>
        <a:p>
          <a:r>
            <a:rPr lang="en-US" dirty="0"/>
            <a:t>4. </a:t>
          </a:r>
          <a:r>
            <a:rPr lang="en-US" dirty="0" err="1"/>
            <a:t>Обґрунтування</a:t>
          </a:r>
          <a:r>
            <a:rPr lang="en-US" dirty="0"/>
            <a:t> </a:t>
          </a:r>
          <a:r>
            <a:rPr lang="en-US" dirty="0" err="1"/>
            <a:t>використання</a:t>
          </a:r>
          <a:r>
            <a:rPr lang="en-US" dirty="0"/>
            <a:t> Bagging </a:t>
          </a:r>
          <a:r>
            <a:rPr lang="en-US" dirty="0" err="1"/>
            <a:t>та</a:t>
          </a:r>
          <a:r>
            <a:rPr lang="en-US" dirty="0"/>
            <a:t> Boosting </a:t>
          </a:r>
          <a:r>
            <a:rPr lang="en-US" dirty="0" err="1"/>
            <a:t>для</a:t>
          </a:r>
          <a:r>
            <a:rPr lang="en-US" dirty="0"/>
            <a:t> </a:t>
          </a:r>
          <a:r>
            <a:rPr lang="en-US" dirty="0" err="1"/>
            <a:t>підвищення</a:t>
          </a:r>
          <a:r>
            <a:rPr lang="en-US" dirty="0"/>
            <a:t> </a:t>
          </a:r>
          <a:r>
            <a:rPr lang="en-US" dirty="0" err="1"/>
            <a:t>стійкості</a:t>
          </a:r>
          <a:endParaRPr lang="en-US" dirty="0"/>
        </a:p>
      </dgm:t>
    </dgm:pt>
    <dgm:pt modelId="{3376F378-9E90-43AD-9538-FBA81AA055CF}" type="parTrans" cxnId="{409A96C1-9CF2-48C9-8641-3EE00B264B11}">
      <dgm:prSet/>
      <dgm:spPr/>
      <dgm:t>
        <a:bodyPr/>
        <a:lstStyle/>
        <a:p>
          <a:endParaRPr lang="en-US"/>
        </a:p>
      </dgm:t>
    </dgm:pt>
    <dgm:pt modelId="{F7E307FA-1493-45A4-BC9D-7E46ACD4E538}" type="sibTrans" cxnId="{409A96C1-9CF2-48C9-8641-3EE00B264B11}">
      <dgm:prSet/>
      <dgm:spPr/>
      <dgm:t>
        <a:bodyPr/>
        <a:lstStyle/>
        <a:p>
          <a:endParaRPr lang="en-US"/>
        </a:p>
      </dgm:t>
    </dgm:pt>
    <dgm:pt modelId="{DE76C159-B459-4466-B28F-EA2F048C4720}">
      <dgm:prSet/>
      <dgm:spPr/>
      <dgm:t>
        <a:bodyPr/>
        <a:lstStyle/>
        <a:p>
          <a:r>
            <a:rPr lang="en-US"/>
            <a:t>5. Програмна реалізація інформаційної технології</a:t>
          </a:r>
        </a:p>
      </dgm:t>
    </dgm:pt>
    <dgm:pt modelId="{C7F2888E-7F61-4CD5-8E56-B727D547B56F}" type="parTrans" cxnId="{6BCDBABD-3FF8-4256-8AD0-01F449980A00}">
      <dgm:prSet/>
      <dgm:spPr/>
      <dgm:t>
        <a:bodyPr/>
        <a:lstStyle/>
        <a:p>
          <a:endParaRPr lang="en-US"/>
        </a:p>
      </dgm:t>
    </dgm:pt>
    <dgm:pt modelId="{2DA8CB2D-7A04-4B6A-9F28-8C65EBA5E36E}" type="sibTrans" cxnId="{6BCDBABD-3FF8-4256-8AD0-01F449980A00}">
      <dgm:prSet/>
      <dgm:spPr/>
      <dgm:t>
        <a:bodyPr/>
        <a:lstStyle/>
        <a:p>
          <a:endParaRPr lang="en-US"/>
        </a:p>
      </dgm:t>
    </dgm:pt>
    <dgm:pt modelId="{7C502E7B-83AF-4B9E-B6F7-342C4624235A}">
      <dgm:prSet/>
      <dgm:spPr/>
      <dgm:t>
        <a:bodyPr/>
        <a:lstStyle/>
        <a:p>
          <a:r>
            <a:rPr lang="en-US"/>
            <a:t>6. Експериментальне тестування 35 комбінацій методів</a:t>
          </a:r>
        </a:p>
      </dgm:t>
    </dgm:pt>
    <dgm:pt modelId="{286BD8B9-47EC-4558-9C5C-5E7266F4D7FA}" type="parTrans" cxnId="{A94D8273-2393-46C5-A94B-E641536A821C}">
      <dgm:prSet/>
      <dgm:spPr/>
      <dgm:t>
        <a:bodyPr/>
        <a:lstStyle/>
        <a:p>
          <a:endParaRPr lang="en-US"/>
        </a:p>
      </dgm:t>
    </dgm:pt>
    <dgm:pt modelId="{33612046-8D44-4658-94B3-F39CD8506CCD}" type="sibTrans" cxnId="{A94D8273-2393-46C5-A94B-E641536A821C}">
      <dgm:prSet/>
      <dgm:spPr/>
      <dgm:t>
        <a:bodyPr/>
        <a:lstStyle/>
        <a:p>
          <a:endParaRPr lang="en-US"/>
        </a:p>
      </dgm:t>
    </dgm:pt>
    <dgm:pt modelId="{A6452447-320F-401A-A1BE-2312160C7F59}" type="pres">
      <dgm:prSet presAssocID="{9DEF8375-30C2-4691-A189-3BBB5D13CAE9}" presName="vert0" presStyleCnt="0">
        <dgm:presLayoutVars>
          <dgm:dir/>
          <dgm:animOne val="branch"/>
          <dgm:animLvl val="lvl"/>
        </dgm:presLayoutVars>
      </dgm:prSet>
      <dgm:spPr/>
    </dgm:pt>
    <dgm:pt modelId="{493E919C-EE80-4805-AA37-72FF19EA6BC6}" type="pres">
      <dgm:prSet presAssocID="{D36DFC9C-42F3-48E7-8507-724F63CDE820}" presName="thickLine" presStyleLbl="alignNode1" presStyleIdx="0" presStyleCnt="6"/>
      <dgm:spPr/>
    </dgm:pt>
    <dgm:pt modelId="{FC9EA74D-DDDA-4CE1-8A65-E126C99DC731}" type="pres">
      <dgm:prSet presAssocID="{D36DFC9C-42F3-48E7-8507-724F63CDE820}" presName="horz1" presStyleCnt="0"/>
      <dgm:spPr/>
    </dgm:pt>
    <dgm:pt modelId="{4E39128A-D575-40DE-93AE-51E2EC60DAA2}" type="pres">
      <dgm:prSet presAssocID="{D36DFC9C-42F3-48E7-8507-724F63CDE820}" presName="tx1" presStyleLbl="revTx" presStyleIdx="0" presStyleCnt="6"/>
      <dgm:spPr/>
    </dgm:pt>
    <dgm:pt modelId="{A0FCDC15-C7FC-43D6-A330-7CB24FE52AC3}" type="pres">
      <dgm:prSet presAssocID="{D36DFC9C-42F3-48E7-8507-724F63CDE820}" presName="vert1" presStyleCnt="0"/>
      <dgm:spPr/>
    </dgm:pt>
    <dgm:pt modelId="{BC4B1178-B259-4408-85A4-A70AA5DFF311}" type="pres">
      <dgm:prSet presAssocID="{336C8E62-C777-4D6C-8EDF-E230538D56AD}" presName="thickLine" presStyleLbl="alignNode1" presStyleIdx="1" presStyleCnt="6"/>
      <dgm:spPr/>
    </dgm:pt>
    <dgm:pt modelId="{9DDBBF9E-45D8-4B1A-B70C-5B8FBA13E58B}" type="pres">
      <dgm:prSet presAssocID="{336C8E62-C777-4D6C-8EDF-E230538D56AD}" presName="horz1" presStyleCnt="0"/>
      <dgm:spPr/>
    </dgm:pt>
    <dgm:pt modelId="{61F963EA-ED30-4A1C-B2E7-04AFEFFE6972}" type="pres">
      <dgm:prSet presAssocID="{336C8E62-C777-4D6C-8EDF-E230538D56AD}" presName="tx1" presStyleLbl="revTx" presStyleIdx="1" presStyleCnt="6"/>
      <dgm:spPr/>
    </dgm:pt>
    <dgm:pt modelId="{D4D3C8CC-E4E5-4187-A12E-C25B1201F7B2}" type="pres">
      <dgm:prSet presAssocID="{336C8E62-C777-4D6C-8EDF-E230538D56AD}" presName="vert1" presStyleCnt="0"/>
      <dgm:spPr/>
    </dgm:pt>
    <dgm:pt modelId="{0B7D5C60-6409-4772-95D3-B94FBEA4F9FD}" type="pres">
      <dgm:prSet presAssocID="{C1B47345-CFBE-4ECA-8AD7-EA4A976FD376}" presName="thickLine" presStyleLbl="alignNode1" presStyleIdx="2" presStyleCnt="6"/>
      <dgm:spPr/>
    </dgm:pt>
    <dgm:pt modelId="{09225051-0C98-4BF0-8C77-5F093BB60415}" type="pres">
      <dgm:prSet presAssocID="{C1B47345-CFBE-4ECA-8AD7-EA4A976FD376}" presName="horz1" presStyleCnt="0"/>
      <dgm:spPr/>
    </dgm:pt>
    <dgm:pt modelId="{958E4794-B1C0-46A4-9F2C-FEEEE251F509}" type="pres">
      <dgm:prSet presAssocID="{C1B47345-CFBE-4ECA-8AD7-EA4A976FD376}" presName="tx1" presStyleLbl="revTx" presStyleIdx="2" presStyleCnt="6"/>
      <dgm:spPr/>
    </dgm:pt>
    <dgm:pt modelId="{68DFE60A-C447-470D-B02C-F55E38BDAD09}" type="pres">
      <dgm:prSet presAssocID="{C1B47345-CFBE-4ECA-8AD7-EA4A976FD376}" presName="vert1" presStyleCnt="0"/>
      <dgm:spPr/>
    </dgm:pt>
    <dgm:pt modelId="{B37F2F0B-33F3-407F-9F2E-59BCDD4D97C2}" type="pres">
      <dgm:prSet presAssocID="{88492EEB-AD0A-4F52-9D77-00222C8EE01F}" presName="thickLine" presStyleLbl="alignNode1" presStyleIdx="3" presStyleCnt="6"/>
      <dgm:spPr/>
    </dgm:pt>
    <dgm:pt modelId="{2A3187D0-22F2-452E-B5D3-9B751A03F8F0}" type="pres">
      <dgm:prSet presAssocID="{88492EEB-AD0A-4F52-9D77-00222C8EE01F}" presName="horz1" presStyleCnt="0"/>
      <dgm:spPr/>
    </dgm:pt>
    <dgm:pt modelId="{53E87432-9AB6-41EE-9363-D64135CF07C9}" type="pres">
      <dgm:prSet presAssocID="{88492EEB-AD0A-4F52-9D77-00222C8EE01F}" presName="tx1" presStyleLbl="revTx" presStyleIdx="3" presStyleCnt="6"/>
      <dgm:spPr/>
    </dgm:pt>
    <dgm:pt modelId="{FFFBB997-B20C-44C0-B061-58BD8C8A3832}" type="pres">
      <dgm:prSet presAssocID="{88492EEB-AD0A-4F52-9D77-00222C8EE01F}" presName="vert1" presStyleCnt="0"/>
      <dgm:spPr/>
    </dgm:pt>
    <dgm:pt modelId="{451ECAD4-C1B6-44FA-B8EB-C7C2A562A626}" type="pres">
      <dgm:prSet presAssocID="{DE76C159-B459-4466-B28F-EA2F048C4720}" presName="thickLine" presStyleLbl="alignNode1" presStyleIdx="4" presStyleCnt="6"/>
      <dgm:spPr/>
    </dgm:pt>
    <dgm:pt modelId="{5EDB3C07-2D63-45CA-B5D0-EA4E8A486004}" type="pres">
      <dgm:prSet presAssocID="{DE76C159-B459-4466-B28F-EA2F048C4720}" presName="horz1" presStyleCnt="0"/>
      <dgm:spPr/>
    </dgm:pt>
    <dgm:pt modelId="{23E1BF8C-FF3E-4CB6-8B63-05D2F38A8001}" type="pres">
      <dgm:prSet presAssocID="{DE76C159-B459-4466-B28F-EA2F048C4720}" presName="tx1" presStyleLbl="revTx" presStyleIdx="4" presStyleCnt="6"/>
      <dgm:spPr/>
    </dgm:pt>
    <dgm:pt modelId="{7F181EF3-4164-4CC7-AC85-7C99D6EE00F6}" type="pres">
      <dgm:prSet presAssocID="{DE76C159-B459-4466-B28F-EA2F048C4720}" presName="vert1" presStyleCnt="0"/>
      <dgm:spPr/>
    </dgm:pt>
    <dgm:pt modelId="{B0E9FA0D-9381-4855-892B-780191A54F91}" type="pres">
      <dgm:prSet presAssocID="{7C502E7B-83AF-4B9E-B6F7-342C4624235A}" presName="thickLine" presStyleLbl="alignNode1" presStyleIdx="5" presStyleCnt="6"/>
      <dgm:spPr/>
    </dgm:pt>
    <dgm:pt modelId="{30C64B0A-D087-4CEE-9CE3-27C8480244F1}" type="pres">
      <dgm:prSet presAssocID="{7C502E7B-83AF-4B9E-B6F7-342C4624235A}" presName="horz1" presStyleCnt="0"/>
      <dgm:spPr/>
    </dgm:pt>
    <dgm:pt modelId="{3F757373-078E-4459-8731-88AD60A54929}" type="pres">
      <dgm:prSet presAssocID="{7C502E7B-83AF-4B9E-B6F7-342C4624235A}" presName="tx1" presStyleLbl="revTx" presStyleIdx="5" presStyleCnt="6"/>
      <dgm:spPr/>
    </dgm:pt>
    <dgm:pt modelId="{82899C83-14B1-4AE6-8A75-312F02BA236B}" type="pres">
      <dgm:prSet presAssocID="{7C502E7B-83AF-4B9E-B6F7-342C4624235A}" presName="vert1" presStyleCnt="0"/>
      <dgm:spPr/>
    </dgm:pt>
  </dgm:ptLst>
  <dgm:cxnLst>
    <dgm:cxn modelId="{4527CE20-5DF1-4A7A-8CA6-BDF111EB85A6}" type="presOf" srcId="{D36DFC9C-42F3-48E7-8507-724F63CDE820}" destId="{4E39128A-D575-40DE-93AE-51E2EC60DAA2}" srcOrd="0" destOrd="0" presId="urn:microsoft.com/office/officeart/2008/layout/LinedList"/>
    <dgm:cxn modelId="{8CC86633-33F7-4E4C-83A9-AF564A1C58C6}" type="presOf" srcId="{DE76C159-B459-4466-B28F-EA2F048C4720}" destId="{23E1BF8C-FF3E-4CB6-8B63-05D2F38A8001}" srcOrd="0" destOrd="0" presId="urn:microsoft.com/office/officeart/2008/layout/LinedList"/>
    <dgm:cxn modelId="{1D9C8B6B-A6FE-41F2-9927-9B571D98B6ED}" type="presOf" srcId="{9DEF8375-30C2-4691-A189-3BBB5D13CAE9}" destId="{A6452447-320F-401A-A1BE-2312160C7F59}" srcOrd="0" destOrd="0" presId="urn:microsoft.com/office/officeart/2008/layout/LinedList"/>
    <dgm:cxn modelId="{11ABD46F-6AC6-4CAD-BA17-D961AB0A6549}" srcId="{9DEF8375-30C2-4691-A189-3BBB5D13CAE9}" destId="{336C8E62-C777-4D6C-8EDF-E230538D56AD}" srcOrd="1" destOrd="0" parTransId="{8EA7DB84-2D91-4C3F-8957-C5E7A6BF12B8}" sibTransId="{15AAD6BC-0CF1-42F2-9065-B1B39C71B675}"/>
    <dgm:cxn modelId="{A94D8273-2393-46C5-A94B-E641536A821C}" srcId="{9DEF8375-30C2-4691-A189-3BBB5D13CAE9}" destId="{7C502E7B-83AF-4B9E-B6F7-342C4624235A}" srcOrd="5" destOrd="0" parTransId="{286BD8B9-47EC-4558-9C5C-5E7266F4D7FA}" sibTransId="{33612046-8D44-4658-94B3-F39CD8506CCD}"/>
    <dgm:cxn modelId="{D74C6256-696E-47CD-876A-9B789FFC51E5}" type="presOf" srcId="{336C8E62-C777-4D6C-8EDF-E230538D56AD}" destId="{61F963EA-ED30-4A1C-B2E7-04AFEFFE6972}" srcOrd="0" destOrd="0" presId="urn:microsoft.com/office/officeart/2008/layout/LinedList"/>
    <dgm:cxn modelId="{1F171477-39EB-4846-A4DE-ABEBC4DE36A0}" srcId="{9DEF8375-30C2-4691-A189-3BBB5D13CAE9}" destId="{D36DFC9C-42F3-48E7-8507-724F63CDE820}" srcOrd="0" destOrd="0" parTransId="{21174BBC-D2A9-4DDD-80F0-BB286EC5EB7D}" sibTransId="{9B691CFD-DC23-49DA-9805-0A9F620CAA80}"/>
    <dgm:cxn modelId="{AAF57C85-2AA3-4ED1-98AE-908CAC0AA58D}" type="presOf" srcId="{7C502E7B-83AF-4B9E-B6F7-342C4624235A}" destId="{3F757373-078E-4459-8731-88AD60A54929}" srcOrd="0" destOrd="0" presId="urn:microsoft.com/office/officeart/2008/layout/LinedList"/>
    <dgm:cxn modelId="{602C119C-0F23-4BF4-9B9C-B0FFFF5103DD}" type="presOf" srcId="{88492EEB-AD0A-4F52-9D77-00222C8EE01F}" destId="{53E87432-9AB6-41EE-9363-D64135CF07C9}" srcOrd="0" destOrd="0" presId="urn:microsoft.com/office/officeart/2008/layout/LinedList"/>
    <dgm:cxn modelId="{6BCDBABD-3FF8-4256-8AD0-01F449980A00}" srcId="{9DEF8375-30C2-4691-A189-3BBB5D13CAE9}" destId="{DE76C159-B459-4466-B28F-EA2F048C4720}" srcOrd="4" destOrd="0" parTransId="{C7F2888E-7F61-4CD5-8E56-B727D547B56F}" sibTransId="{2DA8CB2D-7A04-4B6A-9F28-8C65EBA5E36E}"/>
    <dgm:cxn modelId="{409A96C1-9CF2-48C9-8641-3EE00B264B11}" srcId="{9DEF8375-30C2-4691-A189-3BBB5D13CAE9}" destId="{88492EEB-AD0A-4F52-9D77-00222C8EE01F}" srcOrd="3" destOrd="0" parTransId="{3376F378-9E90-43AD-9538-FBA81AA055CF}" sibTransId="{F7E307FA-1493-45A4-BC9D-7E46ACD4E538}"/>
    <dgm:cxn modelId="{F7FC51EC-10EA-4973-8997-2603A1E26357}" type="presOf" srcId="{C1B47345-CFBE-4ECA-8AD7-EA4A976FD376}" destId="{958E4794-B1C0-46A4-9F2C-FEEEE251F509}" srcOrd="0" destOrd="0" presId="urn:microsoft.com/office/officeart/2008/layout/LinedList"/>
    <dgm:cxn modelId="{FBF598F9-AE66-4A58-92E7-BD6F089E154C}" srcId="{9DEF8375-30C2-4691-A189-3BBB5D13CAE9}" destId="{C1B47345-CFBE-4ECA-8AD7-EA4A976FD376}" srcOrd="2" destOrd="0" parTransId="{0024F191-8D47-4A58-9691-43D828D91A05}" sibTransId="{9BD04954-C601-42D1-9606-803D6874E34E}"/>
    <dgm:cxn modelId="{A15A3B94-E86D-48D0-99A3-49619C75B53B}" type="presParOf" srcId="{A6452447-320F-401A-A1BE-2312160C7F59}" destId="{493E919C-EE80-4805-AA37-72FF19EA6BC6}" srcOrd="0" destOrd="0" presId="urn:microsoft.com/office/officeart/2008/layout/LinedList"/>
    <dgm:cxn modelId="{8593FFA5-60B7-4435-AB0E-2B8B477E43A2}" type="presParOf" srcId="{A6452447-320F-401A-A1BE-2312160C7F59}" destId="{FC9EA74D-DDDA-4CE1-8A65-E126C99DC731}" srcOrd="1" destOrd="0" presId="urn:microsoft.com/office/officeart/2008/layout/LinedList"/>
    <dgm:cxn modelId="{E301F311-DC5A-4DAF-83F1-D5307EA54FB1}" type="presParOf" srcId="{FC9EA74D-DDDA-4CE1-8A65-E126C99DC731}" destId="{4E39128A-D575-40DE-93AE-51E2EC60DAA2}" srcOrd="0" destOrd="0" presId="urn:microsoft.com/office/officeart/2008/layout/LinedList"/>
    <dgm:cxn modelId="{F2502E4A-F406-40FA-9EE2-527A44A0A7B7}" type="presParOf" srcId="{FC9EA74D-DDDA-4CE1-8A65-E126C99DC731}" destId="{A0FCDC15-C7FC-43D6-A330-7CB24FE52AC3}" srcOrd="1" destOrd="0" presId="urn:microsoft.com/office/officeart/2008/layout/LinedList"/>
    <dgm:cxn modelId="{32830996-99C9-4FC5-A08E-E7560789AFFF}" type="presParOf" srcId="{A6452447-320F-401A-A1BE-2312160C7F59}" destId="{BC4B1178-B259-4408-85A4-A70AA5DFF311}" srcOrd="2" destOrd="0" presId="urn:microsoft.com/office/officeart/2008/layout/LinedList"/>
    <dgm:cxn modelId="{CAB075CC-CB92-41EC-87A7-4119762D2D7A}" type="presParOf" srcId="{A6452447-320F-401A-A1BE-2312160C7F59}" destId="{9DDBBF9E-45D8-4B1A-B70C-5B8FBA13E58B}" srcOrd="3" destOrd="0" presId="urn:microsoft.com/office/officeart/2008/layout/LinedList"/>
    <dgm:cxn modelId="{C18C7646-3538-41AC-A1A8-CC2DD2FE6CE9}" type="presParOf" srcId="{9DDBBF9E-45D8-4B1A-B70C-5B8FBA13E58B}" destId="{61F963EA-ED30-4A1C-B2E7-04AFEFFE6972}" srcOrd="0" destOrd="0" presId="urn:microsoft.com/office/officeart/2008/layout/LinedList"/>
    <dgm:cxn modelId="{694FF097-DD0E-41AE-9DD0-FE823A82AB0F}" type="presParOf" srcId="{9DDBBF9E-45D8-4B1A-B70C-5B8FBA13E58B}" destId="{D4D3C8CC-E4E5-4187-A12E-C25B1201F7B2}" srcOrd="1" destOrd="0" presId="urn:microsoft.com/office/officeart/2008/layout/LinedList"/>
    <dgm:cxn modelId="{430DFC5B-0FC3-41EF-A86A-E7AAC2965F26}" type="presParOf" srcId="{A6452447-320F-401A-A1BE-2312160C7F59}" destId="{0B7D5C60-6409-4772-95D3-B94FBEA4F9FD}" srcOrd="4" destOrd="0" presId="urn:microsoft.com/office/officeart/2008/layout/LinedList"/>
    <dgm:cxn modelId="{667EC37C-D127-4C96-8C63-7CEFFBA14C14}" type="presParOf" srcId="{A6452447-320F-401A-A1BE-2312160C7F59}" destId="{09225051-0C98-4BF0-8C77-5F093BB60415}" srcOrd="5" destOrd="0" presId="urn:microsoft.com/office/officeart/2008/layout/LinedList"/>
    <dgm:cxn modelId="{29F2CFCB-6AEF-4565-9C20-F88ADECE9BFD}" type="presParOf" srcId="{09225051-0C98-4BF0-8C77-5F093BB60415}" destId="{958E4794-B1C0-46A4-9F2C-FEEEE251F509}" srcOrd="0" destOrd="0" presId="urn:microsoft.com/office/officeart/2008/layout/LinedList"/>
    <dgm:cxn modelId="{5F01C4FE-E4B3-4B4D-B445-5894820D44D1}" type="presParOf" srcId="{09225051-0C98-4BF0-8C77-5F093BB60415}" destId="{68DFE60A-C447-470D-B02C-F55E38BDAD09}" srcOrd="1" destOrd="0" presId="urn:microsoft.com/office/officeart/2008/layout/LinedList"/>
    <dgm:cxn modelId="{38A6FCB4-6722-43ED-B60D-5C3805D7941E}" type="presParOf" srcId="{A6452447-320F-401A-A1BE-2312160C7F59}" destId="{B37F2F0B-33F3-407F-9F2E-59BCDD4D97C2}" srcOrd="6" destOrd="0" presId="urn:microsoft.com/office/officeart/2008/layout/LinedList"/>
    <dgm:cxn modelId="{E3743C51-538E-479F-ACAE-B9EF5AD9AE06}" type="presParOf" srcId="{A6452447-320F-401A-A1BE-2312160C7F59}" destId="{2A3187D0-22F2-452E-B5D3-9B751A03F8F0}" srcOrd="7" destOrd="0" presId="urn:microsoft.com/office/officeart/2008/layout/LinedList"/>
    <dgm:cxn modelId="{BA38E9EE-4B27-4510-BE14-FA2130012737}" type="presParOf" srcId="{2A3187D0-22F2-452E-B5D3-9B751A03F8F0}" destId="{53E87432-9AB6-41EE-9363-D64135CF07C9}" srcOrd="0" destOrd="0" presId="urn:microsoft.com/office/officeart/2008/layout/LinedList"/>
    <dgm:cxn modelId="{E4F581C6-2F87-45CF-9F37-2FDB759AD708}" type="presParOf" srcId="{2A3187D0-22F2-452E-B5D3-9B751A03F8F0}" destId="{FFFBB997-B20C-44C0-B061-58BD8C8A3832}" srcOrd="1" destOrd="0" presId="urn:microsoft.com/office/officeart/2008/layout/LinedList"/>
    <dgm:cxn modelId="{786CCF63-FC71-4906-AD47-15010DC41546}" type="presParOf" srcId="{A6452447-320F-401A-A1BE-2312160C7F59}" destId="{451ECAD4-C1B6-44FA-B8EB-C7C2A562A626}" srcOrd="8" destOrd="0" presId="urn:microsoft.com/office/officeart/2008/layout/LinedList"/>
    <dgm:cxn modelId="{137FBF37-3F63-4FEF-945D-84B241ED1501}" type="presParOf" srcId="{A6452447-320F-401A-A1BE-2312160C7F59}" destId="{5EDB3C07-2D63-45CA-B5D0-EA4E8A486004}" srcOrd="9" destOrd="0" presId="urn:microsoft.com/office/officeart/2008/layout/LinedList"/>
    <dgm:cxn modelId="{2C634B1B-F8BA-4505-80A0-E820AF27DE46}" type="presParOf" srcId="{5EDB3C07-2D63-45CA-B5D0-EA4E8A486004}" destId="{23E1BF8C-FF3E-4CB6-8B63-05D2F38A8001}" srcOrd="0" destOrd="0" presId="urn:microsoft.com/office/officeart/2008/layout/LinedList"/>
    <dgm:cxn modelId="{E891A7D3-87ED-43D3-9193-BE1FC165257D}" type="presParOf" srcId="{5EDB3C07-2D63-45CA-B5D0-EA4E8A486004}" destId="{7F181EF3-4164-4CC7-AC85-7C99D6EE00F6}" srcOrd="1" destOrd="0" presId="urn:microsoft.com/office/officeart/2008/layout/LinedList"/>
    <dgm:cxn modelId="{82FC5F8E-61E9-40CA-8323-CE801450CDC3}" type="presParOf" srcId="{A6452447-320F-401A-A1BE-2312160C7F59}" destId="{B0E9FA0D-9381-4855-892B-780191A54F91}" srcOrd="10" destOrd="0" presId="urn:microsoft.com/office/officeart/2008/layout/LinedList"/>
    <dgm:cxn modelId="{4423D944-CF27-432B-A509-5FD87492C3B6}" type="presParOf" srcId="{A6452447-320F-401A-A1BE-2312160C7F59}" destId="{30C64B0A-D087-4CEE-9CE3-27C8480244F1}" srcOrd="11" destOrd="0" presId="urn:microsoft.com/office/officeart/2008/layout/LinedList"/>
    <dgm:cxn modelId="{607D6683-6237-4E14-A63D-33F96366EFE6}" type="presParOf" srcId="{30C64B0A-D087-4CEE-9CE3-27C8480244F1}" destId="{3F757373-078E-4459-8731-88AD60A54929}" srcOrd="0" destOrd="0" presId="urn:microsoft.com/office/officeart/2008/layout/LinedList"/>
    <dgm:cxn modelId="{4FF23BF5-AF39-47E9-B2CE-E5A909B1561F}" type="presParOf" srcId="{30C64B0A-D087-4CEE-9CE3-27C8480244F1}" destId="{82899C83-14B1-4AE6-8A75-312F02BA236B}"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E00C60E-1920-451A-8777-83E9BF06579C}"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1E3233E8-9C3E-42A6-BDD5-B4A7D6AA13C0}">
      <dgm:prSet/>
      <dgm:spPr/>
      <dgm:t>
        <a:bodyPr/>
        <a:lstStyle/>
        <a:p>
          <a:r>
            <a:rPr lang="en-US"/>
            <a:t>Найкраща точність глибини: Bagging (RMSE=0,713, PSNR=51,065 дБ, IoU=0,996)</a:t>
          </a:r>
        </a:p>
      </dgm:t>
    </dgm:pt>
    <dgm:pt modelId="{F87DC907-59C8-4C33-81D0-1FCD185413E2}" type="parTrans" cxnId="{F63FB2F1-6053-4D3F-B74D-62C06065367B}">
      <dgm:prSet/>
      <dgm:spPr/>
      <dgm:t>
        <a:bodyPr/>
        <a:lstStyle/>
        <a:p>
          <a:endParaRPr lang="en-US"/>
        </a:p>
      </dgm:t>
    </dgm:pt>
    <dgm:pt modelId="{09801499-F28E-4BCC-9870-A90125E54A69}" type="sibTrans" cxnId="{F63FB2F1-6053-4D3F-B74D-62C06065367B}">
      <dgm:prSet/>
      <dgm:spPr/>
      <dgm:t>
        <a:bodyPr/>
        <a:lstStyle/>
        <a:p>
          <a:endParaRPr lang="en-US"/>
        </a:p>
      </dgm:t>
    </dgm:pt>
    <dgm:pt modelId="{44DB6DCC-7809-4228-899B-90E59946DF4D}">
      <dgm:prSet/>
      <dgm:spPr/>
      <dgm:t>
        <a:bodyPr/>
        <a:lstStyle/>
        <a:p>
          <a:r>
            <a:rPr lang="en-US"/>
            <a:t>GeoNet та DPT_Large також високі, але Bagging перевершує за рахунок усереднення</a:t>
          </a:r>
        </a:p>
      </dgm:t>
    </dgm:pt>
    <dgm:pt modelId="{C11C4870-E6E6-418F-B5BA-250FF33AAFAB}" type="parTrans" cxnId="{6600FC64-2EE4-46C3-BDBD-82502F6A8619}">
      <dgm:prSet/>
      <dgm:spPr/>
      <dgm:t>
        <a:bodyPr/>
        <a:lstStyle/>
        <a:p>
          <a:endParaRPr lang="en-US"/>
        </a:p>
      </dgm:t>
    </dgm:pt>
    <dgm:pt modelId="{088083FC-114E-4A1B-962B-B3A35AF63DFF}" type="sibTrans" cxnId="{6600FC64-2EE4-46C3-BDBD-82502F6A8619}">
      <dgm:prSet/>
      <dgm:spPr/>
      <dgm:t>
        <a:bodyPr/>
        <a:lstStyle/>
        <a:p>
          <a:endParaRPr lang="en-US"/>
        </a:p>
      </dgm:t>
    </dgm:pt>
    <dgm:pt modelId="{0A1B1602-0C38-41D7-A242-8EA66C0EC300}">
      <dgm:prSet/>
      <dgm:spPr/>
      <dgm:t>
        <a:bodyPr/>
        <a:lstStyle/>
        <a:p>
          <a:r>
            <a:rPr lang="en-US"/>
            <a:t>Щільні методи оптичного потоку (Farneback, FlowNet) дають узгоджені оцінки швидкості</a:t>
          </a:r>
        </a:p>
      </dgm:t>
    </dgm:pt>
    <dgm:pt modelId="{38AB2637-8618-45A7-93F5-9BB6B39D3AF0}" type="parTrans" cxnId="{A6BB7DAA-AD78-47A1-8CAE-EBA5D5C73D2C}">
      <dgm:prSet/>
      <dgm:spPr/>
      <dgm:t>
        <a:bodyPr/>
        <a:lstStyle/>
        <a:p>
          <a:endParaRPr lang="en-US"/>
        </a:p>
      </dgm:t>
    </dgm:pt>
    <dgm:pt modelId="{E538D0C1-12FD-49D3-842D-E1835FA4254E}" type="sibTrans" cxnId="{A6BB7DAA-AD78-47A1-8CAE-EBA5D5C73D2C}">
      <dgm:prSet/>
      <dgm:spPr/>
      <dgm:t>
        <a:bodyPr/>
        <a:lstStyle/>
        <a:p>
          <a:endParaRPr lang="en-US"/>
        </a:p>
      </dgm:t>
    </dgm:pt>
    <dgm:pt modelId="{B5D1997D-2247-4732-AD4E-6F608A284EE2}">
      <dgm:prSet/>
      <dgm:spPr/>
      <dgm:t>
        <a:bodyPr/>
        <a:lstStyle/>
        <a:p>
          <a:r>
            <a:rPr lang="en-US"/>
            <a:t>Lucas-Kanade придатний лише для локального супроводу характерних точок</a:t>
          </a:r>
        </a:p>
      </dgm:t>
    </dgm:pt>
    <dgm:pt modelId="{23960800-FD33-4E2D-8D8A-42949895E4C8}" type="parTrans" cxnId="{DBCD7D2E-186D-4BF5-86A9-8CCBE6FF81CE}">
      <dgm:prSet/>
      <dgm:spPr/>
      <dgm:t>
        <a:bodyPr/>
        <a:lstStyle/>
        <a:p>
          <a:endParaRPr lang="en-US"/>
        </a:p>
      </dgm:t>
    </dgm:pt>
    <dgm:pt modelId="{FEB48466-7230-4947-BC57-A1996BE6A725}" type="sibTrans" cxnId="{DBCD7D2E-186D-4BF5-86A9-8CCBE6FF81CE}">
      <dgm:prSet/>
      <dgm:spPr/>
      <dgm:t>
        <a:bodyPr/>
        <a:lstStyle/>
        <a:p>
          <a:endParaRPr lang="en-US"/>
        </a:p>
      </dgm:t>
    </dgm:pt>
    <dgm:pt modelId="{9CC005F6-E738-4810-A167-D5194D4AB515}">
      <dgm:prSet/>
      <dgm:spPr/>
      <dgm:t>
        <a:bodyPr/>
        <a:lstStyle/>
        <a:p>
          <a:r>
            <a:rPr lang="en-US"/>
            <a:t>Комбінація DETR + Farneback + Bagging рекомендується для реального часу</a:t>
          </a:r>
        </a:p>
      </dgm:t>
    </dgm:pt>
    <dgm:pt modelId="{51D47646-340D-4E17-B692-B89CD869A227}" type="parTrans" cxnId="{0D0C4300-D23B-470C-BEAD-FE61E30E77C6}">
      <dgm:prSet/>
      <dgm:spPr/>
      <dgm:t>
        <a:bodyPr/>
        <a:lstStyle/>
        <a:p>
          <a:endParaRPr lang="en-US"/>
        </a:p>
      </dgm:t>
    </dgm:pt>
    <dgm:pt modelId="{2522CC82-2555-49B7-AA60-46673EC3E67A}" type="sibTrans" cxnId="{0D0C4300-D23B-470C-BEAD-FE61E30E77C6}">
      <dgm:prSet/>
      <dgm:spPr/>
      <dgm:t>
        <a:bodyPr/>
        <a:lstStyle/>
        <a:p>
          <a:endParaRPr lang="en-US"/>
        </a:p>
      </dgm:t>
    </dgm:pt>
    <dgm:pt modelId="{629A4084-3776-4E8E-8909-5DF0FF30B9C2}" type="pres">
      <dgm:prSet presAssocID="{FE00C60E-1920-451A-8777-83E9BF06579C}" presName="diagram" presStyleCnt="0">
        <dgm:presLayoutVars>
          <dgm:dir/>
          <dgm:resizeHandles val="exact"/>
        </dgm:presLayoutVars>
      </dgm:prSet>
      <dgm:spPr/>
    </dgm:pt>
    <dgm:pt modelId="{A560D8E8-8FC3-42F8-AE36-5F878DDB0296}" type="pres">
      <dgm:prSet presAssocID="{1E3233E8-9C3E-42A6-BDD5-B4A7D6AA13C0}" presName="node" presStyleLbl="node1" presStyleIdx="0" presStyleCnt="5">
        <dgm:presLayoutVars>
          <dgm:bulletEnabled val="1"/>
        </dgm:presLayoutVars>
      </dgm:prSet>
      <dgm:spPr/>
    </dgm:pt>
    <dgm:pt modelId="{4B4B6189-C651-4CC9-833E-862F7959BEF5}" type="pres">
      <dgm:prSet presAssocID="{09801499-F28E-4BCC-9870-A90125E54A69}" presName="sibTrans" presStyleCnt="0"/>
      <dgm:spPr/>
    </dgm:pt>
    <dgm:pt modelId="{3CA71303-082A-40B2-8271-1A800373D62A}" type="pres">
      <dgm:prSet presAssocID="{44DB6DCC-7809-4228-899B-90E59946DF4D}" presName="node" presStyleLbl="node1" presStyleIdx="1" presStyleCnt="5">
        <dgm:presLayoutVars>
          <dgm:bulletEnabled val="1"/>
        </dgm:presLayoutVars>
      </dgm:prSet>
      <dgm:spPr/>
    </dgm:pt>
    <dgm:pt modelId="{04E6488A-71D8-47C9-B60A-B29125F35908}" type="pres">
      <dgm:prSet presAssocID="{088083FC-114E-4A1B-962B-B3A35AF63DFF}" presName="sibTrans" presStyleCnt="0"/>
      <dgm:spPr/>
    </dgm:pt>
    <dgm:pt modelId="{0DFE65B8-B841-497E-8AAC-A5EC30C98C8D}" type="pres">
      <dgm:prSet presAssocID="{0A1B1602-0C38-41D7-A242-8EA66C0EC300}" presName="node" presStyleLbl="node1" presStyleIdx="2" presStyleCnt="5">
        <dgm:presLayoutVars>
          <dgm:bulletEnabled val="1"/>
        </dgm:presLayoutVars>
      </dgm:prSet>
      <dgm:spPr/>
    </dgm:pt>
    <dgm:pt modelId="{F87C7066-8F83-4A54-8DEF-86955952A96C}" type="pres">
      <dgm:prSet presAssocID="{E538D0C1-12FD-49D3-842D-E1835FA4254E}" presName="sibTrans" presStyleCnt="0"/>
      <dgm:spPr/>
    </dgm:pt>
    <dgm:pt modelId="{E6D38B83-0CF5-4F6E-BA29-268EA67F203B}" type="pres">
      <dgm:prSet presAssocID="{B5D1997D-2247-4732-AD4E-6F608A284EE2}" presName="node" presStyleLbl="node1" presStyleIdx="3" presStyleCnt="5">
        <dgm:presLayoutVars>
          <dgm:bulletEnabled val="1"/>
        </dgm:presLayoutVars>
      </dgm:prSet>
      <dgm:spPr/>
    </dgm:pt>
    <dgm:pt modelId="{0D497F72-42AB-4458-83FE-EBCCF010950C}" type="pres">
      <dgm:prSet presAssocID="{FEB48466-7230-4947-BC57-A1996BE6A725}" presName="sibTrans" presStyleCnt="0"/>
      <dgm:spPr/>
    </dgm:pt>
    <dgm:pt modelId="{1D92E2AB-53B1-4799-8512-D04B6B4A8474}" type="pres">
      <dgm:prSet presAssocID="{9CC005F6-E738-4810-A167-D5194D4AB515}" presName="node" presStyleLbl="node1" presStyleIdx="4" presStyleCnt="5">
        <dgm:presLayoutVars>
          <dgm:bulletEnabled val="1"/>
        </dgm:presLayoutVars>
      </dgm:prSet>
      <dgm:spPr/>
    </dgm:pt>
  </dgm:ptLst>
  <dgm:cxnLst>
    <dgm:cxn modelId="{0D0C4300-D23B-470C-BEAD-FE61E30E77C6}" srcId="{FE00C60E-1920-451A-8777-83E9BF06579C}" destId="{9CC005F6-E738-4810-A167-D5194D4AB515}" srcOrd="4" destOrd="0" parTransId="{51D47646-340D-4E17-B692-B89CD869A227}" sibTransId="{2522CC82-2555-49B7-AA60-46673EC3E67A}"/>
    <dgm:cxn modelId="{70FB7713-F47B-4F58-9F45-237C2D160AB3}" type="presOf" srcId="{B5D1997D-2247-4732-AD4E-6F608A284EE2}" destId="{E6D38B83-0CF5-4F6E-BA29-268EA67F203B}" srcOrd="0" destOrd="0" presId="urn:microsoft.com/office/officeart/2005/8/layout/default"/>
    <dgm:cxn modelId="{55576B2C-6352-49AF-B61D-A63F4AD467E4}" type="presOf" srcId="{9CC005F6-E738-4810-A167-D5194D4AB515}" destId="{1D92E2AB-53B1-4799-8512-D04B6B4A8474}" srcOrd="0" destOrd="0" presId="urn:microsoft.com/office/officeart/2005/8/layout/default"/>
    <dgm:cxn modelId="{DBCD7D2E-186D-4BF5-86A9-8CCBE6FF81CE}" srcId="{FE00C60E-1920-451A-8777-83E9BF06579C}" destId="{B5D1997D-2247-4732-AD4E-6F608A284EE2}" srcOrd="3" destOrd="0" parTransId="{23960800-FD33-4E2D-8D8A-42949895E4C8}" sibTransId="{FEB48466-7230-4947-BC57-A1996BE6A725}"/>
    <dgm:cxn modelId="{219C7433-83A9-4332-8660-8D8F2DFC2C23}" type="presOf" srcId="{FE00C60E-1920-451A-8777-83E9BF06579C}" destId="{629A4084-3776-4E8E-8909-5DF0FF30B9C2}" srcOrd="0" destOrd="0" presId="urn:microsoft.com/office/officeart/2005/8/layout/default"/>
    <dgm:cxn modelId="{FB67AB62-3065-408C-AA2A-5AA2C28A7038}" type="presOf" srcId="{0A1B1602-0C38-41D7-A242-8EA66C0EC300}" destId="{0DFE65B8-B841-497E-8AAC-A5EC30C98C8D}" srcOrd="0" destOrd="0" presId="urn:microsoft.com/office/officeart/2005/8/layout/default"/>
    <dgm:cxn modelId="{6600FC64-2EE4-46C3-BDBD-82502F6A8619}" srcId="{FE00C60E-1920-451A-8777-83E9BF06579C}" destId="{44DB6DCC-7809-4228-899B-90E59946DF4D}" srcOrd="1" destOrd="0" parTransId="{C11C4870-E6E6-418F-B5BA-250FF33AAFAB}" sibTransId="{088083FC-114E-4A1B-962B-B3A35AF63DFF}"/>
    <dgm:cxn modelId="{328DF554-0B75-49EB-9B38-1CDBF31A15BD}" type="presOf" srcId="{1E3233E8-9C3E-42A6-BDD5-B4A7D6AA13C0}" destId="{A560D8E8-8FC3-42F8-AE36-5F878DDB0296}" srcOrd="0" destOrd="0" presId="urn:microsoft.com/office/officeart/2005/8/layout/default"/>
    <dgm:cxn modelId="{A6BB7DAA-AD78-47A1-8CAE-EBA5D5C73D2C}" srcId="{FE00C60E-1920-451A-8777-83E9BF06579C}" destId="{0A1B1602-0C38-41D7-A242-8EA66C0EC300}" srcOrd="2" destOrd="0" parTransId="{38AB2637-8618-45A7-93F5-9BB6B39D3AF0}" sibTransId="{E538D0C1-12FD-49D3-842D-E1835FA4254E}"/>
    <dgm:cxn modelId="{831142B1-6B82-4701-8EC4-B4D3A23834EA}" type="presOf" srcId="{44DB6DCC-7809-4228-899B-90E59946DF4D}" destId="{3CA71303-082A-40B2-8271-1A800373D62A}" srcOrd="0" destOrd="0" presId="urn:microsoft.com/office/officeart/2005/8/layout/default"/>
    <dgm:cxn modelId="{F63FB2F1-6053-4D3F-B74D-62C06065367B}" srcId="{FE00C60E-1920-451A-8777-83E9BF06579C}" destId="{1E3233E8-9C3E-42A6-BDD5-B4A7D6AA13C0}" srcOrd="0" destOrd="0" parTransId="{F87DC907-59C8-4C33-81D0-1FCD185413E2}" sibTransId="{09801499-F28E-4BCC-9870-A90125E54A69}"/>
    <dgm:cxn modelId="{07C602F5-F33E-46AD-BD13-241B8DDBC0A7}" type="presParOf" srcId="{629A4084-3776-4E8E-8909-5DF0FF30B9C2}" destId="{A560D8E8-8FC3-42F8-AE36-5F878DDB0296}" srcOrd="0" destOrd="0" presId="urn:microsoft.com/office/officeart/2005/8/layout/default"/>
    <dgm:cxn modelId="{17B3ADC0-E6D8-47FF-9778-3D964ADA3322}" type="presParOf" srcId="{629A4084-3776-4E8E-8909-5DF0FF30B9C2}" destId="{4B4B6189-C651-4CC9-833E-862F7959BEF5}" srcOrd="1" destOrd="0" presId="urn:microsoft.com/office/officeart/2005/8/layout/default"/>
    <dgm:cxn modelId="{B8D64623-C257-41AD-9218-0F7838633DCC}" type="presParOf" srcId="{629A4084-3776-4E8E-8909-5DF0FF30B9C2}" destId="{3CA71303-082A-40B2-8271-1A800373D62A}" srcOrd="2" destOrd="0" presId="urn:microsoft.com/office/officeart/2005/8/layout/default"/>
    <dgm:cxn modelId="{E7F13604-62E2-49E4-BF3E-DB4B3D950D1A}" type="presParOf" srcId="{629A4084-3776-4E8E-8909-5DF0FF30B9C2}" destId="{04E6488A-71D8-47C9-B60A-B29125F35908}" srcOrd="3" destOrd="0" presId="urn:microsoft.com/office/officeart/2005/8/layout/default"/>
    <dgm:cxn modelId="{2382D4FE-F717-4743-97D6-6A222E0B76D3}" type="presParOf" srcId="{629A4084-3776-4E8E-8909-5DF0FF30B9C2}" destId="{0DFE65B8-B841-497E-8AAC-A5EC30C98C8D}" srcOrd="4" destOrd="0" presId="urn:microsoft.com/office/officeart/2005/8/layout/default"/>
    <dgm:cxn modelId="{9E2CCAEE-9908-4538-A5BF-E58F35A71353}" type="presParOf" srcId="{629A4084-3776-4E8E-8909-5DF0FF30B9C2}" destId="{F87C7066-8F83-4A54-8DEF-86955952A96C}" srcOrd="5" destOrd="0" presId="urn:microsoft.com/office/officeart/2005/8/layout/default"/>
    <dgm:cxn modelId="{96513324-53FE-42E6-8F16-7B9AB49C92B8}" type="presParOf" srcId="{629A4084-3776-4E8E-8909-5DF0FF30B9C2}" destId="{E6D38B83-0CF5-4F6E-BA29-268EA67F203B}" srcOrd="6" destOrd="0" presId="urn:microsoft.com/office/officeart/2005/8/layout/default"/>
    <dgm:cxn modelId="{BC73D488-C681-4B65-B155-83E07E543AE3}" type="presParOf" srcId="{629A4084-3776-4E8E-8909-5DF0FF30B9C2}" destId="{0D497F72-42AB-4458-83FE-EBCCF010950C}" srcOrd="7" destOrd="0" presId="urn:microsoft.com/office/officeart/2005/8/layout/default"/>
    <dgm:cxn modelId="{F9F75A8B-D88D-49F4-9DE1-84E92A2BD4B0}" type="presParOf" srcId="{629A4084-3776-4E8E-8909-5DF0FF30B9C2}" destId="{1D92E2AB-53B1-4799-8512-D04B6B4A8474}"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1" qsCatId="simple" csTypeId="urn:microsoft.com/office/officeart/2005/8/colors/accent3_2" csCatId="accent3"/>
      <dgm:spPr/>
      <dgm:t>
        <a:bodyPr/>
        <a:lstStyle/>
        <a:p>
          <a:endParaRPr lang="en-US"/>
        </a:p>
      </dgm:t>
    </dgm:pt>
    <dgm:pt modelId="{BC618B4A-23B5-4C66-BE75-611FFA321465}">
      <dgm:prSet/>
      <dgm:spPr/>
      <dgm:t>
        <a:bodyPr/>
        <a:lstStyle/>
        <a:p>
          <a:r>
            <a:rPr lang="en-US"/>
            <a:t>1. Вперше: метод ДІПДО на основі DETR + оптичного потоку – одночасне виявлення, відстеження та оцінювання швидкості/траєкторії</a:t>
          </a:r>
        </a:p>
      </dgm:t>
    </dgm:pt>
    <dgm:pt modelId="{D3E0C18A-3DCC-4B77-A6A2-00DE66B2BC4B}" type="parTrans" cxnId="{01861EF4-FB14-434C-BB66-E0D48E344960}">
      <dgm:prSet/>
      <dgm:spPr/>
      <dgm:t>
        <a:bodyPr/>
        <a:lstStyle/>
        <a:p>
          <a:endParaRPr lang="en-US"/>
        </a:p>
      </dgm:t>
    </dgm:pt>
    <dgm:pt modelId="{262FCB8A-D38B-4169-AA9D-1CC2FE8876D3}" type="sibTrans" cxnId="{01861EF4-FB14-434C-BB66-E0D48E344960}">
      <dgm:prSet/>
      <dgm:spPr/>
      <dgm:t>
        <a:bodyPr/>
        <a:lstStyle/>
        <a:p>
          <a:endParaRPr lang="en-US"/>
        </a:p>
      </dgm:t>
    </dgm:pt>
    <dgm:pt modelId="{D98492D5-36DA-48C0-A81F-1AE41D6A9A54}">
      <dgm:prSet/>
      <dgm:spPr/>
      <dgm:t>
        <a:bodyPr/>
        <a:lstStyle/>
        <a:p>
          <a:r>
            <a:rPr lang="en-US"/>
            <a:t>2. Вперше: структура інформаційної технології з інтеграцією FlowNet, GeoNet, трансформерів та ансамблевої корекції</a:t>
          </a:r>
        </a:p>
      </dgm:t>
    </dgm:pt>
    <dgm:pt modelId="{14AB0DA3-AAA2-48C0-AB72-F84C7BAA1EF0}" type="parTrans" cxnId="{F354FABD-BA0F-4B82-B86D-D56C4DF2EAD5}">
      <dgm:prSet/>
      <dgm:spPr/>
      <dgm:t>
        <a:bodyPr/>
        <a:lstStyle/>
        <a:p>
          <a:endParaRPr lang="en-US"/>
        </a:p>
      </dgm:t>
    </dgm:pt>
    <dgm:pt modelId="{97EF2BB0-F7C4-4EA4-96F6-88D82F382682}" type="sibTrans" cxnId="{F354FABD-BA0F-4B82-B86D-D56C4DF2EAD5}">
      <dgm:prSet/>
      <dgm:spPr/>
      <dgm:t>
        <a:bodyPr/>
        <a:lstStyle/>
        <a:p>
          <a:endParaRPr lang="en-US"/>
        </a:p>
      </dgm:t>
    </dgm:pt>
    <dgm:pt modelId="{11B3B51D-74CC-4180-BD39-4C5B35BB9E03}">
      <dgm:prSet/>
      <dgm:spPr/>
      <dgm:t>
        <a:bodyPr/>
        <a:lstStyle/>
        <a:p>
          <a:r>
            <a:rPr lang="en-US"/>
            <a:t>3. Удосконалено метод оцінювання глибини шляхом адаптивного комбінування MiDaS, DPT, GeoNet з Bagging та Boosting</a:t>
          </a:r>
        </a:p>
      </dgm:t>
    </dgm:pt>
    <dgm:pt modelId="{24A34395-E918-4BC8-B393-18A1F12CCF31}" type="parTrans" cxnId="{C062FF7F-870F-4ECF-8EAF-491863742530}">
      <dgm:prSet/>
      <dgm:spPr/>
      <dgm:t>
        <a:bodyPr/>
        <a:lstStyle/>
        <a:p>
          <a:endParaRPr lang="en-US"/>
        </a:p>
      </dgm:t>
    </dgm:pt>
    <dgm:pt modelId="{40317CB0-B385-4DED-A8FF-B398419FE95B}" type="sibTrans" cxnId="{C062FF7F-870F-4ECF-8EAF-491863742530}">
      <dgm:prSet/>
      <dgm:spPr/>
      <dgm:t>
        <a:bodyPr/>
        <a:lstStyle/>
        <a:p>
          <a:endParaRPr lang="en-US"/>
        </a:p>
      </dgm:t>
    </dgm:pt>
    <dgm:pt modelId="{AF93F13E-9FEF-4BE1-9B5E-1515E4D77568}">
      <dgm:prSet/>
      <dgm:spPr/>
      <dgm:t>
        <a:bodyPr/>
        <a:lstStyle/>
        <a:p>
          <a:r>
            <a:rPr lang="en-US"/>
            <a:t>4. Удосконалено метод ансамблевої агрегації (Bagging для зменшення дисперсії, Boosting для уточнення меж та оклюзій)</a:t>
          </a:r>
        </a:p>
      </dgm:t>
    </dgm:pt>
    <dgm:pt modelId="{964FCE04-C5BB-4695-82E3-0DB23D24FF7B}" type="parTrans" cxnId="{C825E6ED-DB0C-4795-B75A-96480E034892}">
      <dgm:prSet/>
      <dgm:spPr/>
      <dgm:t>
        <a:bodyPr/>
        <a:lstStyle/>
        <a:p>
          <a:endParaRPr lang="en-US"/>
        </a:p>
      </dgm:t>
    </dgm:pt>
    <dgm:pt modelId="{89D2CF7E-1571-4071-BFA6-E7B19251B50C}" type="sibTrans" cxnId="{C825E6ED-DB0C-4795-B75A-96480E034892}">
      <dgm:prSet/>
      <dgm:spPr/>
      <dgm:t>
        <a:bodyPr/>
        <a:lstStyle/>
        <a:p>
          <a:endParaRPr lang="en-US"/>
        </a:p>
      </dgm:t>
    </dgm:pt>
    <dgm:pt modelId="{EA4CADCD-FD24-48CA-9C3C-5A0FB841DA57}">
      <dgm:prSet/>
      <dgm:spPr/>
      <dgm:t>
        <a:bodyPr/>
        <a:lstStyle/>
        <a:p>
          <a:r>
            <a:rPr lang="en-US"/>
            <a:t>5. Удосконалено систему метрик (EPE, AAE, RMSE, MAE, PSNR, IoU, Dice) для порівняння 35 комбінацій</a:t>
          </a:r>
        </a:p>
      </dgm:t>
    </dgm:pt>
    <dgm:pt modelId="{36DB36D8-3737-42FC-81B1-CE2FE1C8FAD2}" type="parTrans" cxnId="{AAB7F8F3-3EC8-41FC-9FB1-38552A8E2B2A}">
      <dgm:prSet/>
      <dgm:spPr/>
      <dgm:t>
        <a:bodyPr/>
        <a:lstStyle/>
        <a:p>
          <a:endParaRPr lang="en-US"/>
        </a:p>
      </dgm:t>
    </dgm:pt>
    <dgm:pt modelId="{1B75EEA4-CC0C-4B33-A451-9477B2B71F7F}" type="sibTrans" cxnId="{AAB7F8F3-3EC8-41FC-9FB1-38552A8E2B2A}">
      <dgm:prSet/>
      <dgm:spPr/>
      <dgm:t>
        <a:bodyPr/>
        <a:lstStyle/>
        <a:p>
          <a:endParaRPr lang="en-US"/>
        </a:p>
      </dgm:t>
    </dgm:pt>
    <dgm:pt modelId="{82B1BE46-1E66-48D4-B33A-6F1FEB14B9B2}">
      <dgm:prSet/>
      <dgm:spPr/>
      <dgm:t>
        <a:bodyPr/>
        <a:lstStyle/>
        <a:p>
          <a:r>
            <a:rPr lang="en-US"/>
            <a:t>6. Подальший розвиток методу синтезу просторово-часових ознак шляхом інтеграції трансформерної уваги з векторними полями оптичного потоку</a:t>
          </a:r>
        </a:p>
      </dgm:t>
    </dgm:pt>
    <dgm:pt modelId="{C3CEE63D-CC2B-4E19-88C6-35A636B10058}" type="parTrans" cxnId="{A28E823F-D2D2-42F8-942E-2281066D368B}">
      <dgm:prSet/>
      <dgm:spPr/>
      <dgm:t>
        <a:bodyPr/>
        <a:lstStyle/>
        <a:p>
          <a:endParaRPr lang="en-US"/>
        </a:p>
      </dgm:t>
    </dgm:pt>
    <dgm:pt modelId="{58033344-9909-4747-829B-06AC030660B8}" type="sibTrans" cxnId="{A28E823F-D2D2-42F8-942E-2281066D368B}">
      <dgm:prSet/>
      <dgm:spPr/>
      <dgm:t>
        <a:bodyPr/>
        <a:lstStyle/>
        <a:p>
          <a:endParaRPr lang="en-US"/>
        </a:p>
      </dgm:t>
    </dgm:pt>
    <dgm:pt modelId="{88FA023E-54AD-484B-BC8A-FE27EA9FECE8}" type="pres">
      <dgm:prSet presAssocID="{994F24FC-3144-40B3-B81F-00B6182408F6}" presName="vert0" presStyleCnt="0">
        <dgm:presLayoutVars>
          <dgm:dir/>
          <dgm:animOne val="branch"/>
          <dgm:animLvl val="lvl"/>
        </dgm:presLayoutVars>
      </dgm:prSet>
      <dgm:spPr/>
    </dgm:pt>
    <dgm:pt modelId="{0374DDD0-8CD3-4152-A82A-27F86FDE54EE}" type="pres">
      <dgm:prSet presAssocID="{BC618B4A-23B5-4C66-BE75-611FFA321465}" presName="thickLine" presStyleLbl="alignNode1" presStyleIdx="0" presStyleCnt="6"/>
      <dgm:spPr/>
    </dgm:pt>
    <dgm:pt modelId="{9FFCD465-0DB5-439A-BB18-B932C1BE6A07}" type="pres">
      <dgm:prSet presAssocID="{BC618B4A-23B5-4C66-BE75-611FFA321465}" presName="horz1" presStyleCnt="0"/>
      <dgm:spPr/>
    </dgm:pt>
    <dgm:pt modelId="{C1137A27-84F9-4156-A13F-D973F3B46291}" type="pres">
      <dgm:prSet presAssocID="{BC618B4A-23B5-4C66-BE75-611FFA321465}" presName="tx1" presStyleLbl="revTx" presStyleIdx="0" presStyleCnt="6"/>
      <dgm:spPr/>
    </dgm:pt>
    <dgm:pt modelId="{4B39946F-2569-4594-B8F3-9E29741AC752}" type="pres">
      <dgm:prSet presAssocID="{BC618B4A-23B5-4C66-BE75-611FFA321465}" presName="vert1" presStyleCnt="0"/>
      <dgm:spPr/>
    </dgm:pt>
    <dgm:pt modelId="{216478B8-689A-4AD1-B0E8-3ACD6F47B69B}" type="pres">
      <dgm:prSet presAssocID="{D98492D5-36DA-48C0-A81F-1AE41D6A9A54}" presName="thickLine" presStyleLbl="alignNode1" presStyleIdx="1" presStyleCnt="6"/>
      <dgm:spPr/>
    </dgm:pt>
    <dgm:pt modelId="{DC093087-A4A4-4B4A-AAC0-E805A6F69EED}" type="pres">
      <dgm:prSet presAssocID="{D98492D5-36DA-48C0-A81F-1AE41D6A9A54}" presName="horz1" presStyleCnt="0"/>
      <dgm:spPr/>
    </dgm:pt>
    <dgm:pt modelId="{B463D00B-4402-4E27-B491-CFE39970AB4B}" type="pres">
      <dgm:prSet presAssocID="{D98492D5-36DA-48C0-A81F-1AE41D6A9A54}" presName="tx1" presStyleLbl="revTx" presStyleIdx="1" presStyleCnt="6"/>
      <dgm:spPr/>
    </dgm:pt>
    <dgm:pt modelId="{CEB434C8-2514-4779-9816-4A4FEA879880}" type="pres">
      <dgm:prSet presAssocID="{D98492D5-36DA-48C0-A81F-1AE41D6A9A54}" presName="vert1" presStyleCnt="0"/>
      <dgm:spPr/>
    </dgm:pt>
    <dgm:pt modelId="{DA3B0FB5-CED3-44DB-A6E8-6C68DCE23F2B}" type="pres">
      <dgm:prSet presAssocID="{11B3B51D-74CC-4180-BD39-4C5B35BB9E03}" presName="thickLine" presStyleLbl="alignNode1" presStyleIdx="2" presStyleCnt="6"/>
      <dgm:spPr/>
    </dgm:pt>
    <dgm:pt modelId="{8B7A5EC7-8510-4EEF-B064-BF320B6C5695}" type="pres">
      <dgm:prSet presAssocID="{11B3B51D-74CC-4180-BD39-4C5B35BB9E03}" presName="horz1" presStyleCnt="0"/>
      <dgm:spPr/>
    </dgm:pt>
    <dgm:pt modelId="{63400FD2-0B6A-4686-AA73-2422EE51441E}" type="pres">
      <dgm:prSet presAssocID="{11B3B51D-74CC-4180-BD39-4C5B35BB9E03}" presName="tx1" presStyleLbl="revTx" presStyleIdx="2" presStyleCnt="6"/>
      <dgm:spPr/>
    </dgm:pt>
    <dgm:pt modelId="{7BEE6214-20F5-411C-93FB-AC2D5EE79A29}" type="pres">
      <dgm:prSet presAssocID="{11B3B51D-74CC-4180-BD39-4C5B35BB9E03}" presName="vert1" presStyleCnt="0"/>
      <dgm:spPr/>
    </dgm:pt>
    <dgm:pt modelId="{F7075B4B-AA3B-43A0-AB99-106729F52B9C}" type="pres">
      <dgm:prSet presAssocID="{AF93F13E-9FEF-4BE1-9B5E-1515E4D77568}" presName="thickLine" presStyleLbl="alignNode1" presStyleIdx="3" presStyleCnt="6"/>
      <dgm:spPr/>
    </dgm:pt>
    <dgm:pt modelId="{5AE2F9AA-7929-4CEC-B206-51458E447398}" type="pres">
      <dgm:prSet presAssocID="{AF93F13E-9FEF-4BE1-9B5E-1515E4D77568}" presName="horz1" presStyleCnt="0"/>
      <dgm:spPr/>
    </dgm:pt>
    <dgm:pt modelId="{0F60CD89-3E58-4BA9-9420-0EAD11AFB9F7}" type="pres">
      <dgm:prSet presAssocID="{AF93F13E-9FEF-4BE1-9B5E-1515E4D77568}" presName="tx1" presStyleLbl="revTx" presStyleIdx="3" presStyleCnt="6"/>
      <dgm:spPr/>
    </dgm:pt>
    <dgm:pt modelId="{B83C1DA5-C683-4F74-930B-B4E4DD193BCE}" type="pres">
      <dgm:prSet presAssocID="{AF93F13E-9FEF-4BE1-9B5E-1515E4D77568}" presName="vert1" presStyleCnt="0"/>
      <dgm:spPr/>
    </dgm:pt>
    <dgm:pt modelId="{1B35852D-F33E-4D84-9494-A8152788C8CA}" type="pres">
      <dgm:prSet presAssocID="{EA4CADCD-FD24-48CA-9C3C-5A0FB841DA57}" presName="thickLine" presStyleLbl="alignNode1" presStyleIdx="4" presStyleCnt="6"/>
      <dgm:spPr/>
    </dgm:pt>
    <dgm:pt modelId="{3EFBD07B-BB94-4CE2-A156-787E7C870A58}" type="pres">
      <dgm:prSet presAssocID="{EA4CADCD-FD24-48CA-9C3C-5A0FB841DA57}" presName="horz1" presStyleCnt="0"/>
      <dgm:spPr/>
    </dgm:pt>
    <dgm:pt modelId="{66AAC9CC-F956-47C0-9D23-71092DF7F66F}" type="pres">
      <dgm:prSet presAssocID="{EA4CADCD-FD24-48CA-9C3C-5A0FB841DA57}" presName="tx1" presStyleLbl="revTx" presStyleIdx="4" presStyleCnt="6"/>
      <dgm:spPr/>
    </dgm:pt>
    <dgm:pt modelId="{A3650021-D056-4BDB-BE6A-737B884E7F5E}" type="pres">
      <dgm:prSet presAssocID="{EA4CADCD-FD24-48CA-9C3C-5A0FB841DA57}" presName="vert1" presStyleCnt="0"/>
      <dgm:spPr/>
    </dgm:pt>
    <dgm:pt modelId="{22C28A23-1307-4CD2-AF45-5FFBE11588CC}" type="pres">
      <dgm:prSet presAssocID="{82B1BE46-1E66-48D4-B33A-6F1FEB14B9B2}" presName="thickLine" presStyleLbl="alignNode1" presStyleIdx="5" presStyleCnt="6"/>
      <dgm:spPr/>
    </dgm:pt>
    <dgm:pt modelId="{A51125A5-228F-4ED8-8451-786E78ADAAA5}" type="pres">
      <dgm:prSet presAssocID="{82B1BE46-1E66-48D4-B33A-6F1FEB14B9B2}" presName="horz1" presStyleCnt="0"/>
      <dgm:spPr/>
    </dgm:pt>
    <dgm:pt modelId="{78BA6027-BBF7-4350-B395-E047783C8EC5}" type="pres">
      <dgm:prSet presAssocID="{82B1BE46-1E66-48D4-B33A-6F1FEB14B9B2}" presName="tx1" presStyleLbl="revTx" presStyleIdx="5" presStyleCnt="6"/>
      <dgm:spPr/>
    </dgm:pt>
    <dgm:pt modelId="{1FF2F26C-866B-4F9E-AC4C-D1849F62232B}" type="pres">
      <dgm:prSet presAssocID="{82B1BE46-1E66-48D4-B33A-6F1FEB14B9B2}" presName="vert1" presStyleCnt="0"/>
      <dgm:spPr/>
    </dgm:pt>
  </dgm:ptLst>
  <dgm:cxnLst>
    <dgm:cxn modelId="{BCDA642A-7C62-44A2-8FFC-C54F8C2C7266}" type="presOf" srcId="{EA4CADCD-FD24-48CA-9C3C-5A0FB841DA57}" destId="{66AAC9CC-F956-47C0-9D23-71092DF7F66F}" srcOrd="0" destOrd="0" presId="urn:microsoft.com/office/officeart/2008/layout/LinedList"/>
    <dgm:cxn modelId="{A28E823F-D2D2-42F8-942E-2281066D368B}" srcId="{994F24FC-3144-40B3-B81F-00B6182408F6}" destId="{82B1BE46-1E66-48D4-B33A-6F1FEB14B9B2}" srcOrd="5" destOrd="0" parTransId="{C3CEE63D-CC2B-4E19-88C6-35A636B10058}" sibTransId="{58033344-9909-4747-829B-06AC030660B8}"/>
    <dgm:cxn modelId="{C062FF7F-870F-4ECF-8EAF-491863742530}" srcId="{994F24FC-3144-40B3-B81F-00B6182408F6}" destId="{11B3B51D-74CC-4180-BD39-4C5B35BB9E03}" srcOrd="2" destOrd="0" parTransId="{24A34395-E918-4BC8-B393-18A1F12CCF31}" sibTransId="{40317CB0-B385-4DED-A8FF-B398419FE95B}"/>
    <dgm:cxn modelId="{57D02381-FABA-4E6F-B249-9AB4ECC95D3F}" type="presOf" srcId="{11B3B51D-74CC-4180-BD39-4C5B35BB9E03}" destId="{63400FD2-0B6A-4686-AA73-2422EE51441E}" srcOrd="0" destOrd="0" presId="urn:microsoft.com/office/officeart/2008/layout/LinedList"/>
    <dgm:cxn modelId="{28F8EC90-0351-44DA-95C0-873DBE9BAC9A}" type="presOf" srcId="{82B1BE46-1E66-48D4-B33A-6F1FEB14B9B2}" destId="{78BA6027-BBF7-4350-B395-E047783C8EC5}" srcOrd="0" destOrd="0" presId="urn:microsoft.com/office/officeart/2008/layout/LinedList"/>
    <dgm:cxn modelId="{02898696-8122-4829-82C5-1CA0092CCA8A}" type="presOf" srcId="{994F24FC-3144-40B3-B81F-00B6182408F6}" destId="{88FA023E-54AD-484B-BC8A-FE27EA9FECE8}" srcOrd="0" destOrd="0" presId="urn:microsoft.com/office/officeart/2008/layout/LinedList"/>
    <dgm:cxn modelId="{9509EC96-52E5-4DFC-81AE-1BC42EA106DA}" type="presOf" srcId="{D98492D5-36DA-48C0-A81F-1AE41D6A9A54}" destId="{B463D00B-4402-4E27-B491-CFE39970AB4B}" srcOrd="0" destOrd="0" presId="urn:microsoft.com/office/officeart/2008/layout/LinedList"/>
    <dgm:cxn modelId="{E8488097-3A8E-4A4C-8633-EF8A6541B12A}" type="presOf" srcId="{BC618B4A-23B5-4C66-BE75-611FFA321465}" destId="{C1137A27-84F9-4156-A13F-D973F3B46291}" srcOrd="0" destOrd="0" presId="urn:microsoft.com/office/officeart/2008/layout/LinedList"/>
    <dgm:cxn modelId="{F354FABD-BA0F-4B82-B86D-D56C4DF2EAD5}" srcId="{994F24FC-3144-40B3-B81F-00B6182408F6}" destId="{D98492D5-36DA-48C0-A81F-1AE41D6A9A54}" srcOrd="1" destOrd="0" parTransId="{14AB0DA3-AAA2-48C0-AB72-F84C7BAA1EF0}" sibTransId="{97EF2BB0-F7C4-4EA4-96F6-88D82F382682}"/>
    <dgm:cxn modelId="{A15110CA-7AB9-4633-915E-7D5FCEB63FDF}" type="presOf" srcId="{AF93F13E-9FEF-4BE1-9B5E-1515E4D77568}" destId="{0F60CD89-3E58-4BA9-9420-0EAD11AFB9F7}" srcOrd="0" destOrd="0" presId="urn:microsoft.com/office/officeart/2008/layout/LinedList"/>
    <dgm:cxn modelId="{C825E6ED-DB0C-4795-B75A-96480E034892}" srcId="{994F24FC-3144-40B3-B81F-00B6182408F6}" destId="{AF93F13E-9FEF-4BE1-9B5E-1515E4D77568}" srcOrd="3" destOrd="0" parTransId="{964FCE04-C5BB-4695-82E3-0DB23D24FF7B}" sibTransId="{89D2CF7E-1571-4071-BFA6-E7B19251B50C}"/>
    <dgm:cxn modelId="{AAB7F8F3-3EC8-41FC-9FB1-38552A8E2B2A}" srcId="{994F24FC-3144-40B3-B81F-00B6182408F6}" destId="{EA4CADCD-FD24-48CA-9C3C-5A0FB841DA57}" srcOrd="4" destOrd="0" parTransId="{36DB36D8-3737-42FC-81B1-CE2FE1C8FAD2}" sibTransId="{1B75EEA4-CC0C-4B33-A451-9477B2B71F7F}"/>
    <dgm:cxn modelId="{01861EF4-FB14-434C-BB66-E0D48E344960}" srcId="{994F24FC-3144-40B3-B81F-00B6182408F6}" destId="{BC618B4A-23B5-4C66-BE75-611FFA321465}" srcOrd="0" destOrd="0" parTransId="{D3E0C18A-3DCC-4B77-A6A2-00DE66B2BC4B}" sibTransId="{262FCB8A-D38B-4169-AA9D-1CC2FE8876D3}"/>
    <dgm:cxn modelId="{6036AF23-05F3-43FF-AFB6-E926B3C99C90}" type="presParOf" srcId="{88FA023E-54AD-484B-BC8A-FE27EA9FECE8}" destId="{0374DDD0-8CD3-4152-A82A-27F86FDE54EE}" srcOrd="0" destOrd="0" presId="urn:microsoft.com/office/officeart/2008/layout/LinedList"/>
    <dgm:cxn modelId="{D6546CF0-8E6E-4DF4-9B3D-222FE77B45E2}" type="presParOf" srcId="{88FA023E-54AD-484B-BC8A-FE27EA9FECE8}" destId="{9FFCD465-0DB5-439A-BB18-B932C1BE6A07}" srcOrd="1" destOrd="0" presId="urn:microsoft.com/office/officeart/2008/layout/LinedList"/>
    <dgm:cxn modelId="{92468A24-1BDE-4F57-A4F2-E8D260E25840}" type="presParOf" srcId="{9FFCD465-0DB5-439A-BB18-B932C1BE6A07}" destId="{C1137A27-84F9-4156-A13F-D973F3B46291}" srcOrd="0" destOrd="0" presId="urn:microsoft.com/office/officeart/2008/layout/LinedList"/>
    <dgm:cxn modelId="{0CB8B8C1-B9A4-46D5-8CC3-BDF409740D7D}" type="presParOf" srcId="{9FFCD465-0DB5-439A-BB18-B932C1BE6A07}" destId="{4B39946F-2569-4594-B8F3-9E29741AC752}" srcOrd="1" destOrd="0" presId="urn:microsoft.com/office/officeart/2008/layout/LinedList"/>
    <dgm:cxn modelId="{6699DCB2-CB1D-48A5-8C20-87F579D66943}" type="presParOf" srcId="{88FA023E-54AD-484B-BC8A-FE27EA9FECE8}" destId="{216478B8-689A-4AD1-B0E8-3ACD6F47B69B}" srcOrd="2" destOrd="0" presId="urn:microsoft.com/office/officeart/2008/layout/LinedList"/>
    <dgm:cxn modelId="{1D90089F-0193-40F3-A31E-6EADB58E338A}" type="presParOf" srcId="{88FA023E-54AD-484B-BC8A-FE27EA9FECE8}" destId="{DC093087-A4A4-4B4A-AAC0-E805A6F69EED}" srcOrd="3" destOrd="0" presId="urn:microsoft.com/office/officeart/2008/layout/LinedList"/>
    <dgm:cxn modelId="{AAD22C66-257A-468A-985A-EF83027EEB72}" type="presParOf" srcId="{DC093087-A4A4-4B4A-AAC0-E805A6F69EED}" destId="{B463D00B-4402-4E27-B491-CFE39970AB4B}" srcOrd="0" destOrd="0" presId="urn:microsoft.com/office/officeart/2008/layout/LinedList"/>
    <dgm:cxn modelId="{03CC286C-EF80-49CA-972A-1BBF133B7D03}" type="presParOf" srcId="{DC093087-A4A4-4B4A-AAC0-E805A6F69EED}" destId="{CEB434C8-2514-4779-9816-4A4FEA879880}" srcOrd="1" destOrd="0" presId="urn:microsoft.com/office/officeart/2008/layout/LinedList"/>
    <dgm:cxn modelId="{3A959220-6890-4122-AEE9-62088EE58C48}" type="presParOf" srcId="{88FA023E-54AD-484B-BC8A-FE27EA9FECE8}" destId="{DA3B0FB5-CED3-44DB-A6E8-6C68DCE23F2B}" srcOrd="4" destOrd="0" presId="urn:microsoft.com/office/officeart/2008/layout/LinedList"/>
    <dgm:cxn modelId="{34A8B60A-DB90-47BB-BA4A-7C8CC61266A7}" type="presParOf" srcId="{88FA023E-54AD-484B-BC8A-FE27EA9FECE8}" destId="{8B7A5EC7-8510-4EEF-B064-BF320B6C5695}" srcOrd="5" destOrd="0" presId="urn:microsoft.com/office/officeart/2008/layout/LinedList"/>
    <dgm:cxn modelId="{838E02CC-0ABC-4F8E-B0C5-628EDA670E51}" type="presParOf" srcId="{8B7A5EC7-8510-4EEF-B064-BF320B6C5695}" destId="{63400FD2-0B6A-4686-AA73-2422EE51441E}" srcOrd="0" destOrd="0" presId="urn:microsoft.com/office/officeart/2008/layout/LinedList"/>
    <dgm:cxn modelId="{EDDF3C32-A897-412E-8E96-8ADE571C5A94}" type="presParOf" srcId="{8B7A5EC7-8510-4EEF-B064-BF320B6C5695}" destId="{7BEE6214-20F5-411C-93FB-AC2D5EE79A29}" srcOrd="1" destOrd="0" presId="urn:microsoft.com/office/officeart/2008/layout/LinedList"/>
    <dgm:cxn modelId="{B49FEC76-7EDE-42BC-B35A-9646DD3B04D3}" type="presParOf" srcId="{88FA023E-54AD-484B-BC8A-FE27EA9FECE8}" destId="{F7075B4B-AA3B-43A0-AB99-106729F52B9C}" srcOrd="6" destOrd="0" presId="urn:microsoft.com/office/officeart/2008/layout/LinedList"/>
    <dgm:cxn modelId="{D80EEFB8-B2B2-4382-98C8-11360A98549A}" type="presParOf" srcId="{88FA023E-54AD-484B-BC8A-FE27EA9FECE8}" destId="{5AE2F9AA-7929-4CEC-B206-51458E447398}" srcOrd="7" destOrd="0" presId="urn:microsoft.com/office/officeart/2008/layout/LinedList"/>
    <dgm:cxn modelId="{034DC80B-A6F5-428C-B65B-B563C80B3F06}" type="presParOf" srcId="{5AE2F9AA-7929-4CEC-B206-51458E447398}" destId="{0F60CD89-3E58-4BA9-9420-0EAD11AFB9F7}" srcOrd="0" destOrd="0" presId="urn:microsoft.com/office/officeart/2008/layout/LinedList"/>
    <dgm:cxn modelId="{6770E18F-25BF-4FC6-85F7-BC05BC2C7139}" type="presParOf" srcId="{5AE2F9AA-7929-4CEC-B206-51458E447398}" destId="{B83C1DA5-C683-4F74-930B-B4E4DD193BCE}" srcOrd="1" destOrd="0" presId="urn:microsoft.com/office/officeart/2008/layout/LinedList"/>
    <dgm:cxn modelId="{326A9714-85FF-4630-9005-DF2A321B38EA}" type="presParOf" srcId="{88FA023E-54AD-484B-BC8A-FE27EA9FECE8}" destId="{1B35852D-F33E-4D84-9494-A8152788C8CA}" srcOrd="8" destOrd="0" presId="urn:microsoft.com/office/officeart/2008/layout/LinedList"/>
    <dgm:cxn modelId="{4AD34D5E-9AA0-4029-92EF-24A731ACFA6A}" type="presParOf" srcId="{88FA023E-54AD-484B-BC8A-FE27EA9FECE8}" destId="{3EFBD07B-BB94-4CE2-A156-787E7C870A58}" srcOrd="9" destOrd="0" presId="urn:microsoft.com/office/officeart/2008/layout/LinedList"/>
    <dgm:cxn modelId="{3FFADBC8-5BB3-4C5B-B2B2-BBB23B66F355}" type="presParOf" srcId="{3EFBD07B-BB94-4CE2-A156-787E7C870A58}" destId="{66AAC9CC-F956-47C0-9D23-71092DF7F66F}" srcOrd="0" destOrd="0" presId="urn:microsoft.com/office/officeart/2008/layout/LinedList"/>
    <dgm:cxn modelId="{B6B49221-B214-471B-B353-5ED4692787CD}" type="presParOf" srcId="{3EFBD07B-BB94-4CE2-A156-787E7C870A58}" destId="{A3650021-D056-4BDB-BE6A-737B884E7F5E}" srcOrd="1" destOrd="0" presId="urn:microsoft.com/office/officeart/2008/layout/LinedList"/>
    <dgm:cxn modelId="{AE127D24-1C1D-48DA-9BE1-B1A156BB86A1}" type="presParOf" srcId="{88FA023E-54AD-484B-BC8A-FE27EA9FECE8}" destId="{22C28A23-1307-4CD2-AF45-5FFBE11588CC}" srcOrd="10" destOrd="0" presId="urn:microsoft.com/office/officeart/2008/layout/LinedList"/>
    <dgm:cxn modelId="{29CE9017-22E8-410E-9A63-B40DCF24BA54}" type="presParOf" srcId="{88FA023E-54AD-484B-BC8A-FE27EA9FECE8}" destId="{A51125A5-228F-4ED8-8451-786E78ADAAA5}" srcOrd="11" destOrd="0" presId="urn:microsoft.com/office/officeart/2008/layout/LinedList"/>
    <dgm:cxn modelId="{2E4ED667-EF82-49F5-AD38-1DF365C63661}" type="presParOf" srcId="{A51125A5-228F-4ED8-8451-786E78ADAAA5}" destId="{78BA6027-BBF7-4350-B395-E047783C8EC5}" srcOrd="0" destOrd="0" presId="urn:microsoft.com/office/officeart/2008/layout/LinedList"/>
    <dgm:cxn modelId="{5C89D313-B318-4749-8B8E-18D067F3598C}" type="presParOf" srcId="{A51125A5-228F-4ED8-8451-786E78ADAAA5}" destId="{1FF2F26C-866B-4F9E-AC4C-D1849F62232B}"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E6FCD0EA-133A-43A6-855B-B72EC1ECBCE4}">
      <dgm:prSet custT="1"/>
      <dgm:spPr/>
      <dgm:t>
        <a:bodyPr/>
        <a:lstStyle/>
        <a:p>
          <a:r>
            <a:rPr lang="uk-UA" sz="1100" dirty="0"/>
            <a:t>вперше запропоновано метод дистанційної ідентифікації параметрів динамічних об'єктів, що ґрунтується на поєднанні </a:t>
          </a:r>
          <a:r>
            <a:rPr lang="uk-UA" sz="1100" dirty="0" err="1"/>
            <a:t>трансформерної</a:t>
          </a:r>
          <a:r>
            <a:rPr lang="uk-UA" sz="1100" dirty="0"/>
            <a:t> моделі виявлення об'єктів </a:t>
          </a:r>
          <a:r>
            <a:rPr lang="en-US" sz="1100" dirty="0" err="1"/>
            <a:t>DEtection</a:t>
          </a:r>
          <a:r>
            <a:rPr lang="en-US" sz="1100" dirty="0"/>
            <a:t> </a:t>
          </a:r>
          <a:r>
            <a:rPr lang="en-US" sz="1100" dirty="0" err="1"/>
            <a:t>TRansformer</a:t>
          </a:r>
          <a:r>
            <a:rPr lang="en-US" sz="1100" dirty="0"/>
            <a:t> (DETR) </a:t>
          </a:r>
          <a:r>
            <a:rPr lang="uk-UA" sz="11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1100" dirty="0" err="1"/>
            <a:t>постобробки</a:t>
          </a:r>
          <a:r>
            <a:rPr lang="uk-UA" sz="1100" dirty="0"/>
            <a:t>;</a:t>
          </a:r>
        </a:p>
      </dgm:t>
    </dgm:pt>
    <dgm:pt modelId="{5A161AA6-5ECD-417A-82B7-34389E753A94}" type="parTrans" cxnId="{7121362B-7C5F-4A9D-995F-8DBF6903AD14}">
      <dgm:prSet/>
      <dgm:spPr/>
      <dgm:t>
        <a:bodyPr/>
        <a:lstStyle/>
        <a:p>
          <a:endParaRPr lang="en-US"/>
        </a:p>
      </dgm:t>
    </dgm:pt>
    <dgm:pt modelId="{972FDB72-F1CC-4112-A9B0-6949E2474C96}" type="sibTrans" cxnId="{7121362B-7C5F-4A9D-995F-8DBF6903AD14}">
      <dgm:prSet/>
      <dgm:spPr/>
      <dgm:t>
        <a:bodyPr/>
        <a:lstStyle/>
        <a:p>
          <a:endParaRPr lang="en-US"/>
        </a:p>
      </dgm:t>
    </dgm:pt>
    <dgm:pt modelId="{2CEC5821-0269-42A2-B3AC-7924A42E3646}">
      <dgm:prSet custT="1"/>
      <dgm:spPr/>
      <dgm:t>
        <a:bodyPr/>
        <a:lstStyle/>
        <a:p>
          <a:r>
            <a:rPr lang="uk-UA" sz="1100" dirty="0"/>
            <a:t>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1100" dirty="0" err="1"/>
            <a:t>нейромережевих</a:t>
          </a:r>
          <a:r>
            <a:rPr lang="uk-UA" sz="1100" dirty="0"/>
            <a:t> </a:t>
          </a:r>
          <a:r>
            <a:rPr lang="uk-UA" sz="1100" dirty="0" err="1"/>
            <a:t>архітектур</a:t>
          </a:r>
          <a:r>
            <a:rPr lang="uk-UA" sz="1100" dirty="0"/>
            <a:t> </a:t>
          </a:r>
          <a:r>
            <a:rPr lang="en-US" sz="1100" dirty="0" err="1"/>
            <a:t>FlowNet</a:t>
          </a:r>
          <a:r>
            <a:rPr lang="en-US" sz="1100" dirty="0"/>
            <a:t> </a:t>
          </a:r>
          <a:r>
            <a:rPr lang="uk-UA" sz="1100" dirty="0"/>
            <a:t>та </a:t>
          </a:r>
          <a:r>
            <a:rPr lang="en-US" sz="1100" dirty="0" err="1"/>
            <a:t>GeoNet</a:t>
          </a:r>
          <a:r>
            <a:rPr lang="en-US" sz="1100" dirty="0"/>
            <a:t>, </a:t>
          </a:r>
          <a:r>
            <a:rPr lang="uk-UA" sz="11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gm:t>
    </dgm:pt>
    <dgm:pt modelId="{E1FE5AD9-F2F0-4F64-A40D-D9242EFB0F05}" type="parTrans" cxnId="{66667883-C045-4708-B9B5-69D61C463643}">
      <dgm:prSet/>
      <dgm:spPr/>
      <dgm:t>
        <a:bodyPr/>
        <a:lstStyle/>
        <a:p>
          <a:endParaRPr lang="en-US"/>
        </a:p>
      </dgm:t>
    </dgm:pt>
    <dgm:pt modelId="{59ED4E3F-19BE-4D3E-9D16-5AF2E9740DAB}" type="sibTrans" cxnId="{66667883-C045-4708-B9B5-69D61C463643}">
      <dgm:prSet/>
      <dgm:spPr/>
      <dgm:t>
        <a:bodyPr/>
        <a:lstStyle/>
        <a:p>
          <a:endParaRPr lang="en-US"/>
        </a:p>
      </dgm:t>
    </dgm:pt>
    <dgm:pt modelId="{60F0C4EF-B88B-41BA-A8E8-3B8F05382BF5}">
      <dgm:prSet custT="1"/>
      <dgm:spPr/>
      <dgm:t>
        <a:bodyPr/>
        <a:lstStyle/>
        <a:p>
          <a:r>
            <a:rPr lang="uk-UA" sz="1100" dirty="0"/>
            <a:t>удосконалено метод оцінювання глибини сцени шляхом адаптивного комбінування </a:t>
          </a:r>
          <a:r>
            <a:rPr lang="uk-UA" sz="1100" dirty="0" err="1"/>
            <a:t>нейромережевих</a:t>
          </a:r>
          <a:r>
            <a:rPr lang="uk-UA" sz="1100" dirty="0"/>
            <a:t> моделей </a:t>
          </a:r>
          <a:r>
            <a:rPr lang="en-US" sz="1100" dirty="0" err="1"/>
            <a:t>MiDaS</a:t>
          </a:r>
          <a:r>
            <a:rPr lang="en-US" sz="1100" dirty="0"/>
            <a:t>, </a:t>
          </a:r>
          <a:r>
            <a:rPr lang="en-US" sz="1100" dirty="0" err="1"/>
            <a:t>DPT_Large</a:t>
          </a:r>
          <a:r>
            <a:rPr lang="en-US" sz="1100" dirty="0"/>
            <a:t> </a:t>
          </a:r>
          <a:r>
            <a:rPr lang="uk-UA" sz="1100" dirty="0"/>
            <a:t>та </a:t>
          </a:r>
          <a:r>
            <a:rPr lang="en-US" sz="1100" dirty="0" err="1"/>
            <a:t>GeoNet</a:t>
          </a:r>
          <a:r>
            <a:rPr lang="en-US" sz="1100" dirty="0"/>
            <a:t> </a:t>
          </a:r>
          <a:r>
            <a:rPr lang="uk-UA" sz="1100" dirty="0"/>
            <a:t>з ансамблевими підходами </a:t>
          </a:r>
          <a:r>
            <a:rPr lang="en-US" sz="1100" dirty="0"/>
            <a:t>Bagging </a:t>
          </a:r>
          <a:r>
            <a:rPr lang="uk-UA" sz="1100" dirty="0"/>
            <a:t>і </a:t>
          </a:r>
          <a:r>
            <a:rPr lang="en-US" sz="1100" dirty="0"/>
            <a:t>Boosting, </a:t>
          </a:r>
          <a:r>
            <a:rPr lang="uk-UA" sz="1100"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sz="1100" dirty="0"/>
            <a:t>Bagging) </a:t>
          </a:r>
          <a:r>
            <a:rPr lang="uk-UA" sz="1100" dirty="0"/>
            <a:t>та уточнення параметрів на межах об'єктів і в зонах оклюзій (</a:t>
          </a:r>
          <a:r>
            <a:rPr lang="en-US" sz="1100" dirty="0"/>
            <a:t>Boosting), </a:t>
          </a:r>
          <a:r>
            <a:rPr lang="uk-UA" sz="1100" dirty="0"/>
            <a:t>що дозволяє визначати координату </a:t>
          </a:r>
          <a:r>
            <a:rPr lang="en-US" sz="1100" dirty="0"/>
            <a:t>Z (</a:t>
          </a:r>
          <a:r>
            <a:rPr lang="uk-UA" sz="1100" dirty="0"/>
            <a:t>глибину) об'єкта з меншою похибкою навіть при відсутності стереопари або даних </a:t>
          </a:r>
          <a:r>
            <a:rPr lang="en-US" sz="1100" dirty="0"/>
            <a:t>LiDAR;</a:t>
          </a:r>
        </a:p>
      </dgm:t>
    </dgm:pt>
    <dgm:pt modelId="{83D465DE-BCD0-46C4-BCCD-BF3333ED5601}" type="parTrans" cxnId="{4A9C806F-AF7C-44C1-9578-45B19FC57889}">
      <dgm:prSet/>
      <dgm:spPr/>
      <dgm:t>
        <a:bodyPr/>
        <a:lstStyle/>
        <a:p>
          <a:endParaRPr lang="en-US"/>
        </a:p>
      </dgm:t>
    </dgm:pt>
    <dgm:pt modelId="{B33E6490-C12B-4BE4-A10C-2C8BA7A3ADF1}" type="sibTrans" cxnId="{4A9C806F-AF7C-44C1-9578-45B19FC57889}">
      <dgm:prSet/>
      <dgm:spPr/>
      <dgm:t>
        <a:bodyPr/>
        <a:lstStyle/>
        <a:p>
          <a:endParaRPr lang="en-US"/>
        </a:p>
      </dgm:t>
    </dgm:pt>
    <dgm:pt modelId="{599DCDC1-FEA0-482B-A82D-D934AF1C2E10}">
      <dgm:prSet custT="1"/>
      <dgm:spPr/>
      <dgm:t>
        <a:bodyPr/>
        <a:lstStyle/>
        <a:p>
          <a:r>
            <a:rPr lang="uk-UA" sz="1000" dirty="0"/>
            <a:t>удосконалено метод ансамблевої агрегації результатів ідентифікації, а саме застосування </a:t>
          </a:r>
          <a:r>
            <a:rPr lang="uk-UA" sz="1000" dirty="0" err="1"/>
            <a:t>бегінгу</a:t>
          </a:r>
          <a:r>
            <a:rPr lang="uk-UA" sz="1000" dirty="0"/>
            <a:t> (</a:t>
          </a:r>
          <a:r>
            <a:rPr lang="en-US" sz="1000" dirty="0"/>
            <a:t>Bagging) </a:t>
          </a:r>
          <a:r>
            <a:rPr lang="uk-UA" sz="1000" dirty="0"/>
            <a:t>для зменшення дисперсії оцінок глибини шляхом усереднення результатів на різних підвибірках кадрів та </a:t>
          </a:r>
          <a:r>
            <a:rPr lang="uk-UA" sz="1000" dirty="0" err="1"/>
            <a:t>бустінгу</a:t>
          </a:r>
          <a:r>
            <a:rPr lang="uk-UA" sz="1000" dirty="0"/>
            <a:t> (</a:t>
          </a:r>
          <a:r>
            <a:rPr lang="en-US" sz="1000" dirty="0"/>
            <a:t>Boosting) </a:t>
          </a:r>
          <a:r>
            <a:rPr lang="uk-UA" sz="10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1000" dirty="0" err="1"/>
            <a:t>ансамблювання</a:t>
          </a:r>
          <a:r>
            <a:rPr lang="uk-UA" sz="10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gm:t>
    </dgm:pt>
    <dgm:pt modelId="{70DC9026-D3A7-408F-9DF4-1D74F47A9F42}" type="parTrans" cxnId="{50C15459-CED9-49A2-B116-153DCC332EFE}">
      <dgm:prSet/>
      <dgm:spPr/>
      <dgm:t>
        <a:bodyPr/>
        <a:lstStyle/>
        <a:p>
          <a:endParaRPr lang="en-US"/>
        </a:p>
      </dgm:t>
    </dgm:pt>
    <dgm:pt modelId="{391A6456-D5EF-444B-86B7-58D96D6FF93B}" type="sibTrans" cxnId="{50C15459-CED9-49A2-B116-153DCC332EFE}">
      <dgm:prSet/>
      <dgm:spPr/>
      <dgm:t>
        <a:bodyPr/>
        <a:lstStyle/>
        <a:p>
          <a:endParaRPr lang="en-US"/>
        </a:p>
      </dgm:t>
    </dgm:pt>
    <dgm:pt modelId="{2E0033E5-42D0-44FF-86B0-1E558A300C68}">
      <dgm:prSet/>
      <dgm:spPr/>
      <dgm:t>
        <a:bodyPr/>
        <a:lstStyle/>
        <a:p>
          <a:r>
            <a:rPr lang="uk-UA" dirty="0"/>
            <a:t>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gm:t>
    </dgm:pt>
    <dgm:pt modelId="{4C4C992E-EA0A-4D1B-B9E0-6B8477DF11A0}" type="parTrans" cxnId="{383F7287-28CA-4133-95D1-46FCFA4331F1}">
      <dgm:prSet/>
      <dgm:spPr/>
      <dgm:t>
        <a:bodyPr/>
        <a:lstStyle/>
        <a:p>
          <a:endParaRPr lang="en-US"/>
        </a:p>
      </dgm:t>
    </dgm:pt>
    <dgm:pt modelId="{E61602C7-068C-4AE9-8144-783115DB8204}" type="sibTrans" cxnId="{383F7287-28CA-4133-95D1-46FCFA4331F1}">
      <dgm:prSet/>
      <dgm:spPr/>
      <dgm:t>
        <a:bodyPr/>
        <a:lstStyle/>
        <a:p>
          <a:endParaRPr lang="en-US"/>
        </a:p>
      </dgm:t>
    </dgm:pt>
    <dgm:pt modelId="{67B53D1A-9755-4A47-918A-139FC6A7D1E0}">
      <dgm:prSet custT="1"/>
      <dgm:spPr/>
      <dgm:t>
        <a:bodyPr/>
        <a:lstStyle/>
        <a:p>
          <a:r>
            <a:rPr lang="uk-UA" sz="1000" dirty="0"/>
            <a:t>отримав подальший розвиток метод синтезу просторово-часових ознак динамічних об'єктів шляхом інтеграції </a:t>
          </a:r>
          <a:r>
            <a:rPr lang="uk-UA" sz="1000" dirty="0" err="1"/>
            <a:t>трансформерних</a:t>
          </a:r>
          <a:r>
            <a:rPr lang="uk-UA" sz="1000" dirty="0"/>
            <a:t> механізмів уваги з векторними полями оптичного потоку, в якому, на відміну від класичних методів, вектори руху подаються на вхід </a:t>
          </a:r>
          <a:r>
            <a:rPr lang="uk-UA" sz="1000" dirty="0" err="1"/>
            <a:t>трансформерної</a:t>
          </a:r>
          <a:r>
            <a:rPr lang="uk-UA" sz="1000" dirty="0"/>
            <a:t> мережі для моделювання довготривалих просторово-часових </a:t>
          </a:r>
          <a:r>
            <a:rPr lang="uk-UA" sz="1000" dirty="0" err="1"/>
            <a:t>залежностей</a:t>
          </a:r>
          <a:r>
            <a:rPr lang="uk-UA" sz="1000" dirty="0"/>
            <a:t>, що дозволяє виявляти складні </a:t>
          </a:r>
          <a:r>
            <a:rPr lang="uk-UA" sz="1000" dirty="0" err="1"/>
            <a:t>патерни</a:t>
          </a:r>
          <a:r>
            <a:rPr lang="uk-UA" sz="10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1000" dirty="0"/>
        </a:p>
      </dgm:t>
    </dgm:pt>
    <dgm:pt modelId="{AF3D7582-EE27-4331-A5EE-E84B5E65388F}" type="parTrans" cxnId="{63430A6C-D725-4BF6-8149-66D7C6F1D0A8}">
      <dgm:prSet/>
      <dgm:spPr/>
      <dgm:t>
        <a:bodyPr/>
        <a:lstStyle/>
        <a:p>
          <a:endParaRPr lang="en-US"/>
        </a:p>
      </dgm:t>
    </dgm:pt>
    <dgm:pt modelId="{529B0DA9-12F8-4A50-A677-E0A39E9B39F6}" type="sibTrans" cxnId="{63430A6C-D725-4BF6-8149-66D7C6F1D0A8}">
      <dgm:prSet/>
      <dgm:spPr/>
      <dgm:t>
        <a:bodyPr/>
        <a:lstStyle/>
        <a:p>
          <a:endParaRPr lang="en-US"/>
        </a:p>
      </dgm:t>
    </dgm:pt>
    <dgm:pt modelId="{E1AB8F50-B906-41AB-9570-E250DA87A26D}" type="pres">
      <dgm:prSet presAssocID="{994F24FC-3144-40B3-B81F-00B6182408F6}" presName="vert0" presStyleCnt="0">
        <dgm:presLayoutVars>
          <dgm:dir/>
          <dgm:animOne val="branch"/>
          <dgm:animLvl val="lvl"/>
        </dgm:presLayoutVars>
      </dgm:prSet>
      <dgm:spPr/>
    </dgm:pt>
    <dgm:pt modelId="{7223C56A-2E1C-4F7B-A0AF-0176B3906F53}" type="pres">
      <dgm:prSet presAssocID="{E6FCD0EA-133A-43A6-855B-B72EC1ECBCE4}" presName="thickLine" presStyleLbl="alignNode1" presStyleIdx="0" presStyleCnt="6"/>
      <dgm:spPr/>
    </dgm:pt>
    <dgm:pt modelId="{12C9E290-E62D-4508-B3EF-4C54CF009633}" type="pres">
      <dgm:prSet presAssocID="{E6FCD0EA-133A-43A6-855B-B72EC1ECBCE4}" presName="horz1" presStyleCnt="0"/>
      <dgm:spPr/>
    </dgm:pt>
    <dgm:pt modelId="{37AA9705-6D81-4081-87B9-89540CA7EE4A}" type="pres">
      <dgm:prSet presAssocID="{E6FCD0EA-133A-43A6-855B-B72EC1ECBCE4}" presName="tx1" presStyleLbl="revTx" presStyleIdx="0" presStyleCnt="6"/>
      <dgm:spPr/>
    </dgm:pt>
    <dgm:pt modelId="{E94091FD-ECEA-444B-AF9B-03D2FE204D06}" type="pres">
      <dgm:prSet presAssocID="{E6FCD0EA-133A-43A6-855B-B72EC1ECBCE4}" presName="vert1" presStyleCnt="0"/>
      <dgm:spPr/>
    </dgm:pt>
    <dgm:pt modelId="{2BB0E26A-EB03-4B8F-8CCF-920E6E9E5833}" type="pres">
      <dgm:prSet presAssocID="{2CEC5821-0269-42A2-B3AC-7924A42E3646}" presName="thickLine" presStyleLbl="alignNode1" presStyleIdx="1" presStyleCnt="6"/>
      <dgm:spPr/>
    </dgm:pt>
    <dgm:pt modelId="{10078C9C-AD81-466B-89E9-DE99458446FB}" type="pres">
      <dgm:prSet presAssocID="{2CEC5821-0269-42A2-B3AC-7924A42E3646}" presName="horz1" presStyleCnt="0"/>
      <dgm:spPr/>
    </dgm:pt>
    <dgm:pt modelId="{3B5361DD-962A-46CC-B452-F6E1BD44DD37}" type="pres">
      <dgm:prSet presAssocID="{2CEC5821-0269-42A2-B3AC-7924A42E3646}" presName="tx1" presStyleLbl="revTx" presStyleIdx="1" presStyleCnt="6"/>
      <dgm:spPr/>
    </dgm:pt>
    <dgm:pt modelId="{77FCDE3B-84AA-4993-AD20-3F7650922E27}" type="pres">
      <dgm:prSet presAssocID="{2CEC5821-0269-42A2-B3AC-7924A42E3646}" presName="vert1" presStyleCnt="0"/>
      <dgm:spPr/>
    </dgm:pt>
    <dgm:pt modelId="{8A19F7F3-D825-47A9-A329-97D681A62B58}" type="pres">
      <dgm:prSet presAssocID="{60F0C4EF-B88B-41BA-A8E8-3B8F05382BF5}" presName="thickLine" presStyleLbl="alignNode1" presStyleIdx="2" presStyleCnt="6"/>
      <dgm:spPr/>
    </dgm:pt>
    <dgm:pt modelId="{52A7FB3B-8A9F-4101-8715-5287B119E24F}" type="pres">
      <dgm:prSet presAssocID="{60F0C4EF-B88B-41BA-A8E8-3B8F05382BF5}" presName="horz1" presStyleCnt="0"/>
      <dgm:spPr/>
    </dgm:pt>
    <dgm:pt modelId="{40FFB531-F345-4DE4-A1E8-0F3D1DEE8D1E}" type="pres">
      <dgm:prSet presAssocID="{60F0C4EF-B88B-41BA-A8E8-3B8F05382BF5}" presName="tx1" presStyleLbl="revTx" presStyleIdx="2" presStyleCnt="6"/>
      <dgm:spPr/>
    </dgm:pt>
    <dgm:pt modelId="{B7CD1BF8-B7E8-4904-956D-C14CAE091A73}" type="pres">
      <dgm:prSet presAssocID="{60F0C4EF-B88B-41BA-A8E8-3B8F05382BF5}" presName="vert1" presStyleCnt="0"/>
      <dgm:spPr/>
    </dgm:pt>
    <dgm:pt modelId="{6BF8E760-8A1E-4C31-9F11-BF7D76AA7274}" type="pres">
      <dgm:prSet presAssocID="{599DCDC1-FEA0-482B-A82D-D934AF1C2E10}" presName="thickLine" presStyleLbl="alignNode1" presStyleIdx="3" presStyleCnt="6"/>
      <dgm:spPr/>
    </dgm:pt>
    <dgm:pt modelId="{5369C554-4B07-4AA0-A357-FA04F4D55819}" type="pres">
      <dgm:prSet presAssocID="{599DCDC1-FEA0-482B-A82D-D934AF1C2E10}" presName="horz1" presStyleCnt="0"/>
      <dgm:spPr/>
    </dgm:pt>
    <dgm:pt modelId="{A9F58B3D-2D2B-42F6-97F5-E4207E36C68D}" type="pres">
      <dgm:prSet presAssocID="{599DCDC1-FEA0-482B-A82D-D934AF1C2E10}" presName="tx1" presStyleLbl="revTx" presStyleIdx="3" presStyleCnt="6"/>
      <dgm:spPr/>
    </dgm:pt>
    <dgm:pt modelId="{19715F3E-37F8-42B3-BEF8-35ED65C4E741}" type="pres">
      <dgm:prSet presAssocID="{599DCDC1-FEA0-482B-A82D-D934AF1C2E10}" presName="vert1" presStyleCnt="0"/>
      <dgm:spPr/>
    </dgm:pt>
    <dgm:pt modelId="{A3A295DB-008E-4C4F-9D8A-BD87B020E5E3}" type="pres">
      <dgm:prSet presAssocID="{2E0033E5-42D0-44FF-86B0-1E558A300C68}" presName="thickLine" presStyleLbl="alignNode1" presStyleIdx="4" presStyleCnt="6"/>
      <dgm:spPr/>
    </dgm:pt>
    <dgm:pt modelId="{B3970405-39C8-4035-964E-9F9B9AE93AC4}" type="pres">
      <dgm:prSet presAssocID="{2E0033E5-42D0-44FF-86B0-1E558A300C68}" presName="horz1" presStyleCnt="0"/>
      <dgm:spPr/>
    </dgm:pt>
    <dgm:pt modelId="{7801031A-9084-4B9D-8D55-0BC0C991E50E}" type="pres">
      <dgm:prSet presAssocID="{2E0033E5-42D0-44FF-86B0-1E558A300C68}" presName="tx1" presStyleLbl="revTx" presStyleIdx="4" presStyleCnt="6"/>
      <dgm:spPr/>
    </dgm:pt>
    <dgm:pt modelId="{09B31966-2A92-4029-A848-BB425AB7A674}" type="pres">
      <dgm:prSet presAssocID="{2E0033E5-42D0-44FF-86B0-1E558A300C68}" presName="vert1" presStyleCnt="0"/>
      <dgm:spPr/>
    </dgm:pt>
    <dgm:pt modelId="{841E298E-CFFF-4EE1-97F8-AE53B1F07A0C}" type="pres">
      <dgm:prSet presAssocID="{67B53D1A-9755-4A47-918A-139FC6A7D1E0}" presName="thickLine" presStyleLbl="alignNode1" presStyleIdx="5" presStyleCnt="6"/>
      <dgm:spPr/>
    </dgm:pt>
    <dgm:pt modelId="{607B19F8-763C-40D6-8D22-57642CBF6E89}" type="pres">
      <dgm:prSet presAssocID="{67B53D1A-9755-4A47-918A-139FC6A7D1E0}" presName="horz1" presStyleCnt="0"/>
      <dgm:spPr/>
    </dgm:pt>
    <dgm:pt modelId="{4BA085C8-BEFA-48D1-A140-D2F47316876D}" type="pres">
      <dgm:prSet presAssocID="{67B53D1A-9755-4A47-918A-139FC6A7D1E0}" presName="tx1" presStyleLbl="revTx" presStyleIdx="5" presStyleCnt="6"/>
      <dgm:spPr/>
    </dgm:pt>
    <dgm:pt modelId="{F3BFE6DD-69A1-4ED8-8C10-ADC88E345D70}" type="pres">
      <dgm:prSet presAssocID="{67B53D1A-9755-4A47-918A-139FC6A7D1E0}" presName="vert1" presStyleCnt="0"/>
      <dgm:spPr/>
    </dgm:pt>
  </dgm:ptLst>
  <dgm:cxnLst>
    <dgm:cxn modelId="{7121362B-7C5F-4A9D-995F-8DBF6903AD14}" srcId="{994F24FC-3144-40B3-B81F-00B6182408F6}" destId="{E6FCD0EA-133A-43A6-855B-B72EC1ECBCE4}" srcOrd="0" destOrd="0" parTransId="{5A161AA6-5ECD-417A-82B7-34389E753A94}" sibTransId="{972FDB72-F1CC-4112-A9B0-6949E2474C96}"/>
    <dgm:cxn modelId="{0C50F361-A41B-444A-ACB1-EC05CEA0C445}" type="presOf" srcId="{E6FCD0EA-133A-43A6-855B-B72EC1ECBCE4}" destId="{37AA9705-6D81-4081-87B9-89540CA7EE4A}" srcOrd="0" destOrd="0" presId="urn:microsoft.com/office/officeart/2008/layout/LinedList"/>
    <dgm:cxn modelId="{364B1049-6A91-4009-95C6-00D16AFA56AE}" type="presOf" srcId="{994F24FC-3144-40B3-B81F-00B6182408F6}" destId="{E1AB8F50-B906-41AB-9570-E250DA87A26D}" srcOrd="0" destOrd="0" presId="urn:microsoft.com/office/officeart/2008/layout/LinedList"/>
    <dgm:cxn modelId="{E72E8A6A-4118-4650-9B50-0DEFC0B10C82}" type="presOf" srcId="{67B53D1A-9755-4A47-918A-139FC6A7D1E0}" destId="{4BA085C8-BEFA-48D1-A140-D2F47316876D}" srcOrd="0" destOrd="0" presId="urn:microsoft.com/office/officeart/2008/layout/LinedList"/>
    <dgm:cxn modelId="{63430A6C-D725-4BF6-8149-66D7C6F1D0A8}" srcId="{994F24FC-3144-40B3-B81F-00B6182408F6}" destId="{67B53D1A-9755-4A47-918A-139FC6A7D1E0}" srcOrd="5" destOrd="0" parTransId="{AF3D7582-EE27-4331-A5EE-E84B5E65388F}" sibTransId="{529B0DA9-12F8-4A50-A677-E0A39E9B39F6}"/>
    <dgm:cxn modelId="{4A9C806F-AF7C-44C1-9578-45B19FC57889}" srcId="{994F24FC-3144-40B3-B81F-00B6182408F6}" destId="{60F0C4EF-B88B-41BA-A8E8-3B8F05382BF5}" srcOrd="2" destOrd="0" parTransId="{83D465DE-BCD0-46C4-BCCD-BF3333ED5601}" sibTransId="{B33E6490-C12B-4BE4-A10C-2C8BA7A3ADF1}"/>
    <dgm:cxn modelId="{50C15459-CED9-49A2-B116-153DCC332EFE}" srcId="{994F24FC-3144-40B3-B81F-00B6182408F6}" destId="{599DCDC1-FEA0-482B-A82D-D934AF1C2E10}" srcOrd="3" destOrd="0" parTransId="{70DC9026-D3A7-408F-9DF4-1D74F47A9F42}" sibTransId="{391A6456-D5EF-444B-86B7-58D96D6FF93B}"/>
    <dgm:cxn modelId="{66667883-C045-4708-B9B5-69D61C463643}" srcId="{994F24FC-3144-40B3-B81F-00B6182408F6}" destId="{2CEC5821-0269-42A2-B3AC-7924A42E3646}" srcOrd="1" destOrd="0" parTransId="{E1FE5AD9-F2F0-4F64-A40D-D9242EFB0F05}" sibTransId="{59ED4E3F-19BE-4D3E-9D16-5AF2E9740DAB}"/>
    <dgm:cxn modelId="{383F7287-28CA-4133-95D1-46FCFA4331F1}" srcId="{994F24FC-3144-40B3-B81F-00B6182408F6}" destId="{2E0033E5-42D0-44FF-86B0-1E558A300C68}" srcOrd="4" destOrd="0" parTransId="{4C4C992E-EA0A-4D1B-B9E0-6B8477DF11A0}" sibTransId="{E61602C7-068C-4AE9-8144-783115DB8204}"/>
    <dgm:cxn modelId="{EFA8A98B-1053-47DE-9659-48717A08C7D2}" type="presOf" srcId="{2E0033E5-42D0-44FF-86B0-1E558A300C68}" destId="{7801031A-9084-4B9D-8D55-0BC0C991E50E}" srcOrd="0" destOrd="0" presId="urn:microsoft.com/office/officeart/2008/layout/LinedList"/>
    <dgm:cxn modelId="{8EC0299E-1CA0-4933-85C5-C5F2201C1646}" type="presOf" srcId="{599DCDC1-FEA0-482B-A82D-D934AF1C2E10}" destId="{A9F58B3D-2D2B-42F6-97F5-E4207E36C68D}" srcOrd="0" destOrd="0" presId="urn:microsoft.com/office/officeart/2008/layout/LinedList"/>
    <dgm:cxn modelId="{6FF777E6-D139-4B50-9BCB-3297113BC275}" type="presOf" srcId="{60F0C4EF-B88B-41BA-A8E8-3B8F05382BF5}" destId="{40FFB531-F345-4DE4-A1E8-0F3D1DEE8D1E}" srcOrd="0" destOrd="0" presId="urn:microsoft.com/office/officeart/2008/layout/LinedList"/>
    <dgm:cxn modelId="{E617DBF0-115E-4FEC-B64E-FE25A1448353}" type="presOf" srcId="{2CEC5821-0269-42A2-B3AC-7924A42E3646}" destId="{3B5361DD-962A-46CC-B452-F6E1BD44DD37}" srcOrd="0" destOrd="0" presId="urn:microsoft.com/office/officeart/2008/layout/LinedList"/>
    <dgm:cxn modelId="{34B16E3B-EC1C-4B8A-A1B6-E50EB05431C8}" type="presParOf" srcId="{E1AB8F50-B906-41AB-9570-E250DA87A26D}" destId="{7223C56A-2E1C-4F7B-A0AF-0176B3906F53}" srcOrd="0" destOrd="0" presId="urn:microsoft.com/office/officeart/2008/layout/LinedList"/>
    <dgm:cxn modelId="{EF5906AE-14A4-4BEC-8A7A-86449083EFA6}" type="presParOf" srcId="{E1AB8F50-B906-41AB-9570-E250DA87A26D}" destId="{12C9E290-E62D-4508-B3EF-4C54CF009633}" srcOrd="1" destOrd="0" presId="urn:microsoft.com/office/officeart/2008/layout/LinedList"/>
    <dgm:cxn modelId="{A6E59D3D-DD1C-4015-BA9F-D50AD3BE833B}" type="presParOf" srcId="{12C9E290-E62D-4508-B3EF-4C54CF009633}" destId="{37AA9705-6D81-4081-87B9-89540CA7EE4A}" srcOrd="0" destOrd="0" presId="urn:microsoft.com/office/officeart/2008/layout/LinedList"/>
    <dgm:cxn modelId="{9D182EC0-E26F-4566-8F3C-5E280D870323}" type="presParOf" srcId="{12C9E290-E62D-4508-B3EF-4C54CF009633}" destId="{E94091FD-ECEA-444B-AF9B-03D2FE204D06}" srcOrd="1" destOrd="0" presId="urn:microsoft.com/office/officeart/2008/layout/LinedList"/>
    <dgm:cxn modelId="{5722D9EB-12DD-4531-92D5-8D816C1DAA1F}" type="presParOf" srcId="{E1AB8F50-B906-41AB-9570-E250DA87A26D}" destId="{2BB0E26A-EB03-4B8F-8CCF-920E6E9E5833}" srcOrd="2" destOrd="0" presId="urn:microsoft.com/office/officeart/2008/layout/LinedList"/>
    <dgm:cxn modelId="{500D893D-9399-4694-867F-4078CE4CA90F}" type="presParOf" srcId="{E1AB8F50-B906-41AB-9570-E250DA87A26D}" destId="{10078C9C-AD81-466B-89E9-DE99458446FB}" srcOrd="3" destOrd="0" presId="urn:microsoft.com/office/officeart/2008/layout/LinedList"/>
    <dgm:cxn modelId="{F3508DE7-FCFC-4FA7-B3B6-9E1E38782F99}" type="presParOf" srcId="{10078C9C-AD81-466B-89E9-DE99458446FB}" destId="{3B5361DD-962A-46CC-B452-F6E1BD44DD37}" srcOrd="0" destOrd="0" presId="urn:microsoft.com/office/officeart/2008/layout/LinedList"/>
    <dgm:cxn modelId="{BCF10527-3A29-4EF4-8579-FA1F49F0840C}" type="presParOf" srcId="{10078C9C-AD81-466B-89E9-DE99458446FB}" destId="{77FCDE3B-84AA-4993-AD20-3F7650922E27}" srcOrd="1" destOrd="0" presId="urn:microsoft.com/office/officeart/2008/layout/LinedList"/>
    <dgm:cxn modelId="{071F1510-3FD8-4B8C-B0C2-43EC4CBC4ACD}" type="presParOf" srcId="{E1AB8F50-B906-41AB-9570-E250DA87A26D}" destId="{8A19F7F3-D825-47A9-A329-97D681A62B58}" srcOrd="4" destOrd="0" presId="urn:microsoft.com/office/officeart/2008/layout/LinedList"/>
    <dgm:cxn modelId="{F7600807-8826-41C1-9159-91935C4E6B56}" type="presParOf" srcId="{E1AB8F50-B906-41AB-9570-E250DA87A26D}" destId="{52A7FB3B-8A9F-4101-8715-5287B119E24F}" srcOrd="5" destOrd="0" presId="urn:microsoft.com/office/officeart/2008/layout/LinedList"/>
    <dgm:cxn modelId="{EBBA4B60-DA7E-4B62-A158-E79C65FE3E95}" type="presParOf" srcId="{52A7FB3B-8A9F-4101-8715-5287B119E24F}" destId="{40FFB531-F345-4DE4-A1E8-0F3D1DEE8D1E}" srcOrd="0" destOrd="0" presId="urn:microsoft.com/office/officeart/2008/layout/LinedList"/>
    <dgm:cxn modelId="{F515780A-DA37-42D6-9CCE-EABAE3C82B09}" type="presParOf" srcId="{52A7FB3B-8A9F-4101-8715-5287B119E24F}" destId="{B7CD1BF8-B7E8-4904-956D-C14CAE091A73}" srcOrd="1" destOrd="0" presId="urn:microsoft.com/office/officeart/2008/layout/LinedList"/>
    <dgm:cxn modelId="{26DDCEA9-4846-40DF-BF61-0A55D944F80D}" type="presParOf" srcId="{E1AB8F50-B906-41AB-9570-E250DA87A26D}" destId="{6BF8E760-8A1E-4C31-9F11-BF7D76AA7274}" srcOrd="6" destOrd="0" presId="urn:microsoft.com/office/officeart/2008/layout/LinedList"/>
    <dgm:cxn modelId="{116DBF6B-9AD9-4260-8C0C-3D885ADDD417}" type="presParOf" srcId="{E1AB8F50-B906-41AB-9570-E250DA87A26D}" destId="{5369C554-4B07-4AA0-A357-FA04F4D55819}" srcOrd="7" destOrd="0" presId="urn:microsoft.com/office/officeart/2008/layout/LinedList"/>
    <dgm:cxn modelId="{2491B29F-4A2A-4415-B529-36B2C9C8D95F}" type="presParOf" srcId="{5369C554-4B07-4AA0-A357-FA04F4D55819}" destId="{A9F58B3D-2D2B-42F6-97F5-E4207E36C68D}" srcOrd="0" destOrd="0" presId="urn:microsoft.com/office/officeart/2008/layout/LinedList"/>
    <dgm:cxn modelId="{4B852EE7-D765-4675-8C26-1DE1B58B0C07}" type="presParOf" srcId="{5369C554-4B07-4AA0-A357-FA04F4D55819}" destId="{19715F3E-37F8-42B3-BEF8-35ED65C4E741}" srcOrd="1" destOrd="0" presId="urn:microsoft.com/office/officeart/2008/layout/LinedList"/>
    <dgm:cxn modelId="{841ECD3C-1482-45C3-8CEB-282DAD6EBCEF}" type="presParOf" srcId="{E1AB8F50-B906-41AB-9570-E250DA87A26D}" destId="{A3A295DB-008E-4C4F-9D8A-BD87B020E5E3}" srcOrd="8" destOrd="0" presId="urn:microsoft.com/office/officeart/2008/layout/LinedList"/>
    <dgm:cxn modelId="{FB65EBB7-C148-4F0C-9770-B0D4C4FD94F5}" type="presParOf" srcId="{E1AB8F50-B906-41AB-9570-E250DA87A26D}" destId="{B3970405-39C8-4035-964E-9F9B9AE93AC4}" srcOrd="9" destOrd="0" presId="urn:microsoft.com/office/officeart/2008/layout/LinedList"/>
    <dgm:cxn modelId="{D85740DB-5B1A-4436-9502-C213EF725393}" type="presParOf" srcId="{B3970405-39C8-4035-964E-9F9B9AE93AC4}" destId="{7801031A-9084-4B9D-8D55-0BC0C991E50E}" srcOrd="0" destOrd="0" presId="urn:microsoft.com/office/officeart/2008/layout/LinedList"/>
    <dgm:cxn modelId="{A4029123-D661-43A5-BD4D-11605EEDBA0E}" type="presParOf" srcId="{B3970405-39C8-4035-964E-9F9B9AE93AC4}" destId="{09B31966-2A92-4029-A848-BB425AB7A674}" srcOrd="1" destOrd="0" presId="urn:microsoft.com/office/officeart/2008/layout/LinedList"/>
    <dgm:cxn modelId="{1FB17C68-5D5D-487B-AE63-CCD801216260}" type="presParOf" srcId="{E1AB8F50-B906-41AB-9570-E250DA87A26D}" destId="{841E298E-CFFF-4EE1-97F8-AE53B1F07A0C}" srcOrd="10" destOrd="0" presId="urn:microsoft.com/office/officeart/2008/layout/LinedList"/>
    <dgm:cxn modelId="{9709A16B-0E98-4535-9134-F25C557643FB}" type="presParOf" srcId="{E1AB8F50-B906-41AB-9570-E250DA87A26D}" destId="{607B19F8-763C-40D6-8D22-57642CBF6E89}" srcOrd="11" destOrd="0" presId="urn:microsoft.com/office/officeart/2008/layout/LinedList"/>
    <dgm:cxn modelId="{1E038C3E-31C5-416F-BA7E-8E94D7718B61}" type="presParOf" srcId="{607B19F8-763C-40D6-8D22-57642CBF6E89}" destId="{4BA085C8-BEFA-48D1-A140-D2F47316876D}" srcOrd="0" destOrd="0" presId="urn:microsoft.com/office/officeart/2008/layout/LinedList"/>
    <dgm:cxn modelId="{0DFE7589-57FB-4C98-BCB7-FAF682CEE893}" type="presParOf" srcId="{607B19F8-763C-40D6-8D22-57642CBF6E89}" destId="{F3BFE6DD-69A1-4ED8-8C10-ADC88E345D7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1E435F-683E-4708-86DC-C7AFCC742646}"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747E101B-AF86-403A-B581-9BBE690A7899}">
      <dgm:prSet/>
      <dgm:spPr/>
      <dgm:t>
        <a:bodyPr/>
        <a:lstStyle/>
        <a:p>
          <a:r>
            <a:rPr lang="en-US"/>
            <a:t>Безпека та оборона: висока точність відстеження об'єктів у реальному часі для відеоспостереження, БПЛА</a:t>
          </a:r>
        </a:p>
      </dgm:t>
    </dgm:pt>
    <dgm:pt modelId="{A81BDB4D-A032-4998-B221-3D547F9DF8BA}" type="parTrans" cxnId="{EEBC3B8F-CE0D-47DB-A34B-85E54E88DF36}">
      <dgm:prSet/>
      <dgm:spPr/>
      <dgm:t>
        <a:bodyPr/>
        <a:lstStyle/>
        <a:p>
          <a:endParaRPr lang="en-US"/>
        </a:p>
      </dgm:t>
    </dgm:pt>
    <dgm:pt modelId="{44CA2489-88D9-454B-A5FE-257C7FD87787}" type="sibTrans" cxnId="{EEBC3B8F-CE0D-47DB-A34B-85E54E88DF36}">
      <dgm:prSet/>
      <dgm:spPr/>
      <dgm:t>
        <a:bodyPr/>
        <a:lstStyle/>
        <a:p>
          <a:endParaRPr lang="en-US"/>
        </a:p>
      </dgm:t>
    </dgm:pt>
    <dgm:pt modelId="{062F356F-5C6E-4F8D-971D-ECC966C783BE}">
      <dgm:prSet/>
      <dgm:spPr/>
      <dgm:t>
        <a:bodyPr/>
        <a:lstStyle/>
        <a:p>
          <a:r>
            <a:rPr lang="en-US"/>
            <a:t>Автономний транспорт та логістика: уникнення зіткнень на основі швидкості, траєкторії та глибини</a:t>
          </a:r>
        </a:p>
      </dgm:t>
    </dgm:pt>
    <dgm:pt modelId="{4FCCFC8C-DF35-43A2-BC2F-3AF479E43BFE}" type="parTrans" cxnId="{02D57314-1C2C-428A-9497-434CE8F95364}">
      <dgm:prSet/>
      <dgm:spPr/>
      <dgm:t>
        <a:bodyPr/>
        <a:lstStyle/>
        <a:p>
          <a:endParaRPr lang="en-US"/>
        </a:p>
      </dgm:t>
    </dgm:pt>
    <dgm:pt modelId="{5431631A-4BED-4EF4-A793-BCB5458914C8}" type="sibTrans" cxnId="{02D57314-1C2C-428A-9497-434CE8F95364}">
      <dgm:prSet/>
      <dgm:spPr/>
      <dgm:t>
        <a:bodyPr/>
        <a:lstStyle/>
        <a:p>
          <a:endParaRPr lang="en-US"/>
        </a:p>
      </dgm:t>
    </dgm:pt>
    <dgm:pt modelId="{8B0E8F9C-BA93-4522-B490-2CA2967F174B}">
      <dgm:prSet/>
      <dgm:spPr/>
      <dgm:t>
        <a:bodyPr/>
        <a:lstStyle/>
        <a:p>
          <a:r>
            <a:rPr lang="en-US"/>
            <a:t>Цифровізація та економіка: розгортання інтелектуальних систем на мобільних пристроях та вбудованих платформах</a:t>
          </a:r>
        </a:p>
      </dgm:t>
    </dgm:pt>
    <dgm:pt modelId="{00F87E48-E210-4934-A97C-F460E731D276}" type="parTrans" cxnId="{64A23026-9B3C-495D-A08C-281E6AAB9DAA}">
      <dgm:prSet/>
      <dgm:spPr/>
      <dgm:t>
        <a:bodyPr/>
        <a:lstStyle/>
        <a:p>
          <a:endParaRPr lang="en-US"/>
        </a:p>
      </dgm:t>
    </dgm:pt>
    <dgm:pt modelId="{109F93C8-376E-4EE8-9F2A-05FB9B43B188}" type="sibTrans" cxnId="{64A23026-9B3C-495D-A08C-281E6AAB9DAA}">
      <dgm:prSet/>
      <dgm:spPr/>
      <dgm:t>
        <a:bodyPr/>
        <a:lstStyle/>
        <a:p>
          <a:endParaRPr lang="en-US"/>
        </a:p>
      </dgm:t>
    </dgm:pt>
    <dgm:pt modelId="{D6A1F5F6-9D5C-42AB-96C1-7EF05522E439}">
      <dgm:prSet/>
      <dgm:spPr/>
      <dgm:t>
        <a:bodyPr/>
        <a:lstStyle/>
        <a:p>
          <a:r>
            <a:rPr lang="en-US"/>
            <a:t>Медицина: неінвазивна діагностика (швидкість кровотоку, рух серця)</a:t>
          </a:r>
        </a:p>
      </dgm:t>
    </dgm:pt>
    <dgm:pt modelId="{EC4EDA18-459C-485C-9422-6A548854B4E5}" type="parTrans" cxnId="{03A90CA3-F0A2-450B-87B6-C11E721829C3}">
      <dgm:prSet/>
      <dgm:spPr/>
      <dgm:t>
        <a:bodyPr/>
        <a:lstStyle/>
        <a:p>
          <a:endParaRPr lang="en-US"/>
        </a:p>
      </dgm:t>
    </dgm:pt>
    <dgm:pt modelId="{049C339A-5BE1-4503-94E2-5E7DA5AF0B49}" type="sibTrans" cxnId="{03A90CA3-F0A2-450B-87B6-C11E721829C3}">
      <dgm:prSet/>
      <dgm:spPr/>
      <dgm:t>
        <a:bodyPr/>
        <a:lstStyle/>
        <a:p>
          <a:endParaRPr lang="en-US"/>
        </a:p>
      </dgm:t>
    </dgm:pt>
    <dgm:pt modelId="{71867ACE-200E-47C2-A452-931E6BCCC039}" type="pres">
      <dgm:prSet presAssocID="{E71E435F-683E-4708-86DC-C7AFCC742646}" presName="Name0" presStyleCnt="0">
        <dgm:presLayoutVars>
          <dgm:dir/>
          <dgm:animLvl val="lvl"/>
          <dgm:resizeHandles val="exact"/>
        </dgm:presLayoutVars>
      </dgm:prSet>
      <dgm:spPr/>
    </dgm:pt>
    <dgm:pt modelId="{4CD40522-F488-4F46-BC38-E2E4CE6D758A}" type="pres">
      <dgm:prSet presAssocID="{D6A1F5F6-9D5C-42AB-96C1-7EF05522E439}" presName="boxAndChildren" presStyleCnt="0"/>
      <dgm:spPr/>
    </dgm:pt>
    <dgm:pt modelId="{0E0DEA1D-C260-4218-8F97-C0B1649C8AB9}" type="pres">
      <dgm:prSet presAssocID="{D6A1F5F6-9D5C-42AB-96C1-7EF05522E439}" presName="parentTextBox" presStyleLbl="node1" presStyleIdx="0" presStyleCnt="4"/>
      <dgm:spPr/>
    </dgm:pt>
    <dgm:pt modelId="{CD6BBC62-9927-405B-8061-2829DE83282F}" type="pres">
      <dgm:prSet presAssocID="{109F93C8-376E-4EE8-9F2A-05FB9B43B188}" presName="sp" presStyleCnt="0"/>
      <dgm:spPr/>
    </dgm:pt>
    <dgm:pt modelId="{35BD546F-2428-43D1-8E75-1D6B0AEFF579}" type="pres">
      <dgm:prSet presAssocID="{8B0E8F9C-BA93-4522-B490-2CA2967F174B}" presName="arrowAndChildren" presStyleCnt="0"/>
      <dgm:spPr/>
    </dgm:pt>
    <dgm:pt modelId="{1268D6C6-F68D-4EEB-AFB7-DB2AEC72108C}" type="pres">
      <dgm:prSet presAssocID="{8B0E8F9C-BA93-4522-B490-2CA2967F174B}" presName="parentTextArrow" presStyleLbl="node1" presStyleIdx="1" presStyleCnt="4"/>
      <dgm:spPr/>
    </dgm:pt>
    <dgm:pt modelId="{24BA10C7-9661-4B39-9791-A2C38DA470F7}" type="pres">
      <dgm:prSet presAssocID="{5431631A-4BED-4EF4-A793-BCB5458914C8}" presName="sp" presStyleCnt="0"/>
      <dgm:spPr/>
    </dgm:pt>
    <dgm:pt modelId="{59D93DEC-60D3-40D2-9A48-F011FC36900A}" type="pres">
      <dgm:prSet presAssocID="{062F356F-5C6E-4F8D-971D-ECC966C783BE}" presName="arrowAndChildren" presStyleCnt="0"/>
      <dgm:spPr/>
    </dgm:pt>
    <dgm:pt modelId="{6138ACC6-B097-4C71-A2C6-969FFAE76616}" type="pres">
      <dgm:prSet presAssocID="{062F356F-5C6E-4F8D-971D-ECC966C783BE}" presName="parentTextArrow" presStyleLbl="node1" presStyleIdx="2" presStyleCnt="4"/>
      <dgm:spPr/>
    </dgm:pt>
    <dgm:pt modelId="{23E7C5D2-50F5-4A3F-AA89-4DB4854595C8}" type="pres">
      <dgm:prSet presAssocID="{44CA2489-88D9-454B-A5FE-257C7FD87787}" presName="sp" presStyleCnt="0"/>
      <dgm:spPr/>
    </dgm:pt>
    <dgm:pt modelId="{EDCC0372-C30C-4BB8-9667-4D974D26C1AB}" type="pres">
      <dgm:prSet presAssocID="{747E101B-AF86-403A-B581-9BBE690A7899}" presName="arrowAndChildren" presStyleCnt="0"/>
      <dgm:spPr/>
    </dgm:pt>
    <dgm:pt modelId="{33623962-81AA-4C61-8C8E-5D0CA73FE0BF}" type="pres">
      <dgm:prSet presAssocID="{747E101B-AF86-403A-B581-9BBE690A7899}" presName="parentTextArrow" presStyleLbl="node1" presStyleIdx="3" presStyleCnt="4"/>
      <dgm:spPr/>
    </dgm:pt>
  </dgm:ptLst>
  <dgm:cxnLst>
    <dgm:cxn modelId="{02D57314-1C2C-428A-9497-434CE8F95364}" srcId="{E71E435F-683E-4708-86DC-C7AFCC742646}" destId="{062F356F-5C6E-4F8D-971D-ECC966C783BE}" srcOrd="1" destOrd="0" parTransId="{4FCCFC8C-DF35-43A2-BC2F-3AF479E43BFE}" sibTransId="{5431631A-4BED-4EF4-A793-BCB5458914C8}"/>
    <dgm:cxn modelId="{64A23026-9B3C-495D-A08C-281E6AAB9DAA}" srcId="{E71E435F-683E-4708-86DC-C7AFCC742646}" destId="{8B0E8F9C-BA93-4522-B490-2CA2967F174B}" srcOrd="2" destOrd="0" parTransId="{00F87E48-E210-4934-A97C-F460E731D276}" sibTransId="{109F93C8-376E-4EE8-9F2A-05FB9B43B188}"/>
    <dgm:cxn modelId="{F1EAB227-3729-42F3-A797-3C4501D2C8FB}" type="presOf" srcId="{062F356F-5C6E-4F8D-971D-ECC966C783BE}" destId="{6138ACC6-B097-4C71-A2C6-969FFAE76616}" srcOrd="0" destOrd="0" presId="urn:microsoft.com/office/officeart/2005/8/layout/process4"/>
    <dgm:cxn modelId="{C179635F-9AC8-4B3B-9224-CF9B3C0072EE}" type="presOf" srcId="{8B0E8F9C-BA93-4522-B490-2CA2967F174B}" destId="{1268D6C6-F68D-4EEB-AFB7-DB2AEC72108C}" srcOrd="0" destOrd="0" presId="urn:microsoft.com/office/officeart/2005/8/layout/process4"/>
    <dgm:cxn modelId="{EEBC3B8F-CE0D-47DB-A34B-85E54E88DF36}" srcId="{E71E435F-683E-4708-86DC-C7AFCC742646}" destId="{747E101B-AF86-403A-B581-9BBE690A7899}" srcOrd="0" destOrd="0" parTransId="{A81BDB4D-A032-4998-B221-3D547F9DF8BA}" sibTransId="{44CA2489-88D9-454B-A5FE-257C7FD87787}"/>
    <dgm:cxn modelId="{65976D93-2373-4FE1-A766-0FB8C319A31D}" type="presOf" srcId="{D6A1F5F6-9D5C-42AB-96C1-7EF05522E439}" destId="{0E0DEA1D-C260-4218-8F97-C0B1649C8AB9}" srcOrd="0" destOrd="0" presId="urn:microsoft.com/office/officeart/2005/8/layout/process4"/>
    <dgm:cxn modelId="{03A90CA3-F0A2-450B-87B6-C11E721829C3}" srcId="{E71E435F-683E-4708-86DC-C7AFCC742646}" destId="{D6A1F5F6-9D5C-42AB-96C1-7EF05522E439}" srcOrd="3" destOrd="0" parTransId="{EC4EDA18-459C-485C-9422-6A548854B4E5}" sibTransId="{049C339A-5BE1-4503-94E2-5E7DA5AF0B49}"/>
    <dgm:cxn modelId="{F98CF3C7-6045-46F5-9806-BD3F6FC9E02E}" type="presOf" srcId="{E71E435F-683E-4708-86DC-C7AFCC742646}" destId="{71867ACE-200E-47C2-A452-931E6BCCC039}" srcOrd="0" destOrd="0" presId="urn:microsoft.com/office/officeart/2005/8/layout/process4"/>
    <dgm:cxn modelId="{F039BDF7-EE97-450E-B494-1DB0396BDE64}" type="presOf" srcId="{747E101B-AF86-403A-B581-9BBE690A7899}" destId="{33623962-81AA-4C61-8C8E-5D0CA73FE0BF}" srcOrd="0" destOrd="0" presId="urn:microsoft.com/office/officeart/2005/8/layout/process4"/>
    <dgm:cxn modelId="{83AD6820-61EA-414C-8B55-4B59C4BCD137}" type="presParOf" srcId="{71867ACE-200E-47C2-A452-931E6BCCC039}" destId="{4CD40522-F488-4F46-BC38-E2E4CE6D758A}" srcOrd="0" destOrd="0" presId="urn:microsoft.com/office/officeart/2005/8/layout/process4"/>
    <dgm:cxn modelId="{D0ADA116-87A1-47EB-94AF-2B76779407AE}" type="presParOf" srcId="{4CD40522-F488-4F46-BC38-E2E4CE6D758A}" destId="{0E0DEA1D-C260-4218-8F97-C0B1649C8AB9}" srcOrd="0" destOrd="0" presId="urn:microsoft.com/office/officeart/2005/8/layout/process4"/>
    <dgm:cxn modelId="{EB6A3001-CDEE-4D2A-A251-5CE3AAE83124}" type="presParOf" srcId="{71867ACE-200E-47C2-A452-931E6BCCC039}" destId="{CD6BBC62-9927-405B-8061-2829DE83282F}" srcOrd="1" destOrd="0" presId="urn:microsoft.com/office/officeart/2005/8/layout/process4"/>
    <dgm:cxn modelId="{2A14513B-D4DF-4140-BF07-37034A43E9A4}" type="presParOf" srcId="{71867ACE-200E-47C2-A452-931E6BCCC039}" destId="{35BD546F-2428-43D1-8E75-1D6B0AEFF579}" srcOrd="2" destOrd="0" presId="urn:microsoft.com/office/officeart/2005/8/layout/process4"/>
    <dgm:cxn modelId="{BD724498-77C6-4D1B-8268-7C97E81FE9DC}" type="presParOf" srcId="{35BD546F-2428-43D1-8E75-1D6B0AEFF579}" destId="{1268D6C6-F68D-4EEB-AFB7-DB2AEC72108C}" srcOrd="0" destOrd="0" presId="urn:microsoft.com/office/officeart/2005/8/layout/process4"/>
    <dgm:cxn modelId="{628E1951-DA03-4E25-A00E-699517955AED}" type="presParOf" srcId="{71867ACE-200E-47C2-A452-931E6BCCC039}" destId="{24BA10C7-9661-4B39-9791-A2C38DA470F7}" srcOrd="3" destOrd="0" presId="urn:microsoft.com/office/officeart/2005/8/layout/process4"/>
    <dgm:cxn modelId="{8FCDA275-A4A2-41CA-91D2-4652BD96BD29}" type="presParOf" srcId="{71867ACE-200E-47C2-A452-931E6BCCC039}" destId="{59D93DEC-60D3-40D2-9A48-F011FC36900A}" srcOrd="4" destOrd="0" presId="urn:microsoft.com/office/officeart/2005/8/layout/process4"/>
    <dgm:cxn modelId="{85BBDBA1-7A8C-4B69-98F8-70A5648FE14F}" type="presParOf" srcId="{59D93DEC-60D3-40D2-9A48-F011FC36900A}" destId="{6138ACC6-B097-4C71-A2C6-969FFAE76616}" srcOrd="0" destOrd="0" presId="urn:microsoft.com/office/officeart/2005/8/layout/process4"/>
    <dgm:cxn modelId="{08DB8894-447A-4A3A-B0B2-AAED0802631B}" type="presParOf" srcId="{71867ACE-200E-47C2-A452-931E6BCCC039}" destId="{23E7C5D2-50F5-4A3F-AA89-4DB4854595C8}" srcOrd="5" destOrd="0" presId="urn:microsoft.com/office/officeart/2005/8/layout/process4"/>
    <dgm:cxn modelId="{7DD23F8C-D32B-448B-935C-37F6F2F63F48}" type="presParOf" srcId="{71867ACE-200E-47C2-A452-931E6BCCC039}" destId="{EDCC0372-C30C-4BB8-9667-4D974D26C1AB}" srcOrd="6" destOrd="0" presId="urn:microsoft.com/office/officeart/2005/8/layout/process4"/>
    <dgm:cxn modelId="{F6EF2396-2672-4DD4-9130-78531BAD3C44}" type="presParOf" srcId="{EDCC0372-C30C-4BB8-9667-4D974D26C1AB}" destId="{33623962-81AA-4C61-8C8E-5D0CA73FE0BF}"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14874E6-976A-416D-8D6F-28852D514D40}"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3739C084-1BA4-48AE-A077-20FABA689685}">
      <dgm:prSet/>
      <dgm:spPr/>
      <dgm:t>
        <a:bodyPr/>
        <a:lstStyle/>
        <a:p>
          <a:r>
            <a:rPr lang="en-US"/>
            <a:t>1. Розроблено моделі, методи та інформаційну технологію ДІПДО, що поєднує DETR, оптичний потік, оцінку глибини та ансамблі</a:t>
          </a:r>
        </a:p>
      </dgm:t>
    </dgm:pt>
    <dgm:pt modelId="{6750ACA2-6226-4C00-ADB4-2A9F2802AB76}" type="parTrans" cxnId="{43388D9E-032F-4550-9E6E-FBED3B091F34}">
      <dgm:prSet/>
      <dgm:spPr/>
      <dgm:t>
        <a:bodyPr/>
        <a:lstStyle/>
        <a:p>
          <a:endParaRPr lang="en-US"/>
        </a:p>
      </dgm:t>
    </dgm:pt>
    <dgm:pt modelId="{69683633-3EF9-4262-86F5-AD1EAD12B900}" type="sibTrans" cxnId="{43388D9E-032F-4550-9E6E-FBED3B091F34}">
      <dgm:prSet/>
      <dgm:spPr/>
      <dgm:t>
        <a:bodyPr/>
        <a:lstStyle/>
        <a:p>
          <a:endParaRPr lang="en-US"/>
        </a:p>
      </dgm:t>
    </dgm:pt>
    <dgm:pt modelId="{243B2415-C048-453E-ACB7-1BC663977387}">
      <dgm:prSet/>
      <dgm:spPr/>
      <dgm:t>
        <a:bodyPr/>
        <a:lstStyle/>
        <a:p>
          <a:r>
            <a:rPr lang="en-US"/>
            <a:t>2. Запропоновано метод ДІПДО на основі DETR+оптичний потік – одночасне виявлення, відстеження та оцінка параметрів руху</a:t>
          </a:r>
        </a:p>
      </dgm:t>
    </dgm:pt>
    <dgm:pt modelId="{CCB1D449-6612-4CA0-AC38-CECF45FB5372}" type="parTrans" cxnId="{737DCAFF-1B0F-4D5C-A0DC-337A58647C61}">
      <dgm:prSet/>
      <dgm:spPr/>
      <dgm:t>
        <a:bodyPr/>
        <a:lstStyle/>
        <a:p>
          <a:endParaRPr lang="en-US"/>
        </a:p>
      </dgm:t>
    </dgm:pt>
    <dgm:pt modelId="{0A9E0526-01CC-46DE-82C0-54ABAA8F8B84}" type="sibTrans" cxnId="{737DCAFF-1B0F-4D5C-A0DC-337A58647C61}">
      <dgm:prSet/>
      <dgm:spPr/>
      <dgm:t>
        <a:bodyPr/>
        <a:lstStyle/>
        <a:p>
          <a:endParaRPr lang="en-US"/>
        </a:p>
      </dgm:t>
    </dgm:pt>
    <dgm:pt modelId="{50568261-26F5-42BB-8CE7-D78C6430D1ED}">
      <dgm:prSet/>
      <dgm:spPr/>
      <dgm:t>
        <a:bodyPr/>
        <a:lstStyle/>
        <a:p>
          <a:r>
            <a:rPr lang="en-US"/>
            <a:t>3. Удосконалено оцінку глибини шляхом адаптивного комбінування MiDaS, DPT, GeoNet з Bagging та Boosting</a:t>
          </a:r>
        </a:p>
      </dgm:t>
    </dgm:pt>
    <dgm:pt modelId="{52E88D5F-9C18-49FE-8AF1-050934C58DF8}" type="parTrans" cxnId="{EB0B0F7B-9EF0-43F3-85E2-814AE31199CA}">
      <dgm:prSet/>
      <dgm:spPr/>
      <dgm:t>
        <a:bodyPr/>
        <a:lstStyle/>
        <a:p>
          <a:endParaRPr lang="en-US"/>
        </a:p>
      </dgm:t>
    </dgm:pt>
    <dgm:pt modelId="{16CE2BB2-4996-492F-A84D-A6E4FD71C8EA}" type="sibTrans" cxnId="{EB0B0F7B-9EF0-43F3-85E2-814AE31199CA}">
      <dgm:prSet/>
      <dgm:spPr/>
      <dgm:t>
        <a:bodyPr/>
        <a:lstStyle/>
        <a:p>
          <a:endParaRPr lang="en-US"/>
        </a:p>
      </dgm:t>
    </dgm:pt>
    <dgm:pt modelId="{95B61531-64A5-4709-858E-0FC7E804CAAD}">
      <dgm:prSet/>
      <dgm:spPr/>
      <dgm:t>
        <a:bodyPr/>
        <a:lstStyle/>
        <a:p>
          <a:r>
            <a:rPr lang="en-US"/>
            <a:t>4. Експериментально підтверджено перевагу Bagging (RMSE=0,713, IoU=0,996) над окремими моделями</a:t>
          </a:r>
        </a:p>
      </dgm:t>
    </dgm:pt>
    <dgm:pt modelId="{806BBF3E-78EF-4317-83FC-6485BEC6ECD9}" type="parTrans" cxnId="{F10CE0F6-FF42-463D-8776-96B18F2AE197}">
      <dgm:prSet/>
      <dgm:spPr/>
      <dgm:t>
        <a:bodyPr/>
        <a:lstStyle/>
        <a:p>
          <a:endParaRPr lang="en-US"/>
        </a:p>
      </dgm:t>
    </dgm:pt>
    <dgm:pt modelId="{ECE11DCF-69B2-4A1F-A979-538756CE2FFD}" type="sibTrans" cxnId="{F10CE0F6-FF42-463D-8776-96B18F2AE197}">
      <dgm:prSet/>
      <dgm:spPr/>
      <dgm:t>
        <a:bodyPr/>
        <a:lstStyle/>
        <a:p>
          <a:endParaRPr lang="en-US"/>
        </a:p>
      </dgm:t>
    </dgm:pt>
    <dgm:pt modelId="{190FCF2D-200A-4F41-ACF9-F7B22844CCE2}">
      <dgm:prSet/>
      <dgm:spPr/>
      <dgm:t>
        <a:bodyPr/>
        <a:lstStyle/>
        <a:p>
          <a:r>
            <a:rPr lang="en-US"/>
            <a:t>5. Система працює в реальному часі, стійка до шумів, оклюзій та зміни освітлення</a:t>
          </a:r>
        </a:p>
      </dgm:t>
    </dgm:pt>
    <dgm:pt modelId="{EE7D3332-F5CF-49D7-ABD4-B2D0DD56EA25}" type="parTrans" cxnId="{5C393486-5257-47C1-815A-FA0EAC66D740}">
      <dgm:prSet/>
      <dgm:spPr/>
      <dgm:t>
        <a:bodyPr/>
        <a:lstStyle/>
        <a:p>
          <a:endParaRPr lang="en-US"/>
        </a:p>
      </dgm:t>
    </dgm:pt>
    <dgm:pt modelId="{4F3FE79E-CC81-44AA-BBF2-8E7BB6356A55}" type="sibTrans" cxnId="{5C393486-5257-47C1-815A-FA0EAC66D740}">
      <dgm:prSet/>
      <dgm:spPr/>
      <dgm:t>
        <a:bodyPr/>
        <a:lstStyle/>
        <a:p>
          <a:endParaRPr lang="en-US"/>
        </a:p>
      </dgm:t>
    </dgm:pt>
    <dgm:pt modelId="{A8D443F9-D5BE-470B-964E-DBA320CCDB9E}" type="pres">
      <dgm:prSet presAssocID="{B14874E6-976A-416D-8D6F-28852D514D40}" presName="vert0" presStyleCnt="0">
        <dgm:presLayoutVars>
          <dgm:dir/>
          <dgm:animOne val="branch"/>
          <dgm:animLvl val="lvl"/>
        </dgm:presLayoutVars>
      </dgm:prSet>
      <dgm:spPr/>
    </dgm:pt>
    <dgm:pt modelId="{CC466EC8-443D-4550-A37D-8015A9FED052}" type="pres">
      <dgm:prSet presAssocID="{3739C084-1BA4-48AE-A077-20FABA689685}" presName="thickLine" presStyleLbl="alignNode1" presStyleIdx="0" presStyleCnt="5"/>
      <dgm:spPr/>
    </dgm:pt>
    <dgm:pt modelId="{F7290C7D-A97E-4E13-AADE-CC65359B862D}" type="pres">
      <dgm:prSet presAssocID="{3739C084-1BA4-48AE-A077-20FABA689685}" presName="horz1" presStyleCnt="0"/>
      <dgm:spPr/>
    </dgm:pt>
    <dgm:pt modelId="{C356CF0F-A816-45E8-A60D-FD46F475A9EA}" type="pres">
      <dgm:prSet presAssocID="{3739C084-1BA4-48AE-A077-20FABA689685}" presName="tx1" presStyleLbl="revTx" presStyleIdx="0" presStyleCnt="5"/>
      <dgm:spPr/>
    </dgm:pt>
    <dgm:pt modelId="{92F7E614-EBE8-42A9-9505-569E80C8CAAB}" type="pres">
      <dgm:prSet presAssocID="{3739C084-1BA4-48AE-A077-20FABA689685}" presName="vert1" presStyleCnt="0"/>
      <dgm:spPr/>
    </dgm:pt>
    <dgm:pt modelId="{41588650-11FE-4288-9873-8BCDE8B5A815}" type="pres">
      <dgm:prSet presAssocID="{243B2415-C048-453E-ACB7-1BC663977387}" presName="thickLine" presStyleLbl="alignNode1" presStyleIdx="1" presStyleCnt="5"/>
      <dgm:spPr/>
    </dgm:pt>
    <dgm:pt modelId="{F9A96E00-83C6-4F6E-B04D-8B6DC4477A21}" type="pres">
      <dgm:prSet presAssocID="{243B2415-C048-453E-ACB7-1BC663977387}" presName="horz1" presStyleCnt="0"/>
      <dgm:spPr/>
    </dgm:pt>
    <dgm:pt modelId="{426B8762-BC1C-47A1-B05B-EFA749C21368}" type="pres">
      <dgm:prSet presAssocID="{243B2415-C048-453E-ACB7-1BC663977387}" presName="tx1" presStyleLbl="revTx" presStyleIdx="1" presStyleCnt="5"/>
      <dgm:spPr/>
    </dgm:pt>
    <dgm:pt modelId="{E59BF550-6DA8-4B3E-B59F-8D052F9BB21F}" type="pres">
      <dgm:prSet presAssocID="{243B2415-C048-453E-ACB7-1BC663977387}" presName="vert1" presStyleCnt="0"/>
      <dgm:spPr/>
    </dgm:pt>
    <dgm:pt modelId="{EB158BFF-F03C-4530-9279-0E313521376B}" type="pres">
      <dgm:prSet presAssocID="{50568261-26F5-42BB-8CE7-D78C6430D1ED}" presName="thickLine" presStyleLbl="alignNode1" presStyleIdx="2" presStyleCnt="5"/>
      <dgm:spPr/>
    </dgm:pt>
    <dgm:pt modelId="{F0440B7D-E142-4E0E-B6ED-ADECB09152C3}" type="pres">
      <dgm:prSet presAssocID="{50568261-26F5-42BB-8CE7-D78C6430D1ED}" presName="horz1" presStyleCnt="0"/>
      <dgm:spPr/>
    </dgm:pt>
    <dgm:pt modelId="{557C0AA3-B6D8-4C8A-A3CB-F0B79A8E8E9A}" type="pres">
      <dgm:prSet presAssocID="{50568261-26F5-42BB-8CE7-D78C6430D1ED}" presName="tx1" presStyleLbl="revTx" presStyleIdx="2" presStyleCnt="5"/>
      <dgm:spPr/>
    </dgm:pt>
    <dgm:pt modelId="{D2F0E688-AE88-4A98-98B2-7E19D45D215E}" type="pres">
      <dgm:prSet presAssocID="{50568261-26F5-42BB-8CE7-D78C6430D1ED}" presName="vert1" presStyleCnt="0"/>
      <dgm:spPr/>
    </dgm:pt>
    <dgm:pt modelId="{70C86940-7F53-4036-A2BA-E1A520D500E3}" type="pres">
      <dgm:prSet presAssocID="{95B61531-64A5-4709-858E-0FC7E804CAAD}" presName="thickLine" presStyleLbl="alignNode1" presStyleIdx="3" presStyleCnt="5"/>
      <dgm:spPr/>
    </dgm:pt>
    <dgm:pt modelId="{54EB30E2-D20A-4986-893B-BB1A6EE4E1DB}" type="pres">
      <dgm:prSet presAssocID="{95B61531-64A5-4709-858E-0FC7E804CAAD}" presName="horz1" presStyleCnt="0"/>
      <dgm:spPr/>
    </dgm:pt>
    <dgm:pt modelId="{C0751826-CE03-4B78-85F5-50CE2A1298FA}" type="pres">
      <dgm:prSet presAssocID="{95B61531-64A5-4709-858E-0FC7E804CAAD}" presName="tx1" presStyleLbl="revTx" presStyleIdx="3" presStyleCnt="5"/>
      <dgm:spPr/>
    </dgm:pt>
    <dgm:pt modelId="{82260508-E895-4DF9-970E-23D817A55D0B}" type="pres">
      <dgm:prSet presAssocID="{95B61531-64A5-4709-858E-0FC7E804CAAD}" presName="vert1" presStyleCnt="0"/>
      <dgm:spPr/>
    </dgm:pt>
    <dgm:pt modelId="{E3DE8E72-70FA-4073-8176-235A00B087F3}" type="pres">
      <dgm:prSet presAssocID="{190FCF2D-200A-4F41-ACF9-F7B22844CCE2}" presName="thickLine" presStyleLbl="alignNode1" presStyleIdx="4" presStyleCnt="5"/>
      <dgm:spPr/>
    </dgm:pt>
    <dgm:pt modelId="{03AB5896-7B73-4244-9465-F575F9C9C250}" type="pres">
      <dgm:prSet presAssocID="{190FCF2D-200A-4F41-ACF9-F7B22844CCE2}" presName="horz1" presStyleCnt="0"/>
      <dgm:spPr/>
    </dgm:pt>
    <dgm:pt modelId="{46EB799F-BBB3-4C90-ADDA-82487FF8B8A6}" type="pres">
      <dgm:prSet presAssocID="{190FCF2D-200A-4F41-ACF9-F7B22844CCE2}" presName="tx1" presStyleLbl="revTx" presStyleIdx="4" presStyleCnt="5"/>
      <dgm:spPr/>
    </dgm:pt>
    <dgm:pt modelId="{FE225C58-F77C-4A65-B8E6-6A81E536A5EA}" type="pres">
      <dgm:prSet presAssocID="{190FCF2D-200A-4F41-ACF9-F7B22844CCE2}" presName="vert1" presStyleCnt="0"/>
      <dgm:spPr/>
    </dgm:pt>
  </dgm:ptLst>
  <dgm:cxnLst>
    <dgm:cxn modelId="{7983E053-6928-46D3-9683-32EDD1B4D77C}" type="presOf" srcId="{3739C084-1BA4-48AE-A077-20FABA689685}" destId="{C356CF0F-A816-45E8-A60D-FD46F475A9EA}" srcOrd="0" destOrd="0" presId="urn:microsoft.com/office/officeart/2008/layout/LinedList"/>
    <dgm:cxn modelId="{EB0B0F7B-9EF0-43F3-85E2-814AE31199CA}" srcId="{B14874E6-976A-416D-8D6F-28852D514D40}" destId="{50568261-26F5-42BB-8CE7-D78C6430D1ED}" srcOrd="2" destOrd="0" parTransId="{52E88D5F-9C18-49FE-8AF1-050934C58DF8}" sibTransId="{16CE2BB2-4996-492F-A84D-A6E4FD71C8EA}"/>
    <dgm:cxn modelId="{5C393486-5257-47C1-815A-FA0EAC66D740}" srcId="{B14874E6-976A-416D-8D6F-28852D514D40}" destId="{190FCF2D-200A-4F41-ACF9-F7B22844CCE2}" srcOrd="4" destOrd="0" parTransId="{EE7D3332-F5CF-49D7-ABD4-B2D0DD56EA25}" sibTransId="{4F3FE79E-CC81-44AA-BBF2-8E7BB6356A55}"/>
    <dgm:cxn modelId="{43388D9E-032F-4550-9E6E-FBED3B091F34}" srcId="{B14874E6-976A-416D-8D6F-28852D514D40}" destId="{3739C084-1BA4-48AE-A077-20FABA689685}" srcOrd="0" destOrd="0" parTransId="{6750ACA2-6226-4C00-ADB4-2A9F2802AB76}" sibTransId="{69683633-3EF9-4262-86F5-AD1EAD12B900}"/>
    <dgm:cxn modelId="{AE6E4DA6-6E22-4E4A-B247-0A09EF436806}" type="presOf" srcId="{95B61531-64A5-4709-858E-0FC7E804CAAD}" destId="{C0751826-CE03-4B78-85F5-50CE2A1298FA}" srcOrd="0" destOrd="0" presId="urn:microsoft.com/office/officeart/2008/layout/LinedList"/>
    <dgm:cxn modelId="{3CADEFB7-31A6-448C-AD27-00CE8F4D345E}" type="presOf" srcId="{243B2415-C048-453E-ACB7-1BC663977387}" destId="{426B8762-BC1C-47A1-B05B-EFA749C21368}" srcOrd="0" destOrd="0" presId="urn:microsoft.com/office/officeart/2008/layout/LinedList"/>
    <dgm:cxn modelId="{07A37ED0-6164-4E7B-A1F2-C1A0D85968ED}" type="presOf" srcId="{190FCF2D-200A-4F41-ACF9-F7B22844CCE2}" destId="{46EB799F-BBB3-4C90-ADDA-82487FF8B8A6}" srcOrd="0" destOrd="0" presId="urn:microsoft.com/office/officeart/2008/layout/LinedList"/>
    <dgm:cxn modelId="{E6D8DEE3-FC22-4315-BD2C-8C6896C1700E}" type="presOf" srcId="{50568261-26F5-42BB-8CE7-D78C6430D1ED}" destId="{557C0AA3-B6D8-4C8A-A3CB-F0B79A8E8E9A}" srcOrd="0" destOrd="0" presId="urn:microsoft.com/office/officeart/2008/layout/LinedList"/>
    <dgm:cxn modelId="{00EC6BEC-E169-4B66-9E97-847057D89A66}" type="presOf" srcId="{B14874E6-976A-416D-8D6F-28852D514D40}" destId="{A8D443F9-D5BE-470B-964E-DBA320CCDB9E}" srcOrd="0" destOrd="0" presId="urn:microsoft.com/office/officeart/2008/layout/LinedList"/>
    <dgm:cxn modelId="{F10CE0F6-FF42-463D-8776-96B18F2AE197}" srcId="{B14874E6-976A-416D-8D6F-28852D514D40}" destId="{95B61531-64A5-4709-858E-0FC7E804CAAD}" srcOrd="3" destOrd="0" parTransId="{806BBF3E-78EF-4317-83FC-6485BEC6ECD9}" sibTransId="{ECE11DCF-69B2-4A1F-A979-538756CE2FFD}"/>
    <dgm:cxn modelId="{737DCAFF-1B0F-4D5C-A0DC-337A58647C61}" srcId="{B14874E6-976A-416D-8D6F-28852D514D40}" destId="{243B2415-C048-453E-ACB7-1BC663977387}" srcOrd="1" destOrd="0" parTransId="{CCB1D449-6612-4CA0-AC38-CECF45FB5372}" sibTransId="{0A9E0526-01CC-46DE-82C0-54ABAA8F8B84}"/>
    <dgm:cxn modelId="{781828CE-EB32-4189-9065-0D454B772199}" type="presParOf" srcId="{A8D443F9-D5BE-470B-964E-DBA320CCDB9E}" destId="{CC466EC8-443D-4550-A37D-8015A9FED052}" srcOrd="0" destOrd="0" presId="urn:microsoft.com/office/officeart/2008/layout/LinedList"/>
    <dgm:cxn modelId="{FE35E862-F120-4E65-A21B-C2463C4B6B69}" type="presParOf" srcId="{A8D443F9-D5BE-470B-964E-DBA320CCDB9E}" destId="{F7290C7D-A97E-4E13-AADE-CC65359B862D}" srcOrd="1" destOrd="0" presId="urn:microsoft.com/office/officeart/2008/layout/LinedList"/>
    <dgm:cxn modelId="{82D1651A-A6E3-41A7-B89B-8FBDB84C0229}" type="presParOf" srcId="{F7290C7D-A97E-4E13-AADE-CC65359B862D}" destId="{C356CF0F-A816-45E8-A60D-FD46F475A9EA}" srcOrd="0" destOrd="0" presId="urn:microsoft.com/office/officeart/2008/layout/LinedList"/>
    <dgm:cxn modelId="{DF3FCC18-40E6-43A7-8413-B590927A1EDB}" type="presParOf" srcId="{F7290C7D-A97E-4E13-AADE-CC65359B862D}" destId="{92F7E614-EBE8-42A9-9505-569E80C8CAAB}" srcOrd="1" destOrd="0" presId="urn:microsoft.com/office/officeart/2008/layout/LinedList"/>
    <dgm:cxn modelId="{70B84160-8CFE-4BA9-B4C7-B54738CA6211}" type="presParOf" srcId="{A8D443F9-D5BE-470B-964E-DBA320CCDB9E}" destId="{41588650-11FE-4288-9873-8BCDE8B5A815}" srcOrd="2" destOrd="0" presId="urn:microsoft.com/office/officeart/2008/layout/LinedList"/>
    <dgm:cxn modelId="{D25E91EF-A072-49A5-8496-2AECA97ADD7E}" type="presParOf" srcId="{A8D443F9-D5BE-470B-964E-DBA320CCDB9E}" destId="{F9A96E00-83C6-4F6E-B04D-8B6DC4477A21}" srcOrd="3" destOrd="0" presId="urn:microsoft.com/office/officeart/2008/layout/LinedList"/>
    <dgm:cxn modelId="{CD5BEEF9-5521-412E-824A-B42F232A3705}" type="presParOf" srcId="{F9A96E00-83C6-4F6E-B04D-8B6DC4477A21}" destId="{426B8762-BC1C-47A1-B05B-EFA749C21368}" srcOrd="0" destOrd="0" presId="urn:microsoft.com/office/officeart/2008/layout/LinedList"/>
    <dgm:cxn modelId="{CFA5A980-53C4-4A65-8486-E415E62E1553}" type="presParOf" srcId="{F9A96E00-83C6-4F6E-B04D-8B6DC4477A21}" destId="{E59BF550-6DA8-4B3E-B59F-8D052F9BB21F}" srcOrd="1" destOrd="0" presId="urn:microsoft.com/office/officeart/2008/layout/LinedList"/>
    <dgm:cxn modelId="{144B9F01-1B77-4336-B4D4-8AA4081E69D8}" type="presParOf" srcId="{A8D443F9-D5BE-470B-964E-DBA320CCDB9E}" destId="{EB158BFF-F03C-4530-9279-0E313521376B}" srcOrd="4" destOrd="0" presId="urn:microsoft.com/office/officeart/2008/layout/LinedList"/>
    <dgm:cxn modelId="{EBFEBDDE-E469-4EFA-B28D-E8C0AC65201A}" type="presParOf" srcId="{A8D443F9-D5BE-470B-964E-DBA320CCDB9E}" destId="{F0440B7D-E142-4E0E-B6ED-ADECB09152C3}" srcOrd="5" destOrd="0" presId="urn:microsoft.com/office/officeart/2008/layout/LinedList"/>
    <dgm:cxn modelId="{50004558-1F63-46F8-B661-E12EF03DBE05}" type="presParOf" srcId="{F0440B7D-E142-4E0E-B6ED-ADECB09152C3}" destId="{557C0AA3-B6D8-4C8A-A3CB-F0B79A8E8E9A}" srcOrd="0" destOrd="0" presId="urn:microsoft.com/office/officeart/2008/layout/LinedList"/>
    <dgm:cxn modelId="{6493B887-1778-40E6-AE73-70B120A2260E}" type="presParOf" srcId="{F0440B7D-E142-4E0E-B6ED-ADECB09152C3}" destId="{D2F0E688-AE88-4A98-98B2-7E19D45D215E}" srcOrd="1" destOrd="0" presId="urn:microsoft.com/office/officeart/2008/layout/LinedList"/>
    <dgm:cxn modelId="{5FECC11B-AA7E-4F01-A06D-9E4B2BACD062}" type="presParOf" srcId="{A8D443F9-D5BE-470B-964E-DBA320CCDB9E}" destId="{70C86940-7F53-4036-A2BA-E1A520D500E3}" srcOrd="6" destOrd="0" presId="urn:microsoft.com/office/officeart/2008/layout/LinedList"/>
    <dgm:cxn modelId="{911122B8-C80B-40C9-BC6E-3E2FF9B99D63}" type="presParOf" srcId="{A8D443F9-D5BE-470B-964E-DBA320CCDB9E}" destId="{54EB30E2-D20A-4986-893B-BB1A6EE4E1DB}" srcOrd="7" destOrd="0" presId="urn:microsoft.com/office/officeart/2008/layout/LinedList"/>
    <dgm:cxn modelId="{A87B3585-1BD3-41D9-B2C1-715C4C789728}" type="presParOf" srcId="{54EB30E2-D20A-4986-893B-BB1A6EE4E1DB}" destId="{C0751826-CE03-4B78-85F5-50CE2A1298FA}" srcOrd="0" destOrd="0" presId="urn:microsoft.com/office/officeart/2008/layout/LinedList"/>
    <dgm:cxn modelId="{0B50A766-4870-46A5-B0EB-EA31315BB811}" type="presParOf" srcId="{54EB30E2-D20A-4986-893B-BB1A6EE4E1DB}" destId="{82260508-E895-4DF9-970E-23D817A55D0B}" srcOrd="1" destOrd="0" presId="urn:microsoft.com/office/officeart/2008/layout/LinedList"/>
    <dgm:cxn modelId="{D8591356-4DD0-4945-ADBC-9B93FC4BA8A7}" type="presParOf" srcId="{A8D443F9-D5BE-470B-964E-DBA320CCDB9E}" destId="{E3DE8E72-70FA-4073-8176-235A00B087F3}" srcOrd="8" destOrd="0" presId="urn:microsoft.com/office/officeart/2008/layout/LinedList"/>
    <dgm:cxn modelId="{1621B85A-57F7-4189-98F1-7B77F1F3C1D0}" type="presParOf" srcId="{A8D443F9-D5BE-470B-964E-DBA320CCDB9E}" destId="{03AB5896-7B73-4244-9465-F575F9C9C250}" srcOrd="9" destOrd="0" presId="urn:microsoft.com/office/officeart/2008/layout/LinedList"/>
    <dgm:cxn modelId="{563A8E71-10AC-4878-A295-35E0C38430FB}" type="presParOf" srcId="{03AB5896-7B73-4244-9465-F575F9C9C250}" destId="{46EB799F-BBB3-4C90-ADDA-82487FF8B8A6}" srcOrd="0" destOrd="0" presId="urn:microsoft.com/office/officeart/2008/layout/LinedList"/>
    <dgm:cxn modelId="{B54FA0A3-9534-4118-A4DD-01F3107C378E}" type="presParOf" srcId="{03AB5896-7B73-4244-9465-F575F9C9C250}" destId="{FE225C58-F77C-4A65-B8E6-6A81E536A5EA}"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14874E6-976A-416D-8D6F-28852D514D40}" type="doc">
      <dgm:prSet loTypeId="urn:microsoft.com/office/officeart/2008/layout/LinedList" loCatId="list" qsTypeId="urn:microsoft.com/office/officeart/2005/8/quickstyle/simple5" qsCatId="simple" csTypeId="urn:microsoft.com/office/officeart/2005/8/colors/accent1_2" csCatId="accent1" phldr="1"/>
      <dgm:spPr/>
      <dgm:t>
        <a:bodyPr/>
        <a:lstStyle/>
        <a:p>
          <a:endParaRPr lang="en-US"/>
        </a:p>
      </dgm:t>
    </dgm:pt>
    <dgm:pt modelId="{3CC7589C-6DCC-4758-A35D-3280E7DEB802}">
      <dgm:prSet/>
      <dgm:spPr/>
      <dgm:t>
        <a:bodyPr/>
        <a:lstStyle/>
        <a:p>
          <a:r>
            <a:rPr lang="uk-UA" dirty="0"/>
            <a:t>1. Проведено аналіз сучасних задач і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геометричних і структурних параметрів, а також урахування шумів, оклюзій, зміни освітлення та неповноти даних. Визначено, що динамічні об'єкти є складними багатовимірними системами, стан яких безперервно змінюється в часі. Сформовано класифікацію параметрів (просторові, кінематичні, структурні) та методів ідентифікації (</a:t>
          </a:r>
          <a:r>
            <a:rPr lang="uk-UA" dirty="0" err="1"/>
            <a:t>покадрові</a:t>
          </a:r>
          <a:r>
            <a:rPr lang="uk-UA" dirty="0"/>
            <a:t>, послідовні, інтегровані). Проаналізовано еволюцію інформаційних технологій комп'ютерного зору від класичних методів (Віоли-Джонса, ГОГ, деформованих частин) до сучасних </a:t>
          </a:r>
          <a:r>
            <a:rPr lang="uk-UA" dirty="0" err="1"/>
            <a:t>архітектур</a:t>
          </a:r>
          <a:r>
            <a:rPr lang="uk-UA" dirty="0"/>
            <a:t> глибокого навчання (</a:t>
          </a:r>
          <a:r>
            <a:rPr lang="en-US" dirty="0"/>
            <a:t>CNN-</a:t>
          </a:r>
          <a:r>
            <a:rPr lang="uk-UA" dirty="0"/>
            <a:t>детектори </a:t>
          </a:r>
          <a:r>
            <a:rPr lang="en-US" dirty="0"/>
            <a:t>YOLO/SSD, </a:t>
          </a:r>
          <a:r>
            <a:rPr lang="uk-UA" dirty="0" err="1"/>
            <a:t>трансформерний</a:t>
          </a:r>
          <a:r>
            <a:rPr lang="uk-UA" dirty="0"/>
            <a:t> детектор </a:t>
          </a:r>
          <a:r>
            <a:rPr lang="en-US" dirty="0"/>
            <a:t>DETR, </a:t>
          </a:r>
          <a:r>
            <a:rPr lang="uk-UA" dirty="0" err="1"/>
            <a:t>нейромережеві</a:t>
          </a:r>
          <a:r>
            <a:rPr lang="uk-UA" dirty="0"/>
            <a:t> моделі оптичного потоку </a:t>
          </a:r>
          <a:r>
            <a:rPr lang="en-US" dirty="0" err="1"/>
            <a:t>FlowNet</a:t>
          </a:r>
          <a:r>
            <a:rPr lang="en-US" dirty="0"/>
            <a:t>/RAFT </a:t>
          </a:r>
          <a:r>
            <a:rPr lang="uk-UA" dirty="0"/>
            <a:t>та оцінювання глибини </a:t>
          </a:r>
          <a:r>
            <a:rPr lang="en-US" dirty="0" err="1"/>
            <a:t>MiDaS</a:t>
          </a:r>
          <a:r>
            <a:rPr lang="en-US" dirty="0"/>
            <a:t>/DPT). </a:t>
          </a:r>
          <a:r>
            <a:rPr lang="uk-UA" dirty="0"/>
            <a:t>Досліджено методи обчислювального інтелекту, зокрема ансамблеві підходи </a:t>
          </a:r>
          <a:r>
            <a:rPr lang="en-US" dirty="0"/>
            <a:t>Bagging </a:t>
          </a:r>
          <a:r>
            <a:rPr lang="uk-UA" dirty="0"/>
            <a:t>та </a:t>
          </a:r>
          <a:r>
            <a:rPr lang="en-US" dirty="0"/>
            <a:t>Boosting. </a:t>
          </a:r>
          <a:r>
            <a:rPr lang="uk-UA" dirty="0"/>
            <a:t>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 Сформульовано мету та задачі дослідження.</a:t>
          </a:r>
          <a:endParaRPr lang="en-US" dirty="0"/>
        </a:p>
      </dgm:t>
    </dgm:pt>
    <dgm:pt modelId="{443B83F5-FF90-4CFC-984A-8275ACBA6B77}" type="parTrans" cxnId="{A5B9F2F9-DCC6-4C1B-9A7E-2F03B25F4463}">
      <dgm:prSet/>
      <dgm:spPr/>
      <dgm:t>
        <a:bodyPr/>
        <a:lstStyle/>
        <a:p>
          <a:endParaRPr lang="en-US"/>
        </a:p>
      </dgm:t>
    </dgm:pt>
    <dgm:pt modelId="{7F160C6A-6BF3-49A2-AF3C-6D526A45F5CF}" type="sibTrans" cxnId="{A5B9F2F9-DCC6-4C1B-9A7E-2F03B25F4463}">
      <dgm:prSet/>
      <dgm:spPr/>
      <dgm:t>
        <a:bodyPr/>
        <a:lstStyle/>
        <a:p>
          <a:endParaRPr lang="en-US"/>
        </a:p>
      </dgm:t>
    </dgm:pt>
    <dgm:pt modelId="{967C77CE-8CBC-4D07-87D1-CB70595372EA}">
      <dgm:prSet/>
      <dgm:spPr/>
      <dgm:t>
        <a:bodyPr/>
        <a:lstStyle/>
        <a:p>
          <a:r>
            <a:rPr lang="uk-UA" dirty="0"/>
            <a:t>2.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необхідність переходу від окремого детектування до інтегрованого просторово-часового аналізу </a:t>
          </a:r>
          <a:r>
            <a:rPr lang="uk-UA" dirty="0" err="1"/>
            <a:t>відеопотоку</a:t>
          </a:r>
          <a:r>
            <a:rPr lang="uk-UA" dirty="0"/>
            <a:t>. розглянуто методичну основу дистанційної ідентифікації. Проаналізовано класичні методи оптичного потоку: локальний Лукаса-</a:t>
          </a:r>
          <a:r>
            <a:rPr lang="uk-UA" dirty="0" err="1"/>
            <a:t>Канаде</a:t>
          </a:r>
          <a:r>
            <a:rPr lang="uk-UA" dirty="0"/>
            <a:t>, глобальний </a:t>
          </a:r>
          <a:r>
            <a:rPr lang="uk-UA" dirty="0" err="1"/>
            <a:t>Хорна-Шунка</a:t>
          </a:r>
          <a:r>
            <a:rPr lang="uk-UA" dirty="0"/>
            <a:t> та поліноміальний </a:t>
          </a:r>
          <a:r>
            <a:rPr lang="uk-UA" dirty="0" err="1"/>
            <a:t>Фарнебека</a:t>
          </a:r>
          <a:r>
            <a:rPr lang="uk-UA" dirty="0"/>
            <a:t>. Досліджено </a:t>
          </a:r>
          <a:r>
            <a:rPr lang="uk-UA" dirty="0" err="1"/>
            <a:t>нейромережеві</a:t>
          </a:r>
          <a:r>
            <a:rPr lang="uk-UA" dirty="0"/>
            <a:t> моделі аналізу руху: </a:t>
          </a:r>
          <a:r>
            <a:rPr lang="en-US" dirty="0" err="1"/>
            <a:t>FlowNet</a:t>
          </a:r>
          <a:r>
            <a:rPr lang="en-US" dirty="0"/>
            <a:t>, RAFT </a:t>
          </a:r>
          <a:r>
            <a:rPr lang="uk-UA" dirty="0"/>
            <a:t>та </a:t>
          </a:r>
          <a:r>
            <a:rPr lang="en-US" dirty="0" err="1"/>
            <a:t>GeoNet</a:t>
          </a:r>
          <a:r>
            <a:rPr lang="en-US" dirty="0"/>
            <a:t>. </a:t>
          </a:r>
          <a:r>
            <a:rPr lang="uk-UA" dirty="0"/>
            <a:t>Розглянуто ансамблеві методи </a:t>
          </a:r>
          <a:r>
            <a:rPr lang="en-US" dirty="0"/>
            <a:t>Bagging </a:t>
          </a:r>
          <a:r>
            <a:rPr lang="uk-UA" dirty="0"/>
            <a:t>та </a:t>
          </a:r>
          <a:r>
            <a:rPr lang="en-US" dirty="0"/>
            <a:t>Boosting. </a:t>
          </a:r>
          <a:r>
            <a:rPr lang="uk-UA" dirty="0"/>
            <a:t>Запропоновано об'єднання методів через формалізацію просторово-часової моделі, </a:t>
          </a:r>
          <a:r>
            <a:rPr lang="uk-UA" dirty="0" err="1"/>
            <a:t>вектора</a:t>
          </a:r>
          <a:r>
            <a:rPr lang="uk-UA" dirty="0"/>
            <a:t> стану об’єкта та динамічної моделі руху. Визначено формули для обчислення кінематичних параметрів (швидкість, напрямок, положення, траєкторія). Обґрунтовано доцільність комплексного використання детекторів, оптичного потоку та глибини.</a:t>
          </a:r>
          <a:endParaRPr lang="en-US" dirty="0"/>
        </a:p>
      </dgm:t>
    </dgm:pt>
    <dgm:pt modelId="{EB1DCD0F-7A60-4468-880F-53C96CB7CE14}" type="parTrans" cxnId="{4FEC5ACC-21D6-4E71-8435-39A65A612A9C}">
      <dgm:prSet/>
      <dgm:spPr/>
      <dgm:t>
        <a:bodyPr/>
        <a:lstStyle/>
        <a:p>
          <a:endParaRPr lang="en-US"/>
        </a:p>
      </dgm:t>
    </dgm:pt>
    <dgm:pt modelId="{02DBDBD7-22EC-4236-9C48-18EA384E63D0}" type="sibTrans" cxnId="{4FEC5ACC-21D6-4E71-8435-39A65A612A9C}">
      <dgm:prSet/>
      <dgm:spPr/>
      <dgm:t>
        <a:bodyPr/>
        <a:lstStyle/>
        <a:p>
          <a:endParaRPr lang="en-US"/>
        </a:p>
      </dgm:t>
    </dgm:pt>
    <dgm:pt modelId="{5EEA6119-24D9-4094-8CBB-136587A5E237}">
      <dgm:prSet/>
      <dgm:spPr/>
      <dgm:t>
        <a:bodyPr/>
        <a:lstStyle/>
        <a:p>
          <a:r>
            <a:rPr lang="uk-UA"/>
            <a:t>3. Розроблено моделі дистанційної ідентифікації параметрів динамічних об’єктів, які поєднують результати </a:t>
          </a:r>
          <a:r>
            <a:rPr lang="en-US"/>
            <a:t>DETR, </a:t>
          </a:r>
          <a:r>
            <a:rPr lang="uk-UA"/>
            <a:t>алгоритмів оптичного потоку, моделей оцінювання глибини та трансформерних механізмів обробки контексту. Таке поєднання забезпечує отримання більш повного опису стану об’єкта порівняно з використанням лише покадрової детекції. Обґрунтовано використання ансамблевих методів </a:t>
          </a:r>
          <a:r>
            <a:rPr lang="en-US"/>
            <a:t>Bagging </a:t>
          </a:r>
          <a:r>
            <a:rPr lang="uk-UA"/>
            <a:t>і </a:t>
          </a:r>
          <a:r>
            <a:rPr lang="en-US"/>
            <a:t>Boosting </a:t>
          </a:r>
          <a:r>
            <a:rPr lang="uk-UA"/>
            <a:t>для підвищення стійкості результатів ідентифікації. Показано, що бегінг зменшує вплив випадкових шумів та локальних артефактів, а бустінг підвищує точність у складних областях сцени, зокрема на межах об’єктів і в зонах оклюзій. сформовано концепцію моделей дистанційної ідентифікації. Запропоновано загальну концептуальну модель та архітектуру системи у вигляді набору модулів. Розроблено аналітичну модель ідентифікації з використанням </a:t>
          </a:r>
          <a:r>
            <a:rPr lang="en-US"/>
            <a:t>DETR </a:t>
          </a:r>
          <a:r>
            <a:rPr lang="uk-UA"/>
            <a:t>та оптичного потоку. Деталізовано математичні моделі для визначення швидкості, напрямку, положення, траєкторії та прискорення. Запропоновано об’єднання моделей через сумісну оцінку </a:t>
          </a:r>
          <a:r>
            <a:rPr lang="en-US"/>
            <a:t>GeoNet, </a:t>
          </a:r>
          <a:r>
            <a:rPr lang="uk-UA"/>
            <a:t>ансамблеву модель </a:t>
          </a:r>
          <a:r>
            <a:rPr lang="en-US"/>
            <a:t>Bagging </a:t>
          </a:r>
          <a:r>
            <a:rPr lang="uk-UA"/>
            <a:t>та адаптивну модель </a:t>
          </a:r>
          <a:r>
            <a:rPr lang="en-US"/>
            <a:t>Boosting. </a:t>
          </a:r>
          <a:r>
            <a:rPr lang="uk-UA"/>
            <a:t>Інтегральна модель та повна система рівнянь забезпечують перехід від покадрового виявлення до просторово-часового опису динамічного об'єкта.</a:t>
          </a:r>
          <a:endParaRPr lang="en-US"/>
        </a:p>
      </dgm:t>
    </dgm:pt>
    <dgm:pt modelId="{6B0380A2-2C7E-45DE-B80A-E96A203B4A19}" type="parTrans" cxnId="{AAE7FB96-2300-4872-8DFF-CD2B287013ED}">
      <dgm:prSet/>
      <dgm:spPr/>
      <dgm:t>
        <a:bodyPr/>
        <a:lstStyle/>
        <a:p>
          <a:endParaRPr lang="en-US"/>
        </a:p>
      </dgm:t>
    </dgm:pt>
    <dgm:pt modelId="{147D961C-4497-45F6-B7B2-68D0C1E462B3}" type="sibTrans" cxnId="{AAE7FB96-2300-4872-8DFF-CD2B287013ED}">
      <dgm:prSet/>
      <dgm:spPr/>
      <dgm:t>
        <a:bodyPr/>
        <a:lstStyle/>
        <a:p>
          <a:endParaRPr lang="en-US"/>
        </a:p>
      </dgm:t>
    </dgm:pt>
    <dgm:pt modelId="{EC14DEA2-C43A-4125-9A5D-5505C5635C96}">
      <dgm:prSet/>
      <dgm:spPr/>
      <dgm:t>
        <a:bodyPr/>
        <a:lstStyle/>
        <a:p>
          <a:r>
            <a:rPr lang="uk-UA"/>
            <a:t>4. Розроблено структуру інформаційної технології ДІПДО та програмну реалізацію основних етапів обробки: отримання відеоданих, виявлення об’єктів, оцінювання оптичного потоку, побудова карти глибини, об’єднання ознак, розрахунок параметрів руху та візуалізація результатів. Проведено експериментальне порівняння комбінацій методів </a:t>
          </a:r>
          <a:r>
            <a:rPr lang="en-US"/>
            <a:t>Farneback, Lucas–Kanade, Horn–Schunck, FlowNet, GeoNet, MiDaS, DPT_Large, Bagging, Boosting, Blur </a:t>
          </a:r>
          <a:r>
            <a:rPr lang="uk-UA"/>
            <a:t>і </a:t>
          </a:r>
          <a:r>
            <a:rPr lang="en-US"/>
            <a:t>Gradient </a:t>
          </a:r>
          <a:r>
            <a:rPr lang="uk-UA"/>
            <a:t>на тестовому відеопотоці. У тестовому запуску </a:t>
          </a:r>
          <a:r>
            <a:rPr lang="en-US"/>
            <a:t>DETR </a:t>
          </a:r>
          <a:r>
            <a:rPr lang="uk-UA"/>
            <a:t>виявив 6 об’єктів з довірою 0,74–1,00; найбільші швидкості отримано для об’єктів із центрами (658,5; 281,0) і (277,5; 264,0), що підтверджує працездатність інтеграції детекції, оптичного потоку та карти глибини. Водночас результати </a:t>
          </a:r>
          <a:r>
            <a:rPr lang="en-US"/>
            <a:t>FlowNet/GeoNet </a:t>
          </a:r>
          <a:r>
            <a:rPr lang="uk-UA"/>
            <a:t>у цьому запуску є проксі-оцінками, оскільки </a:t>
          </a:r>
          <a:r>
            <a:rPr lang="en-US"/>
            <a:t>RAFT/FlowNet </a:t>
          </a:r>
          <a:r>
            <a:rPr lang="uk-UA"/>
            <a:t>був недоступний і використовувався резервний розрахунок </a:t>
          </a:r>
          <a:r>
            <a:rPr lang="en-US"/>
            <a:t>Farneback. </a:t>
          </a:r>
          <a:r>
            <a:rPr lang="uk-UA"/>
            <a:t>Розроблено структуру інформаційної технології ДІПДО та її програмну реалізацію. Реалізовано модулі </a:t>
          </a:r>
          <a:r>
            <a:rPr lang="en-US"/>
            <a:t>DETR, </a:t>
          </a:r>
          <a:r>
            <a:rPr lang="uk-UA"/>
            <a:t>оптичного потоку (</a:t>
          </a:r>
          <a:r>
            <a:rPr lang="en-US"/>
            <a:t>Farneback, Lucas–Kanade, Horn–Schunck, FlowNet, GeoNet) </a:t>
          </a:r>
          <a:r>
            <a:rPr lang="uk-UA"/>
            <a:t>та оцінювання глибини (</a:t>
          </a:r>
          <a:r>
            <a:rPr lang="en-US"/>
            <a:t>Blur, Gradient, MiDaS, DPT, Bagging, Boosting). </a:t>
          </a:r>
          <a:r>
            <a:rPr lang="uk-UA"/>
            <a:t>Проведено експериментальне тестування на відеопотоці </a:t>
          </a:r>
          <a:r>
            <a:rPr lang="en-US"/>
            <a:t>vtest.avi. DETR </a:t>
          </a:r>
          <a:r>
            <a:rPr lang="uk-UA"/>
            <a:t>виявив 6 об'єктів з довірою 0,74–1,00. Найбільші швидкості отримано для об'єктів 0 (6,526 </a:t>
          </a:r>
          <a:r>
            <a:rPr lang="en-US"/>
            <a:t>px/</a:t>
          </a:r>
          <a:r>
            <a:rPr lang="uk-UA"/>
            <a:t>кадр) та 4 (4,592 </a:t>
          </a:r>
          <a:r>
            <a:rPr lang="en-US"/>
            <a:t>px/</a:t>
          </a:r>
          <a:r>
            <a:rPr lang="uk-UA"/>
            <a:t>кадр). Порівняльний аналіз 35 комбінацій методів показав: </a:t>
          </a:r>
          <a:r>
            <a:rPr lang="en-US"/>
            <a:t>Bagging </a:t>
          </a:r>
          <a:r>
            <a:rPr lang="uk-UA"/>
            <a:t>забезпечив найкращу точність глибини (</a:t>
          </a:r>
          <a:r>
            <a:rPr lang="en-US"/>
            <a:t>RMSE=0,713, PSNR=51,065 </a:t>
          </a:r>
          <a:r>
            <a:rPr lang="uk-UA"/>
            <a:t>дБ, </a:t>
          </a:r>
          <a:r>
            <a:rPr lang="en-US"/>
            <a:t>IoU=0,996); GeoNet-</a:t>
          </a:r>
          <a:r>
            <a:rPr lang="uk-UA"/>
            <a:t>проксі та </a:t>
          </a:r>
          <a:r>
            <a:rPr lang="en-US"/>
            <a:t>DPT_Large </a:t>
          </a:r>
          <a:r>
            <a:rPr lang="uk-UA"/>
            <a:t>також показали високі результати; </a:t>
          </a:r>
          <a:r>
            <a:rPr lang="en-US"/>
            <a:t>Blur </a:t>
          </a:r>
          <a:r>
            <a:rPr lang="uk-UA"/>
            <a:t>та </a:t>
          </a:r>
          <a:r>
            <a:rPr lang="en-US"/>
            <a:t>Gradient </a:t>
          </a:r>
          <a:r>
            <a:rPr lang="uk-UA"/>
            <a:t>виявилися непридатними для надійної ідентифікації. Підтверджено працездатність запропонованої інформаційної технології як модульної системи для дистанційної ідентифікації параметрів динамічних об'єктів. Практичне значення результатів полягає у можливості застосування розроблених моделей і програмних компонентів у системах інтелектуального відеоспостереження, автономного транспорту, робототехніки, промислового моніторингу та підтримки прийняття рішень, де необхідне надійне визначення параметрів рухомих об’єктів у режимі реального часу.</a:t>
          </a:r>
          <a:endParaRPr lang="en-US"/>
        </a:p>
      </dgm:t>
    </dgm:pt>
    <dgm:pt modelId="{3D5BA50B-185B-4713-BAD1-141A79A1B8D2}" type="parTrans" cxnId="{70578C62-5824-4D56-A54E-21914C8595F5}">
      <dgm:prSet/>
      <dgm:spPr/>
      <dgm:t>
        <a:bodyPr/>
        <a:lstStyle/>
        <a:p>
          <a:endParaRPr lang="en-US"/>
        </a:p>
      </dgm:t>
    </dgm:pt>
    <dgm:pt modelId="{0D6767FE-6A13-44D6-AD3D-7BD414564B95}" type="sibTrans" cxnId="{70578C62-5824-4D56-A54E-21914C8595F5}">
      <dgm:prSet/>
      <dgm:spPr/>
      <dgm:t>
        <a:bodyPr/>
        <a:lstStyle/>
        <a:p>
          <a:endParaRPr lang="en-US"/>
        </a:p>
      </dgm:t>
    </dgm:pt>
    <dgm:pt modelId="{8E5483DE-1CE2-4582-BAC2-CC0D35445125}">
      <dgm:prSet/>
      <dgm:spPr/>
      <dgm:t>
        <a:bodyPr/>
        <a:lstStyle/>
        <a:p>
          <a:r>
            <a:rPr lang="uk-UA" dirty="0"/>
            <a:t>Розроблені моделі, методи, інформаційна технологія та програмні засоби дозволяють вирішувати задачі дистанційної ідентифікації параметрів динамічних об'єктів з підвищеною точністю та надійністю. Застосування цих моделей та методів підвищує якість </a:t>
          </a:r>
          <a:r>
            <a:rPr lang="uk-UA" dirty="0" err="1"/>
            <a:t>відеоаналітичних</a:t>
          </a:r>
          <a:r>
            <a:rPr lang="uk-UA" dirty="0"/>
            <a:t> систем, а саме дозволяє ідентифікувати швидкість, напрямок руху, траєкторію та просторове положення об'єктів на основі монокулярних зображень в умовах шумів, оклюзій та зміни освітлення, що критично важливо для систем безпеки та оборони, автономного транспорту, логістики та медичної діагностики.</a:t>
          </a:r>
          <a:endParaRPr lang="en-US" dirty="0"/>
        </a:p>
      </dgm:t>
    </dgm:pt>
    <dgm:pt modelId="{DA4335AA-472A-42EC-B891-4F3543EE60F0}" type="parTrans" cxnId="{E003124A-B7EB-440F-A11B-384C7D97115F}">
      <dgm:prSet/>
      <dgm:spPr/>
      <dgm:t>
        <a:bodyPr/>
        <a:lstStyle/>
        <a:p>
          <a:endParaRPr lang="en-US"/>
        </a:p>
      </dgm:t>
    </dgm:pt>
    <dgm:pt modelId="{A2FD66CB-A851-4D84-920E-BB1974BDED1D}" type="sibTrans" cxnId="{E003124A-B7EB-440F-A11B-384C7D97115F}">
      <dgm:prSet/>
      <dgm:spPr/>
      <dgm:t>
        <a:bodyPr/>
        <a:lstStyle/>
        <a:p>
          <a:endParaRPr lang="en-US"/>
        </a:p>
      </dgm:t>
    </dgm:pt>
    <dgm:pt modelId="{87EB8F43-AB27-4053-97F9-B0AB49747360}">
      <dgm:prSet/>
      <dgm:spPr/>
      <dgm:t>
        <a:bodyPr/>
        <a:lstStyle/>
        <a:p>
          <a:endParaRPr lang="en-US"/>
        </a:p>
      </dgm:t>
    </dgm:pt>
    <dgm:pt modelId="{A73E0109-B2A0-4F31-B780-4DE459941769}" type="parTrans" cxnId="{6EFBB941-449A-4719-BEFC-CF1D8D6F10EF}">
      <dgm:prSet/>
      <dgm:spPr/>
      <dgm:t>
        <a:bodyPr/>
        <a:lstStyle/>
        <a:p>
          <a:endParaRPr lang="en-US"/>
        </a:p>
      </dgm:t>
    </dgm:pt>
    <dgm:pt modelId="{93D0DA2F-7F03-48E8-886A-C4A62B975936}" type="sibTrans" cxnId="{6EFBB941-449A-4719-BEFC-CF1D8D6F10EF}">
      <dgm:prSet/>
      <dgm:spPr/>
      <dgm:t>
        <a:bodyPr/>
        <a:lstStyle/>
        <a:p>
          <a:endParaRPr lang="en-US"/>
        </a:p>
      </dgm:t>
    </dgm:pt>
    <dgm:pt modelId="{E473F229-2D07-4336-9F5D-454D87A9A06E}" type="pres">
      <dgm:prSet presAssocID="{B14874E6-976A-416D-8D6F-28852D514D40}" presName="vert0" presStyleCnt="0">
        <dgm:presLayoutVars>
          <dgm:dir/>
          <dgm:animOne val="branch"/>
          <dgm:animLvl val="lvl"/>
        </dgm:presLayoutVars>
      </dgm:prSet>
      <dgm:spPr/>
    </dgm:pt>
    <dgm:pt modelId="{8D17762C-A1B4-4FF2-8811-F24E2B192066}" type="pres">
      <dgm:prSet presAssocID="{3CC7589C-6DCC-4758-A35D-3280E7DEB802}" presName="thickLine" presStyleLbl="alignNode1" presStyleIdx="0" presStyleCnt="6"/>
      <dgm:spPr/>
    </dgm:pt>
    <dgm:pt modelId="{AAA64AD3-0226-44E7-8C70-FA80DD4EFF2A}" type="pres">
      <dgm:prSet presAssocID="{3CC7589C-6DCC-4758-A35D-3280E7DEB802}" presName="horz1" presStyleCnt="0"/>
      <dgm:spPr/>
    </dgm:pt>
    <dgm:pt modelId="{387FFA92-5140-4C0C-900D-EA34357D8EAF}" type="pres">
      <dgm:prSet presAssocID="{3CC7589C-6DCC-4758-A35D-3280E7DEB802}" presName="tx1" presStyleLbl="revTx" presStyleIdx="0" presStyleCnt="6"/>
      <dgm:spPr/>
    </dgm:pt>
    <dgm:pt modelId="{770596E5-7626-42A6-928A-0801F8432BFC}" type="pres">
      <dgm:prSet presAssocID="{3CC7589C-6DCC-4758-A35D-3280E7DEB802}" presName="vert1" presStyleCnt="0"/>
      <dgm:spPr/>
    </dgm:pt>
    <dgm:pt modelId="{24F96C10-ED76-4013-B746-BA5CB8A2799F}" type="pres">
      <dgm:prSet presAssocID="{967C77CE-8CBC-4D07-87D1-CB70595372EA}" presName="thickLine" presStyleLbl="alignNode1" presStyleIdx="1" presStyleCnt="6"/>
      <dgm:spPr/>
    </dgm:pt>
    <dgm:pt modelId="{F2410217-F770-499D-8357-F1429AA5368F}" type="pres">
      <dgm:prSet presAssocID="{967C77CE-8CBC-4D07-87D1-CB70595372EA}" presName="horz1" presStyleCnt="0"/>
      <dgm:spPr/>
    </dgm:pt>
    <dgm:pt modelId="{73014242-FBE5-4EC8-8A16-33DB7E751DB1}" type="pres">
      <dgm:prSet presAssocID="{967C77CE-8CBC-4D07-87D1-CB70595372EA}" presName="tx1" presStyleLbl="revTx" presStyleIdx="1" presStyleCnt="6"/>
      <dgm:spPr/>
    </dgm:pt>
    <dgm:pt modelId="{D31391D8-D4FF-46D6-94D5-961D53F88C2C}" type="pres">
      <dgm:prSet presAssocID="{967C77CE-8CBC-4D07-87D1-CB70595372EA}" presName="vert1" presStyleCnt="0"/>
      <dgm:spPr/>
    </dgm:pt>
    <dgm:pt modelId="{BC14F401-58AC-4A51-8E70-856E81AFB9F0}" type="pres">
      <dgm:prSet presAssocID="{5EEA6119-24D9-4094-8CBB-136587A5E237}" presName="thickLine" presStyleLbl="alignNode1" presStyleIdx="2" presStyleCnt="6"/>
      <dgm:spPr/>
    </dgm:pt>
    <dgm:pt modelId="{73BBC1E7-4318-407F-BDB3-CFEFDDEB4FAF}" type="pres">
      <dgm:prSet presAssocID="{5EEA6119-24D9-4094-8CBB-136587A5E237}" presName="horz1" presStyleCnt="0"/>
      <dgm:spPr/>
    </dgm:pt>
    <dgm:pt modelId="{67C839C5-408B-4C5E-8BFB-761B022C2CB7}" type="pres">
      <dgm:prSet presAssocID="{5EEA6119-24D9-4094-8CBB-136587A5E237}" presName="tx1" presStyleLbl="revTx" presStyleIdx="2" presStyleCnt="6"/>
      <dgm:spPr/>
    </dgm:pt>
    <dgm:pt modelId="{B732AF69-8C4E-4B24-91D6-E1DFB58CEDD8}" type="pres">
      <dgm:prSet presAssocID="{5EEA6119-24D9-4094-8CBB-136587A5E237}" presName="vert1" presStyleCnt="0"/>
      <dgm:spPr/>
    </dgm:pt>
    <dgm:pt modelId="{38EBF0F0-AC87-4102-AA7C-579FF9B36052}" type="pres">
      <dgm:prSet presAssocID="{EC14DEA2-C43A-4125-9A5D-5505C5635C96}" presName="thickLine" presStyleLbl="alignNode1" presStyleIdx="3" presStyleCnt="6"/>
      <dgm:spPr/>
    </dgm:pt>
    <dgm:pt modelId="{965DC147-9540-45CE-BB8F-20F9CA83B36E}" type="pres">
      <dgm:prSet presAssocID="{EC14DEA2-C43A-4125-9A5D-5505C5635C96}" presName="horz1" presStyleCnt="0"/>
      <dgm:spPr/>
    </dgm:pt>
    <dgm:pt modelId="{B51FF8F3-AB80-4522-B6E1-0B60AE75498E}" type="pres">
      <dgm:prSet presAssocID="{EC14DEA2-C43A-4125-9A5D-5505C5635C96}" presName="tx1" presStyleLbl="revTx" presStyleIdx="3" presStyleCnt="6"/>
      <dgm:spPr/>
    </dgm:pt>
    <dgm:pt modelId="{8DE6CDEB-7DC8-4712-8053-3D28CC3B8696}" type="pres">
      <dgm:prSet presAssocID="{EC14DEA2-C43A-4125-9A5D-5505C5635C96}" presName="vert1" presStyleCnt="0"/>
      <dgm:spPr/>
    </dgm:pt>
    <dgm:pt modelId="{BC7A728B-6239-4F7A-B942-EAE07EFF3B42}" type="pres">
      <dgm:prSet presAssocID="{8E5483DE-1CE2-4582-BAC2-CC0D35445125}" presName="thickLine" presStyleLbl="alignNode1" presStyleIdx="4" presStyleCnt="6"/>
      <dgm:spPr/>
    </dgm:pt>
    <dgm:pt modelId="{40D74549-34B1-4093-ADE4-9A45985F0FF5}" type="pres">
      <dgm:prSet presAssocID="{8E5483DE-1CE2-4582-BAC2-CC0D35445125}" presName="horz1" presStyleCnt="0"/>
      <dgm:spPr/>
    </dgm:pt>
    <dgm:pt modelId="{37E61ADB-CFEA-498A-B673-B3026C639164}" type="pres">
      <dgm:prSet presAssocID="{8E5483DE-1CE2-4582-BAC2-CC0D35445125}" presName="tx1" presStyleLbl="revTx" presStyleIdx="4" presStyleCnt="6"/>
      <dgm:spPr/>
    </dgm:pt>
    <dgm:pt modelId="{EE832FC3-9B9D-417C-A8B0-C2C4E1B22166}" type="pres">
      <dgm:prSet presAssocID="{8E5483DE-1CE2-4582-BAC2-CC0D35445125}" presName="vert1" presStyleCnt="0"/>
      <dgm:spPr/>
    </dgm:pt>
    <dgm:pt modelId="{7088BACA-FCFD-45B9-85BB-112BB724C1C9}" type="pres">
      <dgm:prSet presAssocID="{87EB8F43-AB27-4053-97F9-B0AB49747360}" presName="thickLine" presStyleLbl="alignNode1" presStyleIdx="5" presStyleCnt="6"/>
      <dgm:spPr/>
    </dgm:pt>
    <dgm:pt modelId="{F4C0CDA4-1431-45D1-8585-64BD46659B99}" type="pres">
      <dgm:prSet presAssocID="{87EB8F43-AB27-4053-97F9-B0AB49747360}" presName="horz1" presStyleCnt="0"/>
      <dgm:spPr/>
    </dgm:pt>
    <dgm:pt modelId="{3725F7FD-A23A-47C7-BA91-7039852EBCB7}" type="pres">
      <dgm:prSet presAssocID="{87EB8F43-AB27-4053-97F9-B0AB49747360}" presName="tx1" presStyleLbl="revTx" presStyleIdx="5" presStyleCnt="6"/>
      <dgm:spPr/>
    </dgm:pt>
    <dgm:pt modelId="{F185D4BF-E32F-474A-A70E-16A266EBC2C7}" type="pres">
      <dgm:prSet presAssocID="{87EB8F43-AB27-4053-97F9-B0AB49747360}" presName="vert1" presStyleCnt="0"/>
      <dgm:spPr/>
    </dgm:pt>
  </dgm:ptLst>
  <dgm:cxnLst>
    <dgm:cxn modelId="{1204A821-D77E-4D91-B116-6AEBB0E46EDE}" type="presOf" srcId="{8E5483DE-1CE2-4582-BAC2-CC0D35445125}" destId="{37E61ADB-CFEA-498A-B673-B3026C639164}" srcOrd="0" destOrd="0" presId="urn:microsoft.com/office/officeart/2008/layout/LinedList"/>
    <dgm:cxn modelId="{CA525E5D-2DFD-4D71-B2E7-9B42F736B786}" type="presOf" srcId="{3CC7589C-6DCC-4758-A35D-3280E7DEB802}" destId="{387FFA92-5140-4C0C-900D-EA34357D8EAF}" srcOrd="0" destOrd="0" presId="urn:microsoft.com/office/officeart/2008/layout/LinedList"/>
    <dgm:cxn modelId="{33589961-8AD9-40ED-A963-FE9BBD4EFA12}" type="presOf" srcId="{87EB8F43-AB27-4053-97F9-B0AB49747360}" destId="{3725F7FD-A23A-47C7-BA91-7039852EBCB7}" srcOrd="0" destOrd="0" presId="urn:microsoft.com/office/officeart/2008/layout/LinedList"/>
    <dgm:cxn modelId="{6EFBB941-449A-4719-BEFC-CF1D8D6F10EF}" srcId="{B14874E6-976A-416D-8D6F-28852D514D40}" destId="{87EB8F43-AB27-4053-97F9-B0AB49747360}" srcOrd="5" destOrd="0" parTransId="{A73E0109-B2A0-4F31-B780-4DE459941769}" sibTransId="{93D0DA2F-7F03-48E8-886A-C4A62B975936}"/>
    <dgm:cxn modelId="{70578C62-5824-4D56-A54E-21914C8595F5}" srcId="{B14874E6-976A-416D-8D6F-28852D514D40}" destId="{EC14DEA2-C43A-4125-9A5D-5505C5635C96}" srcOrd="3" destOrd="0" parTransId="{3D5BA50B-185B-4713-BAD1-141A79A1B8D2}" sibTransId="{0D6767FE-6A13-44D6-AD3D-7BD414564B95}"/>
    <dgm:cxn modelId="{E003124A-B7EB-440F-A11B-384C7D97115F}" srcId="{B14874E6-976A-416D-8D6F-28852D514D40}" destId="{8E5483DE-1CE2-4582-BAC2-CC0D35445125}" srcOrd="4" destOrd="0" parTransId="{DA4335AA-472A-42EC-B891-4F3543EE60F0}" sibTransId="{A2FD66CB-A851-4D84-920E-BB1974BDED1D}"/>
    <dgm:cxn modelId="{50531458-8C15-4825-B7C8-1C81EFE0F585}" type="presOf" srcId="{5EEA6119-24D9-4094-8CBB-136587A5E237}" destId="{67C839C5-408B-4C5E-8BFB-761B022C2CB7}" srcOrd="0" destOrd="0" presId="urn:microsoft.com/office/officeart/2008/layout/LinedList"/>
    <dgm:cxn modelId="{5931627D-F598-4CDD-80D3-44F698372B16}" type="presOf" srcId="{967C77CE-8CBC-4D07-87D1-CB70595372EA}" destId="{73014242-FBE5-4EC8-8A16-33DB7E751DB1}" srcOrd="0" destOrd="0" presId="urn:microsoft.com/office/officeart/2008/layout/LinedList"/>
    <dgm:cxn modelId="{21BAF992-6888-42B4-AB96-EAD458B8CECA}" type="presOf" srcId="{EC14DEA2-C43A-4125-9A5D-5505C5635C96}" destId="{B51FF8F3-AB80-4522-B6E1-0B60AE75498E}" srcOrd="0" destOrd="0" presId="urn:microsoft.com/office/officeart/2008/layout/LinedList"/>
    <dgm:cxn modelId="{AAE7FB96-2300-4872-8DFF-CD2B287013ED}" srcId="{B14874E6-976A-416D-8D6F-28852D514D40}" destId="{5EEA6119-24D9-4094-8CBB-136587A5E237}" srcOrd="2" destOrd="0" parTransId="{6B0380A2-2C7E-45DE-B80A-E96A203B4A19}" sibTransId="{147D961C-4497-45F6-B7B2-68D0C1E462B3}"/>
    <dgm:cxn modelId="{EBC0419D-E0B6-4B63-B17B-0389E80217EE}" type="presOf" srcId="{B14874E6-976A-416D-8D6F-28852D514D40}" destId="{E473F229-2D07-4336-9F5D-454D87A9A06E}" srcOrd="0" destOrd="0" presId="urn:microsoft.com/office/officeart/2008/layout/LinedList"/>
    <dgm:cxn modelId="{4FEC5ACC-21D6-4E71-8435-39A65A612A9C}" srcId="{B14874E6-976A-416D-8D6F-28852D514D40}" destId="{967C77CE-8CBC-4D07-87D1-CB70595372EA}" srcOrd="1" destOrd="0" parTransId="{EB1DCD0F-7A60-4468-880F-53C96CB7CE14}" sibTransId="{02DBDBD7-22EC-4236-9C48-18EA384E63D0}"/>
    <dgm:cxn modelId="{A5B9F2F9-DCC6-4C1B-9A7E-2F03B25F4463}" srcId="{B14874E6-976A-416D-8D6F-28852D514D40}" destId="{3CC7589C-6DCC-4758-A35D-3280E7DEB802}" srcOrd="0" destOrd="0" parTransId="{443B83F5-FF90-4CFC-984A-8275ACBA6B77}" sibTransId="{7F160C6A-6BF3-49A2-AF3C-6D526A45F5CF}"/>
    <dgm:cxn modelId="{BE5A7C2F-81ED-4C46-96C2-0B6A6131934A}" type="presParOf" srcId="{E473F229-2D07-4336-9F5D-454D87A9A06E}" destId="{8D17762C-A1B4-4FF2-8811-F24E2B192066}" srcOrd="0" destOrd="0" presId="urn:microsoft.com/office/officeart/2008/layout/LinedList"/>
    <dgm:cxn modelId="{E3B3815B-C473-4704-B439-99252D05DE6C}" type="presParOf" srcId="{E473F229-2D07-4336-9F5D-454D87A9A06E}" destId="{AAA64AD3-0226-44E7-8C70-FA80DD4EFF2A}" srcOrd="1" destOrd="0" presId="urn:microsoft.com/office/officeart/2008/layout/LinedList"/>
    <dgm:cxn modelId="{53884ACE-5FBA-494B-B6CE-C69C96DFC4D2}" type="presParOf" srcId="{AAA64AD3-0226-44E7-8C70-FA80DD4EFF2A}" destId="{387FFA92-5140-4C0C-900D-EA34357D8EAF}" srcOrd="0" destOrd="0" presId="urn:microsoft.com/office/officeart/2008/layout/LinedList"/>
    <dgm:cxn modelId="{C21AD580-6DD8-4894-8086-8AF75F8C679A}" type="presParOf" srcId="{AAA64AD3-0226-44E7-8C70-FA80DD4EFF2A}" destId="{770596E5-7626-42A6-928A-0801F8432BFC}" srcOrd="1" destOrd="0" presId="urn:microsoft.com/office/officeart/2008/layout/LinedList"/>
    <dgm:cxn modelId="{3D524894-C7BD-4549-8E34-05D9943EB41E}" type="presParOf" srcId="{E473F229-2D07-4336-9F5D-454D87A9A06E}" destId="{24F96C10-ED76-4013-B746-BA5CB8A2799F}" srcOrd="2" destOrd="0" presId="urn:microsoft.com/office/officeart/2008/layout/LinedList"/>
    <dgm:cxn modelId="{DC10ACA8-20E4-4494-889E-A933367CB0DE}" type="presParOf" srcId="{E473F229-2D07-4336-9F5D-454D87A9A06E}" destId="{F2410217-F770-499D-8357-F1429AA5368F}" srcOrd="3" destOrd="0" presId="urn:microsoft.com/office/officeart/2008/layout/LinedList"/>
    <dgm:cxn modelId="{42EC4925-5995-4E34-9C62-18D3A3F66BEA}" type="presParOf" srcId="{F2410217-F770-499D-8357-F1429AA5368F}" destId="{73014242-FBE5-4EC8-8A16-33DB7E751DB1}" srcOrd="0" destOrd="0" presId="urn:microsoft.com/office/officeart/2008/layout/LinedList"/>
    <dgm:cxn modelId="{AEB32061-626A-40B9-9C04-386257C37942}" type="presParOf" srcId="{F2410217-F770-499D-8357-F1429AA5368F}" destId="{D31391D8-D4FF-46D6-94D5-961D53F88C2C}" srcOrd="1" destOrd="0" presId="urn:microsoft.com/office/officeart/2008/layout/LinedList"/>
    <dgm:cxn modelId="{8EBE0D56-B40D-4EB4-9A84-6769ED0E097E}" type="presParOf" srcId="{E473F229-2D07-4336-9F5D-454D87A9A06E}" destId="{BC14F401-58AC-4A51-8E70-856E81AFB9F0}" srcOrd="4" destOrd="0" presId="urn:microsoft.com/office/officeart/2008/layout/LinedList"/>
    <dgm:cxn modelId="{5A83CBF7-3A95-4B47-8247-D5093508BCD2}" type="presParOf" srcId="{E473F229-2D07-4336-9F5D-454D87A9A06E}" destId="{73BBC1E7-4318-407F-BDB3-CFEFDDEB4FAF}" srcOrd="5" destOrd="0" presId="urn:microsoft.com/office/officeart/2008/layout/LinedList"/>
    <dgm:cxn modelId="{B94BDE60-7514-4751-8005-A1E4444F7062}" type="presParOf" srcId="{73BBC1E7-4318-407F-BDB3-CFEFDDEB4FAF}" destId="{67C839C5-408B-4C5E-8BFB-761B022C2CB7}" srcOrd="0" destOrd="0" presId="urn:microsoft.com/office/officeart/2008/layout/LinedList"/>
    <dgm:cxn modelId="{F84C2E46-4BE0-4696-8812-2FB446C3572E}" type="presParOf" srcId="{73BBC1E7-4318-407F-BDB3-CFEFDDEB4FAF}" destId="{B732AF69-8C4E-4B24-91D6-E1DFB58CEDD8}" srcOrd="1" destOrd="0" presId="urn:microsoft.com/office/officeart/2008/layout/LinedList"/>
    <dgm:cxn modelId="{BBA92C7D-65D4-4746-A819-2A8BF4C6DC1E}" type="presParOf" srcId="{E473F229-2D07-4336-9F5D-454D87A9A06E}" destId="{38EBF0F0-AC87-4102-AA7C-579FF9B36052}" srcOrd="6" destOrd="0" presId="urn:microsoft.com/office/officeart/2008/layout/LinedList"/>
    <dgm:cxn modelId="{435651CF-CDD6-453E-BCE8-2E7B5DAAE3DB}" type="presParOf" srcId="{E473F229-2D07-4336-9F5D-454D87A9A06E}" destId="{965DC147-9540-45CE-BB8F-20F9CA83B36E}" srcOrd="7" destOrd="0" presId="urn:microsoft.com/office/officeart/2008/layout/LinedList"/>
    <dgm:cxn modelId="{C45713C9-9C85-4192-8C85-0730331437FD}" type="presParOf" srcId="{965DC147-9540-45CE-BB8F-20F9CA83B36E}" destId="{B51FF8F3-AB80-4522-B6E1-0B60AE75498E}" srcOrd="0" destOrd="0" presId="urn:microsoft.com/office/officeart/2008/layout/LinedList"/>
    <dgm:cxn modelId="{C7DCAEF2-314E-4126-96C1-254FF6243980}" type="presParOf" srcId="{965DC147-9540-45CE-BB8F-20F9CA83B36E}" destId="{8DE6CDEB-7DC8-4712-8053-3D28CC3B8696}" srcOrd="1" destOrd="0" presId="urn:microsoft.com/office/officeart/2008/layout/LinedList"/>
    <dgm:cxn modelId="{5B89D674-31BB-4EEC-9B3B-E5A8442E758A}" type="presParOf" srcId="{E473F229-2D07-4336-9F5D-454D87A9A06E}" destId="{BC7A728B-6239-4F7A-B942-EAE07EFF3B42}" srcOrd="8" destOrd="0" presId="urn:microsoft.com/office/officeart/2008/layout/LinedList"/>
    <dgm:cxn modelId="{A3C879E5-F42C-4460-9B63-E4D2BD4EB658}" type="presParOf" srcId="{E473F229-2D07-4336-9F5D-454D87A9A06E}" destId="{40D74549-34B1-4093-ADE4-9A45985F0FF5}" srcOrd="9" destOrd="0" presId="urn:microsoft.com/office/officeart/2008/layout/LinedList"/>
    <dgm:cxn modelId="{50FDF2C6-8D7B-4A2C-9ADD-B41A8392D8DF}" type="presParOf" srcId="{40D74549-34B1-4093-ADE4-9A45985F0FF5}" destId="{37E61ADB-CFEA-498A-B673-B3026C639164}" srcOrd="0" destOrd="0" presId="urn:microsoft.com/office/officeart/2008/layout/LinedList"/>
    <dgm:cxn modelId="{075A5E97-CC1C-4950-99A3-6F40D226163B}" type="presParOf" srcId="{40D74549-34B1-4093-ADE4-9A45985F0FF5}" destId="{EE832FC3-9B9D-417C-A8B0-C2C4E1B22166}" srcOrd="1" destOrd="0" presId="urn:microsoft.com/office/officeart/2008/layout/LinedList"/>
    <dgm:cxn modelId="{1244EF1C-3A87-486D-B3C7-CE65F6D64BA2}" type="presParOf" srcId="{E473F229-2D07-4336-9F5D-454D87A9A06E}" destId="{7088BACA-FCFD-45B9-85BB-112BB724C1C9}" srcOrd="10" destOrd="0" presId="urn:microsoft.com/office/officeart/2008/layout/LinedList"/>
    <dgm:cxn modelId="{1EDA7D8E-CF8F-4E18-8C42-32D65BBF8DF4}" type="presParOf" srcId="{E473F229-2D07-4336-9F5D-454D87A9A06E}" destId="{F4C0CDA4-1431-45D1-8585-64BD46659B99}" srcOrd="11" destOrd="0" presId="urn:microsoft.com/office/officeart/2008/layout/LinedList"/>
    <dgm:cxn modelId="{A2FB87AD-2998-4782-95EA-F672AD591DF1}" type="presParOf" srcId="{F4C0CDA4-1431-45D1-8585-64BD46659B99}" destId="{3725F7FD-A23A-47C7-BA91-7039852EBCB7}" srcOrd="0" destOrd="0" presId="urn:microsoft.com/office/officeart/2008/layout/LinedList"/>
    <dgm:cxn modelId="{E7BF01AA-C647-485A-8003-92B4636D598E}" type="presParOf" srcId="{F4C0CDA4-1431-45D1-8585-64BD46659B99}" destId="{F185D4BF-E32F-474A-A70E-16A266EBC2C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EA41E8E-F8F6-468B-A108-B90B70CF30B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AF0C908-411B-4297-80B3-3FFB561D934D}">
      <dgm:prSet/>
      <dgm:spPr/>
      <dgm:t>
        <a:bodyPr/>
        <a:lstStyle/>
        <a:p>
          <a:r>
            <a:rPr lang="en-US"/>
            <a:t>Основні публікації: 7 фахових статей (категорія Б), </a:t>
          </a:r>
          <a:r>
            <a:rPr lang="uk-UA"/>
            <a:t>8</a:t>
          </a:r>
          <a:r>
            <a:rPr lang="en-US"/>
            <a:t> тез конференцій</a:t>
          </a:r>
        </a:p>
      </dgm:t>
    </dgm:pt>
    <dgm:pt modelId="{B353E487-4FCA-4CAF-A64D-2BA50223A866}" type="parTrans" cxnId="{D0C77142-90FC-4787-95CE-06166D0CE444}">
      <dgm:prSet/>
      <dgm:spPr/>
      <dgm:t>
        <a:bodyPr/>
        <a:lstStyle/>
        <a:p>
          <a:endParaRPr lang="en-US"/>
        </a:p>
      </dgm:t>
    </dgm:pt>
    <dgm:pt modelId="{86D310E2-DAA6-4B12-9AFA-4264243C59F8}" type="sibTrans" cxnId="{D0C77142-90FC-4787-95CE-06166D0CE444}">
      <dgm:prSet/>
      <dgm:spPr/>
      <dgm:t>
        <a:bodyPr/>
        <a:lstStyle/>
        <a:p>
          <a:endParaRPr lang="en-US"/>
        </a:p>
      </dgm:t>
    </dgm:pt>
    <dgm:pt modelId="{8200210E-2734-4FBA-80D8-1D27925961F0}">
      <dgm:prSet/>
      <dgm:spPr/>
      <dgm:t>
        <a:bodyPr/>
        <a:lstStyle/>
        <a:p>
          <a:r>
            <a:rPr lang="en-US"/>
            <a:t>Впровадження у навчальний процес НТУ «ХПІ» (дисципліни «Інтелектуальні системи», «Інтелектуальний аналіз даних», «Дослідження операцій»)</a:t>
          </a:r>
        </a:p>
      </dgm:t>
    </dgm:pt>
    <dgm:pt modelId="{6FB0B570-7AA2-4003-818A-A318381492DB}" type="parTrans" cxnId="{C7E82155-144B-4D3A-86FF-906EAC38DA16}">
      <dgm:prSet/>
      <dgm:spPr/>
      <dgm:t>
        <a:bodyPr/>
        <a:lstStyle/>
        <a:p>
          <a:endParaRPr lang="en-US"/>
        </a:p>
      </dgm:t>
    </dgm:pt>
    <dgm:pt modelId="{7FB30725-260E-4413-B7F0-521D4641E659}" type="sibTrans" cxnId="{C7E82155-144B-4D3A-86FF-906EAC38DA16}">
      <dgm:prSet/>
      <dgm:spPr/>
      <dgm:t>
        <a:bodyPr/>
        <a:lstStyle/>
        <a:p>
          <a:endParaRPr lang="en-US"/>
        </a:p>
      </dgm:t>
    </dgm:pt>
    <dgm:pt modelId="{D262E585-03FC-430A-8480-D2EDCDBED970}">
      <dgm:prSet/>
      <dgm:spPr/>
      <dgm:t>
        <a:bodyPr/>
        <a:lstStyle/>
        <a:p>
          <a:r>
            <a:rPr lang="en-US"/>
            <a:t>Впровадження у ТОВ «Технічний університет «Метінвест Політехніка» (дисципліни з кібербезпеки, GUI, захисту даних)</a:t>
          </a:r>
        </a:p>
      </dgm:t>
    </dgm:pt>
    <dgm:pt modelId="{A2BCBA96-9745-4752-A08B-E42F7A365527}" type="parTrans" cxnId="{8C8D6E82-224E-437D-AB16-6F7F42D0C3EA}">
      <dgm:prSet/>
      <dgm:spPr/>
      <dgm:t>
        <a:bodyPr/>
        <a:lstStyle/>
        <a:p>
          <a:endParaRPr lang="en-US"/>
        </a:p>
      </dgm:t>
    </dgm:pt>
    <dgm:pt modelId="{2E187D5C-401C-43EF-9D65-B5FE18F8235D}" type="sibTrans" cxnId="{8C8D6E82-224E-437D-AB16-6F7F42D0C3EA}">
      <dgm:prSet/>
      <dgm:spPr/>
      <dgm:t>
        <a:bodyPr/>
        <a:lstStyle/>
        <a:p>
          <a:endParaRPr lang="en-US"/>
        </a:p>
      </dgm:t>
    </dgm:pt>
    <dgm:pt modelId="{030816D9-E7BA-41DB-976F-2ABA4F7955D8}">
      <dgm:prSet/>
      <dgm:spPr/>
      <dgm:t>
        <a:bodyPr/>
        <a:lstStyle/>
        <a:p>
          <a:r>
            <a:rPr lang="en-US"/>
            <a:t>Впровадження у Радіоастрономічному інституті НАН України (аналіз динамічних процесів у сонячній атмосфері, ідентифікація радіосплесків)</a:t>
          </a:r>
        </a:p>
      </dgm:t>
    </dgm:pt>
    <dgm:pt modelId="{76824C33-0B59-4B3B-8ED1-1583242AD2AB}" type="parTrans" cxnId="{5A6E61C1-FDA2-4210-A4E5-3B62F01BEB40}">
      <dgm:prSet/>
      <dgm:spPr/>
      <dgm:t>
        <a:bodyPr/>
        <a:lstStyle/>
        <a:p>
          <a:endParaRPr lang="en-US"/>
        </a:p>
      </dgm:t>
    </dgm:pt>
    <dgm:pt modelId="{98296A59-6BBE-49B3-9875-F2DDF8E18C75}" type="sibTrans" cxnId="{5A6E61C1-FDA2-4210-A4E5-3B62F01BEB40}">
      <dgm:prSet/>
      <dgm:spPr/>
      <dgm:t>
        <a:bodyPr/>
        <a:lstStyle/>
        <a:p>
          <a:endParaRPr lang="en-US"/>
        </a:p>
      </dgm:t>
    </dgm:pt>
    <dgm:pt modelId="{3E9D9915-40EB-4B24-A930-A4EA23E4F72D}" type="pres">
      <dgm:prSet presAssocID="{9EA41E8E-F8F6-468B-A108-B90B70CF30BD}" presName="linear" presStyleCnt="0">
        <dgm:presLayoutVars>
          <dgm:animLvl val="lvl"/>
          <dgm:resizeHandles val="exact"/>
        </dgm:presLayoutVars>
      </dgm:prSet>
      <dgm:spPr/>
    </dgm:pt>
    <dgm:pt modelId="{25096405-3540-49D7-8017-9B8FB63D09CF}" type="pres">
      <dgm:prSet presAssocID="{7AF0C908-411B-4297-80B3-3FFB561D934D}" presName="parentText" presStyleLbl="node1" presStyleIdx="0" presStyleCnt="4">
        <dgm:presLayoutVars>
          <dgm:chMax val="0"/>
          <dgm:bulletEnabled val="1"/>
        </dgm:presLayoutVars>
      </dgm:prSet>
      <dgm:spPr/>
    </dgm:pt>
    <dgm:pt modelId="{10F94946-A3CA-431D-82C0-230C343989EA}" type="pres">
      <dgm:prSet presAssocID="{86D310E2-DAA6-4B12-9AFA-4264243C59F8}" presName="spacer" presStyleCnt="0"/>
      <dgm:spPr/>
    </dgm:pt>
    <dgm:pt modelId="{2BC3023E-F50D-46DC-AB6E-49D3399AE212}" type="pres">
      <dgm:prSet presAssocID="{8200210E-2734-4FBA-80D8-1D27925961F0}" presName="parentText" presStyleLbl="node1" presStyleIdx="1" presStyleCnt="4">
        <dgm:presLayoutVars>
          <dgm:chMax val="0"/>
          <dgm:bulletEnabled val="1"/>
        </dgm:presLayoutVars>
      </dgm:prSet>
      <dgm:spPr/>
    </dgm:pt>
    <dgm:pt modelId="{D329B0E5-1655-441D-B15F-C71B6EFB21CF}" type="pres">
      <dgm:prSet presAssocID="{7FB30725-260E-4413-B7F0-521D4641E659}" presName="spacer" presStyleCnt="0"/>
      <dgm:spPr/>
    </dgm:pt>
    <dgm:pt modelId="{C3085887-AED9-4DC8-8031-874FB231161D}" type="pres">
      <dgm:prSet presAssocID="{D262E585-03FC-430A-8480-D2EDCDBED970}" presName="parentText" presStyleLbl="node1" presStyleIdx="2" presStyleCnt="4">
        <dgm:presLayoutVars>
          <dgm:chMax val="0"/>
          <dgm:bulletEnabled val="1"/>
        </dgm:presLayoutVars>
      </dgm:prSet>
      <dgm:spPr/>
    </dgm:pt>
    <dgm:pt modelId="{402773A7-91CB-40C8-AAE4-137339D4DBD7}" type="pres">
      <dgm:prSet presAssocID="{2E187D5C-401C-43EF-9D65-B5FE18F8235D}" presName="spacer" presStyleCnt="0"/>
      <dgm:spPr/>
    </dgm:pt>
    <dgm:pt modelId="{145FCDFA-490C-45D7-8483-4DE728ADE175}" type="pres">
      <dgm:prSet presAssocID="{030816D9-E7BA-41DB-976F-2ABA4F7955D8}" presName="parentText" presStyleLbl="node1" presStyleIdx="3" presStyleCnt="4">
        <dgm:presLayoutVars>
          <dgm:chMax val="0"/>
          <dgm:bulletEnabled val="1"/>
        </dgm:presLayoutVars>
      </dgm:prSet>
      <dgm:spPr/>
    </dgm:pt>
  </dgm:ptLst>
  <dgm:cxnLst>
    <dgm:cxn modelId="{C519190C-03D0-41DE-89B3-00EBA235C290}" type="presOf" srcId="{D262E585-03FC-430A-8480-D2EDCDBED970}" destId="{C3085887-AED9-4DC8-8031-874FB231161D}" srcOrd="0" destOrd="0" presId="urn:microsoft.com/office/officeart/2005/8/layout/vList2"/>
    <dgm:cxn modelId="{26EAB527-E83A-4946-BDEA-393C480004B4}" type="presOf" srcId="{9EA41E8E-F8F6-468B-A108-B90B70CF30BD}" destId="{3E9D9915-40EB-4B24-A930-A4EA23E4F72D}" srcOrd="0" destOrd="0" presId="urn:microsoft.com/office/officeart/2005/8/layout/vList2"/>
    <dgm:cxn modelId="{D0C77142-90FC-4787-95CE-06166D0CE444}" srcId="{9EA41E8E-F8F6-468B-A108-B90B70CF30BD}" destId="{7AF0C908-411B-4297-80B3-3FFB561D934D}" srcOrd="0" destOrd="0" parTransId="{B353E487-4FCA-4CAF-A64D-2BA50223A866}" sibTransId="{86D310E2-DAA6-4B12-9AFA-4264243C59F8}"/>
    <dgm:cxn modelId="{26D5154E-4C9B-4340-AACB-247B45723E4A}" type="presOf" srcId="{030816D9-E7BA-41DB-976F-2ABA4F7955D8}" destId="{145FCDFA-490C-45D7-8483-4DE728ADE175}" srcOrd="0" destOrd="0" presId="urn:microsoft.com/office/officeart/2005/8/layout/vList2"/>
    <dgm:cxn modelId="{CA58234F-AA3A-449A-BA7F-FC3BCA1F0528}" type="presOf" srcId="{7AF0C908-411B-4297-80B3-3FFB561D934D}" destId="{25096405-3540-49D7-8017-9B8FB63D09CF}" srcOrd="0" destOrd="0" presId="urn:microsoft.com/office/officeart/2005/8/layout/vList2"/>
    <dgm:cxn modelId="{C7E82155-144B-4D3A-86FF-906EAC38DA16}" srcId="{9EA41E8E-F8F6-468B-A108-B90B70CF30BD}" destId="{8200210E-2734-4FBA-80D8-1D27925961F0}" srcOrd="1" destOrd="0" parTransId="{6FB0B570-7AA2-4003-818A-A318381492DB}" sibTransId="{7FB30725-260E-4413-B7F0-521D4641E659}"/>
    <dgm:cxn modelId="{8C8D6E82-224E-437D-AB16-6F7F42D0C3EA}" srcId="{9EA41E8E-F8F6-468B-A108-B90B70CF30BD}" destId="{D262E585-03FC-430A-8480-D2EDCDBED970}" srcOrd="2" destOrd="0" parTransId="{A2BCBA96-9745-4752-A08B-E42F7A365527}" sibTransId="{2E187D5C-401C-43EF-9D65-B5FE18F8235D}"/>
    <dgm:cxn modelId="{4BA200AE-A36A-4843-906C-413BA445C83D}" type="presOf" srcId="{8200210E-2734-4FBA-80D8-1D27925961F0}" destId="{2BC3023E-F50D-46DC-AB6E-49D3399AE212}" srcOrd="0" destOrd="0" presId="urn:microsoft.com/office/officeart/2005/8/layout/vList2"/>
    <dgm:cxn modelId="{5A6E61C1-FDA2-4210-A4E5-3B62F01BEB40}" srcId="{9EA41E8E-F8F6-468B-A108-B90B70CF30BD}" destId="{030816D9-E7BA-41DB-976F-2ABA4F7955D8}" srcOrd="3" destOrd="0" parTransId="{76824C33-0B59-4B3B-8ED1-1583242AD2AB}" sibTransId="{98296A59-6BBE-49B3-9875-F2DDF8E18C75}"/>
    <dgm:cxn modelId="{0C15082C-86F7-45BF-A211-D55AF873D6B8}" type="presParOf" srcId="{3E9D9915-40EB-4B24-A930-A4EA23E4F72D}" destId="{25096405-3540-49D7-8017-9B8FB63D09CF}" srcOrd="0" destOrd="0" presId="urn:microsoft.com/office/officeart/2005/8/layout/vList2"/>
    <dgm:cxn modelId="{ABFA0EDB-A573-4A3A-AE81-D680AC8BD3EF}" type="presParOf" srcId="{3E9D9915-40EB-4B24-A930-A4EA23E4F72D}" destId="{10F94946-A3CA-431D-82C0-230C343989EA}" srcOrd="1" destOrd="0" presId="urn:microsoft.com/office/officeart/2005/8/layout/vList2"/>
    <dgm:cxn modelId="{DBE76489-0FEA-4164-9D3F-7781E333D9D4}" type="presParOf" srcId="{3E9D9915-40EB-4B24-A930-A4EA23E4F72D}" destId="{2BC3023E-F50D-46DC-AB6E-49D3399AE212}" srcOrd="2" destOrd="0" presId="urn:microsoft.com/office/officeart/2005/8/layout/vList2"/>
    <dgm:cxn modelId="{10996AEC-95EE-4FC3-992D-8F1F4CC8BE4F}" type="presParOf" srcId="{3E9D9915-40EB-4B24-A930-A4EA23E4F72D}" destId="{D329B0E5-1655-441D-B15F-C71B6EFB21CF}" srcOrd="3" destOrd="0" presId="urn:microsoft.com/office/officeart/2005/8/layout/vList2"/>
    <dgm:cxn modelId="{CACFD405-3896-4AE6-9417-9D913506FBD0}" type="presParOf" srcId="{3E9D9915-40EB-4B24-A930-A4EA23E4F72D}" destId="{C3085887-AED9-4DC8-8031-874FB231161D}" srcOrd="4" destOrd="0" presId="urn:microsoft.com/office/officeart/2005/8/layout/vList2"/>
    <dgm:cxn modelId="{9827EA8E-EE54-4763-8A97-5FF5F04FFF55}" type="presParOf" srcId="{3E9D9915-40EB-4B24-A930-A4EA23E4F72D}" destId="{402773A7-91CB-40C8-AAE4-137339D4DBD7}" srcOrd="5" destOrd="0" presId="urn:microsoft.com/office/officeart/2005/8/layout/vList2"/>
    <dgm:cxn modelId="{76506EA6-E454-4E23-A10D-FC8955578267}" type="presParOf" srcId="{3E9D9915-40EB-4B24-A930-A4EA23E4F72D}" destId="{145FCDFA-490C-45D7-8483-4DE728ADE17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1EC39-82B4-4374-AEC3-FB4CC2082F7F}">
      <dsp:nvSpPr>
        <dsp:cNvPr id="0" name=""/>
        <dsp:cNvSpPr/>
      </dsp:nvSpPr>
      <dsp:spPr>
        <a:xfrm>
          <a:off x="0" y="2375"/>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B2A9F7-7780-4ECD-BA53-571FBE5C1C60}">
      <dsp:nvSpPr>
        <dsp:cNvPr id="0" name=""/>
        <dsp:cNvSpPr/>
      </dsp:nvSpPr>
      <dsp:spPr>
        <a:xfrm>
          <a:off x="0" y="2375"/>
          <a:ext cx="12188951" cy="1619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Підвищення </a:t>
          </a:r>
          <a:r>
            <a:rPr lang="en-US" sz="3100" kern="1200" dirty="0" err="1"/>
            <a:t>точності</a:t>
          </a:r>
          <a:r>
            <a:rPr lang="en-US" sz="3100" kern="1200" dirty="0"/>
            <a:t>, </a:t>
          </a:r>
          <a:r>
            <a:rPr lang="en-US" sz="3100" kern="1200" dirty="0" err="1"/>
            <a:t>надійності</a:t>
          </a:r>
          <a:r>
            <a:rPr lang="en-US" sz="3100" kern="1200" dirty="0"/>
            <a:t> </a:t>
          </a:r>
          <a:r>
            <a:rPr lang="en-US" sz="3100" kern="1200" dirty="0" err="1"/>
            <a:t>та</a:t>
          </a:r>
          <a:r>
            <a:rPr lang="en-US" sz="3100" kern="1200" dirty="0"/>
            <a:t> </a:t>
          </a:r>
          <a:r>
            <a:rPr lang="en-US" sz="3100" kern="1200" dirty="0" err="1"/>
            <a:t>адаптивності</a:t>
          </a:r>
          <a:r>
            <a:rPr lang="en-US" sz="3100" kern="1200" dirty="0"/>
            <a:t> </a:t>
          </a:r>
          <a:r>
            <a:rPr lang="en-US" sz="3100" kern="1200" dirty="0" err="1"/>
            <a:t>дистанційної</a:t>
          </a:r>
          <a:r>
            <a:rPr lang="en-US" sz="3100" kern="1200" dirty="0"/>
            <a:t> </a:t>
          </a:r>
          <a:r>
            <a:rPr lang="en-US" sz="3100" kern="1200" dirty="0" err="1"/>
            <a:t>ідентифікації</a:t>
          </a:r>
          <a:r>
            <a:rPr lang="en-US" sz="3100" kern="1200" dirty="0"/>
            <a:t> </a:t>
          </a:r>
          <a:r>
            <a:rPr lang="en-US" sz="3100" kern="1200" dirty="0" err="1"/>
            <a:t>параметрів</a:t>
          </a:r>
          <a:r>
            <a:rPr lang="en-US" sz="3100" kern="1200" dirty="0"/>
            <a:t> </a:t>
          </a:r>
          <a:r>
            <a:rPr lang="en-US" sz="3100" kern="1200" dirty="0" err="1"/>
            <a:t>динамічних</a:t>
          </a:r>
          <a:r>
            <a:rPr lang="en-US" sz="3100" kern="1200" dirty="0"/>
            <a:t> </a:t>
          </a:r>
          <a:r>
            <a:rPr lang="en-US" sz="3100" kern="1200" dirty="0" err="1"/>
            <a:t>об'єктів</a:t>
          </a:r>
          <a:r>
            <a:rPr lang="en-US" sz="3100" kern="1200" dirty="0"/>
            <a:t> (ДІПДО)</a:t>
          </a:r>
        </a:p>
      </dsp:txBody>
      <dsp:txXfrm>
        <a:off x="0" y="2375"/>
        <a:ext cx="12188951" cy="1619869"/>
      </dsp:txXfrm>
    </dsp:sp>
    <dsp:sp modelId="{273DB9DA-5210-495A-9114-01FD573BA43E}">
      <dsp:nvSpPr>
        <dsp:cNvPr id="0" name=""/>
        <dsp:cNvSpPr/>
      </dsp:nvSpPr>
      <dsp:spPr>
        <a:xfrm>
          <a:off x="0" y="1622245"/>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2891B6-7A59-4981-A918-48994BD8F287}">
      <dsp:nvSpPr>
        <dsp:cNvPr id="0" name=""/>
        <dsp:cNvSpPr/>
      </dsp:nvSpPr>
      <dsp:spPr>
        <a:xfrm>
          <a:off x="0" y="1622245"/>
          <a:ext cx="12188951" cy="1619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Інтеграція трансформерних детекторів (DETR), методів оптичного потоку (Farneback, Lucas-Kanade, Horn-Schunck, FlowNet, GeoNet), оцінки глибини (MiDaS, DPT, GeoNet) та ансамблів (Bagging, Boosting)</a:t>
          </a:r>
        </a:p>
      </dsp:txBody>
      <dsp:txXfrm>
        <a:off x="0" y="1622245"/>
        <a:ext cx="12188951" cy="1619869"/>
      </dsp:txXfrm>
    </dsp:sp>
    <dsp:sp modelId="{486F17D4-C955-4D52-96EA-217EED70D353}">
      <dsp:nvSpPr>
        <dsp:cNvPr id="0" name=""/>
        <dsp:cNvSpPr/>
      </dsp:nvSpPr>
      <dsp:spPr>
        <a:xfrm>
          <a:off x="0" y="3242114"/>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0D799D-F3B4-470F-9C57-15F5B15F05A4}">
      <dsp:nvSpPr>
        <dsp:cNvPr id="0" name=""/>
        <dsp:cNvSpPr/>
      </dsp:nvSpPr>
      <dsp:spPr>
        <a:xfrm>
          <a:off x="0" y="3242114"/>
          <a:ext cx="12188951" cy="1619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Існуючі системи працюють в обмежених умовах (статична камера, фіксоване освітлення) або потребують значних обчислювальних ресурсів</a:t>
          </a:r>
        </a:p>
      </dsp:txBody>
      <dsp:txXfrm>
        <a:off x="0" y="3242114"/>
        <a:ext cx="12188951" cy="1619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41586"/>
          <a:ext cx="9029252" cy="16526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kern="1200" dirty="0"/>
            <a:t>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sz="1900" kern="1200" dirty="0" err="1"/>
            <a:t>трансформерних</a:t>
          </a:r>
          <a:r>
            <a:rPr lang="uk-UA" sz="1900" kern="1200" dirty="0"/>
            <a:t> моделей виявлення, алгоритмів оптичного потоку та </a:t>
          </a:r>
          <a:r>
            <a:rPr lang="uk-UA" sz="1900" kern="1200" dirty="0" err="1"/>
            <a:t>нейромережевого</a:t>
          </a:r>
          <a:r>
            <a:rPr lang="uk-UA" sz="1900" kern="1200" dirty="0"/>
            <a:t> оцінювання глибини;</a:t>
          </a:r>
          <a:endParaRPr lang="en-US" sz="1900" kern="1200" dirty="0"/>
        </a:p>
      </dsp:txBody>
      <dsp:txXfrm>
        <a:off x="80676" y="122262"/>
        <a:ext cx="8867900" cy="1491309"/>
      </dsp:txXfrm>
    </dsp:sp>
    <dsp:sp modelId="{A769D06D-850B-4760-B624-D7B52A2852B7}">
      <dsp:nvSpPr>
        <dsp:cNvPr id="0" name=""/>
        <dsp:cNvSpPr/>
      </dsp:nvSpPr>
      <dsp:spPr>
        <a:xfrm>
          <a:off x="0" y="1748968"/>
          <a:ext cx="9029252" cy="16526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kern="120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endParaRPr lang="en-US" sz="1900" kern="1200"/>
        </a:p>
      </dsp:txBody>
      <dsp:txXfrm>
        <a:off x="80676" y="1829644"/>
        <a:ext cx="8867900" cy="1491309"/>
      </dsp:txXfrm>
    </dsp:sp>
    <dsp:sp modelId="{285050AC-9EA1-47EE-B3C6-34F3D1BCB553}">
      <dsp:nvSpPr>
        <dsp:cNvPr id="0" name=""/>
        <dsp:cNvSpPr/>
      </dsp:nvSpPr>
      <dsp:spPr>
        <a:xfrm>
          <a:off x="0" y="3456349"/>
          <a:ext cx="9029252" cy="16526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kern="1200"/>
            <a:t>розробити моделі та методи інтеграції трансформерного детектора об'єктів </a:t>
          </a:r>
          <a:r>
            <a:rPr lang="en-US" sz="1900" kern="1200"/>
            <a:t>DETR, </a:t>
          </a:r>
          <a:r>
            <a:rPr lang="uk-UA" sz="1900" kern="1200"/>
            <a:t>алгоритмів оптичного потоку (</a:t>
          </a:r>
          <a:r>
            <a:rPr lang="en-US" sz="1900" kern="1200"/>
            <a:t>Farneback, Lucas–Kanade, Horn–Schunck, FlowNet, GeoNet) </a:t>
          </a:r>
          <a:r>
            <a:rPr lang="uk-UA" sz="1900" kern="1200"/>
            <a:t>та нейромережевого оцінювання глибини (</a:t>
          </a:r>
          <a:r>
            <a:rPr lang="en-US" sz="1900" kern="1200"/>
            <a:t>MiDaS, DPT_Large, GeoNet), </a:t>
          </a:r>
          <a:r>
            <a:rPr lang="uk-UA" sz="1900" kern="1200"/>
            <a:t>включаючи метод адаптивного комбінування результатів з використанням ансамблевих підходів </a:t>
          </a:r>
          <a:r>
            <a:rPr lang="en-US" sz="1900" kern="1200"/>
            <a:t>Bagging </a:t>
          </a:r>
          <a:r>
            <a:rPr lang="uk-UA" sz="1900" kern="1200"/>
            <a:t>та </a:t>
          </a:r>
          <a:r>
            <a:rPr lang="en-US" sz="1900" kern="1200"/>
            <a:t>Boosting;</a:t>
          </a:r>
        </a:p>
      </dsp:txBody>
      <dsp:txXfrm>
        <a:off x="80676" y="3537025"/>
        <a:ext cx="8867900" cy="1491309"/>
      </dsp:txXfrm>
    </dsp:sp>
    <dsp:sp modelId="{CDD23F7A-6CCE-4B7E-9ADE-3F0C31AEEE1B}">
      <dsp:nvSpPr>
        <dsp:cNvPr id="0" name=""/>
        <dsp:cNvSpPr/>
      </dsp:nvSpPr>
      <dsp:spPr>
        <a:xfrm>
          <a:off x="0" y="5163731"/>
          <a:ext cx="9029252" cy="16526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kern="12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1900" kern="1200" dirty="0"/>
        </a:p>
      </dsp:txBody>
      <dsp:txXfrm>
        <a:off x="80676" y="5244407"/>
        <a:ext cx="8867900" cy="14913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E919C-EE80-4805-AA37-72FF19EA6BC6}">
      <dsp:nvSpPr>
        <dsp:cNvPr id="0" name=""/>
        <dsp:cNvSpPr/>
      </dsp:nvSpPr>
      <dsp:spPr>
        <a:xfrm>
          <a:off x="0" y="2101"/>
          <a:ext cx="671474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E39128A-D575-40DE-93AE-51E2EC60DAA2}">
      <dsp:nvSpPr>
        <dsp:cNvPr id="0" name=""/>
        <dsp:cNvSpPr/>
      </dsp:nvSpPr>
      <dsp:spPr>
        <a:xfrm>
          <a:off x="0" y="2101"/>
          <a:ext cx="6714744" cy="71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1. Аналіз </a:t>
          </a:r>
          <a:r>
            <a:rPr lang="en-US" sz="2000" kern="1200" dirty="0" err="1"/>
            <a:t>сучасних</a:t>
          </a:r>
          <a:r>
            <a:rPr lang="en-US" sz="2000" kern="1200" dirty="0"/>
            <a:t> </a:t>
          </a:r>
          <a:r>
            <a:rPr lang="en-US" sz="2000" kern="1200" dirty="0" err="1"/>
            <a:t>методів</a:t>
          </a:r>
          <a:r>
            <a:rPr lang="en-US" sz="2000" kern="1200" dirty="0"/>
            <a:t> ДІПДО, </a:t>
          </a:r>
          <a:r>
            <a:rPr lang="en-US" sz="2000" kern="1200" dirty="0" err="1"/>
            <a:t>визначення</a:t>
          </a:r>
          <a:r>
            <a:rPr lang="en-US" sz="2000" kern="1200" dirty="0"/>
            <a:t> </a:t>
          </a:r>
          <a:r>
            <a:rPr lang="en-US" sz="2000" kern="1200" dirty="0" err="1"/>
            <a:t>обмежень</a:t>
          </a:r>
          <a:endParaRPr lang="en-US" sz="2000" kern="1200" dirty="0"/>
        </a:p>
      </dsp:txBody>
      <dsp:txXfrm>
        <a:off x="0" y="2101"/>
        <a:ext cx="6714744" cy="716543"/>
      </dsp:txXfrm>
    </dsp:sp>
    <dsp:sp modelId="{BC4B1178-B259-4408-85A4-A70AA5DFF311}">
      <dsp:nvSpPr>
        <dsp:cNvPr id="0" name=""/>
        <dsp:cNvSpPr/>
      </dsp:nvSpPr>
      <dsp:spPr>
        <a:xfrm>
          <a:off x="0" y="718645"/>
          <a:ext cx="6714744" cy="0"/>
        </a:xfrm>
        <a:prstGeom prst="line">
          <a:avLst/>
        </a:prstGeom>
        <a:solidFill>
          <a:schemeClr val="accent2">
            <a:hueOff val="936304"/>
            <a:satOff val="-1168"/>
            <a:lumOff val="275"/>
            <a:alphaOff val="0"/>
          </a:schemeClr>
        </a:solidFill>
        <a:ln w="25400" cap="flat" cmpd="sng" algn="ctr">
          <a:solidFill>
            <a:schemeClr val="accent2">
              <a:hueOff val="936304"/>
              <a:satOff val="-1168"/>
              <a:lumOff val="275"/>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1F963EA-ED30-4A1C-B2E7-04AFEFFE6972}">
      <dsp:nvSpPr>
        <dsp:cNvPr id="0" name=""/>
        <dsp:cNvSpPr/>
      </dsp:nvSpPr>
      <dsp:spPr>
        <a:xfrm>
          <a:off x="0" y="718645"/>
          <a:ext cx="6714744" cy="71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2. </a:t>
          </a:r>
          <a:r>
            <a:rPr lang="en-US" sz="2000" kern="1200" dirty="0" err="1"/>
            <a:t>Класифікація</a:t>
          </a:r>
          <a:r>
            <a:rPr lang="en-US" sz="2000" kern="1200" dirty="0"/>
            <a:t> </a:t>
          </a:r>
          <a:r>
            <a:rPr lang="en-US" sz="2000" kern="1200" dirty="0" err="1"/>
            <a:t>параметрів</a:t>
          </a:r>
          <a:r>
            <a:rPr lang="en-US" sz="2000" kern="1200" dirty="0"/>
            <a:t> </a:t>
          </a:r>
          <a:r>
            <a:rPr lang="en-US" sz="2000" kern="1200" dirty="0" err="1"/>
            <a:t>динамічних</a:t>
          </a:r>
          <a:r>
            <a:rPr lang="en-US" sz="2000" kern="1200" dirty="0"/>
            <a:t> </a:t>
          </a:r>
          <a:r>
            <a:rPr lang="en-US" sz="2000" kern="1200" dirty="0" err="1"/>
            <a:t>об'єктів</a:t>
          </a:r>
          <a:r>
            <a:rPr lang="en-US" sz="2000" kern="1200" dirty="0"/>
            <a:t> </a:t>
          </a:r>
          <a:r>
            <a:rPr lang="en-US" sz="2000" kern="1200" dirty="0" err="1"/>
            <a:t>та</a:t>
          </a:r>
          <a:r>
            <a:rPr lang="en-US" sz="2000" kern="1200" dirty="0"/>
            <a:t> </a:t>
          </a:r>
          <a:r>
            <a:rPr lang="en-US" sz="2000" kern="1200" dirty="0" err="1"/>
            <a:t>методів</a:t>
          </a:r>
          <a:r>
            <a:rPr lang="en-US" sz="2000" kern="1200" dirty="0"/>
            <a:t> </a:t>
          </a:r>
          <a:r>
            <a:rPr lang="en-US" sz="2000" kern="1200" dirty="0" err="1"/>
            <a:t>їх</a:t>
          </a:r>
          <a:r>
            <a:rPr lang="en-US" sz="2000" kern="1200" dirty="0"/>
            <a:t> </a:t>
          </a:r>
          <a:r>
            <a:rPr lang="en-US" sz="2000" kern="1200" dirty="0" err="1"/>
            <a:t>визначення</a:t>
          </a:r>
          <a:endParaRPr lang="en-US" sz="2000" kern="1200" dirty="0"/>
        </a:p>
      </dsp:txBody>
      <dsp:txXfrm>
        <a:off x="0" y="718645"/>
        <a:ext cx="6714744" cy="716543"/>
      </dsp:txXfrm>
    </dsp:sp>
    <dsp:sp modelId="{0B7D5C60-6409-4772-95D3-B94FBEA4F9FD}">
      <dsp:nvSpPr>
        <dsp:cNvPr id="0" name=""/>
        <dsp:cNvSpPr/>
      </dsp:nvSpPr>
      <dsp:spPr>
        <a:xfrm>
          <a:off x="0" y="1435188"/>
          <a:ext cx="6714744" cy="0"/>
        </a:xfrm>
        <a:prstGeom prst="line">
          <a:avLst/>
        </a:prstGeom>
        <a:solidFill>
          <a:schemeClr val="accent2">
            <a:hueOff val="1872608"/>
            <a:satOff val="-2336"/>
            <a:lumOff val="549"/>
            <a:alphaOff val="0"/>
          </a:schemeClr>
        </a:solidFill>
        <a:ln w="25400" cap="flat" cmpd="sng" algn="ctr">
          <a:solidFill>
            <a:schemeClr val="accent2">
              <a:hueOff val="1872608"/>
              <a:satOff val="-2336"/>
              <a:lumOff val="549"/>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958E4794-B1C0-46A4-9F2C-FEEEE251F509}">
      <dsp:nvSpPr>
        <dsp:cNvPr id="0" name=""/>
        <dsp:cNvSpPr/>
      </dsp:nvSpPr>
      <dsp:spPr>
        <a:xfrm>
          <a:off x="0" y="1435188"/>
          <a:ext cx="6714744" cy="71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3. Розробка </a:t>
          </a:r>
          <a:r>
            <a:rPr lang="en-US" sz="2000" kern="1200" dirty="0" err="1"/>
            <a:t>моделей</a:t>
          </a:r>
          <a:r>
            <a:rPr lang="en-US" sz="2000" kern="1200" dirty="0"/>
            <a:t> </a:t>
          </a:r>
          <a:r>
            <a:rPr lang="en-US" sz="2000" kern="1200" dirty="0" err="1"/>
            <a:t>інтеграції</a:t>
          </a:r>
          <a:r>
            <a:rPr lang="en-US" sz="2000" kern="1200" dirty="0"/>
            <a:t> DETR, </a:t>
          </a:r>
          <a:r>
            <a:rPr lang="en-US" sz="2000" kern="1200" dirty="0" err="1"/>
            <a:t>оптичного</a:t>
          </a:r>
          <a:r>
            <a:rPr lang="en-US" sz="2000" kern="1200" dirty="0"/>
            <a:t> </a:t>
          </a:r>
          <a:r>
            <a:rPr lang="en-US" sz="2000" kern="1200" dirty="0" err="1"/>
            <a:t>потоку</a:t>
          </a:r>
          <a:r>
            <a:rPr lang="en-US" sz="2000" kern="1200" dirty="0"/>
            <a:t> </a:t>
          </a:r>
          <a:r>
            <a:rPr lang="en-US" sz="2000" kern="1200" dirty="0" err="1"/>
            <a:t>та</a:t>
          </a:r>
          <a:r>
            <a:rPr lang="en-US" sz="2000" kern="1200" dirty="0"/>
            <a:t> </a:t>
          </a:r>
          <a:r>
            <a:rPr lang="en-US" sz="2000" kern="1200" dirty="0" err="1"/>
            <a:t>нейромережевої</a:t>
          </a:r>
          <a:r>
            <a:rPr lang="en-US" sz="2000" kern="1200" dirty="0"/>
            <a:t> </a:t>
          </a:r>
          <a:r>
            <a:rPr lang="en-US" sz="2000" kern="1200" dirty="0" err="1"/>
            <a:t>оцінки</a:t>
          </a:r>
          <a:r>
            <a:rPr lang="en-US" sz="2000" kern="1200" dirty="0"/>
            <a:t> </a:t>
          </a:r>
          <a:r>
            <a:rPr lang="en-US" sz="2000" kern="1200" dirty="0" err="1"/>
            <a:t>глибини</a:t>
          </a:r>
          <a:endParaRPr lang="en-US" sz="2000" kern="1200" dirty="0"/>
        </a:p>
      </dsp:txBody>
      <dsp:txXfrm>
        <a:off x="0" y="1435188"/>
        <a:ext cx="6714744" cy="716543"/>
      </dsp:txXfrm>
    </dsp:sp>
    <dsp:sp modelId="{B37F2F0B-33F3-407F-9F2E-59BCDD4D97C2}">
      <dsp:nvSpPr>
        <dsp:cNvPr id="0" name=""/>
        <dsp:cNvSpPr/>
      </dsp:nvSpPr>
      <dsp:spPr>
        <a:xfrm>
          <a:off x="0" y="2151732"/>
          <a:ext cx="6714744" cy="0"/>
        </a:xfrm>
        <a:prstGeom prst="line">
          <a:avLst/>
        </a:prstGeom>
        <a:solidFill>
          <a:schemeClr val="accent2">
            <a:hueOff val="2808911"/>
            <a:satOff val="-3503"/>
            <a:lumOff val="824"/>
            <a:alphaOff val="0"/>
          </a:schemeClr>
        </a:solidFill>
        <a:ln w="25400" cap="flat" cmpd="sng" algn="ctr">
          <a:solidFill>
            <a:schemeClr val="accent2">
              <a:hueOff val="2808911"/>
              <a:satOff val="-3503"/>
              <a:lumOff val="824"/>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53E87432-9AB6-41EE-9363-D64135CF07C9}">
      <dsp:nvSpPr>
        <dsp:cNvPr id="0" name=""/>
        <dsp:cNvSpPr/>
      </dsp:nvSpPr>
      <dsp:spPr>
        <a:xfrm>
          <a:off x="0" y="2151732"/>
          <a:ext cx="6714744" cy="71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4. </a:t>
          </a:r>
          <a:r>
            <a:rPr lang="en-US" sz="2000" kern="1200" dirty="0" err="1"/>
            <a:t>Обґрунтування</a:t>
          </a:r>
          <a:r>
            <a:rPr lang="en-US" sz="2000" kern="1200" dirty="0"/>
            <a:t> </a:t>
          </a:r>
          <a:r>
            <a:rPr lang="en-US" sz="2000" kern="1200" dirty="0" err="1"/>
            <a:t>використання</a:t>
          </a:r>
          <a:r>
            <a:rPr lang="en-US" sz="2000" kern="1200" dirty="0"/>
            <a:t> Bagging </a:t>
          </a:r>
          <a:r>
            <a:rPr lang="en-US" sz="2000" kern="1200" dirty="0" err="1"/>
            <a:t>та</a:t>
          </a:r>
          <a:r>
            <a:rPr lang="en-US" sz="2000" kern="1200" dirty="0"/>
            <a:t> Boosting </a:t>
          </a:r>
          <a:r>
            <a:rPr lang="en-US" sz="2000" kern="1200" dirty="0" err="1"/>
            <a:t>для</a:t>
          </a:r>
          <a:r>
            <a:rPr lang="en-US" sz="2000" kern="1200" dirty="0"/>
            <a:t> </a:t>
          </a:r>
          <a:r>
            <a:rPr lang="en-US" sz="2000" kern="1200" dirty="0" err="1"/>
            <a:t>підвищення</a:t>
          </a:r>
          <a:r>
            <a:rPr lang="en-US" sz="2000" kern="1200" dirty="0"/>
            <a:t> </a:t>
          </a:r>
          <a:r>
            <a:rPr lang="en-US" sz="2000" kern="1200" dirty="0" err="1"/>
            <a:t>стійкості</a:t>
          </a:r>
          <a:endParaRPr lang="en-US" sz="2000" kern="1200" dirty="0"/>
        </a:p>
      </dsp:txBody>
      <dsp:txXfrm>
        <a:off x="0" y="2151732"/>
        <a:ext cx="6714744" cy="716543"/>
      </dsp:txXfrm>
    </dsp:sp>
    <dsp:sp modelId="{451ECAD4-C1B6-44FA-B8EB-C7C2A562A626}">
      <dsp:nvSpPr>
        <dsp:cNvPr id="0" name=""/>
        <dsp:cNvSpPr/>
      </dsp:nvSpPr>
      <dsp:spPr>
        <a:xfrm>
          <a:off x="0" y="2868276"/>
          <a:ext cx="6714744" cy="0"/>
        </a:xfrm>
        <a:prstGeom prst="line">
          <a:avLst/>
        </a:prstGeom>
        <a:solidFill>
          <a:schemeClr val="accent2">
            <a:hueOff val="3745215"/>
            <a:satOff val="-4671"/>
            <a:lumOff val="1098"/>
            <a:alphaOff val="0"/>
          </a:schemeClr>
        </a:solidFill>
        <a:ln w="25400" cap="flat" cmpd="sng" algn="ctr">
          <a:solidFill>
            <a:schemeClr val="accent2">
              <a:hueOff val="3745215"/>
              <a:satOff val="-4671"/>
              <a:lumOff val="1098"/>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23E1BF8C-FF3E-4CB6-8B63-05D2F38A8001}">
      <dsp:nvSpPr>
        <dsp:cNvPr id="0" name=""/>
        <dsp:cNvSpPr/>
      </dsp:nvSpPr>
      <dsp:spPr>
        <a:xfrm>
          <a:off x="0" y="2868276"/>
          <a:ext cx="6714744" cy="71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5. Програмна реалізація інформаційної технології</a:t>
          </a:r>
        </a:p>
      </dsp:txBody>
      <dsp:txXfrm>
        <a:off x="0" y="2868276"/>
        <a:ext cx="6714744" cy="716543"/>
      </dsp:txXfrm>
    </dsp:sp>
    <dsp:sp modelId="{B0E9FA0D-9381-4855-892B-780191A54F91}">
      <dsp:nvSpPr>
        <dsp:cNvPr id="0" name=""/>
        <dsp:cNvSpPr/>
      </dsp:nvSpPr>
      <dsp:spPr>
        <a:xfrm>
          <a:off x="0" y="3584819"/>
          <a:ext cx="6714744" cy="0"/>
        </a:xfrm>
        <a:prstGeom prst="line">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F757373-078E-4459-8731-88AD60A54929}">
      <dsp:nvSpPr>
        <dsp:cNvPr id="0" name=""/>
        <dsp:cNvSpPr/>
      </dsp:nvSpPr>
      <dsp:spPr>
        <a:xfrm>
          <a:off x="0" y="3584819"/>
          <a:ext cx="6714744" cy="71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6. Експериментальне тестування 35 комбінацій методів</a:t>
          </a:r>
        </a:p>
      </dsp:txBody>
      <dsp:txXfrm>
        <a:off x="0" y="3584819"/>
        <a:ext cx="6714744" cy="716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0D8E8-8FC3-42F8-AE36-5F878DDB0296}">
      <dsp:nvSpPr>
        <dsp:cNvPr id="0" name=""/>
        <dsp:cNvSpPr/>
      </dsp:nvSpPr>
      <dsp:spPr>
        <a:xfrm>
          <a:off x="0" y="39687"/>
          <a:ext cx="3286125" cy="197167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Найкраща точність глибини: Bagging (RMSE=0,713, PSNR=51,065 дБ, IoU=0,996)</a:t>
          </a:r>
        </a:p>
      </dsp:txBody>
      <dsp:txXfrm>
        <a:off x="0" y="39687"/>
        <a:ext cx="3286125" cy="1971675"/>
      </dsp:txXfrm>
    </dsp:sp>
    <dsp:sp modelId="{3CA71303-082A-40B2-8271-1A800373D62A}">
      <dsp:nvSpPr>
        <dsp:cNvPr id="0" name=""/>
        <dsp:cNvSpPr/>
      </dsp:nvSpPr>
      <dsp:spPr>
        <a:xfrm>
          <a:off x="3614737" y="39687"/>
          <a:ext cx="3286125" cy="197167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GeoNet та DPT_Large також високі, але Bagging перевершує за рахунок усереднення</a:t>
          </a:r>
        </a:p>
      </dsp:txBody>
      <dsp:txXfrm>
        <a:off x="3614737" y="39687"/>
        <a:ext cx="3286125" cy="1971675"/>
      </dsp:txXfrm>
    </dsp:sp>
    <dsp:sp modelId="{0DFE65B8-B841-497E-8AAC-A5EC30C98C8D}">
      <dsp:nvSpPr>
        <dsp:cNvPr id="0" name=""/>
        <dsp:cNvSpPr/>
      </dsp:nvSpPr>
      <dsp:spPr>
        <a:xfrm>
          <a:off x="7229475" y="39687"/>
          <a:ext cx="3286125" cy="197167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Щільні методи оптичного потоку (Farneback, FlowNet) дають узгоджені оцінки швидкості</a:t>
          </a:r>
        </a:p>
      </dsp:txBody>
      <dsp:txXfrm>
        <a:off x="7229475" y="39687"/>
        <a:ext cx="3286125" cy="1971675"/>
      </dsp:txXfrm>
    </dsp:sp>
    <dsp:sp modelId="{E6D38B83-0CF5-4F6E-BA29-268EA67F203B}">
      <dsp:nvSpPr>
        <dsp:cNvPr id="0" name=""/>
        <dsp:cNvSpPr/>
      </dsp:nvSpPr>
      <dsp:spPr>
        <a:xfrm>
          <a:off x="1807368" y="2339975"/>
          <a:ext cx="3286125" cy="197167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Lucas-Kanade придатний лише для локального супроводу характерних точок</a:t>
          </a:r>
        </a:p>
      </dsp:txBody>
      <dsp:txXfrm>
        <a:off x="1807368" y="2339975"/>
        <a:ext cx="3286125" cy="1971675"/>
      </dsp:txXfrm>
    </dsp:sp>
    <dsp:sp modelId="{1D92E2AB-53B1-4799-8512-D04B6B4A8474}">
      <dsp:nvSpPr>
        <dsp:cNvPr id="0" name=""/>
        <dsp:cNvSpPr/>
      </dsp:nvSpPr>
      <dsp:spPr>
        <a:xfrm>
          <a:off x="5422106" y="2339975"/>
          <a:ext cx="3286125" cy="197167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Комбінація DETR + Farneback + Bagging рекомендується для реального часу</a:t>
          </a:r>
        </a:p>
      </dsp:txBody>
      <dsp:txXfrm>
        <a:off x="5422106" y="2339975"/>
        <a:ext cx="3286125" cy="1971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74DDD0-8CD3-4152-A82A-27F86FDE54EE}">
      <dsp:nvSpPr>
        <dsp:cNvPr id="0" name=""/>
        <dsp:cNvSpPr/>
      </dsp:nvSpPr>
      <dsp:spPr>
        <a:xfrm>
          <a:off x="0" y="2124"/>
          <a:ext cx="10515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137A27-84F9-4156-A13F-D973F3B46291}">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1. Вперше: метод ДІПДО на основі DETR + оптичного потоку – одночасне виявлення, відстеження та оцінювання швидкості/траєкторії</a:t>
          </a:r>
        </a:p>
      </dsp:txBody>
      <dsp:txXfrm>
        <a:off x="0" y="2124"/>
        <a:ext cx="10515600" cy="724514"/>
      </dsp:txXfrm>
    </dsp:sp>
    <dsp:sp modelId="{216478B8-689A-4AD1-B0E8-3ACD6F47B69B}">
      <dsp:nvSpPr>
        <dsp:cNvPr id="0" name=""/>
        <dsp:cNvSpPr/>
      </dsp:nvSpPr>
      <dsp:spPr>
        <a:xfrm>
          <a:off x="0" y="726639"/>
          <a:ext cx="10515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63D00B-4402-4E27-B491-CFE39970AB4B}">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2. Вперше: структура інформаційної технології з інтеграцією FlowNet, GeoNet, трансформерів та ансамблевої корекції</a:t>
          </a:r>
        </a:p>
      </dsp:txBody>
      <dsp:txXfrm>
        <a:off x="0" y="726639"/>
        <a:ext cx="10515600" cy="724514"/>
      </dsp:txXfrm>
    </dsp:sp>
    <dsp:sp modelId="{DA3B0FB5-CED3-44DB-A6E8-6C68DCE23F2B}">
      <dsp:nvSpPr>
        <dsp:cNvPr id="0" name=""/>
        <dsp:cNvSpPr/>
      </dsp:nvSpPr>
      <dsp:spPr>
        <a:xfrm>
          <a:off x="0" y="1451154"/>
          <a:ext cx="10515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400FD2-0B6A-4686-AA73-2422EE51441E}">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3. Удосконалено метод оцінювання глибини шляхом адаптивного комбінування MiDaS, DPT, GeoNet з Bagging та Boosting</a:t>
          </a:r>
        </a:p>
      </dsp:txBody>
      <dsp:txXfrm>
        <a:off x="0" y="1451154"/>
        <a:ext cx="10515600" cy="724514"/>
      </dsp:txXfrm>
    </dsp:sp>
    <dsp:sp modelId="{F7075B4B-AA3B-43A0-AB99-106729F52B9C}">
      <dsp:nvSpPr>
        <dsp:cNvPr id="0" name=""/>
        <dsp:cNvSpPr/>
      </dsp:nvSpPr>
      <dsp:spPr>
        <a:xfrm>
          <a:off x="0" y="2175669"/>
          <a:ext cx="10515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60CD89-3E58-4BA9-9420-0EAD11AFB9F7}">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4. Удосконалено метод ансамблевої агрегації (Bagging для зменшення дисперсії, Boosting для уточнення меж та оклюзій)</a:t>
          </a:r>
        </a:p>
      </dsp:txBody>
      <dsp:txXfrm>
        <a:off x="0" y="2175669"/>
        <a:ext cx="10515600" cy="724514"/>
      </dsp:txXfrm>
    </dsp:sp>
    <dsp:sp modelId="{1B35852D-F33E-4D84-9494-A8152788C8CA}">
      <dsp:nvSpPr>
        <dsp:cNvPr id="0" name=""/>
        <dsp:cNvSpPr/>
      </dsp:nvSpPr>
      <dsp:spPr>
        <a:xfrm>
          <a:off x="0" y="2900183"/>
          <a:ext cx="10515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AAC9CC-F956-47C0-9D23-71092DF7F66F}">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5. Удосконалено систему метрик (EPE, AAE, RMSE, MAE, PSNR, IoU, Dice) для порівняння 35 комбінацій</a:t>
          </a:r>
        </a:p>
      </dsp:txBody>
      <dsp:txXfrm>
        <a:off x="0" y="2900183"/>
        <a:ext cx="10515600" cy="724514"/>
      </dsp:txXfrm>
    </dsp:sp>
    <dsp:sp modelId="{22C28A23-1307-4CD2-AF45-5FFBE11588CC}">
      <dsp:nvSpPr>
        <dsp:cNvPr id="0" name=""/>
        <dsp:cNvSpPr/>
      </dsp:nvSpPr>
      <dsp:spPr>
        <a:xfrm>
          <a:off x="0" y="3624698"/>
          <a:ext cx="10515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BA6027-BBF7-4350-B395-E047783C8EC5}">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6. Подальший розвиток методу синтезу просторово-часових ознак шляхом інтеграції трансформерної уваги з векторними полями оптичного потоку</a:t>
          </a:r>
        </a:p>
      </dsp:txBody>
      <dsp:txXfrm>
        <a:off x="0" y="3624698"/>
        <a:ext cx="10515600" cy="7245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C56A-2E1C-4F7B-A0AF-0176B3906F53}">
      <dsp:nvSpPr>
        <dsp:cNvPr id="0" name=""/>
        <dsp:cNvSpPr/>
      </dsp:nvSpPr>
      <dsp:spPr>
        <a:xfrm>
          <a:off x="0" y="2124"/>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7AA9705-6D81-4081-87B9-89540CA7EE4A}">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uk-UA" sz="1100" kern="1200" dirty="0"/>
            <a:t>вперше запропоновано метод дистанційної ідентифікації параметрів динамічних об'єктів, що ґрунтується на поєднанні </a:t>
          </a:r>
          <a:r>
            <a:rPr lang="uk-UA" sz="1100" kern="1200" dirty="0" err="1"/>
            <a:t>трансформерної</a:t>
          </a:r>
          <a:r>
            <a:rPr lang="uk-UA" sz="1100" kern="1200" dirty="0"/>
            <a:t> моделі виявлення об'єктів </a:t>
          </a:r>
          <a:r>
            <a:rPr lang="en-US" sz="1100" kern="1200" dirty="0" err="1"/>
            <a:t>DEtection</a:t>
          </a:r>
          <a:r>
            <a:rPr lang="en-US" sz="1100" kern="1200" dirty="0"/>
            <a:t> </a:t>
          </a:r>
          <a:r>
            <a:rPr lang="en-US" sz="1100" kern="1200" dirty="0" err="1"/>
            <a:t>TRansformer</a:t>
          </a:r>
          <a:r>
            <a:rPr lang="en-US" sz="1100" kern="1200" dirty="0"/>
            <a:t> (DETR) </a:t>
          </a:r>
          <a:r>
            <a:rPr lang="uk-UA" sz="1100" kern="12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1100" kern="1200" dirty="0" err="1"/>
            <a:t>постобробки</a:t>
          </a:r>
          <a:r>
            <a:rPr lang="uk-UA" sz="1100" kern="1200" dirty="0"/>
            <a:t>;</a:t>
          </a:r>
        </a:p>
      </dsp:txBody>
      <dsp:txXfrm>
        <a:off x="0" y="2124"/>
        <a:ext cx="10515600" cy="724514"/>
      </dsp:txXfrm>
    </dsp:sp>
    <dsp:sp modelId="{2BB0E26A-EB03-4B8F-8CCF-920E6E9E5833}">
      <dsp:nvSpPr>
        <dsp:cNvPr id="0" name=""/>
        <dsp:cNvSpPr/>
      </dsp:nvSpPr>
      <dsp:spPr>
        <a:xfrm>
          <a:off x="0" y="726639"/>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B5361DD-962A-46CC-B452-F6E1BD44DD37}">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uk-UA" sz="1100" kern="1200" dirty="0"/>
            <a:t>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1100" kern="1200" dirty="0" err="1"/>
            <a:t>нейромережевих</a:t>
          </a:r>
          <a:r>
            <a:rPr lang="uk-UA" sz="1100" kern="1200" dirty="0"/>
            <a:t> </a:t>
          </a:r>
          <a:r>
            <a:rPr lang="uk-UA" sz="1100" kern="1200" dirty="0" err="1"/>
            <a:t>архітектур</a:t>
          </a:r>
          <a:r>
            <a:rPr lang="uk-UA" sz="1100" kern="1200" dirty="0"/>
            <a:t> </a:t>
          </a:r>
          <a:r>
            <a:rPr lang="en-US" sz="1100" kern="1200" dirty="0" err="1"/>
            <a:t>FlowNet</a:t>
          </a:r>
          <a:r>
            <a:rPr lang="en-US" sz="1100" kern="1200" dirty="0"/>
            <a:t> </a:t>
          </a:r>
          <a:r>
            <a:rPr lang="uk-UA" sz="1100" kern="1200" dirty="0"/>
            <a:t>та </a:t>
          </a:r>
          <a:r>
            <a:rPr lang="en-US" sz="1100" kern="1200" dirty="0" err="1"/>
            <a:t>GeoNet</a:t>
          </a:r>
          <a:r>
            <a:rPr lang="en-US" sz="1100" kern="1200" dirty="0"/>
            <a:t>, </a:t>
          </a:r>
          <a:r>
            <a:rPr lang="uk-UA" sz="1100" kern="12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sp:txBody>
      <dsp:txXfrm>
        <a:off x="0" y="726639"/>
        <a:ext cx="10515600" cy="724514"/>
      </dsp:txXfrm>
    </dsp:sp>
    <dsp:sp modelId="{8A19F7F3-D825-47A9-A329-97D681A62B58}">
      <dsp:nvSpPr>
        <dsp:cNvPr id="0" name=""/>
        <dsp:cNvSpPr/>
      </dsp:nvSpPr>
      <dsp:spPr>
        <a:xfrm>
          <a:off x="0" y="1451154"/>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0FFB531-F345-4DE4-A1E8-0F3D1DEE8D1E}">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uk-UA" sz="1100" kern="1200" dirty="0"/>
            <a:t>удосконалено метод оцінювання глибини сцени шляхом адаптивного комбінування </a:t>
          </a:r>
          <a:r>
            <a:rPr lang="uk-UA" sz="1100" kern="1200" dirty="0" err="1"/>
            <a:t>нейромережевих</a:t>
          </a:r>
          <a:r>
            <a:rPr lang="uk-UA" sz="1100" kern="1200" dirty="0"/>
            <a:t> моделей </a:t>
          </a:r>
          <a:r>
            <a:rPr lang="en-US" sz="1100" kern="1200" dirty="0" err="1"/>
            <a:t>MiDaS</a:t>
          </a:r>
          <a:r>
            <a:rPr lang="en-US" sz="1100" kern="1200" dirty="0"/>
            <a:t>, </a:t>
          </a:r>
          <a:r>
            <a:rPr lang="en-US" sz="1100" kern="1200" dirty="0" err="1"/>
            <a:t>DPT_Large</a:t>
          </a:r>
          <a:r>
            <a:rPr lang="en-US" sz="1100" kern="1200" dirty="0"/>
            <a:t> </a:t>
          </a:r>
          <a:r>
            <a:rPr lang="uk-UA" sz="1100" kern="1200" dirty="0"/>
            <a:t>та </a:t>
          </a:r>
          <a:r>
            <a:rPr lang="en-US" sz="1100" kern="1200" dirty="0" err="1"/>
            <a:t>GeoNet</a:t>
          </a:r>
          <a:r>
            <a:rPr lang="en-US" sz="1100" kern="1200" dirty="0"/>
            <a:t> </a:t>
          </a:r>
          <a:r>
            <a:rPr lang="uk-UA" sz="1100" kern="1200" dirty="0"/>
            <a:t>з ансамблевими підходами </a:t>
          </a:r>
          <a:r>
            <a:rPr lang="en-US" sz="1100" kern="1200" dirty="0"/>
            <a:t>Bagging </a:t>
          </a:r>
          <a:r>
            <a:rPr lang="uk-UA" sz="1100" kern="1200" dirty="0"/>
            <a:t>і </a:t>
          </a:r>
          <a:r>
            <a:rPr lang="en-US" sz="1100" kern="1200" dirty="0"/>
            <a:t>Boosting, </a:t>
          </a:r>
          <a:r>
            <a:rPr lang="uk-UA" sz="1100" kern="1200"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sz="1100" kern="1200" dirty="0"/>
            <a:t>Bagging) </a:t>
          </a:r>
          <a:r>
            <a:rPr lang="uk-UA" sz="1100" kern="1200" dirty="0"/>
            <a:t>та уточнення параметрів на межах об'єктів і в зонах оклюзій (</a:t>
          </a:r>
          <a:r>
            <a:rPr lang="en-US" sz="1100" kern="1200" dirty="0"/>
            <a:t>Boosting), </a:t>
          </a:r>
          <a:r>
            <a:rPr lang="uk-UA" sz="1100" kern="1200" dirty="0"/>
            <a:t>що дозволяє визначати координату </a:t>
          </a:r>
          <a:r>
            <a:rPr lang="en-US" sz="1100" kern="1200" dirty="0"/>
            <a:t>Z (</a:t>
          </a:r>
          <a:r>
            <a:rPr lang="uk-UA" sz="1100" kern="1200" dirty="0"/>
            <a:t>глибину) об'єкта з меншою похибкою навіть при відсутності стереопари або даних </a:t>
          </a:r>
          <a:r>
            <a:rPr lang="en-US" sz="1100" kern="1200" dirty="0"/>
            <a:t>LiDAR;</a:t>
          </a:r>
        </a:p>
      </dsp:txBody>
      <dsp:txXfrm>
        <a:off x="0" y="1451154"/>
        <a:ext cx="10515600" cy="724514"/>
      </dsp:txXfrm>
    </dsp:sp>
    <dsp:sp modelId="{6BF8E760-8A1E-4C31-9F11-BF7D76AA7274}">
      <dsp:nvSpPr>
        <dsp:cNvPr id="0" name=""/>
        <dsp:cNvSpPr/>
      </dsp:nvSpPr>
      <dsp:spPr>
        <a:xfrm>
          <a:off x="0" y="2175669"/>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9F58B3D-2D2B-42F6-97F5-E4207E36C68D}">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uk-UA" sz="1000" kern="1200" dirty="0"/>
            <a:t>удосконалено метод ансамблевої агрегації результатів ідентифікації, а саме застосування </a:t>
          </a:r>
          <a:r>
            <a:rPr lang="uk-UA" sz="1000" kern="1200" dirty="0" err="1"/>
            <a:t>бегінгу</a:t>
          </a:r>
          <a:r>
            <a:rPr lang="uk-UA" sz="1000" kern="1200" dirty="0"/>
            <a:t> (</a:t>
          </a:r>
          <a:r>
            <a:rPr lang="en-US" sz="1000" kern="1200" dirty="0"/>
            <a:t>Bagging) </a:t>
          </a:r>
          <a:r>
            <a:rPr lang="uk-UA" sz="1000" kern="1200" dirty="0"/>
            <a:t>для зменшення дисперсії оцінок глибини шляхом усереднення результатів на різних підвибірках кадрів та </a:t>
          </a:r>
          <a:r>
            <a:rPr lang="uk-UA" sz="1000" kern="1200" dirty="0" err="1"/>
            <a:t>бустінгу</a:t>
          </a:r>
          <a:r>
            <a:rPr lang="uk-UA" sz="1000" kern="1200" dirty="0"/>
            <a:t> (</a:t>
          </a:r>
          <a:r>
            <a:rPr lang="en-US" sz="1000" kern="1200" dirty="0"/>
            <a:t>Boosting) </a:t>
          </a:r>
          <a:r>
            <a:rPr lang="uk-UA" sz="1000" kern="1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1000" kern="1200" dirty="0" err="1"/>
            <a:t>ансамблювання</a:t>
          </a:r>
          <a:r>
            <a:rPr lang="uk-UA" sz="1000" kern="1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sp:txBody>
      <dsp:txXfrm>
        <a:off x="0" y="2175669"/>
        <a:ext cx="10515600" cy="724514"/>
      </dsp:txXfrm>
    </dsp:sp>
    <dsp:sp modelId="{A3A295DB-008E-4C4F-9D8A-BD87B020E5E3}">
      <dsp:nvSpPr>
        <dsp:cNvPr id="0" name=""/>
        <dsp:cNvSpPr/>
      </dsp:nvSpPr>
      <dsp:spPr>
        <a:xfrm>
          <a:off x="0" y="2900183"/>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801031A-9084-4B9D-8D55-0BC0C991E50E}">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uk-UA" sz="900" kern="1200" dirty="0"/>
            <a:t>удосконалено метод кількісного оцінювання якості ідентифікації шляхом впровадження комплексної системи метрик, що включає </a:t>
          </a:r>
          <a:r>
            <a:rPr lang="en-US" sz="900" kern="1200" dirty="0"/>
            <a:t>EPE </a:t>
          </a:r>
          <a:r>
            <a:rPr lang="uk-UA" sz="900" kern="1200" dirty="0"/>
            <a:t>та </a:t>
          </a:r>
          <a:r>
            <a:rPr lang="en-US" sz="900" kern="1200" dirty="0"/>
            <a:t>AAE </a:t>
          </a:r>
          <a:r>
            <a:rPr lang="uk-UA" sz="900" kern="1200" dirty="0"/>
            <a:t>для оцінки точності оптичного потоку, </a:t>
          </a:r>
          <a:r>
            <a:rPr lang="en-US" sz="900" kern="1200" dirty="0"/>
            <a:t>RMSE, MAE </a:t>
          </a:r>
          <a:r>
            <a:rPr lang="uk-UA" sz="900" kern="1200" dirty="0"/>
            <a:t>та </a:t>
          </a:r>
          <a:r>
            <a:rPr lang="en-US" sz="900" kern="1200" dirty="0"/>
            <a:t>PSNR </a:t>
          </a:r>
          <a:r>
            <a:rPr lang="uk-UA" sz="900" kern="1200" dirty="0"/>
            <a:t>для оцінки точності відновлення глибини, а також </a:t>
          </a:r>
          <a:r>
            <a:rPr lang="en-US" sz="900" kern="1200" dirty="0" err="1"/>
            <a:t>IoU</a:t>
          </a:r>
          <a:r>
            <a:rPr lang="en-US" sz="900" kern="1200" dirty="0"/>
            <a:t> </a:t>
          </a:r>
          <a:r>
            <a:rPr lang="uk-UA" sz="900" kern="1200" dirty="0"/>
            <a:t>та </a:t>
          </a:r>
          <a:r>
            <a:rPr lang="en-US" sz="900" kern="1200" dirty="0"/>
            <a:t>Dice </a:t>
          </a:r>
          <a:r>
            <a:rPr lang="uk-UA" sz="900" kern="12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900" kern="1200" dirty="0" err="1"/>
            <a:t>Farneback</a:t>
          </a:r>
          <a:r>
            <a:rPr lang="en-US" sz="900" kern="1200" dirty="0"/>
            <a:t>, Lucas‑Kanade, Horn‑Schunck, </a:t>
          </a:r>
          <a:r>
            <a:rPr lang="en-US" sz="900" kern="1200" dirty="0" err="1"/>
            <a:t>FlowNet</a:t>
          </a:r>
          <a:r>
            <a:rPr lang="en-US" sz="900" kern="1200" dirty="0"/>
            <a:t>, </a:t>
          </a:r>
          <a:r>
            <a:rPr lang="en-US" sz="900" kern="1200" dirty="0" err="1"/>
            <a:t>GeoNet</a:t>
          </a:r>
          <a:r>
            <a:rPr lang="en-US" sz="900" kern="1200" dirty="0"/>
            <a:t>) </a:t>
          </a:r>
          <a:r>
            <a:rPr lang="uk-UA" sz="900" kern="1200" dirty="0"/>
            <a:t>та методів глибини (</a:t>
          </a:r>
          <a:r>
            <a:rPr lang="en-US" sz="900" kern="1200" dirty="0"/>
            <a:t>Blur, Gradient, </a:t>
          </a:r>
          <a:r>
            <a:rPr lang="en-US" sz="900" kern="1200" dirty="0" err="1"/>
            <a:t>MiDaS</a:t>
          </a:r>
          <a:r>
            <a:rPr lang="en-US" sz="900" kern="1200" dirty="0"/>
            <a:t>, </a:t>
          </a:r>
          <a:r>
            <a:rPr lang="en-US" sz="900" kern="1200" dirty="0" err="1"/>
            <a:t>DPT_Large</a:t>
          </a:r>
          <a:r>
            <a:rPr lang="en-US" sz="900" kern="1200" dirty="0"/>
            <a:t>, </a:t>
          </a:r>
          <a:r>
            <a:rPr lang="en-US" sz="900" kern="1200" dirty="0" err="1"/>
            <a:t>GeoNet</a:t>
          </a:r>
          <a:r>
            <a:rPr lang="en-US" sz="900" kern="1200" dirty="0"/>
            <a:t>, Bagging, Boosting), </a:t>
          </a:r>
          <a:r>
            <a:rPr lang="uk-UA" sz="900" kern="12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sp:txBody>
      <dsp:txXfrm>
        <a:off x="0" y="2900183"/>
        <a:ext cx="10515600" cy="724514"/>
      </dsp:txXfrm>
    </dsp:sp>
    <dsp:sp modelId="{841E298E-CFFF-4EE1-97F8-AE53B1F07A0C}">
      <dsp:nvSpPr>
        <dsp:cNvPr id="0" name=""/>
        <dsp:cNvSpPr/>
      </dsp:nvSpPr>
      <dsp:spPr>
        <a:xfrm>
          <a:off x="0" y="3624698"/>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BA085C8-BEFA-48D1-A140-D2F47316876D}">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uk-UA" sz="1000" kern="1200" dirty="0"/>
            <a:t>отримав подальший розвиток метод синтезу просторово-часових ознак динамічних об'єктів шляхом інтеграції </a:t>
          </a:r>
          <a:r>
            <a:rPr lang="uk-UA" sz="1000" kern="1200" dirty="0" err="1"/>
            <a:t>трансформерних</a:t>
          </a:r>
          <a:r>
            <a:rPr lang="uk-UA" sz="1000" kern="1200" dirty="0"/>
            <a:t> механізмів уваги з векторними полями оптичного потоку, в якому, на відміну від класичних методів, вектори руху подаються на вхід </a:t>
          </a:r>
          <a:r>
            <a:rPr lang="uk-UA" sz="1000" kern="1200" dirty="0" err="1"/>
            <a:t>трансформерної</a:t>
          </a:r>
          <a:r>
            <a:rPr lang="uk-UA" sz="1000" kern="1200" dirty="0"/>
            <a:t> мережі для моделювання довготривалих просторово-часових </a:t>
          </a:r>
          <a:r>
            <a:rPr lang="uk-UA" sz="1000" kern="1200" dirty="0" err="1"/>
            <a:t>залежностей</a:t>
          </a:r>
          <a:r>
            <a:rPr lang="uk-UA" sz="1000" kern="1200" dirty="0"/>
            <a:t>, що дозволяє виявляти складні </a:t>
          </a:r>
          <a:r>
            <a:rPr lang="uk-UA" sz="1000" kern="1200" dirty="0" err="1"/>
            <a:t>патерни</a:t>
          </a:r>
          <a:r>
            <a:rPr lang="uk-UA" sz="1000" kern="12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1000" kern="1200" dirty="0"/>
        </a:p>
      </dsp:txBody>
      <dsp:txXfrm>
        <a:off x="0" y="3624698"/>
        <a:ext cx="10515600" cy="7245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DEA1D-C260-4218-8F97-C0B1649C8AB9}">
      <dsp:nvSpPr>
        <dsp:cNvPr id="0" name=""/>
        <dsp:cNvSpPr/>
      </dsp:nvSpPr>
      <dsp:spPr>
        <a:xfrm>
          <a:off x="0" y="3569039"/>
          <a:ext cx="10515600" cy="78081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Медицина: неінвазивна діагностика (швидкість кровотоку, рух серця)</a:t>
          </a:r>
        </a:p>
      </dsp:txBody>
      <dsp:txXfrm>
        <a:off x="0" y="3569039"/>
        <a:ext cx="10515600" cy="780818"/>
      </dsp:txXfrm>
    </dsp:sp>
    <dsp:sp modelId="{1268D6C6-F68D-4EEB-AFB7-DB2AEC72108C}">
      <dsp:nvSpPr>
        <dsp:cNvPr id="0" name=""/>
        <dsp:cNvSpPr/>
      </dsp:nvSpPr>
      <dsp:spPr>
        <a:xfrm rot="10800000">
          <a:off x="0" y="2379853"/>
          <a:ext cx="10515600" cy="1200899"/>
        </a:xfrm>
        <a:prstGeom prst="upArrowCallou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Цифровізація та економіка: розгортання інтелектуальних систем на мобільних пристроях та вбудованих платформах</a:t>
          </a:r>
        </a:p>
      </dsp:txBody>
      <dsp:txXfrm rot="10800000">
        <a:off x="0" y="2379853"/>
        <a:ext cx="10515600" cy="780308"/>
      </dsp:txXfrm>
    </dsp:sp>
    <dsp:sp modelId="{6138ACC6-B097-4C71-A2C6-969FFAE76616}">
      <dsp:nvSpPr>
        <dsp:cNvPr id="0" name=""/>
        <dsp:cNvSpPr/>
      </dsp:nvSpPr>
      <dsp:spPr>
        <a:xfrm rot="10800000">
          <a:off x="0" y="1190666"/>
          <a:ext cx="10515600" cy="1200899"/>
        </a:xfrm>
        <a:prstGeom prst="upArrowCallou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Автономний транспорт та логістика: уникнення зіткнень на основі швидкості, траєкторії та глибини</a:t>
          </a:r>
        </a:p>
      </dsp:txBody>
      <dsp:txXfrm rot="10800000">
        <a:off x="0" y="1190666"/>
        <a:ext cx="10515600" cy="780308"/>
      </dsp:txXfrm>
    </dsp:sp>
    <dsp:sp modelId="{33623962-81AA-4C61-8C8E-5D0CA73FE0BF}">
      <dsp:nvSpPr>
        <dsp:cNvPr id="0" name=""/>
        <dsp:cNvSpPr/>
      </dsp:nvSpPr>
      <dsp:spPr>
        <a:xfrm rot="10800000">
          <a:off x="0" y="1479"/>
          <a:ext cx="10515600" cy="1200899"/>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Безпека та оборона: висока точність відстеження об'єктів у реальному часі для відеоспостереження, БПЛА</a:t>
          </a:r>
        </a:p>
      </dsp:txBody>
      <dsp:txXfrm rot="10800000">
        <a:off x="0" y="1479"/>
        <a:ext cx="10515600" cy="7803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466EC8-443D-4550-A37D-8015A9FED052}">
      <dsp:nvSpPr>
        <dsp:cNvPr id="0" name=""/>
        <dsp:cNvSpPr/>
      </dsp:nvSpPr>
      <dsp:spPr>
        <a:xfrm>
          <a:off x="0" y="525"/>
          <a:ext cx="671474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356CF0F-A816-45E8-A60D-FD46F475A9EA}">
      <dsp:nvSpPr>
        <dsp:cNvPr id="0" name=""/>
        <dsp:cNvSpPr/>
      </dsp:nvSpPr>
      <dsp:spPr>
        <a:xfrm>
          <a:off x="0" y="525"/>
          <a:ext cx="6714744" cy="860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 Розроблено моделі, методи та інформаційну технологію ДІПДО, що поєднує DETR, оптичний потік, оцінку глибини та ансамблі</a:t>
          </a:r>
        </a:p>
      </dsp:txBody>
      <dsp:txXfrm>
        <a:off x="0" y="525"/>
        <a:ext cx="6714744" cy="860482"/>
      </dsp:txXfrm>
    </dsp:sp>
    <dsp:sp modelId="{41588650-11FE-4288-9873-8BCDE8B5A815}">
      <dsp:nvSpPr>
        <dsp:cNvPr id="0" name=""/>
        <dsp:cNvSpPr/>
      </dsp:nvSpPr>
      <dsp:spPr>
        <a:xfrm>
          <a:off x="0" y="861008"/>
          <a:ext cx="671474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26B8762-BC1C-47A1-B05B-EFA749C21368}">
      <dsp:nvSpPr>
        <dsp:cNvPr id="0" name=""/>
        <dsp:cNvSpPr/>
      </dsp:nvSpPr>
      <dsp:spPr>
        <a:xfrm>
          <a:off x="0" y="861008"/>
          <a:ext cx="6714744" cy="860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2. Запропоновано метод ДІПДО на основі DETR+оптичний потік – одночасне виявлення, відстеження та оцінка параметрів руху</a:t>
          </a:r>
        </a:p>
      </dsp:txBody>
      <dsp:txXfrm>
        <a:off x="0" y="861008"/>
        <a:ext cx="6714744" cy="860482"/>
      </dsp:txXfrm>
    </dsp:sp>
    <dsp:sp modelId="{EB158BFF-F03C-4530-9279-0E313521376B}">
      <dsp:nvSpPr>
        <dsp:cNvPr id="0" name=""/>
        <dsp:cNvSpPr/>
      </dsp:nvSpPr>
      <dsp:spPr>
        <a:xfrm>
          <a:off x="0" y="1721491"/>
          <a:ext cx="671474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557C0AA3-B6D8-4C8A-A3CB-F0B79A8E8E9A}">
      <dsp:nvSpPr>
        <dsp:cNvPr id="0" name=""/>
        <dsp:cNvSpPr/>
      </dsp:nvSpPr>
      <dsp:spPr>
        <a:xfrm>
          <a:off x="0" y="1721491"/>
          <a:ext cx="6714744" cy="860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3. Удосконалено оцінку глибини шляхом адаптивного комбінування MiDaS, DPT, GeoNet з Bagging та Boosting</a:t>
          </a:r>
        </a:p>
      </dsp:txBody>
      <dsp:txXfrm>
        <a:off x="0" y="1721491"/>
        <a:ext cx="6714744" cy="860482"/>
      </dsp:txXfrm>
    </dsp:sp>
    <dsp:sp modelId="{70C86940-7F53-4036-A2BA-E1A520D500E3}">
      <dsp:nvSpPr>
        <dsp:cNvPr id="0" name=""/>
        <dsp:cNvSpPr/>
      </dsp:nvSpPr>
      <dsp:spPr>
        <a:xfrm>
          <a:off x="0" y="2581973"/>
          <a:ext cx="671474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0751826-CE03-4B78-85F5-50CE2A1298FA}">
      <dsp:nvSpPr>
        <dsp:cNvPr id="0" name=""/>
        <dsp:cNvSpPr/>
      </dsp:nvSpPr>
      <dsp:spPr>
        <a:xfrm>
          <a:off x="0" y="2581973"/>
          <a:ext cx="6714744" cy="860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4. Експериментально підтверджено перевагу Bagging (RMSE=0,713, IoU=0,996) над окремими моделями</a:t>
          </a:r>
        </a:p>
      </dsp:txBody>
      <dsp:txXfrm>
        <a:off x="0" y="2581973"/>
        <a:ext cx="6714744" cy="860482"/>
      </dsp:txXfrm>
    </dsp:sp>
    <dsp:sp modelId="{E3DE8E72-70FA-4073-8176-235A00B087F3}">
      <dsp:nvSpPr>
        <dsp:cNvPr id="0" name=""/>
        <dsp:cNvSpPr/>
      </dsp:nvSpPr>
      <dsp:spPr>
        <a:xfrm>
          <a:off x="0" y="3442456"/>
          <a:ext cx="6714744"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6EB799F-BBB3-4C90-ADDA-82487FF8B8A6}">
      <dsp:nvSpPr>
        <dsp:cNvPr id="0" name=""/>
        <dsp:cNvSpPr/>
      </dsp:nvSpPr>
      <dsp:spPr>
        <a:xfrm>
          <a:off x="0" y="3442456"/>
          <a:ext cx="6714744" cy="860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5. Система працює в реальному часі, стійка до шумів, оклюзій та зміни освітлення</a:t>
          </a:r>
        </a:p>
      </dsp:txBody>
      <dsp:txXfrm>
        <a:off x="0" y="3442456"/>
        <a:ext cx="6714744" cy="860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7762C-A1B4-4FF2-8811-F24E2B192066}">
      <dsp:nvSpPr>
        <dsp:cNvPr id="0" name=""/>
        <dsp:cNvSpPr/>
      </dsp:nvSpPr>
      <dsp:spPr>
        <a:xfrm>
          <a:off x="0" y="2124"/>
          <a:ext cx="10515600"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387FFA92-5140-4C0C-900D-EA34357D8EAF}">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266700">
            <a:lnSpc>
              <a:spcPct val="90000"/>
            </a:lnSpc>
            <a:spcBef>
              <a:spcPct val="0"/>
            </a:spcBef>
            <a:spcAft>
              <a:spcPct val="35000"/>
            </a:spcAft>
            <a:buNone/>
          </a:pPr>
          <a:r>
            <a:rPr lang="uk-UA" sz="600" kern="1200" dirty="0"/>
            <a:t>1. Проведено аналіз сучасних задач і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геометричних і структурних параметрів, а також урахування шумів, оклюзій, зміни освітлення та неповноти даних. Визначено, що динамічні об'єкти є складними багатовимірними системами, стан яких безперервно змінюється в часі. Сформовано класифікацію параметрів (просторові, кінематичні, структурні) та методів ідентифікації (</a:t>
          </a:r>
          <a:r>
            <a:rPr lang="uk-UA" sz="600" kern="1200" dirty="0" err="1"/>
            <a:t>покадрові</a:t>
          </a:r>
          <a:r>
            <a:rPr lang="uk-UA" sz="600" kern="1200" dirty="0"/>
            <a:t>, послідовні, інтегровані). Проаналізовано еволюцію інформаційних технологій комп'ютерного зору від класичних методів (Віоли-Джонса, ГОГ, деформованих частин) до сучасних </a:t>
          </a:r>
          <a:r>
            <a:rPr lang="uk-UA" sz="600" kern="1200" dirty="0" err="1"/>
            <a:t>архітектур</a:t>
          </a:r>
          <a:r>
            <a:rPr lang="uk-UA" sz="600" kern="1200" dirty="0"/>
            <a:t> глибокого навчання (</a:t>
          </a:r>
          <a:r>
            <a:rPr lang="en-US" sz="600" kern="1200" dirty="0"/>
            <a:t>CNN-</a:t>
          </a:r>
          <a:r>
            <a:rPr lang="uk-UA" sz="600" kern="1200" dirty="0"/>
            <a:t>детектори </a:t>
          </a:r>
          <a:r>
            <a:rPr lang="en-US" sz="600" kern="1200" dirty="0"/>
            <a:t>YOLO/SSD, </a:t>
          </a:r>
          <a:r>
            <a:rPr lang="uk-UA" sz="600" kern="1200" dirty="0" err="1"/>
            <a:t>трансформерний</a:t>
          </a:r>
          <a:r>
            <a:rPr lang="uk-UA" sz="600" kern="1200" dirty="0"/>
            <a:t> детектор </a:t>
          </a:r>
          <a:r>
            <a:rPr lang="en-US" sz="600" kern="1200" dirty="0"/>
            <a:t>DETR, </a:t>
          </a:r>
          <a:r>
            <a:rPr lang="uk-UA" sz="600" kern="1200" dirty="0" err="1"/>
            <a:t>нейромережеві</a:t>
          </a:r>
          <a:r>
            <a:rPr lang="uk-UA" sz="600" kern="1200" dirty="0"/>
            <a:t> моделі оптичного потоку </a:t>
          </a:r>
          <a:r>
            <a:rPr lang="en-US" sz="600" kern="1200" dirty="0" err="1"/>
            <a:t>FlowNet</a:t>
          </a:r>
          <a:r>
            <a:rPr lang="en-US" sz="600" kern="1200" dirty="0"/>
            <a:t>/RAFT </a:t>
          </a:r>
          <a:r>
            <a:rPr lang="uk-UA" sz="600" kern="1200" dirty="0"/>
            <a:t>та оцінювання глибини </a:t>
          </a:r>
          <a:r>
            <a:rPr lang="en-US" sz="600" kern="1200" dirty="0" err="1"/>
            <a:t>MiDaS</a:t>
          </a:r>
          <a:r>
            <a:rPr lang="en-US" sz="600" kern="1200" dirty="0"/>
            <a:t>/DPT). </a:t>
          </a:r>
          <a:r>
            <a:rPr lang="uk-UA" sz="600" kern="1200" dirty="0"/>
            <a:t>Досліджено методи обчислювального інтелекту, зокрема ансамблеві підходи </a:t>
          </a:r>
          <a:r>
            <a:rPr lang="en-US" sz="600" kern="1200" dirty="0"/>
            <a:t>Bagging </a:t>
          </a:r>
          <a:r>
            <a:rPr lang="uk-UA" sz="600" kern="1200" dirty="0"/>
            <a:t>та </a:t>
          </a:r>
          <a:r>
            <a:rPr lang="en-US" sz="600" kern="1200" dirty="0"/>
            <a:t>Boosting. </a:t>
          </a:r>
          <a:r>
            <a:rPr lang="uk-UA" sz="600" kern="1200" dirty="0"/>
            <a:t>Обґрунтовано, що найперспективнішим напрямом є інтеграція </a:t>
          </a:r>
          <a:r>
            <a:rPr lang="uk-UA" sz="600" kern="1200" dirty="0" err="1"/>
            <a:t>трансформерного</a:t>
          </a:r>
          <a:r>
            <a:rPr lang="uk-UA" sz="600" kern="1200" dirty="0"/>
            <a:t> виявлення, оптичного потоку, оцінювання глибини та ансамблевих методів. Сформульовано мету та задачі дослідження.</a:t>
          </a:r>
          <a:endParaRPr lang="en-US" sz="600" kern="1200" dirty="0"/>
        </a:p>
      </dsp:txBody>
      <dsp:txXfrm>
        <a:off x="0" y="2124"/>
        <a:ext cx="10515600" cy="724514"/>
      </dsp:txXfrm>
    </dsp:sp>
    <dsp:sp modelId="{24F96C10-ED76-4013-B746-BA5CB8A2799F}">
      <dsp:nvSpPr>
        <dsp:cNvPr id="0" name=""/>
        <dsp:cNvSpPr/>
      </dsp:nvSpPr>
      <dsp:spPr>
        <a:xfrm>
          <a:off x="0" y="726639"/>
          <a:ext cx="10515600"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73014242-FBE5-4EC8-8A16-33DB7E751DB1}">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266700">
            <a:lnSpc>
              <a:spcPct val="90000"/>
            </a:lnSpc>
            <a:spcBef>
              <a:spcPct val="0"/>
            </a:spcBef>
            <a:spcAft>
              <a:spcPct val="35000"/>
            </a:spcAft>
            <a:buNone/>
          </a:pPr>
          <a:r>
            <a:rPr lang="uk-UA" sz="600" kern="1200" dirty="0"/>
            <a:t>2.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необхідність переходу від окремого детектування до інтегрованого просторово-часового аналізу </a:t>
          </a:r>
          <a:r>
            <a:rPr lang="uk-UA" sz="600" kern="1200" dirty="0" err="1"/>
            <a:t>відеопотоку</a:t>
          </a:r>
          <a:r>
            <a:rPr lang="uk-UA" sz="600" kern="1200" dirty="0"/>
            <a:t>. розглянуто методичну основу дистанційної ідентифікації. Проаналізовано класичні методи оптичного потоку: локальний Лукаса-</a:t>
          </a:r>
          <a:r>
            <a:rPr lang="uk-UA" sz="600" kern="1200" dirty="0" err="1"/>
            <a:t>Канаде</a:t>
          </a:r>
          <a:r>
            <a:rPr lang="uk-UA" sz="600" kern="1200" dirty="0"/>
            <a:t>, глобальний </a:t>
          </a:r>
          <a:r>
            <a:rPr lang="uk-UA" sz="600" kern="1200" dirty="0" err="1"/>
            <a:t>Хорна-Шунка</a:t>
          </a:r>
          <a:r>
            <a:rPr lang="uk-UA" sz="600" kern="1200" dirty="0"/>
            <a:t> та поліноміальний </a:t>
          </a:r>
          <a:r>
            <a:rPr lang="uk-UA" sz="600" kern="1200" dirty="0" err="1"/>
            <a:t>Фарнебека</a:t>
          </a:r>
          <a:r>
            <a:rPr lang="uk-UA" sz="600" kern="1200" dirty="0"/>
            <a:t>. Досліджено </a:t>
          </a:r>
          <a:r>
            <a:rPr lang="uk-UA" sz="600" kern="1200" dirty="0" err="1"/>
            <a:t>нейромережеві</a:t>
          </a:r>
          <a:r>
            <a:rPr lang="uk-UA" sz="600" kern="1200" dirty="0"/>
            <a:t> моделі аналізу руху: </a:t>
          </a:r>
          <a:r>
            <a:rPr lang="en-US" sz="600" kern="1200" dirty="0" err="1"/>
            <a:t>FlowNet</a:t>
          </a:r>
          <a:r>
            <a:rPr lang="en-US" sz="600" kern="1200" dirty="0"/>
            <a:t>, RAFT </a:t>
          </a:r>
          <a:r>
            <a:rPr lang="uk-UA" sz="600" kern="1200" dirty="0"/>
            <a:t>та </a:t>
          </a:r>
          <a:r>
            <a:rPr lang="en-US" sz="600" kern="1200" dirty="0" err="1"/>
            <a:t>GeoNet</a:t>
          </a:r>
          <a:r>
            <a:rPr lang="en-US" sz="600" kern="1200" dirty="0"/>
            <a:t>. </a:t>
          </a:r>
          <a:r>
            <a:rPr lang="uk-UA" sz="600" kern="1200" dirty="0"/>
            <a:t>Розглянуто ансамблеві методи </a:t>
          </a:r>
          <a:r>
            <a:rPr lang="en-US" sz="600" kern="1200" dirty="0"/>
            <a:t>Bagging </a:t>
          </a:r>
          <a:r>
            <a:rPr lang="uk-UA" sz="600" kern="1200" dirty="0"/>
            <a:t>та </a:t>
          </a:r>
          <a:r>
            <a:rPr lang="en-US" sz="600" kern="1200" dirty="0"/>
            <a:t>Boosting. </a:t>
          </a:r>
          <a:r>
            <a:rPr lang="uk-UA" sz="600" kern="1200" dirty="0"/>
            <a:t>Запропоновано об'єднання методів через формалізацію просторово-часової моделі, </a:t>
          </a:r>
          <a:r>
            <a:rPr lang="uk-UA" sz="600" kern="1200" dirty="0" err="1"/>
            <a:t>вектора</a:t>
          </a:r>
          <a:r>
            <a:rPr lang="uk-UA" sz="600" kern="1200" dirty="0"/>
            <a:t> стану об’єкта та динамічної моделі руху. Визначено формули для обчислення кінематичних параметрів (швидкість, напрямок, положення, траєкторія). Обґрунтовано доцільність комплексного використання детекторів, оптичного потоку та глибини.</a:t>
          </a:r>
          <a:endParaRPr lang="en-US" sz="600" kern="1200" dirty="0"/>
        </a:p>
      </dsp:txBody>
      <dsp:txXfrm>
        <a:off x="0" y="726639"/>
        <a:ext cx="10515600" cy="724514"/>
      </dsp:txXfrm>
    </dsp:sp>
    <dsp:sp modelId="{BC14F401-58AC-4A51-8E70-856E81AFB9F0}">
      <dsp:nvSpPr>
        <dsp:cNvPr id="0" name=""/>
        <dsp:cNvSpPr/>
      </dsp:nvSpPr>
      <dsp:spPr>
        <a:xfrm>
          <a:off x="0" y="1451154"/>
          <a:ext cx="10515600"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67C839C5-408B-4C5E-8BFB-761B022C2CB7}">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266700">
            <a:lnSpc>
              <a:spcPct val="90000"/>
            </a:lnSpc>
            <a:spcBef>
              <a:spcPct val="0"/>
            </a:spcBef>
            <a:spcAft>
              <a:spcPct val="35000"/>
            </a:spcAft>
            <a:buNone/>
          </a:pPr>
          <a:r>
            <a:rPr lang="uk-UA" sz="600" kern="1200"/>
            <a:t>3. Розроблено моделі дистанційної ідентифікації параметрів динамічних об’єктів, які поєднують результати </a:t>
          </a:r>
          <a:r>
            <a:rPr lang="en-US" sz="600" kern="1200"/>
            <a:t>DETR, </a:t>
          </a:r>
          <a:r>
            <a:rPr lang="uk-UA" sz="600" kern="1200"/>
            <a:t>алгоритмів оптичного потоку, моделей оцінювання глибини та трансформерних механізмів обробки контексту. Таке поєднання забезпечує отримання більш повного опису стану об’єкта порівняно з використанням лише покадрової детекції. Обґрунтовано використання ансамблевих методів </a:t>
          </a:r>
          <a:r>
            <a:rPr lang="en-US" sz="600" kern="1200"/>
            <a:t>Bagging </a:t>
          </a:r>
          <a:r>
            <a:rPr lang="uk-UA" sz="600" kern="1200"/>
            <a:t>і </a:t>
          </a:r>
          <a:r>
            <a:rPr lang="en-US" sz="600" kern="1200"/>
            <a:t>Boosting </a:t>
          </a:r>
          <a:r>
            <a:rPr lang="uk-UA" sz="600" kern="1200"/>
            <a:t>для підвищення стійкості результатів ідентифікації. Показано, що бегінг зменшує вплив випадкових шумів та локальних артефактів, а бустінг підвищує точність у складних областях сцени, зокрема на межах об’єктів і в зонах оклюзій. сформовано концепцію моделей дистанційної ідентифікації. Запропоновано загальну концептуальну модель та архітектуру системи у вигляді набору модулів. Розроблено аналітичну модель ідентифікації з використанням </a:t>
          </a:r>
          <a:r>
            <a:rPr lang="en-US" sz="600" kern="1200"/>
            <a:t>DETR </a:t>
          </a:r>
          <a:r>
            <a:rPr lang="uk-UA" sz="600" kern="1200"/>
            <a:t>та оптичного потоку. Деталізовано математичні моделі для визначення швидкості, напрямку, положення, траєкторії та прискорення. Запропоновано об’єднання моделей через сумісну оцінку </a:t>
          </a:r>
          <a:r>
            <a:rPr lang="en-US" sz="600" kern="1200"/>
            <a:t>GeoNet, </a:t>
          </a:r>
          <a:r>
            <a:rPr lang="uk-UA" sz="600" kern="1200"/>
            <a:t>ансамблеву модель </a:t>
          </a:r>
          <a:r>
            <a:rPr lang="en-US" sz="600" kern="1200"/>
            <a:t>Bagging </a:t>
          </a:r>
          <a:r>
            <a:rPr lang="uk-UA" sz="600" kern="1200"/>
            <a:t>та адаптивну модель </a:t>
          </a:r>
          <a:r>
            <a:rPr lang="en-US" sz="600" kern="1200"/>
            <a:t>Boosting. </a:t>
          </a:r>
          <a:r>
            <a:rPr lang="uk-UA" sz="600" kern="1200"/>
            <a:t>Інтегральна модель та повна система рівнянь забезпечують перехід від покадрового виявлення до просторово-часового опису динамічного об'єкта.</a:t>
          </a:r>
          <a:endParaRPr lang="en-US" sz="600" kern="1200"/>
        </a:p>
      </dsp:txBody>
      <dsp:txXfrm>
        <a:off x="0" y="1451154"/>
        <a:ext cx="10515600" cy="724514"/>
      </dsp:txXfrm>
    </dsp:sp>
    <dsp:sp modelId="{38EBF0F0-AC87-4102-AA7C-579FF9B36052}">
      <dsp:nvSpPr>
        <dsp:cNvPr id="0" name=""/>
        <dsp:cNvSpPr/>
      </dsp:nvSpPr>
      <dsp:spPr>
        <a:xfrm>
          <a:off x="0" y="2175669"/>
          <a:ext cx="10515600"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B51FF8F3-AB80-4522-B6E1-0B60AE75498E}">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266700">
            <a:lnSpc>
              <a:spcPct val="90000"/>
            </a:lnSpc>
            <a:spcBef>
              <a:spcPct val="0"/>
            </a:spcBef>
            <a:spcAft>
              <a:spcPct val="35000"/>
            </a:spcAft>
            <a:buNone/>
          </a:pPr>
          <a:r>
            <a:rPr lang="uk-UA" sz="600" kern="1200"/>
            <a:t>4. Розроблено структуру інформаційної технології ДІПДО та програмну реалізацію основних етапів обробки: отримання відеоданих, виявлення об’єктів, оцінювання оптичного потоку, побудова карти глибини, об’єднання ознак, розрахунок параметрів руху та візуалізація результатів. Проведено експериментальне порівняння комбінацій методів </a:t>
          </a:r>
          <a:r>
            <a:rPr lang="en-US" sz="600" kern="1200"/>
            <a:t>Farneback, Lucas–Kanade, Horn–Schunck, FlowNet, GeoNet, MiDaS, DPT_Large, Bagging, Boosting, Blur </a:t>
          </a:r>
          <a:r>
            <a:rPr lang="uk-UA" sz="600" kern="1200"/>
            <a:t>і </a:t>
          </a:r>
          <a:r>
            <a:rPr lang="en-US" sz="600" kern="1200"/>
            <a:t>Gradient </a:t>
          </a:r>
          <a:r>
            <a:rPr lang="uk-UA" sz="600" kern="1200"/>
            <a:t>на тестовому відеопотоці. У тестовому запуску </a:t>
          </a:r>
          <a:r>
            <a:rPr lang="en-US" sz="600" kern="1200"/>
            <a:t>DETR </a:t>
          </a:r>
          <a:r>
            <a:rPr lang="uk-UA" sz="600" kern="1200"/>
            <a:t>виявив 6 об’єктів з довірою 0,74–1,00; найбільші швидкості отримано для об’єктів із центрами (658,5; 281,0) і (277,5; 264,0), що підтверджує працездатність інтеграції детекції, оптичного потоку та карти глибини. Водночас результати </a:t>
          </a:r>
          <a:r>
            <a:rPr lang="en-US" sz="600" kern="1200"/>
            <a:t>FlowNet/GeoNet </a:t>
          </a:r>
          <a:r>
            <a:rPr lang="uk-UA" sz="600" kern="1200"/>
            <a:t>у цьому запуску є проксі-оцінками, оскільки </a:t>
          </a:r>
          <a:r>
            <a:rPr lang="en-US" sz="600" kern="1200"/>
            <a:t>RAFT/FlowNet </a:t>
          </a:r>
          <a:r>
            <a:rPr lang="uk-UA" sz="600" kern="1200"/>
            <a:t>був недоступний і використовувався резервний розрахунок </a:t>
          </a:r>
          <a:r>
            <a:rPr lang="en-US" sz="600" kern="1200"/>
            <a:t>Farneback. </a:t>
          </a:r>
          <a:r>
            <a:rPr lang="uk-UA" sz="600" kern="1200"/>
            <a:t>Розроблено структуру інформаційної технології ДІПДО та її програмну реалізацію. Реалізовано модулі </a:t>
          </a:r>
          <a:r>
            <a:rPr lang="en-US" sz="600" kern="1200"/>
            <a:t>DETR, </a:t>
          </a:r>
          <a:r>
            <a:rPr lang="uk-UA" sz="600" kern="1200"/>
            <a:t>оптичного потоку (</a:t>
          </a:r>
          <a:r>
            <a:rPr lang="en-US" sz="600" kern="1200"/>
            <a:t>Farneback, Lucas–Kanade, Horn–Schunck, FlowNet, GeoNet) </a:t>
          </a:r>
          <a:r>
            <a:rPr lang="uk-UA" sz="600" kern="1200"/>
            <a:t>та оцінювання глибини (</a:t>
          </a:r>
          <a:r>
            <a:rPr lang="en-US" sz="600" kern="1200"/>
            <a:t>Blur, Gradient, MiDaS, DPT, Bagging, Boosting). </a:t>
          </a:r>
          <a:r>
            <a:rPr lang="uk-UA" sz="600" kern="1200"/>
            <a:t>Проведено експериментальне тестування на відеопотоці </a:t>
          </a:r>
          <a:r>
            <a:rPr lang="en-US" sz="600" kern="1200"/>
            <a:t>vtest.avi. DETR </a:t>
          </a:r>
          <a:r>
            <a:rPr lang="uk-UA" sz="600" kern="1200"/>
            <a:t>виявив 6 об'єктів з довірою 0,74–1,00. Найбільші швидкості отримано для об'єктів 0 (6,526 </a:t>
          </a:r>
          <a:r>
            <a:rPr lang="en-US" sz="600" kern="1200"/>
            <a:t>px/</a:t>
          </a:r>
          <a:r>
            <a:rPr lang="uk-UA" sz="600" kern="1200"/>
            <a:t>кадр) та 4 (4,592 </a:t>
          </a:r>
          <a:r>
            <a:rPr lang="en-US" sz="600" kern="1200"/>
            <a:t>px/</a:t>
          </a:r>
          <a:r>
            <a:rPr lang="uk-UA" sz="600" kern="1200"/>
            <a:t>кадр). Порівняльний аналіз 35 комбінацій методів показав: </a:t>
          </a:r>
          <a:r>
            <a:rPr lang="en-US" sz="600" kern="1200"/>
            <a:t>Bagging </a:t>
          </a:r>
          <a:r>
            <a:rPr lang="uk-UA" sz="600" kern="1200"/>
            <a:t>забезпечив найкращу точність глибини (</a:t>
          </a:r>
          <a:r>
            <a:rPr lang="en-US" sz="600" kern="1200"/>
            <a:t>RMSE=0,713, PSNR=51,065 </a:t>
          </a:r>
          <a:r>
            <a:rPr lang="uk-UA" sz="600" kern="1200"/>
            <a:t>дБ, </a:t>
          </a:r>
          <a:r>
            <a:rPr lang="en-US" sz="600" kern="1200"/>
            <a:t>IoU=0,996); GeoNet-</a:t>
          </a:r>
          <a:r>
            <a:rPr lang="uk-UA" sz="600" kern="1200"/>
            <a:t>проксі та </a:t>
          </a:r>
          <a:r>
            <a:rPr lang="en-US" sz="600" kern="1200"/>
            <a:t>DPT_Large </a:t>
          </a:r>
          <a:r>
            <a:rPr lang="uk-UA" sz="600" kern="1200"/>
            <a:t>також показали високі результати; </a:t>
          </a:r>
          <a:r>
            <a:rPr lang="en-US" sz="600" kern="1200"/>
            <a:t>Blur </a:t>
          </a:r>
          <a:r>
            <a:rPr lang="uk-UA" sz="600" kern="1200"/>
            <a:t>та </a:t>
          </a:r>
          <a:r>
            <a:rPr lang="en-US" sz="600" kern="1200"/>
            <a:t>Gradient </a:t>
          </a:r>
          <a:r>
            <a:rPr lang="uk-UA" sz="600" kern="1200"/>
            <a:t>виявилися непридатними для надійної ідентифікації. Підтверджено працездатність запропонованої інформаційної технології як модульної системи для дистанційної ідентифікації параметрів динамічних об'єктів. Практичне значення результатів полягає у можливості застосування розроблених моделей і програмних компонентів у системах інтелектуального відеоспостереження, автономного транспорту, робототехніки, промислового моніторингу та підтримки прийняття рішень, де необхідне надійне визначення параметрів рухомих об’єктів у режимі реального часу.</a:t>
          </a:r>
          <a:endParaRPr lang="en-US" sz="600" kern="1200"/>
        </a:p>
      </dsp:txBody>
      <dsp:txXfrm>
        <a:off x="0" y="2175669"/>
        <a:ext cx="10515600" cy="724514"/>
      </dsp:txXfrm>
    </dsp:sp>
    <dsp:sp modelId="{BC7A728B-6239-4F7A-B942-EAE07EFF3B42}">
      <dsp:nvSpPr>
        <dsp:cNvPr id="0" name=""/>
        <dsp:cNvSpPr/>
      </dsp:nvSpPr>
      <dsp:spPr>
        <a:xfrm>
          <a:off x="0" y="2900183"/>
          <a:ext cx="10515600"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37E61ADB-CFEA-498A-B673-B3026C639164}">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266700">
            <a:lnSpc>
              <a:spcPct val="90000"/>
            </a:lnSpc>
            <a:spcBef>
              <a:spcPct val="0"/>
            </a:spcBef>
            <a:spcAft>
              <a:spcPct val="35000"/>
            </a:spcAft>
            <a:buNone/>
          </a:pPr>
          <a:r>
            <a:rPr lang="uk-UA" sz="600" kern="1200" dirty="0"/>
            <a:t>Розроблені моделі, методи, інформаційна технологія та програмні засоби дозволяють вирішувати задачі дистанційної ідентифікації параметрів динамічних об'єктів з підвищеною точністю та надійністю. Застосування цих моделей та методів підвищує якість </a:t>
          </a:r>
          <a:r>
            <a:rPr lang="uk-UA" sz="600" kern="1200" dirty="0" err="1"/>
            <a:t>відеоаналітичних</a:t>
          </a:r>
          <a:r>
            <a:rPr lang="uk-UA" sz="600" kern="1200" dirty="0"/>
            <a:t> систем, а саме дозволяє ідентифікувати швидкість, напрямок руху, траєкторію та просторове положення об'єктів на основі монокулярних зображень в умовах шумів, оклюзій та зміни освітлення, що критично важливо для систем безпеки та оборони, автономного транспорту, логістики та медичної діагностики.</a:t>
          </a:r>
          <a:endParaRPr lang="en-US" sz="600" kern="1200" dirty="0"/>
        </a:p>
      </dsp:txBody>
      <dsp:txXfrm>
        <a:off x="0" y="2900183"/>
        <a:ext cx="10515600" cy="724514"/>
      </dsp:txXfrm>
    </dsp:sp>
    <dsp:sp modelId="{7088BACA-FCFD-45B9-85BB-112BB724C1C9}">
      <dsp:nvSpPr>
        <dsp:cNvPr id="0" name=""/>
        <dsp:cNvSpPr/>
      </dsp:nvSpPr>
      <dsp:spPr>
        <a:xfrm>
          <a:off x="0" y="3624698"/>
          <a:ext cx="10515600"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3725F7FD-A23A-47C7-BA91-7039852EBCB7}">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266700">
            <a:lnSpc>
              <a:spcPct val="90000"/>
            </a:lnSpc>
            <a:spcBef>
              <a:spcPct val="0"/>
            </a:spcBef>
            <a:spcAft>
              <a:spcPct val="35000"/>
            </a:spcAft>
            <a:buNone/>
          </a:pPr>
          <a:endParaRPr lang="en-US" sz="600" kern="1200"/>
        </a:p>
      </dsp:txBody>
      <dsp:txXfrm>
        <a:off x="0" y="3624698"/>
        <a:ext cx="10515600" cy="7245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096405-3540-49D7-8017-9B8FB63D09CF}">
      <dsp:nvSpPr>
        <dsp:cNvPr id="0" name=""/>
        <dsp:cNvSpPr/>
      </dsp:nvSpPr>
      <dsp:spPr>
        <a:xfrm>
          <a:off x="0" y="402934"/>
          <a:ext cx="6666833" cy="1118812"/>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Основні публікації: 7 фахових статей (категорія Б), </a:t>
          </a:r>
          <a:r>
            <a:rPr lang="uk-UA" sz="2000" kern="1200"/>
            <a:t>8</a:t>
          </a:r>
          <a:r>
            <a:rPr lang="en-US" sz="2000" kern="1200"/>
            <a:t> тез конференцій</a:t>
          </a:r>
        </a:p>
      </dsp:txBody>
      <dsp:txXfrm>
        <a:off x="54616" y="457550"/>
        <a:ext cx="6557601" cy="1009580"/>
      </dsp:txXfrm>
    </dsp:sp>
    <dsp:sp modelId="{2BC3023E-F50D-46DC-AB6E-49D3399AE212}">
      <dsp:nvSpPr>
        <dsp:cNvPr id="0" name=""/>
        <dsp:cNvSpPr/>
      </dsp:nvSpPr>
      <dsp:spPr>
        <a:xfrm>
          <a:off x="0" y="1579347"/>
          <a:ext cx="6666833" cy="1118812"/>
        </a:xfrm>
        <a:prstGeom prst="roundRect">
          <a:avLst/>
        </a:prstGeom>
        <a:gradFill rotWithShape="0">
          <a:gsLst>
            <a:gs pos="0">
              <a:schemeClr val="accent2">
                <a:hueOff val="1560506"/>
                <a:satOff val="-1946"/>
                <a:lumOff val="458"/>
                <a:alphaOff val="0"/>
                <a:tint val="100000"/>
                <a:shade val="100000"/>
                <a:satMod val="130000"/>
              </a:schemeClr>
            </a:gs>
            <a:gs pos="100000">
              <a:schemeClr val="accent2">
                <a:hueOff val="1560506"/>
                <a:satOff val="-1946"/>
                <a:lumOff val="45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Впровадження у навчальний процес НТУ «ХПІ» (дисципліни «Інтелектуальні системи», «Інтелектуальний аналіз даних», «Дослідження операцій»)</a:t>
          </a:r>
        </a:p>
      </dsp:txBody>
      <dsp:txXfrm>
        <a:off x="54616" y="1633963"/>
        <a:ext cx="6557601" cy="1009580"/>
      </dsp:txXfrm>
    </dsp:sp>
    <dsp:sp modelId="{C3085887-AED9-4DC8-8031-874FB231161D}">
      <dsp:nvSpPr>
        <dsp:cNvPr id="0" name=""/>
        <dsp:cNvSpPr/>
      </dsp:nvSpPr>
      <dsp:spPr>
        <a:xfrm>
          <a:off x="0" y="2755760"/>
          <a:ext cx="6666833" cy="1118812"/>
        </a:xfrm>
        <a:prstGeom prst="roundRect">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Впровадження у ТОВ «Технічний університет «Метінвест Політехніка» (дисципліни з кібербезпеки, GUI, захисту даних)</a:t>
          </a:r>
        </a:p>
      </dsp:txBody>
      <dsp:txXfrm>
        <a:off x="54616" y="2810376"/>
        <a:ext cx="6557601" cy="1009580"/>
      </dsp:txXfrm>
    </dsp:sp>
    <dsp:sp modelId="{145FCDFA-490C-45D7-8483-4DE728ADE175}">
      <dsp:nvSpPr>
        <dsp:cNvPr id="0" name=""/>
        <dsp:cNvSpPr/>
      </dsp:nvSpPr>
      <dsp:spPr>
        <a:xfrm>
          <a:off x="0" y="3932172"/>
          <a:ext cx="6666833" cy="1118812"/>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Впровадження у Радіоастрономічному інституті НАН України (аналіз динамічних процесів у сонячній атмосфері, ідентифікація радіосплесків)</a:t>
          </a:r>
        </a:p>
      </dsp:txBody>
      <dsp:txXfrm>
        <a:off x="54616" y="3986788"/>
        <a:ext cx="6557601" cy="100958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560D42-8794-49FF-91CA-016079B6E200}" type="datetimeFigureOut">
              <a:rPr lang="en-US" smtClean="0"/>
              <a:t>5/8/2026</a:t>
            </a:fld>
            <a:endParaRPr lang="en-US"/>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D210FF-A65C-4C43-9EF1-FEAEFF91A41E}" type="slidenum">
              <a:rPr lang="en-US" smtClean="0"/>
              <a:t>‹№›</a:t>
            </a:fld>
            <a:endParaRPr lang="en-US"/>
          </a:p>
        </p:txBody>
      </p:sp>
    </p:spTree>
    <p:extLst>
      <p:ext uri="{BB962C8B-B14F-4D97-AF65-F5344CB8AC3E}">
        <p14:creationId xmlns:p14="http://schemas.microsoft.com/office/powerpoint/2010/main" val="97918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Титульний</a:t>
            </a:r>
          </a:p>
          <a:p>
            <a:r>
              <a:rPr lang="uk-UA" dirty="0"/>
              <a:t>Що казати:</a:t>
            </a:r>
          </a:p>
          <a:p>
            <a:r>
              <a:rPr lang="uk-UA" dirty="0"/>
              <a:t>«Шановний голово, шановні члени спеціалізованої вченої ради! Вашій увазі пропонується дисертаційна робота на тему: "Моделі, методи та інформаційна технологія дистанційної ідентифікації параметрів динамічних об'єктів", яка подана на здобуття наукового ступеня доктора філософії за спеціальністю 122 "Комп'ютерні науки". Роботу виконано на кафедрі інформаційних систем та технологій Національного технічного університету "Харківський політехнічний інститут" під керівництвом доктора технічних наук, професора </a:t>
            </a:r>
            <a:r>
              <a:rPr lang="uk-UA" dirty="0" err="1"/>
              <a:t>Нікуліної</a:t>
            </a:r>
            <a:r>
              <a:rPr lang="uk-UA" dirty="0"/>
              <a:t> Олени Миколаївни.»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a:t>
            </a:fld>
            <a:endParaRPr lang="en-US"/>
          </a:p>
        </p:txBody>
      </p:sp>
    </p:spTree>
    <p:extLst>
      <p:ext uri="{BB962C8B-B14F-4D97-AF65-F5344CB8AC3E}">
        <p14:creationId xmlns:p14="http://schemas.microsoft.com/office/powerpoint/2010/main" val="1938120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Актуальність теми</a:t>
            </a:r>
          </a:p>
          <a:p>
            <a:r>
              <a:rPr lang="uk-UA" dirty="0"/>
              <a:t>Що казати:</a:t>
            </a:r>
          </a:p>
          <a:p>
            <a:r>
              <a:rPr lang="uk-UA" dirty="0"/>
              <a:t>«Актуальність теми дослідження зумовлена стрімким розвитком систем автономного транспорту, відеоспостереження, безпілотних літальних апаратів та робототехніки. У всіх цих системах виникає критична потреба у надійному визначенні положення, швидкості, напрямку руху та просторових характеристик об'єктів у режимі реального часу без безпосереднього контакту з ними.</a:t>
            </a:r>
          </a:p>
          <a:p>
            <a:endParaRPr lang="uk-UA" dirty="0"/>
          </a:p>
          <a:p>
            <a:r>
              <a:rPr lang="uk-UA" dirty="0"/>
              <a:t>Існуючі методи виявлення об'єктів, оцінювання оптичного потоку та реконструкції глибини розвиваються переважно ізольовано. Це призводить до того, що багато систем працюють лише в обмежених умовах – при статичній камері або фіксованому освітленні. Тому актуальним є створення інтегрованої інформаційної технології, яка поєднує </a:t>
            </a:r>
            <a:r>
              <a:rPr lang="uk-UA" dirty="0" err="1"/>
              <a:t>трансформерне</a:t>
            </a:r>
            <a:r>
              <a:rPr lang="uk-UA" dirty="0"/>
              <a:t> виявлення об'єктів, методи оптичного потоку, </a:t>
            </a:r>
            <a:r>
              <a:rPr lang="uk-UA" dirty="0" err="1"/>
              <a:t>нейромережеву</a:t>
            </a:r>
            <a:r>
              <a:rPr lang="uk-UA" dirty="0"/>
              <a:t> оцінку глибини та ансамблеві методи для підвищення стійкості в умовах шумів, оклюзій та зміни освітлення.»</a:t>
            </a:r>
          </a:p>
          <a:p>
            <a:endParaRPr lang="uk-UA" dirty="0"/>
          </a:p>
          <a:p>
            <a:r>
              <a:rPr lang="uk-UA" sz="1200" kern="1200" dirty="0">
                <a:solidFill>
                  <a:schemeClr val="tx1"/>
                </a:solidFill>
                <a:effectLst/>
                <a:latin typeface="+mn-lt"/>
                <a:ea typeface="+mn-ea"/>
                <a:cs typeface="+mn-cs"/>
              </a:rPr>
              <a:t>Дисертаційна робота присвячена розробленню моделей, методів та інформаційної технології дистанційної ідентифікації параметрів динамічних об’єктів за відеоданими. Актуальність теми зумовлена потребою у надійному визначенні положення, швидкості, напряму руху, траєкторії та просторових характеристик об’єктів у режимі реального часу без безпосереднього контакту з ними. Задачі дистанційної ідентифікації параметрів динамічних об'єктів (ДІПДО) відрізняються високими вимогами до методів та інформаційних технологій їх реалізації. Це необхідність обробки відеоданих у реальному часі, здатність працювати з шумами, оклюзіями та зміною освітлення, забезпечення високої точності визначення просторових, кінематичних та структурних параметрів об'єктів, а також адаптивність до динамічної зміни характеристик середовища спостереження. На сучасному етапі розвитку комп'ютерного зору та глибокого навчання існує широкий спектр методів виявлення об'єктів, оцінювання оптичного потоку та реконструкції глибини сцени. Однак задача інтеграції цих методів в єдину інформаційну технологію, здатну забезпечити надійну ідентифікацію параметрів динамічних об'єктів у реальних умовах експлуатації, відрізняється своєю складністю.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По-перше, необхідно забезпечити сумісну роботу різнорідних модулів: детектора об'єктів (наприклад, </a:t>
            </a:r>
            <a:r>
              <a:rPr lang="uk-UA" sz="1200" kern="1200" dirty="0" err="1">
                <a:solidFill>
                  <a:schemeClr val="tx1"/>
                </a:solidFill>
                <a:effectLst/>
                <a:latin typeface="+mn-lt"/>
                <a:ea typeface="+mn-ea"/>
                <a:cs typeface="+mn-cs"/>
              </a:rPr>
              <a:t>трансформерної</a:t>
            </a:r>
            <a:r>
              <a:rPr lang="uk-UA" sz="1200" kern="1200" dirty="0">
                <a:solidFill>
                  <a:schemeClr val="tx1"/>
                </a:solidFill>
                <a:effectLst/>
                <a:latin typeface="+mn-lt"/>
                <a:ea typeface="+mn-ea"/>
                <a:cs typeface="+mn-cs"/>
              </a:rPr>
              <a:t> моделі DETR), алгоритмів оптичного потоку (</a:t>
            </a:r>
            <a:r>
              <a:rPr lang="uk-UA" sz="1200" kern="1200" dirty="0" err="1">
                <a:solidFill>
                  <a:schemeClr val="tx1"/>
                </a:solidFill>
                <a:effectLst/>
                <a:latin typeface="+mn-lt"/>
                <a:ea typeface="+mn-ea"/>
                <a:cs typeface="+mn-cs"/>
              </a:rPr>
              <a:t>Farneback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Lucas‑Kanade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Horn‑Schunck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FlowNet</a:t>
            </a:r>
            <a:r>
              <a:rPr lang="uk-UA" sz="1200" kern="1200" dirty="0">
                <a:solidFill>
                  <a:schemeClr val="tx1"/>
                </a:solidFill>
                <a:effectLst/>
                <a:latin typeface="+mn-lt"/>
                <a:ea typeface="+mn-ea"/>
                <a:cs typeface="+mn-cs"/>
              </a:rPr>
              <a:t>) та методів оцінювання глибини (</a:t>
            </a:r>
            <a:r>
              <a:rPr lang="uk-UA" sz="1200" kern="1200" dirty="0" err="1">
                <a:solidFill>
                  <a:schemeClr val="tx1"/>
                </a:solidFill>
                <a:effectLst/>
                <a:latin typeface="+mn-lt"/>
                <a:ea typeface="+mn-ea"/>
                <a:cs typeface="+mn-cs"/>
              </a:rPr>
              <a:t>MiDaS</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DPT_Large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GeoNet</a:t>
            </a:r>
            <a:r>
              <a:rPr lang="uk-UA" sz="1200" kern="1200" dirty="0">
                <a:solidFill>
                  <a:schemeClr val="tx1"/>
                </a:solidFill>
                <a:effectLst/>
                <a:latin typeface="+mn-lt"/>
                <a:ea typeface="+mn-ea"/>
                <a:cs typeface="+mn-cs"/>
              </a:rPr>
              <a:t>). Враховуючи, що умови спостереження (освітлення, рівень шумів, наявність оклюзій, швидкість руху об'єктів) часто змінюються протягом </a:t>
            </a:r>
            <a:r>
              <a:rPr lang="uk-UA" sz="1200" kern="1200" dirty="0" err="1">
                <a:solidFill>
                  <a:schemeClr val="tx1"/>
                </a:solidFill>
                <a:effectLst/>
                <a:latin typeface="+mn-lt"/>
                <a:ea typeface="+mn-ea"/>
                <a:cs typeface="+mn-cs"/>
              </a:rPr>
              <a:t>відеопослідовності</a:t>
            </a:r>
            <a:r>
              <a:rPr lang="uk-UA" sz="1200" kern="1200" dirty="0">
                <a:solidFill>
                  <a:schemeClr val="tx1"/>
                </a:solidFill>
                <a:effectLst/>
                <a:latin typeface="+mn-lt"/>
                <a:ea typeface="+mn-ea"/>
                <a:cs typeface="+mn-cs"/>
              </a:rPr>
              <a:t>, відповідно змінюються вимоги до точності та стійкості кожного з модулів.</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По-друге, треба оцінити якість роботи різних комбінацій методів ДІПДО. Такі оцінки, як правило, є багатокритеріальними та включають метрики для оптичного потоку (EPE, AAE), для глибини (RMSE, MAE, PSNR) та для сегментації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що ускладнює вибір оптимальної конфігурації.</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По-третє, слід розв'язати задачу підвищення стійкості ідентифікації в умовах невизначеності (шумів, оклюзій, зміни освітлення). Ця задача вирішується, як правило, шляхом застосування ансамблевих методів </a:t>
            </a:r>
            <a:r>
              <a:rPr lang="uk-UA" sz="1200" kern="1200" dirty="0" err="1">
                <a:solidFill>
                  <a:schemeClr val="tx1"/>
                </a:solidFill>
                <a:effectLst/>
                <a:latin typeface="+mn-lt"/>
                <a:ea typeface="+mn-ea"/>
                <a:cs typeface="+mn-cs"/>
              </a:rPr>
              <a:t>бегінгу</a:t>
            </a:r>
            <a:r>
              <a:rPr lang="uk-UA" sz="1200" kern="1200" dirty="0">
                <a:solidFill>
                  <a:schemeClr val="tx1"/>
                </a:solidFill>
                <a:effectLst/>
                <a:latin typeface="+mn-lt"/>
                <a:ea typeface="+mn-ea"/>
                <a:cs typeface="+mn-cs"/>
              </a:rPr>
              <a:t> та </a:t>
            </a:r>
            <a:r>
              <a:rPr lang="uk-UA" sz="1200" kern="1200" dirty="0" err="1">
                <a:solidFill>
                  <a:schemeClr val="tx1"/>
                </a:solidFill>
                <a:effectLst/>
                <a:latin typeface="+mn-lt"/>
                <a:ea typeface="+mn-ea"/>
                <a:cs typeface="+mn-cs"/>
              </a:rPr>
              <a:t>бустінгу</a:t>
            </a:r>
            <a:r>
              <a:rPr lang="uk-UA" sz="1200" kern="1200" dirty="0">
                <a:solidFill>
                  <a:schemeClr val="tx1"/>
                </a:solidFill>
                <a:effectLst/>
                <a:latin typeface="+mn-lt"/>
                <a:ea typeface="+mn-ea"/>
                <a:cs typeface="+mn-cs"/>
              </a:rPr>
              <a:t>, які потребують додаткового налаштування та обґрунтування доцільності їх використання в конкретних сценаріях.</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Вказані фактори призводять до того, що багато існуючих систем дистанційної ідентифікації або працюють лише в обмежених умовах (наприклад, при статичній камері або фіксованому освітленні), або потребують значного обчислювального ресурсу, що унеможливлює їх роботу в реальному часі.</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Питанням дистанційної ідентифікації параметрів динамічних об'єктів присвячено цілий ряд робіт вітчизняних та закордонних вчених. Однак запропоновані в них моделі та методи не враховують важливі особливості задачі, зокрема необхідність інтеграції </a:t>
            </a:r>
            <a:r>
              <a:rPr lang="uk-UA" sz="1200" kern="1200" dirty="0" err="1">
                <a:solidFill>
                  <a:schemeClr val="tx1"/>
                </a:solidFill>
                <a:effectLst/>
                <a:latin typeface="+mn-lt"/>
                <a:ea typeface="+mn-ea"/>
                <a:cs typeface="+mn-cs"/>
              </a:rPr>
              <a:t>трансформерного</a:t>
            </a:r>
            <a:r>
              <a:rPr lang="uk-UA" sz="1200" kern="1200" dirty="0">
                <a:solidFill>
                  <a:schemeClr val="tx1"/>
                </a:solidFill>
                <a:effectLst/>
                <a:latin typeface="+mn-lt"/>
                <a:ea typeface="+mn-ea"/>
                <a:cs typeface="+mn-cs"/>
              </a:rPr>
              <a:t> виявлення, оптичного потоку та оцінювання глибини в єдину інформаційну технологію з ансамблевою корекцією результатів.</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Великий вплив якості ідентифікації параметрів динамічних об'єктів на ефективність систем відеоспостереження, автономного транспорту, робототехніки та промислового моніторингу і, в той же час, складність розв'язання задачі інтеграції різнорідних методів роблять </a:t>
            </a:r>
            <a:r>
              <a:rPr lang="uk-UA" sz="1200" b="1" kern="1200" dirty="0">
                <a:solidFill>
                  <a:schemeClr val="tx1"/>
                </a:solidFill>
                <a:effectLst/>
                <a:latin typeface="+mn-lt"/>
                <a:ea typeface="+mn-ea"/>
                <a:cs typeface="+mn-cs"/>
              </a:rPr>
              <a:t>актуальною  наукову задачу</a:t>
            </a:r>
            <a:r>
              <a:rPr lang="uk-UA" sz="1200" kern="1200" dirty="0">
                <a:solidFill>
                  <a:schemeClr val="tx1"/>
                </a:solidFill>
                <a:effectLst/>
                <a:latin typeface="+mn-lt"/>
                <a:ea typeface="+mn-ea"/>
                <a:cs typeface="+mn-cs"/>
              </a:rPr>
              <a:t> з розробки моделей, методів та інформаційної технології дистанційної ідентифікації параметрів динамічних об'єктів в умовах невизначеності, яке має істотне значення для розвитку інформаційних технологій комп'ютерного зору.</a:t>
            </a:r>
            <a:endParaRPr lang="en-US" sz="1200" kern="1200" dirty="0">
              <a:solidFill>
                <a:schemeClr val="tx1"/>
              </a:solidFill>
              <a:effectLst/>
              <a:latin typeface="+mn-lt"/>
              <a:ea typeface="+mn-ea"/>
              <a:cs typeface="+mn-cs"/>
            </a:endParaRPr>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a:t>
            </a:fld>
            <a:endParaRPr lang="en-US"/>
          </a:p>
        </p:txBody>
      </p:sp>
    </p:spTree>
    <p:extLst>
      <p:ext uri="{BB962C8B-B14F-4D97-AF65-F5344CB8AC3E}">
        <p14:creationId xmlns:p14="http://schemas.microsoft.com/office/powerpoint/2010/main" val="4047712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Мета, об’єкт, предмет та методи</a:t>
            </a:r>
          </a:p>
          <a:p>
            <a:r>
              <a:rPr lang="uk-UA" dirty="0"/>
              <a:t>Що казати:</a:t>
            </a:r>
          </a:p>
          <a:p>
            <a:r>
              <a:rPr lang="uk-UA" dirty="0"/>
              <a:t>«Метою дисертаційної роботи є підвищення точності, надійності та адаптивності дистанційної ідентифікації параметрів динамічних об'єктів шляхом розробки моделей, методів та інформаційної технології.</a:t>
            </a:r>
          </a:p>
          <a:p>
            <a:endParaRPr lang="uk-UA" dirty="0"/>
          </a:p>
          <a:p>
            <a:r>
              <a:rPr lang="uk-UA" dirty="0"/>
              <a:t>Об'єктом дослідження є процес дистанційної ідентифікації параметрів динамічних об'єктів у </a:t>
            </a:r>
            <a:r>
              <a:rPr lang="uk-UA" dirty="0" err="1"/>
              <a:t>відеопотоках</a:t>
            </a:r>
            <a:r>
              <a:rPr lang="uk-UA" dirty="0"/>
              <a:t> та сенсорних даних.</a:t>
            </a:r>
          </a:p>
          <a:p>
            <a:endParaRPr lang="uk-UA" dirty="0"/>
          </a:p>
          <a:p>
            <a:r>
              <a:rPr lang="uk-UA" dirty="0"/>
              <a:t>Предметом дослідження є моделі, методи та інформаційна технологія визначення просторових, кінематичних і структурних параметрів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endParaRPr lang="uk-UA" dirty="0"/>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a:t>
            </a:fld>
            <a:endParaRPr lang="en-US"/>
          </a:p>
        </p:txBody>
      </p:sp>
    </p:spTree>
    <p:extLst>
      <p:ext uri="{BB962C8B-B14F-4D97-AF65-F5344CB8AC3E}">
        <p14:creationId xmlns:p14="http://schemas.microsoft.com/office/powerpoint/2010/main" val="3501981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655E-9DEE-1F7D-564D-A85B22839D4A}"/>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A1101B9-66DC-50B9-53A1-28DF88FB7CC7}"/>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A18C440F-B97E-1016-DF8C-56C0933097F8}"/>
              </a:ext>
            </a:extLst>
          </p:cNvPr>
          <p:cNvSpPr>
            <a:spLocks noGrp="1"/>
          </p:cNvSpPr>
          <p:nvPr>
            <p:ph type="body" idx="1"/>
          </p:nvPr>
        </p:nvSpPr>
        <p:spPr/>
        <p:txBody>
          <a:bodyPr/>
          <a:lstStyle/>
          <a:p>
            <a:endParaRPr lang="uk-UA" dirty="0"/>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E8C4E7C8-ABD2-99F0-6B4D-A08FC3A692AA}"/>
              </a:ext>
            </a:extLst>
          </p:cNvPr>
          <p:cNvSpPr>
            <a:spLocks noGrp="1"/>
          </p:cNvSpPr>
          <p:nvPr>
            <p:ph type="sldNum" sz="quarter" idx="5"/>
          </p:nvPr>
        </p:nvSpPr>
        <p:spPr/>
        <p:txBody>
          <a:bodyPr/>
          <a:lstStyle/>
          <a:p>
            <a:fld id="{22D210FF-A65C-4C43-9EF1-FEAEFF91A41E}" type="slidenum">
              <a:rPr lang="en-US" smtClean="0"/>
              <a:t>4</a:t>
            </a:fld>
            <a:endParaRPr lang="en-US"/>
          </a:p>
        </p:txBody>
      </p:sp>
    </p:spTree>
    <p:extLst>
      <p:ext uri="{BB962C8B-B14F-4D97-AF65-F5344CB8AC3E}">
        <p14:creationId xmlns:p14="http://schemas.microsoft.com/office/powerpoint/2010/main" val="4162854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54BF7-7163-E8B2-F048-92896164C065}"/>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7F2AFA9-A50C-598D-8D17-FDDDA43C111F}"/>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437EFE57-6F69-5489-5527-59D893DFF080}"/>
              </a:ext>
            </a:extLst>
          </p:cNvPr>
          <p:cNvSpPr>
            <a:spLocks noGrp="1"/>
          </p:cNvSpPr>
          <p:nvPr>
            <p:ph type="body" idx="1"/>
          </p:nvPr>
        </p:nvSpPr>
        <p:spPr/>
        <p:txBody>
          <a:bodyPr/>
          <a:lstStyle/>
          <a:p>
            <a:r>
              <a:rPr lang="uk-UA" dirty="0"/>
              <a:t>Мета, об’єкт, предмет та методи</a:t>
            </a:r>
          </a:p>
          <a:p>
            <a:r>
              <a:rPr lang="uk-UA" dirty="0"/>
              <a:t>Що казати:</a:t>
            </a:r>
          </a:p>
          <a:p>
            <a:r>
              <a:rPr lang="uk-UA" dirty="0"/>
              <a:t>«Метою дисертаційної роботи є підвищення точності, надійності та адаптивності дистанційної ідентифікації параметрів динамічних об'єктів шляхом розробки моделей, методів та інформаційної технології.</a:t>
            </a:r>
          </a:p>
          <a:p>
            <a:endParaRPr lang="uk-UA" dirty="0"/>
          </a:p>
          <a:p>
            <a:r>
              <a:rPr lang="uk-UA" dirty="0"/>
              <a:t>Об'єктом дослідження є процес дистанційної ідентифікації параметрів динамічних об'єктів у </a:t>
            </a:r>
            <a:r>
              <a:rPr lang="uk-UA" dirty="0" err="1"/>
              <a:t>відеопотоках</a:t>
            </a:r>
            <a:r>
              <a:rPr lang="uk-UA" dirty="0"/>
              <a:t> та сенсорних даних.</a:t>
            </a:r>
          </a:p>
          <a:p>
            <a:endParaRPr lang="uk-UA" dirty="0"/>
          </a:p>
          <a:p>
            <a:r>
              <a:rPr lang="uk-UA" dirty="0"/>
              <a:t>Предметом дослідження є моделі, методи та інформаційна технологія визначення просторових, кінематичних і структурних параметрів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endParaRPr lang="uk-UA" dirty="0"/>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FD8952AE-0F7F-4814-2ACC-49CECB373BEE}"/>
              </a:ext>
            </a:extLst>
          </p:cNvPr>
          <p:cNvSpPr>
            <a:spLocks noGrp="1"/>
          </p:cNvSpPr>
          <p:nvPr>
            <p:ph type="sldNum" sz="quarter" idx="5"/>
          </p:nvPr>
        </p:nvSpPr>
        <p:spPr/>
        <p:txBody>
          <a:bodyPr/>
          <a:lstStyle/>
          <a:p>
            <a:fld id="{22D210FF-A65C-4C43-9EF1-FEAEFF91A41E}" type="slidenum">
              <a:rPr lang="en-US" smtClean="0"/>
              <a:t>5</a:t>
            </a:fld>
            <a:endParaRPr lang="en-US"/>
          </a:p>
        </p:txBody>
      </p:sp>
    </p:spTree>
    <p:extLst>
      <p:ext uri="{BB962C8B-B14F-4D97-AF65-F5344CB8AC3E}">
        <p14:creationId xmlns:p14="http://schemas.microsoft.com/office/powerpoint/2010/main" val="1310837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Завдання дослідження</a:t>
            </a:r>
          </a:p>
          <a:p>
            <a:r>
              <a:rPr lang="uk-UA" dirty="0"/>
              <a:t>Що казати:</a:t>
            </a:r>
          </a:p>
          <a:p>
            <a:r>
              <a:rPr lang="uk-UA" dirty="0"/>
              <a:t>«Для досягнення поставленої мети було вирішено шість основних завдань.</a:t>
            </a:r>
          </a:p>
          <a:p>
            <a:endParaRPr lang="uk-UA" dirty="0"/>
          </a:p>
          <a:p>
            <a:r>
              <a:rPr lang="uk-UA" dirty="0"/>
              <a:t>Перше – аналіз сучасних методів дистанційної ідентифікації та визначення їх обмежень.</a:t>
            </a:r>
          </a:p>
          <a:p>
            <a:endParaRPr lang="uk-UA" dirty="0"/>
          </a:p>
          <a:p>
            <a:r>
              <a:rPr lang="uk-UA" dirty="0"/>
              <a:t>Друге – класифікація параметрів динамічних об'єктів та методів їх визначення.</a:t>
            </a:r>
          </a:p>
          <a:p>
            <a:endParaRPr lang="uk-UA" dirty="0"/>
          </a:p>
          <a:p>
            <a:r>
              <a:rPr lang="uk-UA" dirty="0"/>
              <a:t>Третє – розробка моделей інтеграції </a:t>
            </a:r>
            <a:r>
              <a:rPr lang="uk-UA" dirty="0" err="1"/>
              <a:t>трансформерного</a:t>
            </a:r>
            <a:r>
              <a:rPr lang="uk-UA" dirty="0"/>
              <a:t> детектора </a:t>
            </a:r>
            <a:r>
              <a:rPr lang="en-US" dirty="0"/>
              <a:t>DETR, </a:t>
            </a:r>
            <a:r>
              <a:rPr lang="uk-UA" dirty="0"/>
              <a:t>алгоритмів оптичного потоку та </a:t>
            </a:r>
            <a:r>
              <a:rPr lang="uk-UA" dirty="0" err="1"/>
              <a:t>нейромережевих</a:t>
            </a:r>
            <a:r>
              <a:rPr lang="uk-UA" dirty="0"/>
              <a:t> методів оцінювання глибини.</a:t>
            </a:r>
          </a:p>
          <a:p>
            <a:endParaRPr lang="uk-UA" dirty="0"/>
          </a:p>
          <a:p>
            <a:r>
              <a:rPr lang="uk-UA" dirty="0"/>
              <a:t>Четверте – обґрунтування використання ансамблевих методів </a:t>
            </a:r>
            <a:r>
              <a:rPr lang="en-US" dirty="0"/>
              <a:t>Bagging </a:t>
            </a:r>
            <a:r>
              <a:rPr lang="uk-UA" dirty="0"/>
              <a:t>та </a:t>
            </a:r>
            <a:r>
              <a:rPr lang="en-US" dirty="0"/>
              <a:t>Boosting </a:t>
            </a:r>
            <a:r>
              <a:rPr lang="uk-UA" dirty="0"/>
              <a:t>для підвищення стійкості.</a:t>
            </a:r>
          </a:p>
          <a:p>
            <a:endParaRPr lang="uk-UA" dirty="0"/>
          </a:p>
          <a:p>
            <a:r>
              <a:rPr lang="uk-UA" dirty="0"/>
              <a:t>П'яте – програмна реалізація інформаційної технології.</a:t>
            </a:r>
          </a:p>
          <a:p>
            <a:endParaRPr lang="uk-UA" dirty="0"/>
          </a:p>
          <a:p>
            <a:r>
              <a:rPr lang="uk-UA" dirty="0"/>
              <a:t>Шосте – експериментальне тестування тридцяти п'яти комбінацій методів оптичного потоку та оцінювання глибини.»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6</a:t>
            </a:fld>
            <a:endParaRPr lang="en-US"/>
          </a:p>
        </p:txBody>
      </p:sp>
    </p:spTree>
    <p:extLst>
      <p:ext uri="{BB962C8B-B14F-4D97-AF65-F5344CB8AC3E}">
        <p14:creationId xmlns:p14="http://schemas.microsoft.com/office/powerpoint/2010/main" val="2810103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Об'єкт та предмет дослідження (детально)</a:t>
            </a:r>
          </a:p>
          <a:p>
            <a:r>
              <a:rPr lang="uk-UA" dirty="0"/>
              <a:t>Що казати:</a:t>
            </a:r>
          </a:p>
          <a:p>
            <a:r>
              <a:rPr lang="uk-UA" dirty="0"/>
              <a:t>«Розглянемо детальніше об'єкт та предмет дослідження.</a:t>
            </a:r>
          </a:p>
          <a:p>
            <a:endParaRPr lang="uk-UA" dirty="0"/>
          </a:p>
          <a:p>
            <a:r>
              <a:rPr lang="uk-UA" dirty="0"/>
              <a:t>Об'єктом є повний процес дистанційної ідентифікації, який включає етапи отримання даних, попередньої обробки, виділення ознак та прийняття рішень.</a:t>
            </a:r>
          </a:p>
          <a:p>
            <a:endParaRPr lang="uk-UA" dirty="0"/>
          </a:p>
          <a:p>
            <a:r>
              <a:rPr lang="uk-UA" dirty="0"/>
              <a:t>Предметом є власне моделі та методи, які забезпечують визначення просторових параметрів – це координати </a:t>
            </a:r>
            <a:r>
              <a:rPr lang="en-US" dirty="0"/>
              <a:t>x, y, z, </a:t>
            </a:r>
            <a:r>
              <a:rPr lang="uk-UA" dirty="0"/>
              <a:t>глибина, розміри об'єкта; кінематичних параметрів – швидкість, прискорення, напрямок руху, траєкторія; та структурних параметрів – контур, клас об'єкта.</a:t>
            </a:r>
          </a:p>
          <a:p>
            <a:endParaRPr lang="uk-UA" dirty="0"/>
          </a:p>
          <a:p>
            <a:r>
              <a:rPr lang="uk-UA" dirty="0"/>
              <a:t>Основна увага зосереджена на поєднанні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в єдиній інформаційній технології.»</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7</a:t>
            </a:fld>
            <a:endParaRPr lang="en-US"/>
          </a:p>
        </p:txBody>
      </p:sp>
    </p:spTree>
    <p:extLst>
      <p:ext uri="{BB962C8B-B14F-4D97-AF65-F5344CB8AC3E}">
        <p14:creationId xmlns:p14="http://schemas.microsoft.com/office/powerpoint/2010/main" val="2729667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Аналіз задач та методів ДІПДО</a:t>
            </a:r>
          </a:p>
          <a:p>
            <a:r>
              <a:rPr lang="uk-UA" dirty="0"/>
              <a:t>Що казати:</a:t>
            </a:r>
          </a:p>
          <a:p>
            <a:r>
              <a:rPr lang="uk-UA" dirty="0"/>
              <a:t>«Перейдемо до першого розділу, присвяченого аналізу задач та методів дистанційної ідентифікації.</a:t>
            </a:r>
          </a:p>
          <a:p>
            <a:endParaRPr lang="uk-UA" dirty="0"/>
          </a:p>
          <a:p>
            <a:r>
              <a:rPr lang="uk-UA" dirty="0"/>
              <a:t>У цьому розділі визначено, що динамічні об'єкти є складними багатовимірними системами, стан яких безперервно змінюється в часі під впливом внутрішніх процесів або зовнішнього середовища.</a:t>
            </a:r>
          </a:p>
          <a:p>
            <a:endParaRPr lang="uk-UA" dirty="0"/>
          </a:p>
          <a:p>
            <a:r>
              <a:rPr lang="uk-UA" dirty="0"/>
              <a:t>Основні групи параметрів, що підлягають ідентифікації – це просторові координати, кінематичні характеристики, такі як швидкість, прискорення, напрямок руху та траєкторія, а також структурні параметри, зокрема контур, площа та клас об'єкта.</a:t>
            </a:r>
          </a:p>
          <a:p>
            <a:endParaRPr lang="uk-UA" dirty="0"/>
          </a:p>
          <a:p>
            <a:r>
              <a:rPr lang="uk-UA" dirty="0"/>
              <a:t>Проаналізовано еволюцію методів – від класичних, таких як Віоли-Джонса, гістограми орієнтованих градієнтів та моделі деформованих частин, до сучасних </a:t>
            </a:r>
            <a:r>
              <a:rPr lang="uk-UA" dirty="0" err="1"/>
              <a:t>архітектур</a:t>
            </a:r>
            <a:r>
              <a:rPr lang="uk-UA" dirty="0"/>
              <a:t> глибокого навчання, включаючи згорткові нейронні мережі, </a:t>
            </a:r>
            <a:r>
              <a:rPr lang="uk-UA" dirty="0" err="1"/>
              <a:t>трансформерні</a:t>
            </a:r>
            <a:r>
              <a:rPr lang="uk-UA" dirty="0"/>
              <a:t> детектори </a:t>
            </a:r>
            <a:r>
              <a:rPr lang="en-US" dirty="0"/>
              <a:t>DETR </a:t>
            </a:r>
            <a:r>
              <a:rPr lang="uk-UA" dirty="0"/>
              <a:t>та </a:t>
            </a:r>
            <a:r>
              <a:rPr lang="en-US" dirty="0"/>
              <a:t>YOLO.»</a:t>
            </a:r>
            <a:r>
              <a:rPr lang="uk-UA" dirty="0"/>
              <a:t> 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8</a:t>
            </a:fld>
            <a:endParaRPr lang="en-US"/>
          </a:p>
        </p:txBody>
      </p:sp>
    </p:spTree>
    <p:extLst>
      <p:ext uri="{BB962C8B-B14F-4D97-AF65-F5344CB8AC3E}">
        <p14:creationId xmlns:p14="http://schemas.microsoft.com/office/powerpoint/2010/main" val="1687584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Класифікація параметрів динамічних об'єктів</a:t>
            </a:r>
          </a:p>
          <a:p>
            <a:r>
              <a:rPr lang="uk-UA" dirty="0"/>
              <a:t>Що казати:</a:t>
            </a:r>
          </a:p>
          <a:p>
            <a:r>
              <a:rPr lang="uk-UA" dirty="0"/>
              <a:t>«На цьому слайді наведено класифікацію параметрів динамічних об'єктів, яка стала основою для подальшої розробки методів їх визначення.</a:t>
            </a:r>
          </a:p>
          <a:p>
            <a:endParaRPr lang="uk-UA" dirty="0"/>
          </a:p>
          <a:p>
            <a:r>
              <a:rPr lang="uk-UA" dirty="0"/>
              <a:t>Просторові параметри включають координати </a:t>
            </a:r>
            <a:r>
              <a:rPr lang="en-US" dirty="0"/>
              <a:t>x, y, z, </a:t>
            </a:r>
            <a:r>
              <a:rPr lang="uk-UA" dirty="0"/>
              <a:t>глибину сцени, розміри об'єкта, такі як ширина та висота, а також орієнтацію в просторі.</a:t>
            </a:r>
          </a:p>
          <a:p>
            <a:endParaRPr lang="uk-UA" dirty="0"/>
          </a:p>
          <a:p>
            <a:r>
              <a:rPr lang="uk-UA" dirty="0"/>
              <a:t>Кінематичні параметри – це миттєва швидкість переміщення </a:t>
            </a:r>
            <a:r>
              <a:rPr lang="en-US" dirty="0"/>
              <a:t>v, </a:t>
            </a:r>
            <a:r>
              <a:rPr lang="uk-UA" dirty="0"/>
              <a:t>прискорення </a:t>
            </a:r>
            <a:r>
              <a:rPr lang="en-US" dirty="0"/>
              <a:t>a, </a:t>
            </a:r>
            <a:r>
              <a:rPr lang="uk-UA" dirty="0"/>
              <a:t>напрямок руху, який задається кутом тета, та траєкторія руху </a:t>
            </a:r>
            <a:r>
              <a:rPr lang="en-US" dirty="0"/>
              <a:t>T </a:t>
            </a:r>
            <a:r>
              <a:rPr lang="uk-UA" dirty="0"/>
              <a:t>як функція часу.</a:t>
            </a:r>
          </a:p>
          <a:p>
            <a:endParaRPr lang="uk-UA" dirty="0"/>
          </a:p>
          <a:p>
            <a:r>
              <a:rPr lang="uk-UA" dirty="0"/>
              <a:t>Структурні параметри описують форму об'єкта: його контур, площу, яку він займає у кадрі, клас об'єкта, наприклад автомобіль або пішохід, та інші ознаки форми, такі як компактність або </a:t>
            </a:r>
            <a:r>
              <a:rPr lang="uk-UA" dirty="0" err="1"/>
              <a:t>витягнутість</a:t>
            </a:r>
            <a:r>
              <a:rPr lang="uk-UA" dirty="0"/>
              <a:t>.»</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9</a:t>
            </a:fld>
            <a:endParaRPr lang="en-US"/>
          </a:p>
        </p:txBody>
      </p:sp>
    </p:spTree>
    <p:extLst>
      <p:ext uri="{BB962C8B-B14F-4D97-AF65-F5344CB8AC3E}">
        <p14:creationId xmlns:p14="http://schemas.microsoft.com/office/powerpoint/2010/main" val="2799855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Еволюція класичних методів виявлення об'єктів (рис.1.1)</a:t>
            </a:r>
          </a:p>
          <a:p>
            <a:r>
              <a:rPr lang="uk-UA" dirty="0"/>
              <a:t>Що казати:</a:t>
            </a:r>
          </a:p>
          <a:p>
            <a:r>
              <a:rPr lang="uk-UA" dirty="0"/>
              <a:t>«На рисунку 1.1 показано еволюцію класичних методів виявлення об'єктів, яка демонструє перехід від каскадних детекторів до </a:t>
            </a:r>
            <a:r>
              <a:rPr lang="uk-UA" dirty="0" err="1"/>
              <a:t>ознакових</a:t>
            </a:r>
            <a:r>
              <a:rPr lang="uk-UA" dirty="0"/>
              <a:t> і деформованих моделей.</a:t>
            </a:r>
          </a:p>
          <a:p>
            <a:endParaRPr lang="uk-UA" dirty="0"/>
          </a:p>
          <a:p>
            <a:r>
              <a:rPr lang="uk-UA" dirty="0"/>
              <a:t>Ранній етап цієї еволюції представлений каскадним детектором Віоли-Джонса, який використовує інтегральне представлення зображення та набір слабких класифікаторів для швидкого виявлення </a:t>
            </a:r>
            <a:r>
              <a:rPr lang="uk-UA" dirty="0" err="1"/>
              <a:t>облич</a:t>
            </a:r>
            <a:r>
              <a:rPr lang="uk-UA" dirty="0"/>
              <a:t>.</a:t>
            </a:r>
          </a:p>
          <a:p>
            <a:endParaRPr lang="uk-UA" dirty="0"/>
          </a:p>
          <a:p>
            <a:r>
              <a:rPr lang="uk-UA" dirty="0"/>
              <a:t>Подальший розвиток пов'язаний з появою методу гістограм орієнтованих градієнтів, який забезпечує більш стійке виділення форм об'єктів на основі локальних градієнтів інтенсивності.</a:t>
            </a:r>
          </a:p>
          <a:p>
            <a:endParaRPr lang="uk-UA" dirty="0"/>
          </a:p>
          <a:p>
            <a:r>
              <a:rPr lang="uk-UA" dirty="0"/>
              <a:t>Наступним кроком стали моделі деформованих частин, які враховують внутрішню варіативність форми об'єкта через представлення його у вигляді набору частин, з'єднаних пружними зв'язками.</a:t>
            </a:r>
          </a:p>
          <a:p>
            <a:endParaRPr lang="uk-UA" dirty="0"/>
          </a:p>
          <a:p>
            <a:r>
              <a:rPr lang="uk-UA" dirty="0"/>
              <a:t>Завершальним етапом класичного підходу стало створення агрегованих канальних ознак, що об'єднують кілька типів дескрипторів.»</a:t>
            </a:r>
          </a:p>
          <a:p>
            <a:endParaRPr lang="uk-UA" dirty="0"/>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10</a:t>
            </a:fld>
            <a:endParaRPr lang="en-US"/>
          </a:p>
        </p:txBody>
      </p:sp>
    </p:spTree>
    <p:extLst>
      <p:ext uri="{BB962C8B-B14F-4D97-AF65-F5344CB8AC3E}">
        <p14:creationId xmlns:p14="http://schemas.microsoft.com/office/powerpoint/2010/main" val="1829926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err="1"/>
              <a:t>Одноетапні</a:t>
            </a:r>
            <a:r>
              <a:rPr lang="uk-UA" dirty="0"/>
              <a:t> </a:t>
            </a:r>
            <a:r>
              <a:rPr lang="en-US" dirty="0"/>
              <a:t>CNN-</a:t>
            </a:r>
            <a:r>
              <a:rPr lang="uk-UA" dirty="0"/>
              <a:t>детектори (рис.1.2)</a:t>
            </a:r>
          </a:p>
          <a:p>
            <a:r>
              <a:rPr lang="uk-UA" dirty="0"/>
              <a:t>Що казати:</a:t>
            </a:r>
          </a:p>
          <a:p>
            <a:r>
              <a:rPr lang="uk-UA" dirty="0"/>
              <a:t>«На рисунку 1.2 показано розвиток </a:t>
            </a:r>
            <a:r>
              <a:rPr lang="uk-UA" dirty="0" err="1"/>
              <a:t>одноетапних</a:t>
            </a:r>
            <a:r>
              <a:rPr lang="uk-UA" dirty="0"/>
              <a:t> </a:t>
            </a:r>
            <a:r>
              <a:rPr lang="uk-UA" dirty="0" err="1"/>
              <a:t>згорткових</a:t>
            </a:r>
            <a:r>
              <a:rPr lang="uk-UA" dirty="0"/>
              <a:t> нейронних детекторів, які забезпечують швидке прогнозування класів і координат об'єктів в одному проході мережі.</a:t>
            </a:r>
          </a:p>
          <a:p>
            <a:endParaRPr lang="uk-UA" dirty="0"/>
          </a:p>
          <a:p>
            <a:r>
              <a:rPr lang="uk-UA" dirty="0"/>
              <a:t>Раннім представником цього напряму є детектор </a:t>
            </a:r>
            <a:r>
              <a:rPr lang="en-US" dirty="0"/>
              <a:t>YOLO 2015 </a:t>
            </a:r>
            <a:r>
              <a:rPr lang="uk-UA" dirty="0"/>
              <a:t>року, який виконує регресію обмежувальних рамок безпосередньо з </a:t>
            </a:r>
            <a:r>
              <a:rPr lang="uk-UA" dirty="0" err="1"/>
              <a:t>повнозв'язних</a:t>
            </a:r>
            <a:r>
              <a:rPr lang="uk-UA" dirty="0"/>
              <a:t> шарів.</a:t>
            </a:r>
          </a:p>
          <a:p>
            <a:endParaRPr lang="uk-UA" dirty="0"/>
          </a:p>
          <a:p>
            <a:r>
              <a:rPr lang="uk-UA" dirty="0"/>
              <a:t>Альтернативним підходом став метод </a:t>
            </a:r>
            <a:r>
              <a:rPr lang="en-US" dirty="0"/>
              <a:t>SSD 2015 </a:t>
            </a:r>
            <a:r>
              <a:rPr lang="uk-UA" dirty="0"/>
              <a:t>року, що використовує набір </a:t>
            </a:r>
            <a:r>
              <a:rPr lang="uk-UA" dirty="0" err="1"/>
              <a:t>згорткових</a:t>
            </a:r>
            <a:r>
              <a:rPr lang="uk-UA" dirty="0"/>
              <a:t> фільтрів різного масштабу для виявлення об'єктів різних розмірів.</a:t>
            </a:r>
          </a:p>
          <a:p>
            <a:endParaRPr lang="uk-UA" dirty="0"/>
          </a:p>
          <a:p>
            <a:r>
              <a:rPr lang="uk-UA" dirty="0"/>
              <a:t>Подальший розвиток пов'язаний з появою </a:t>
            </a:r>
            <a:r>
              <a:rPr lang="en-US" dirty="0" err="1"/>
              <a:t>RetinaNet</a:t>
            </a:r>
            <a:r>
              <a:rPr lang="en-US" dirty="0"/>
              <a:t> </a:t>
            </a:r>
            <a:r>
              <a:rPr lang="uk-UA" dirty="0"/>
              <a:t>у 2017 році, який впровадив фокальну функцію втрат для подолання проблеми дисбалансу між фоновими та цільовими пікселями.</a:t>
            </a:r>
          </a:p>
          <a:p>
            <a:endParaRPr lang="uk-UA" dirty="0"/>
          </a:p>
          <a:p>
            <a:r>
              <a:rPr lang="uk-UA" dirty="0"/>
              <a:t>Кутові та центральні детектори </a:t>
            </a:r>
            <a:r>
              <a:rPr lang="en-US" dirty="0" err="1"/>
              <a:t>CornerNet</a:t>
            </a:r>
            <a:r>
              <a:rPr lang="en-US" dirty="0"/>
              <a:t> (2018) </a:t>
            </a:r>
            <a:r>
              <a:rPr lang="uk-UA" dirty="0"/>
              <a:t>та </a:t>
            </a:r>
            <a:r>
              <a:rPr lang="en-US" dirty="0" err="1"/>
              <a:t>CenterNet</a:t>
            </a:r>
            <a:r>
              <a:rPr lang="en-US" dirty="0"/>
              <a:t> (2019) </a:t>
            </a:r>
            <a:r>
              <a:rPr lang="uk-UA" dirty="0"/>
              <a:t>відмовилися від традиційних якірних рамок на користь виявлення об'єктів як пар кутових точок або центрів.</a:t>
            </a:r>
          </a:p>
          <a:p>
            <a:endParaRPr lang="uk-UA" dirty="0"/>
          </a:p>
          <a:p>
            <a:r>
              <a:rPr lang="uk-UA" dirty="0"/>
              <a:t>Завершальним етапом є </a:t>
            </a:r>
            <a:r>
              <a:rPr lang="uk-UA" dirty="0" err="1"/>
              <a:t>трансформерні</a:t>
            </a:r>
            <a:r>
              <a:rPr lang="uk-UA" dirty="0"/>
              <a:t> детектори </a:t>
            </a:r>
            <a:r>
              <a:rPr lang="en-US" dirty="0"/>
              <a:t>DETR (2020) </a:t>
            </a:r>
            <a:r>
              <a:rPr lang="uk-UA" dirty="0"/>
              <a:t>та </a:t>
            </a:r>
            <a:r>
              <a:rPr lang="en-US" dirty="0"/>
              <a:t>Deformable DETR (2021), </a:t>
            </a:r>
            <a:r>
              <a:rPr lang="uk-UA" dirty="0"/>
              <a:t>які розглядають виявлення об'єктів як задачу прогнозування набору об'єктів без потреби в механізмах придушення не-максимумів.»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11</a:t>
            </a:fld>
            <a:endParaRPr lang="en-US"/>
          </a:p>
        </p:txBody>
      </p:sp>
    </p:spTree>
    <p:extLst>
      <p:ext uri="{BB962C8B-B14F-4D97-AF65-F5344CB8AC3E}">
        <p14:creationId xmlns:p14="http://schemas.microsoft.com/office/powerpoint/2010/main" val="553804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Двоетапні архітектури </a:t>
            </a:r>
            <a:r>
              <a:rPr lang="en-US" dirty="0"/>
              <a:t>R-CNN (</a:t>
            </a:r>
            <a:r>
              <a:rPr lang="uk-UA" dirty="0"/>
              <a:t>рис.1.3)</a:t>
            </a:r>
          </a:p>
          <a:p>
            <a:r>
              <a:rPr lang="uk-UA" dirty="0"/>
              <a:t>Що казати:</a:t>
            </a:r>
          </a:p>
          <a:p>
            <a:r>
              <a:rPr lang="uk-UA" dirty="0"/>
              <a:t>«Рисунок 1.3 демонструє еволюцію двоетапних </a:t>
            </a:r>
            <a:r>
              <a:rPr lang="uk-UA" dirty="0" err="1"/>
              <a:t>архітектур</a:t>
            </a:r>
            <a:r>
              <a:rPr lang="uk-UA" dirty="0"/>
              <a:t> </a:t>
            </a:r>
            <a:r>
              <a:rPr lang="en-US" dirty="0"/>
              <a:t>R-CNN, </a:t>
            </a:r>
            <a:r>
              <a:rPr lang="uk-UA" dirty="0"/>
              <a:t>які використовують область пропозицій, згорткові ознаки та пірамідальні представлення для підвищення точності детектування.</a:t>
            </a:r>
          </a:p>
          <a:p>
            <a:endParaRPr lang="uk-UA" dirty="0"/>
          </a:p>
          <a:p>
            <a:r>
              <a:rPr lang="en-US" dirty="0"/>
              <a:t>R-CNN </a:t>
            </a:r>
            <a:r>
              <a:rPr lang="uk-UA" dirty="0"/>
              <a:t>використовує селективний пошук для генерації областей-кандидатів. </a:t>
            </a:r>
            <a:r>
              <a:rPr lang="en-US" dirty="0"/>
              <a:t>SPP-Net </a:t>
            </a:r>
            <a:r>
              <a:rPr lang="uk-UA" dirty="0"/>
              <a:t>впроваджує просторову пірамідну </a:t>
            </a:r>
            <a:r>
              <a:rPr lang="uk-UA" dirty="0" err="1"/>
              <a:t>пулінг</a:t>
            </a:r>
            <a:r>
              <a:rPr lang="uk-UA" dirty="0"/>
              <a:t> для роботи з довільним розміром зображення.</a:t>
            </a:r>
          </a:p>
          <a:p>
            <a:endParaRPr lang="uk-UA" dirty="0"/>
          </a:p>
          <a:p>
            <a:r>
              <a:rPr lang="en-US" dirty="0"/>
              <a:t>Fast R-CNN </a:t>
            </a:r>
            <a:r>
              <a:rPr lang="uk-UA" dirty="0"/>
              <a:t>об'єднує класифікацію та регресію обмежувальних рамок у спільну </a:t>
            </a:r>
            <a:r>
              <a:rPr lang="uk-UA" dirty="0" err="1"/>
              <a:t>багатозадачну</a:t>
            </a:r>
            <a:r>
              <a:rPr lang="uk-UA" dirty="0"/>
              <a:t> функцію втрат. </a:t>
            </a:r>
            <a:r>
              <a:rPr lang="en-US" dirty="0"/>
              <a:t>Faster R-CNN </a:t>
            </a:r>
            <a:r>
              <a:rPr lang="uk-UA" dirty="0"/>
              <a:t>замінює селективний пошук на навчену мережу формування пропозицій – </a:t>
            </a:r>
            <a:r>
              <a:rPr lang="en-US" dirty="0"/>
              <a:t>Region Proposal Network.</a:t>
            </a:r>
          </a:p>
          <a:p>
            <a:endParaRPr lang="en-US" dirty="0"/>
          </a:p>
          <a:p>
            <a:r>
              <a:rPr lang="en-US" dirty="0"/>
              <a:t>Mask R-CNN </a:t>
            </a:r>
            <a:r>
              <a:rPr lang="uk-UA" dirty="0"/>
              <a:t>додає гілку сегментації для виділення контурів об'єктів, а </a:t>
            </a:r>
            <a:r>
              <a:rPr lang="en-US" dirty="0"/>
              <a:t>Cascade R-CNN </a:t>
            </a:r>
            <a:r>
              <a:rPr lang="uk-UA" dirty="0"/>
              <a:t>використовує послідовність уточнювальних </a:t>
            </a:r>
            <a:r>
              <a:rPr lang="uk-UA" dirty="0" err="1"/>
              <a:t>регресорів</a:t>
            </a:r>
            <a:r>
              <a:rPr lang="uk-UA" dirty="0"/>
              <a:t> для підвищення точності локалізації.</a:t>
            </a:r>
          </a:p>
          <a:p>
            <a:endParaRPr lang="uk-UA" dirty="0"/>
          </a:p>
          <a:p>
            <a:r>
              <a:rPr lang="uk-UA" dirty="0"/>
              <a:t>Основним недоліком двоетапних </a:t>
            </a:r>
            <a:r>
              <a:rPr lang="uk-UA" dirty="0" err="1"/>
              <a:t>архітектур</a:t>
            </a:r>
            <a:r>
              <a:rPr lang="uk-UA" dirty="0"/>
              <a:t> є менша швидкодія порівняно з </a:t>
            </a:r>
            <a:r>
              <a:rPr lang="uk-UA" dirty="0" err="1"/>
              <a:t>одноетапними</a:t>
            </a:r>
            <a:r>
              <a:rPr lang="uk-UA" dirty="0"/>
              <a:t> детекторами через необхідність послідовного виконання етапу формування пропозицій та етапу їх класифікації.»</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12</a:t>
            </a:fld>
            <a:endParaRPr lang="en-US"/>
          </a:p>
        </p:txBody>
      </p:sp>
    </p:spTree>
    <p:extLst>
      <p:ext uri="{BB962C8B-B14F-4D97-AF65-F5344CB8AC3E}">
        <p14:creationId xmlns:p14="http://schemas.microsoft.com/office/powerpoint/2010/main" val="1259186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Моделі динамічних об'єктів</a:t>
            </a:r>
          </a:p>
          <a:p>
            <a:r>
              <a:rPr lang="uk-UA" dirty="0"/>
              <a:t>Що казати:</a:t>
            </a:r>
          </a:p>
          <a:p>
            <a:r>
              <a:rPr lang="uk-UA" dirty="0"/>
              <a:t>«Модель динамічного об'єкта в межах задач дистанційної ідентифікації описує зміну його просторового положення, швидкості, прискорення та орієнтації в часі.</a:t>
            </a:r>
          </a:p>
          <a:p>
            <a:endParaRPr lang="uk-UA" dirty="0"/>
          </a:p>
          <a:p>
            <a:r>
              <a:rPr lang="uk-UA" dirty="0"/>
              <a:t>Концептуальна модель встановлює зв'язок між відеоданими та множиною параметрів, що ідентифікуються.</a:t>
            </a:r>
          </a:p>
          <a:p>
            <a:endParaRPr lang="uk-UA" dirty="0"/>
          </a:p>
          <a:p>
            <a:r>
              <a:rPr lang="uk-UA" dirty="0"/>
              <a:t>Вектор стану об'єкта включає координати </a:t>
            </a:r>
            <a:r>
              <a:rPr lang="en-US" dirty="0"/>
              <a:t>x </a:t>
            </a:r>
            <a:r>
              <a:rPr lang="uk-UA" dirty="0"/>
              <a:t>та </a:t>
            </a:r>
            <a:r>
              <a:rPr lang="en-US" dirty="0"/>
              <a:t>y, </a:t>
            </a:r>
            <a:r>
              <a:rPr lang="uk-UA" dirty="0"/>
              <a:t>компоненти швидкості </a:t>
            </a:r>
            <a:r>
              <a:rPr lang="en-US" dirty="0" err="1"/>
              <a:t>v_x</a:t>
            </a:r>
            <a:r>
              <a:rPr lang="en-US" dirty="0"/>
              <a:t> </a:t>
            </a:r>
            <a:r>
              <a:rPr lang="uk-UA" dirty="0"/>
              <a:t>та </a:t>
            </a:r>
            <a:r>
              <a:rPr lang="en-US" dirty="0" err="1"/>
              <a:t>v_y</a:t>
            </a:r>
            <a:r>
              <a:rPr lang="en-US" dirty="0"/>
              <a:t>, </a:t>
            </a:r>
            <a:r>
              <a:rPr lang="uk-UA" dirty="0"/>
              <a:t>а також кут напрямку руху тета.</a:t>
            </a:r>
          </a:p>
          <a:p>
            <a:endParaRPr lang="uk-UA" dirty="0"/>
          </a:p>
          <a:p>
            <a:r>
              <a:rPr lang="uk-UA" dirty="0"/>
              <a:t>Динамічна модель руху описує зміну стану під дією власної динаміки та зовнішніх впливів.</a:t>
            </a:r>
          </a:p>
          <a:p>
            <a:endParaRPr lang="uk-UA" dirty="0"/>
          </a:p>
          <a:p>
            <a:r>
              <a:rPr lang="uk-UA" dirty="0"/>
              <a:t>Важливо підкреслити, що в даній роботі модель динамічного об'єкта розглядається не як ізольоване рівняння руху, а як інформаційна структура, що об'єднує результати </a:t>
            </a:r>
            <a:r>
              <a:rPr lang="en-US" dirty="0"/>
              <a:t>DETR, </a:t>
            </a:r>
            <a:r>
              <a:rPr lang="uk-UA" dirty="0"/>
              <a:t>оптичного потоку, </a:t>
            </a:r>
            <a:r>
              <a:rPr lang="en-US" dirty="0" err="1"/>
              <a:t>GeoNet</a:t>
            </a:r>
            <a:r>
              <a:rPr lang="en-US" dirty="0"/>
              <a:t>, </a:t>
            </a:r>
            <a:r>
              <a:rPr lang="uk-UA" dirty="0"/>
              <a:t>моделей глибини та ансамблевого узгодження параметрів.»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13</a:t>
            </a:fld>
            <a:endParaRPr lang="en-US"/>
          </a:p>
        </p:txBody>
      </p:sp>
    </p:spTree>
    <p:extLst>
      <p:ext uri="{BB962C8B-B14F-4D97-AF65-F5344CB8AC3E}">
        <p14:creationId xmlns:p14="http://schemas.microsoft.com/office/powerpoint/2010/main" val="1959655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Методи обчислювального інтелекту</a:t>
            </a:r>
          </a:p>
          <a:p>
            <a:r>
              <a:rPr lang="uk-UA" dirty="0"/>
              <a:t>Що казати:</a:t>
            </a:r>
          </a:p>
          <a:p>
            <a:r>
              <a:rPr lang="uk-UA" dirty="0"/>
              <a:t>«У роботі застосовано два основні ансамблеві методи обчислювального інтелекту.</a:t>
            </a:r>
          </a:p>
          <a:p>
            <a:endParaRPr lang="uk-UA" dirty="0"/>
          </a:p>
          <a:p>
            <a:r>
              <a:rPr lang="uk-UA" dirty="0"/>
              <a:t>Перший – </a:t>
            </a:r>
            <a:r>
              <a:rPr lang="en-US" dirty="0"/>
              <a:t>Bagging, </a:t>
            </a:r>
            <a:r>
              <a:rPr lang="uk-UA" dirty="0"/>
              <a:t>або </a:t>
            </a:r>
            <a:r>
              <a:rPr lang="en-US" dirty="0"/>
              <a:t>Bootstrap Aggregating. </a:t>
            </a:r>
            <a:r>
              <a:rPr lang="uk-UA" dirty="0"/>
              <a:t>Цей метод передбачає усереднення результатів кількох моделей, навчених на різних підвибірках даних. У нашому випадку, це усереднення карт глибини, отриманих на різних модифікаціях кадрів, що дозволяє зменшити дисперсію оцінок та підвищити стійкість до шумів.</a:t>
            </a:r>
          </a:p>
          <a:p>
            <a:endParaRPr lang="uk-UA" dirty="0"/>
          </a:p>
          <a:p>
            <a:r>
              <a:rPr lang="uk-UA" dirty="0"/>
              <a:t>Другий метод – </a:t>
            </a:r>
            <a:r>
              <a:rPr lang="en-US" dirty="0"/>
              <a:t>Boosting, </a:t>
            </a:r>
            <a:r>
              <a:rPr lang="uk-UA" dirty="0"/>
              <a:t>який будує послідовну композицію моделей, де кожна наступна модель виправляє помилки попередніх. Вага кожної моделі обчислюється на основі її помилки. У запропонованій системі це реалізовано шляхом поетапної оцінки глибини: початкова модель формує базову карту, а друга модель уточнює її у тих регіонах, де було виявлено найбільшу похибку.»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14</a:t>
            </a:fld>
            <a:endParaRPr lang="en-US"/>
          </a:p>
        </p:txBody>
      </p:sp>
    </p:spTree>
    <p:extLst>
      <p:ext uri="{BB962C8B-B14F-4D97-AF65-F5344CB8AC3E}">
        <p14:creationId xmlns:p14="http://schemas.microsoft.com/office/powerpoint/2010/main" val="2162684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Методи оптичного потоку</a:t>
            </a:r>
          </a:p>
          <a:p>
            <a:r>
              <a:rPr lang="uk-UA" dirty="0"/>
              <a:t>Що казати:</a:t>
            </a:r>
          </a:p>
          <a:p>
            <a:r>
              <a:rPr lang="uk-UA" dirty="0"/>
              <a:t>«У роботі проаналізовано та використано п'ять основних методів оптичного потоку.</a:t>
            </a:r>
          </a:p>
          <a:p>
            <a:endParaRPr lang="uk-UA" dirty="0"/>
          </a:p>
          <a:p>
            <a:r>
              <a:rPr lang="uk-UA" dirty="0"/>
              <a:t>Перший – локальний метод Лукаса-</a:t>
            </a:r>
            <a:r>
              <a:rPr lang="uk-UA" dirty="0" err="1"/>
              <a:t>Канаде</a:t>
            </a:r>
            <a:r>
              <a:rPr lang="uk-UA" dirty="0"/>
              <a:t>, який базується на припущенні, що оптичний потік є локально постійним у межах невеликого вікна. Розв'язок знаходиться методом найменших квадратів. Перевагами методу є висока швидкість обчислень та стійкість до шумів, але він не здатен відновлювати потік в областях з однорідною текстурою.</a:t>
            </a:r>
          </a:p>
          <a:p>
            <a:endParaRPr lang="uk-UA" dirty="0"/>
          </a:p>
          <a:p>
            <a:r>
              <a:rPr lang="uk-UA" dirty="0"/>
              <a:t>Другий – глобальний метод </a:t>
            </a:r>
            <a:r>
              <a:rPr lang="uk-UA" dirty="0" err="1"/>
              <a:t>Хорна-Шунка</a:t>
            </a:r>
            <a:r>
              <a:rPr lang="uk-UA" dirty="0"/>
              <a:t>, який мінімізує функціонал енергії, що поєднує обмеження сталості яскравості з умовою глобальної гладкості поля руху. Цей метод будує густе гладке поле, але потребує значних ітераційних ресурсів.</a:t>
            </a:r>
          </a:p>
          <a:p>
            <a:endParaRPr lang="uk-UA" dirty="0"/>
          </a:p>
          <a:p>
            <a:r>
              <a:rPr lang="uk-UA" dirty="0"/>
              <a:t>Третій – поліноміальний метод </a:t>
            </a:r>
            <a:r>
              <a:rPr lang="uk-UA" dirty="0" err="1"/>
              <a:t>Фарнебека</a:t>
            </a:r>
            <a:r>
              <a:rPr lang="uk-UA" dirty="0"/>
              <a:t>, який використовує пірамідальну структуру зображень та апроксимацію інтенсивності поліномами другого порядку.</a:t>
            </a:r>
          </a:p>
          <a:p>
            <a:endParaRPr lang="uk-UA" dirty="0"/>
          </a:p>
          <a:p>
            <a:r>
              <a:rPr lang="uk-UA" dirty="0"/>
              <a:t>Четвертий та п'ятий – </a:t>
            </a:r>
            <a:r>
              <a:rPr lang="uk-UA" dirty="0" err="1"/>
              <a:t>нейромережеві</a:t>
            </a:r>
            <a:r>
              <a:rPr lang="uk-UA" dirty="0"/>
              <a:t> методи </a:t>
            </a:r>
            <a:r>
              <a:rPr lang="en-US" dirty="0" err="1"/>
              <a:t>FlowNet</a:t>
            </a:r>
            <a:r>
              <a:rPr lang="en-US" dirty="0"/>
              <a:t> </a:t>
            </a:r>
            <a:r>
              <a:rPr lang="uk-UA" dirty="0"/>
              <a:t>та </a:t>
            </a:r>
            <a:r>
              <a:rPr lang="en-US" dirty="0" err="1"/>
              <a:t>GeoNet</a:t>
            </a:r>
            <a:r>
              <a:rPr lang="en-US" dirty="0"/>
              <a:t>, </a:t>
            </a:r>
            <a:r>
              <a:rPr lang="uk-UA" dirty="0"/>
              <a:t>які навчаються передбачати оптичний потік за принципом "кінець-у-кінець".»</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15</a:t>
            </a:fld>
            <a:endParaRPr lang="en-US"/>
          </a:p>
        </p:txBody>
      </p:sp>
    </p:spTree>
    <p:extLst>
      <p:ext uri="{BB962C8B-B14F-4D97-AF65-F5344CB8AC3E}">
        <p14:creationId xmlns:p14="http://schemas.microsoft.com/office/powerpoint/2010/main" val="2551284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err="1"/>
              <a:t>Нейромережеві</a:t>
            </a:r>
            <a:r>
              <a:rPr lang="uk-UA" dirty="0"/>
              <a:t> моделі аналізу руху</a:t>
            </a:r>
          </a:p>
          <a:p>
            <a:r>
              <a:rPr lang="uk-UA" dirty="0"/>
              <a:t>Що казати:</a:t>
            </a:r>
          </a:p>
          <a:p>
            <a:r>
              <a:rPr lang="uk-UA" dirty="0"/>
              <a:t>«Розглянемо детальніше </a:t>
            </a:r>
            <a:r>
              <a:rPr lang="uk-UA" dirty="0" err="1"/>
              <a:t>нейромережеві</a:t>
            </a:r>
            <a:r>
              <a:rPr lang="uk-UA" dirty="0"/>
              <a:t> моделі аналізу руху.</a:t>
            </a:r>
          </a:p>
          <a:p>
            <a:endParaRPr lang="uk-UA" dirty="0"/>
          </a:p>
          <a:p>
            <a:r>
              <a:rPr lang="en-US" dirty="0" err="1"/>
              <a:t>FlowNet</a:t>
            </a:r>
            <a:r>
              <a:rPr lang="en-US" dirty="0"/>
              <a:t> – </a:t>
            </a:r>
            <a:r>
              <a:rPr lang="uk-UA" dirty="0"/>
              <a:t>це </a:t>
            </a:r>
            <a:r>
              <a:rPr lang="uk-UA" dirty="0" err="1"/>
              <a:t>згорткова</a:t>
            </a:r>
            <a:r>
              <a:rPr lang="uk-UA" dirty="0"/>
              <a:t> нейронна мережа з архітектурою </a:t>
            </a:r>
            <a:r>
              <a:rPr lang="uk-UA" dirty="0" err="1"/>
              <a:t>енкодер</a:t>
            </a:r>
            <a:r>
              <a:rPr lang="uk-UA" dirty="0"/>
              <a:t>-декодер. Вона приймає на вхід два послідовних кадри, </a:t>
            </a:r>
            <a:r>
              <a:rPr lang="uk-UA" dirty="0" err="1"/>
              <a:t>конкатенованих</a:t>
            </a:r>
            <a:r>
              <a:rPr lang="uk-UA" dirty="0"/>
              <a:t> по канальній розмірності, і передбачає поле оптичного потоку. Навчання відбувається шляхом мінімізації функції втрат </a:t>
            </a:r>
            <a:r>
              <a:rPr lang="en-US" dirty="0"/>
              <a:t>EPE – End-Point Error.</a:t>
            </a:r>
          </a:p>
          <a:p>
            <a:endParaRPr lang="en-US" dirty="0"/>
          </a:p>
          <a:p>
            <a:r>
              <a:rPr lang="en-US" dirty="0"/>
              <a:t>RAFT – Recurrent All-pairs Field Transforms – </a:t>
            </a:r>
            <a:r>
              <a:rPr lang="uk-UA" dirty="0"/>
              <a:t>використовує кореляційний об'єм для встановлення </a:t>
            </a:r>
            <a:r>
              <a:rPr lang="uk-UA" dirty="0" err="1"/>
              <a:t>відповідностей</a:t>
            </a:r>
            <a:r>
              <a:rPr lang="uk-UA" dirty="0"/>
              <a:t> між кадрами та рекурентне оновлення поля потоку за допомогою </a:t>
            </a:r>
            <a:r>
              <a:rPr lang="en-US" dirty="0"/>
              <a:t>GRU. </a:t>
            </a:r>
            <a:r>
              <a:rPr lang="uk-UA" dirty="0"/>
              <a:t>Цей метод забезпечує високу точність на великих зміщеннях.</a:t>
            </a:r>
          </a:p>
          <a:p>
            <a:endParaRPr lang="uk-UA" dirty="0"/>
          </a:p>
          <a:p>
            <a:r>
              <a:rPr lang="en-US" dirty="0" err="1"/>
              <a:t>GeoNet</a:t>
            </a:r>
            <a:r>
              <a:rPr lang="en-US" dirty="0"/>
              <a:t> – </a:t>
            </a:r>
            <a:r>
              <a:rPr lang="uk-UA" dirty="0"/>
              <a:t>глибока нейронна архітектура, яка поєднує задачу оцінки глибини з задачею оцінки оптичного потоку. Її основна мета – інтегрувати просторову та часову інформацію в єдину структуру.</a:t>
            </a:r>
          </a:p>
          <a:p>
            <a:endParaRPr lang="uk-UA" dirty="0"/>
          </a:p>
          <a:p>
            <a:r>
              <a:rPr lang="en-US" dirty="0"/>
              <a:t>DETR – Detection Transformer – </a:t>
            </a:r>
            <a:r>
              <a:rPr lang="uk-UA" dirty="0"/>
              <a:t>використовує механізми багатоголової уваги для виявлення об'єктів в кадрі без потреби в попередньому формуванні областей-кандидатів.»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16</a:t>
            </a:fld>
            <a:endParaRPr lang="en-US"/>
          </a:p>
        </p:txBody>
      </p:sp>
    </p:spTree>
    <p:extLst>
      <p:ext uri="{BB962C8B-B14F-4D97-AF65-F5344CB8AC3E}">
        <p14:creationId xmlns:p14="http://schemas.microsoft.com/office/powerpoint/2010/main" val="1820495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Ансамблеві методи (</a:t>
            </a:r>
            <a:r>
              <a:rPr lang="en-US" dirty="0"/>
              <a:t>Bagging, Boosting)</a:t>
            </a:r>
          </a:p>
          <a:p>
            <a:r>
              <a:rPr lang="uk-UA" dirty="0"/>
              <a:t>Що казати:</a:t>
            </a:r>
          </a:p>
          <a:p>
            <a:r>
              <a:rPr lang="uk-UA" dirty="0"/>
              <a:t>«На цьому слайді наведено математичний опис ансамблевих методів, використаних у роботі.</a:t>
            </a:r>
          </a:p>
          <a:p>
            <a:endParaRPr lang="uk-UA" dirty="0"/>
          </a:p>
          <a:p>
            <a:r>
              <a:rPr lang="uk-UA" dirty="0"/>
              <a:t>Для </a:t>
            </a:r>
            <a:r>
              <a:rPr lang="en-US" dirty="0"/>
              <a:t>Bagging – </a:t>
            </a:r>
            <a:r>
              <a:rPr lang="uk-UA" dirty="0"/>
              <a:t>методу </a:t>
            </a:r>
            <a:r>
              <a:rPr lang="uk-UA" dirty="0" err="1"/>
              <a:t>бутстреп</a:t>
            </a:r>
            <a:r>
              <a:rPr lang="uk-UA" dirty="0"/>
              <a:t>-агрегації – фінальний прогноз обчислюється як середнє арифметичне прогнозів усіх моделей в ансамблі. У контексті оцінки глибини це означає усереднення карт глибини, отриманих від різних моделей або на різних модифікаціях вхідних кадрів.</a:t>
            </a:r>
          </a:p>
          <a:p>
            <a:endParaRPr lang="uk-UA" dirty="0"/>
          </a:p>
          <a:p>
            <a:r>
              <a:rPr lang="uk-UA" dirty="0"/>
              <a:t>Для </a:t>
            </a:r>
            <a:r>
              <a:rPr lang="en-US" dirty="0"/>
              <a:t>Boosting </a:t>
            </a:r>
            <a:r>
              <a:rPr lang="uk-UA" dirty="0"/>
              <a:t>фінальний прогноз обчислюється як зважена сума прогнозів окремих моделей, де вага кожної моделі обернено пропорційна її помилці – чим менша помилка, тим більша вага. Вага обчислюється за формулою, де епсилон і – це помилка </a:t>
            </a:r>
            <a:r>
              <a:rPr lang="en-US" dirty="0" err="1"/>
              <a:t>i</a:t>
            </a:r>
            <a:r>
              <a:rPr lang="en-US" dirty="0"/>
              <a:t>-</a:t>
            </a:r>
            <a:r>
              <a:rPr lang="uk-UA" dirty="0"/>
              <a:t>ї моделі.</a:t>
            </a:r>
          </a:p>
          <a:p>
            <a:endParaRPr lang="uk-UA" dirty="0"/>
          </a:p>
          <a:p>
            <a:r>
              <a:rPr lang="uk-UA" dirty="0"/>
              <a:t>Крім того, запропоновано адаптивне комбінування результатів різних методів оцінки глибини, де вибір методу залежить від величини градієнта карти глибини. Якщо градієнт малий, використовується перша карта глибини, якщо великий – друга. Це дозволяє використовувати переваги різних методів у різних областях зображення.»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17</a:t>
            </a:fld>
            <a:endParaRPr lang="en-US"/>
          </a:p>
        </p:txBody>
      </p:sp>
    </p:spTree>
    <p:extLst>
      <p:ext uri="{BB962C8B-B14F-4D97-AF65-F5344CB8AC3E}">
        <p14:creationId xmlns:p14="http://schemas.microsoft.com/office/powerpoint/2010/main" val="90101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Об'єднання методів (просторово-часова модель)</a:t>
            </a:r>
          </a:p>
          <a:p>
            <a:r>
              <a:rPr lang="uk-UA" dirty="0"/>
              <a:t>Що казати:</a:t>
            </a:r>
          </a:p>
          <a:p>
            <a:r>
              <a:rPr lang="uk-UA" dirty="0"/>
              <a:t>«Об'єднання методів дистанційної ідентифікації ґрунтується на спільному використанні просторових ознак, отриманих детектором об'єктів, часових характеристик, визначених за оптичним потоком, та оцінок глибини сцени.</a:t>
            </a:r>
          </a:p>
          <a:p>
            <a:endParaRPr lang="uk-UA" dirty="0"/>
          </a:p>
          <a:p>
            <a:r>
              <a:rPr lang="uk-UA" dirty="0"/>
              <a:t>Узагальнена просторово-часова модель задає функцію інтенсивності зображення, що залежить від просторових координат та часу.</a:t>
            </a:r>
          </a:p>
          <a:p>
            <a:endParaRPr lang="uk-UA" dirty="0"/>
          </a:p>
          <a:p>
            <a:r>
              <a:rPr lang="uk-UA" dirty="0"/>
              <a:t>Сумісна оцінка глибини та оптичного потоку в моделі </a:t>
            </a:r>
            <a:r>
              <a:rPr lang="en-US" dirty="0" err="1"/>
              <a:t>GeoNet</a:t>
            </a:r>
            <a:r>
              <a:rPr lang="en-US" dirty="0"/>
              <a:t> </a:t>
            </a:r>
            <a:r>
              <a:rPr lang="uk-UA" dirty="0"/>
              <a:t>реалізується через геометричні обмеження: фотометричну узгодженість, яка стверджує, що піксель з першого кадру після зсуву на вектор оптичного потоку повинен мати таку саму інтенсивність, що й відповідний піксель другого кадру.</a:t>
            </a:r>
          </a:p>
          <a:p>
            <a:endParaRPr lang="uk-UA" dirty="0"/>
          </a:p>
          <a:p>
            <a:r>
              <a:rPr lang="uk-UA" dirty="0"/>
              <a:t>Геометрична модель пов'язує оптичний потік з глибиною, рухом камери та проекцією точки.</a:t>
            </a:r>
          </a:p>
          <a:p>
            <a:endParaRPr lang="uk-UA" dirty="0"/>
          </a:p>
          <a:p>
            <a:r>
              <a:rPr lang="uk-UA" dirty="0"/>
              <a:t>На основі отриманого поля оптичного потоку обчислюються кінематичні параметри об'єкта: швидкість, напрямок руху, просторове положення та траєкторія.»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18</a:t>
            </a:fld>
            <a:endParaRPr lang="en-US"/>
          </a:p>
        </p:txBody>
      </p:sp>
    </p:spTree>
    <p:extLst>
      <p:ext uri="{BB962C8B-B14F-4D97-AF65-F5344CB8AC3E}">
        <p14:creationId xmlns:p14="http://schemas.microsoft.com/office/powerpoint/2010/main" val="3170169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Концепція моделей ДІПДО</a:t>
            </a:r>
          </a:p>
          <a:p>
            <a:r>
              <a:rPr lang="uk-UA" dirty="0"/>
              <a:t>Що казати:</a:t>
            </a:r>
          </a:p>
          <a:p>
            <a:r>
              <a:rPr lang="uk-UA" dirty="0"/>
              <a:t>«Перейдемо до третього розділу, в якому сформовано концепцію моделей дистанційної ідентифікації.</a:t>
            </a:r>
          </a:p>
          <a:p>
            <a:endParaRPr lang="uk-UA" dirty="0"/>
          </a:p>
          <a:p>
            <a:r>
              <a:rPr lang="uk-UA" dirty="0"/>
              <a:t>Концепція ґрунтується на поєднанні трьох взаємопов'язаних рівнів. На першому рівні використовуються детектори об'єктів для виявлення та локалізації об'єктів у кадрі. Другий рівень – методи оптичного потоку – забезпечує оцінювання руху об'єктів між кадрами. Третій рівень – моделі оцінювання глибини – відновлює просторову структуру сцени.</a:t>
            </a:r>
          </a:p>
          <a:p>
            <a:endParaRPr lang="uk-UA" dirty="0"/>
          </a:p>
          <a:p>
            <a:r>
              <a:rPr lang="uk-UA" dirty="0"/>
              <a:t>Інтеграція цих рівнів забезпечує отримання координат, швидкості, напрямку руху та траєкторії об'єкта в єдиному інформаційному просторі.</a:t>
            </a:r>
          </a:p>
          <a:p>
            <a:endParaRPr lang="uk-UA" dirty="0"/>
          </a:p>
          <a:p>
            <a:r>
              <a:rPr lang="uk-UA" dirty="0"/>
              <a:t>Архітектура системи представлена у вигляді набору модулів: модуль виявлення об'єктів </a:t>
            </a:r>
            <a:r>
              <a:rPr lang="en-US" dirty="0"/>
              <a:t>DETR </a:t>
            </a:r>
            <a:r>
              <a:rPr lang="uk-UA" dirty="0"/>
              <a:t>або </a:t>
            </a:r>
            <a:r>
              <a:rPr lang="en-US" dirty="0"/>
              <a:t>YOLO, </a:t>
            </a:r>
            <a:r>
              <a:rPr lang="uk-UA" dirty="0"/>
              <a:t>модуль оптичного потоку, модуль оцінки глибини, модуль обчислення параметрів та модуль візуалізації результатів. Така модульна структура забезпечує гнучкість та можливість заміни окремих компонентів.»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19</a:t>
            </a:fld>
            <a:endParaRPr lang="en-US"/>
          </a:p>
        </p:txBody>
      </p:sp>
    </p:spTree>
    <p:extLst>
      <p:ext uri="{BB962C8B-B14F-4D97-AF65-F5344CB8AC3E}">
        <p14:creationId xmlns:p14="http://schemas.microsoft.com/office/powerpoint/2010/main" val="1269937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Аналітична модель (рис.3.1) – </a:t>
            </a:r>
            <a:r>
              <a:rPr lang="en-US" dirty="0"/>
              <a:t>DETR + Optical Flow</a:t>
            </a:r>
          </a:p>
          <a:p>
            <a:r>
              <a:rPr lang="uk-UA" dirty="0"/>
              <a:t>Що казати:</a:t>
            </a:r>
          </a:p>
          <a:p>
            <a:r>
              <a:rPr lang="uk-UA" dirty="0"/>
              <a:t>«На рисунку 3.1 показано аналітичну модель дистанційної ідентифікації параметрів динамічного об'єкта з використанням </a:t>
            </a:r>
            <a:r>
              <a:rPr lang="en-US" dirty="0"/>
              <a:t>DETR </a:t>
            </a:r>
            <a:r>
              <a:rPr lang="uk-UA" dirty="0"/>
              <a:t>та оптичного потоку.</a:t>
            </a:r>
          </a:p>
          <a:p>
            <a:endParaRPr lang="uk-UA" dirty="0"/>
          </a:p>
          <a:p>
            <a:r>
              <a:rPr lang="uk-UA" dirty="0"/>
              <a:t>Вхідний </a:t>
            </a:r>
            <a:r>
              <a:rPr lang="uk-UA" dirty="0" err="1"/>
              <a:t>відеопотік</a:t>
            </a:r>
            <a:r>
              <a:rPr lang="uk-UA" dirty="0"/>
              <a:t> надходить на детектор </a:t>
            </a:r>
            <a:r>
              <a:rPr lang="en-US" dirty="0"/>
              <a:t>DETR, </a:t>
            </a:r>
            <a:r>
              <a:rPr lang="uk-UA" dirty="0"/>
              <a:t>який виконує локалізацію об'єктів у кожному кадрі – визначає обмежувальні рамки навколо кожного виявленого об'єкта.</a:t>
            </a:r>
          </a:p>
          <a:p>
            <a:endParaRPr lang="uk-UA" dirty="0"/>
          </a:p>
          <a:p>
            <a:r>
              <a:rPr lang="uk-UA" dirty="0"/>
              <a:t>Далі для кожної пари послідовних кадрів обчислюється оптичний потік, який дає векторне поле переміщення пікселів.</a:t>
            </a:r>
          </a:p>
          <a:p>
            <a:endParaRPr lang="uk-UA" dirty="0"/>
          </a:p>
          <a:p>
            <a:r>
              <a:rPr lang="uk-UA" dirty="0"/>
              <a:t>Після цього для кожного виявленого об'єкта аналізуються вектори оптичного потоку в межах його обмежувальної рамки. На основі цього аналізу визначаються кінематичні параметри об'єкта: швидкість руху як середня величина векторів потоку, напрямок руху як середнє арифметичне або векторне усереднення кутів, а також траєкторія руху як послідовність положень у часі.</a:t>
            </a:r>
          </a:p>
          <a:p>
            <a:endParaRPr lang="uk-UA" dirty="0"/>
          </a:p>
          <a:p>
            <a:r>
              <a:rPr lang="uk-UA" dirty="0"/>
              <a:t>Такий підхід дозволяє перейти від простого виявлення об'єкта в кадрі до кількісного опису його динамічних характеристик.»</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20</a:t>
            </a:fld>
            <a:endParaRPr lang="en-US"/>
          </a:p>
        </p:txBody>
      </p:sp>
    </p:spTree>
    <p:extLst>
      <p:ext uri="{BB962C8B-B14F-4D97-AF65-F5344CB8AC3E}">
        <p14:creationId xmlns:p14="http://schemas.microsoft.com/office/powerpoint/2010/main" val="788192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Модель </a:t>
            </a:r>
            <a:r>
              <a:rPr lang="en-US" dirty="0"/>
              <a:t>DETR (Detection Transformer)</a:t>
            </a:r>
          </a:p>
          <a:p>
            <a:r>
              <a:rPr lang="uk-UA" dirty="0"/>
              <a:t>Що казати:</a:t>
            </a:r>
          </a:p>
          <a:p>
            <a:r>
              <a:rPr lang="uk-UA" dirty="0"/>
              <a:t>«Модель </a:t>
            </a:r>
            <a:r>
              <a:rPr lang="en-US" dirty="0"/>
              <a:t>DETR – </a:t>
            </a:r>
            <a:r>
              <a:rPr lang="uk-UA" dirty="0"/>
              <a:t>це </a:t>
            </a:r>
            <a:r>
              <a:rPr lang="uk-UA" dirty="0" err="1"/>
              <a:t>трансформерна</a:t>
            </a:r>
            <a:r>
              <a:rPr lang="uk-UA" dirty="0"/>
              <a:t> архітектура для виявлення об'єктів, яка виконує одночасне прогнозування класів об'єктів, обмежувальних рамок та ймовірностей без потреби в механізмах придушення не-максимумів.</a:t>
            </a:r>
          </a:p>
          <a:p>
            <a:endParaRPr lang="uk-UA" dirty="0"/>
          </a:p>
          <a:p>
            <a:r>
              <a:rPr lang="uk-UA" dirty="0"/>
              <a:t>Ключовим компонентом </a:t>
            </a:r>
            <a:r>
              <a:rPr lang="en-US" dirty="0"/>
              <a:t>DETR </a:t>
            </a:r>
            <a:r>
              <a:rPr lang="uk-UA" dirty="0"/>
              <a:t>є механізм багатоголової уваги, який дозволяє моделі фокусуватися на різних частинах вхідного зображення одночасно.</a:t>
            </a:r>
          </a:p>
          <a:p>
            <a:endParaRPr lang="uk-UA" dirty="0"/>
          </a:p>
          <a:p>
            <a:r>
              <a:rPr lang="uk-UA" dirty="0"/>
              <a:t>Функція уваги обчислює ваги на основі сумісності між запитами та ключами, а потім використовує ці ваги для зваженого підсумовування значень.</a:t>
            </a:r>
          </a:p>
          <a:p>
            <a:endParaRPr lang="uk-UA" dirty="0"/>
          </a:p>
          <a:p>
            <a:r>
              <a:rPr lang="uk-UA" dirty="0"/>
              <a:t>Багатоголова увага </a:t>
            </a:r>
            <a:r>
              <a:rPr lang="uk-UA" dirty="0" err="1"/>
              <a:t>конкатенує</a:t>
            </a:r>
            <a:r>
              <a:rPr lang="uk-UA" dirty="0"/>
              <a:t> результати кількох голів уваги та застосовує лінійне перетворення.</a:t>
            </a:r>
          </a:p>
          <a:p>
            <a:endParaRPr lang="uk-UA" dirty="0"/>
          </a:p>
          <a:p>
            <a:r>
              <a:rPr lang="uk-UA" dirty="0"/>
              <a:t>Для навчання </a:t>
            </a:r>
            <a:r>
              <a:rPr lang="en-US" dirty="0"/>
              <a:t>DETR </a:t>
            </a:r>
            <a:r>
              <a:rPr lang="uk-UA" dirty="0"/>
              <a:t>використовується угорська функція втрат, яка знаходить оптимальне парування між передбаченнями моделі та істинними об'єктами. Функція втрат складається з двох частин: від'ємного логарифма ймовірності правильного класу та втрати для обмежувальної рамки, яка включає </a:t>
            </a:r>
            <a:r>
              <a:rPr lang="en-US" dirty="0" err="1"/>
              <a:t>IoU</a:t>
            </a:r>
            <a:r>
              <a:rPr lang="en-US" dirty="0"/>
              <a:t>-</a:t>
            </a:r>
            <a:r>
              <a:rPr lang="uk-UA" dirty="0"/>
              <a:t>втрату та </a:t>
            </a:r>
            <a:r>
              <a:rPr lang="en-US" dirty="0"/>
              <a:t>L1-</a:t>
            </a:r>
            <a:r>
              <a:rPr lang="uk-UA" dirty="0"/>
              <a:t>втрату.»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21</a:t>
            </a:fld>
            <a:endParaRPr lang="en-US"/>
          </a:p>
        </p:txBody>
      </p:sp>
    </p:spTree>
    <p:extLst>
      <p:ext uri="{BB962C8B-B14F-4D97-AF65-F5344CB8AC3E}">
        <p14:creationId xmlns:p14="http://schemas.microsoft.com/office/powerpoint/2010/main" val="382925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Модель </a:t>
            </a:r>
            <a:r>
              <a:rPr lang="en-US" dirty="0" err="1"/>
              <a:t>GeoNet</a:t>
            </a:r>
            <a:r>
              <a:rPr lang="en-US" dirty="0"/>
              <a:t> (</a:t>
            </a:r>
            <a:r>
              <a:rPr lang="uk-UA" dirty="0"/>
              <a:t>сумісна оцінка глибини та потоку)</a:t>
            </a:r>
          </a:p>
          <a:p>
            <a:r>
              <a:rPr lang="uk-UA" dirty="0"/>
              <a:t>Що казати:</a:t>
            </a:r>
          </a:p>
          <a:p>
            <a:r>
              <a:rPr lang="uk-UA" dirty="0"/>
              <a:t>«Модель </a:t>
            </a:r>
            <a:r>
              <a:rPr lang="en-US" dirty="0" err="1"/>
              <a:t>GeoNet</a:t>
            </a:r>
            <a:r>
              <a:rPr lang="en-US" dirty="0"/>
              <a:t> </a:t>
            </a:r>
            <a:r>
              <a:rPr lang="uk-UA" dirty="0"/>
              <a:t>реалізує сумісну оцінку глибини та оптичного потоку на основі геометричних обмежень.</a:t>
            </a:r>
          </a:p>
          <a:p>
            <a:endParaRPr lang="uk-UA" dirty="0"/>
          </a:p>
          <a:p>
            <a:r>
              <a:rPr lang="uk-UA" dirty="0"/>
              <a:t>Фотометрична узгодженість стверджує, що піксель першого кадру після зсуву на вектор оптичного потоку повинен мати таку саму інтенсивність, що й відповідний піксель другого кадру.</a:t>
            </a:r>
          </a:p>
          <a:p>
            <a:endParaRPr lang="uk-UA" dirty="0"/>
          </a:p>
          <a:p>
            <a:r>
              <a:rPr lang="uk-UA" dirty="0"/>
              <a:t>Геометрична модель пов'язує оптичний потік з глибиною, рухом камери та проекцією точки.</a:t>
            </a:r>
          </a:p>
          <a:p>
            <a:endParaRPr lang="uk-UA" dirty="0"/>
          </a:p>
          <a:p>
            <a:r>
              <a:rPr lang="uk-UA" dirty="0"/>
              <a:t>Якщо сцена складається зі статичного фону та об'єктів, що рухаються, то рух статичних частин викликаний виключно рухом камери, тоді як рух динамічних об'єктів є більш складним, обумовленим як рухом камери, так і власним рухом об'єкта.</a:t>
            </a:r>
          </a:p>
          <a:p>
            <a:endParaRPr lang="uk-UA" dirty="0"/>
          </a:p>
          <a:p>
            <a:r>
              <a:rPr lang="uk-UA" dirty="0"/>
              <a:t>Функція втрат </a:t>
            </a:r>
            <a:r>
              <a:rPr lang="en-US" dirty="0" err="1"/>
              <a:t>GeoNet</a:t>
            </a:r>
            <a:r>
              <a:rPr lang="en-US" dirty="0"/>
              <a:t> </a:t>
            </a:r>
            <a:r>
              <a:rPr lang="uk-UA" dirty="0"/>
              <a:t>об'єднує кілька компонентів: втрату фотометричної узгодженості, втрату гладкості глибини, втрату оптичного потоку та втрату геометричної узгодженості.</a:t>
            </a:r>
          </a:p>
          <a:p>
            <a:endParaRPr lang="uk-UA" dirty="0"/>
          </a:p>
          <a:p>
            <a:r>
              <a:rPr lang="uk-UA" dirty="0"/>
              <a:t>Завдяки спільному навчанню компонентів </a:t>
            </a:r>
            <a:r>
              <a:rPr lang="en-US" dirty="0" err="1"/>
              <a:t>DepthNet</a:t>
            </a:r>
            <a:r>
              <a:rPr lang="en-US" dirty="0"/>
              <a:t> </a:t>
            </a:r>
            <a:r>
              <a:rPr lang="uk-UA" dirty="0"/>
              <a:t>та </a:t>
            </a:r>
            <a:r>
              <a:rPr lang="en-US" dirty="0" err="1"/>
              <a:t>PoseNet</a:t>
            </a:r>
            <a:r>
              <a:rPr lang="en-US" dirty="0"/>
              <a:t>, </a:t>
            </a:r>
            <a:r>
              <a:rPr lang="uk-UA" dirty="0"/>
              <a:t>система здатна відокремлювати рух самої камери від автономного руху об'єктів, що суттєво підвищує надійність ідентифікації в рухомих системах, таких як </a:t>
            </a:r>
            <a:r>
              <a:rPr lang="uk-UA" dirty="0" err="1"/>
              <a:t>дрони</a:t>
            </a:r>
            <a:r>
              <a:rPr lang="uk-UA" dirty="0"/>
              <a:t> та роботи.»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22</a:t>
            </a:fld>
            <a:endParaRPr lang="en-US"/>
          </a:p>
        </p:txBody>
      </p:sp>
    </p:spTree>
    <p:extLst>
      <p:ext uri="{BB962C8B-B14F-4D97-AF65-F5344CB8AC3E}">
        <p14:creationId xmlns:p14="http://schemas.microsoft.com/office/powerpoint/2010/main" val="23687492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Визначення параметрів методами оптичного потоку</a:t>
            </a:r>
          </a:p>
          <a:p>
            <a:r>
              <a:rPr lang="uk-UA" dirty="0"/>
              <a:t>Що казати:</a:t>
            </a:r>
          </a:p>
          <a:p>
            <a:r>
              <a:rPr lang="uk-UA" dirty="0"/>
              <a:t>«На цьому слайді наведено математичні моделі для обчислення основних параметрів динамічних об'єктів на основі поля оптичного потоку.</a:t>
            </a:r>
          </a:p>
          <a:p>
            <a:endParaRPr lang="uk-UA" dirty="0"/>
          </a:p>
          <a:p>
            <a:r>
              <a:rPr lang="uk-UA" dirty="0"/>
              <a:t>Швидкість об'єкта визначається як середня величина оптичного потоку в області об'єкта. В інтегральній формі це подвійний інтеграл від квадратного кореня суми квадратів компонент </a:t>
            </a:r>
            <a:r>
              <a:rPr lang="uk-UA" dirty="0" err="1"/>
              <a:t>вектора</a:t>
            </a:r>
            <a:r>
              <a:rPr lang="uk-UA" dirty="0"/>
              <a:t> потоку, поділений на площу області.</a:t>
            </a:r>
          </a:p>
          <a:p>
            <a:endParaRPr lang="uk-UA" dirty="0"/>
          </a:p>
          <a:p>
            <a:r>
              <a:rPr lang="uk-UA" dirty="0"/>
              <a:t>Напрямок руху об'єкта обчислюється через векторне усереднення кутів, тобто арктангенс відношення суми синусів кутів до суми косинусів. Також можна використовувати спрощену форму – середнє арифметичне кутів.</a:t>
            </a:r>
          </a:p>
          <a:p>
            <a:endParaRPr lang="uk-UA" dirty="0"/>
          </a:p>
          <a:p>
            <a:r>
              <a:rPr lang="uk-UA" dirty="0"/>
              <a:t>Просторове положення об'єкта задається координатами центру об'єкта, які обчислюються як середнє арифметичне мінімальних та максимальних значень координат по осях </a:t>
            </a:r>
            <a:r>
              <a:rPr lang="en-US" dirty="0"/>
              <a:t>x </a:t>
            </a:r>
            <a:r>
              <a:rPr lang="uk-UA" dirty="0"/>
              <a:t>та </a:t>
            </a:r>
            <a:r>
              <a:rPr lang="en-US" dirty="0"/>
              <a:t>y.</a:t>
            </a:r>
          </a:p>
          <a:p>
            <a:endParaRPr lang="en-US" dirty="0"/>
          </a:p>
          <a:p>
            <a:r>
              <a:rPr lang="uk-UA" dirty="0"/>
              <a:t>Глибина – </a:t>
            </a:r>
            <a:r>
              <a:rPr lang="en-US" dirty="0"/>
              <a:t>Z-</a:t>
            </a:r>
            <a:r>
              <a:rPr lang="uk-UA" dirty="0"/>
              <a:t>координата – визначається як медіанне значення карти глибини в області об'єкта, що забезпечує стійкість до викидів.</a:t>
            </a:r>
          </a:p>
          <a:p>
            <a:endParaRPr lang="uk-UA" dirty="0"/>
          </a:p>
          <a:p>
            <a:r>
              <a:rPr lang="uk-UA" dirty="0"/>
              <a:t>Траєкторія об'єкта представляється у вигляді дискретної множини положень у часі. Для зменшення шумів використовується згладжена траєкторія – ковзне середнє.</a:t>
            </a:r>
          </a:p>
          <a:p>
            <a:endParaRPr lang="uk-UA" dirty="0"/>
          </a:p>
          <a:p>
            <a:r>
              <a:rPr lang="uk-UA" dirty="0"/>
              <a:t>Прискорення об'єкта визначається як похідна швидкості за часом, що у дискретному випадку різниця швидкостей між сусідніми кадрами.»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23</a:t>
            </a:fld>
            <a:endParaRPr lang="en-US"/>
          </a:p>
        </p:txBody>
      </p:sp>
    </p:spTree>
    <p:extLst>
      <p:ext uri="{BB962C8B-B14F-4D97-AF65-F5344CB8AC3E}">
        <p14:creationId xmlns:p14="http://schemas.microsoft.com/office/powerpoint/2010/main" val="2905514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Схема інтеграції оптичного потоку з </a:t>
            </a:r>
            <a:r>
              <a:rPr lang="uk-UA" dirty="0" err="1"/>
              <a:t>трансформером</a:t>
            </a:r>
            <a:r>
              <a:rPr lang="uk-UA" dirty="0"/>
              <a:t> (рис.3.5)</a:t>
            </a:r>
          </a:p>
          <a:p>
            <a:r>
              <a:rPr lang="uk-UA" dirty="0"/>
              <a:t>Що казати:</a:t>
            </a:r>
          </a:p>
          <a:p>
            <a:r>
              <a:rPr lang="uk-UA" dirty="0"/>
              <a:t>«На рисунку 3.5 показано схему інтеграції оптичного потоку з </a:t>
            </a:r>
            <a:r>
              <a:rPr lang="uk-UA" dirty="0" err="1"/>
              <a:t>трансформерною</a:t>
            </a:r>
            <a:r>
              <a:rPr lang="uk-UA" dirty="0"/>
              <a:t> обробкою векторів руху.</a:t>
            </a:r>
          </a:p>
          <a:p>
            <a:endParaRPr lang="uk-UA" dirty="0"/>
          </a:p>
          <a:p>
            <a:r>
              <a:rPr lang="uk-UA" dirty="0"/>
              <a:t>Вхідні кадри подаються на блок обчислення оптичного потоку, який формує векторне поле переміщення пікселів. Далі ці вектори руху передаються до </a:t>
            </a:r>
            <a:r>
              <a:rPr lang="uk-UA" dirty="0" err="1"/>
              <a:t>трансформерної</a:t>
            </a:r>
            <a:r>
              <a:rPr lang="uk-UA" dirty="0"/>
              <a:t> мережі.</a:t>
            </a:r>
          </a:p>
          <a:p>
            <a:endParaRPr lang="uk-UA" dirty="0"/>
          </a:p>
          <a:p>
            <a:r>
              <a:rPr lang="uk-UA" dirty="0"/>
              <a:t>Трансформер обробляє послідовність векторів оптичного потоку за допомогою механізмів багатоголової уваги. Це дозволяє виявляти складні </a:t>
            </a:r>
            <a:r>
              <a:rPr lang="uk-UA" dirty="0" err="1"/>
              <a:t>патерни</a:t>
            </a:r>
            <a:r>
              <a:rPr lang="uk-UA" dirty="0"/>
              <a:t> руху, які не можуть бути виявлені локальними або класичними методами, зокрема при часткових оклюзіях або зміні форми об'єкта.</a:t>
            </a:r>
          </a:p>
          <a:p>
            <a:endParaRPr lang="uk-UA" dirty="0"/>
          </a:p>
          <a:p>
            <a:r>
              <a:rPr lang="uk-UA" dirty="0"/>
              <a:t>На виході </a:t>
            </a:r>
            <a:r>
              <a:rPr lang="uk-UA" dirty="0" err="1"/>
              <a:t>трансформера</a:t>
            </a:r>
            <a:r>
              <a:rPr lang="uk-UA" dirty="0"/>
              <a:t> формується узагальнене представлення динаміки об'єкта, на основі якого обчислюються кінематичні параметри: положення об'єкта, миттєва швидкість, прискорення та напрямок руху.</a:t>
            </a:r>
          </a:p>
          <a:p>
            <a:endParaRPr lang="uk-UA" dirty="0"/>
          </a:p>
          <a:p>
            <a:r>
              <a:rPr lang="uk-UA" dirty="0"/>
              <a:t>Ключовим аспектом є калібрування камери, яке дозволяє перевести піксельні зміщення у реальні фізичні величини, наприклад кілометри на годину, що забезпечує практичну цінність розробленої технології.»</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24</a:t>
            </a:fld>
            <a:endParaRPr lang="en-US"/>
          </a:p>
        </p:txBody>
      </p:sp>
    </p:spTree>
    <p:extLst>
      <p:ext uri="{BB962C8B-B14F-4D97-AF65-F5344CB8AC3E}">
        <p14:creationId xmlns:p14="http://schemas.microsoft.com/office/powerpoint/2010/main" val="2726552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Об'єднання моделей (рис.3.6) – інтегральна схема</a:t>
            </a:r>
          </a:p>
          <a:p>
            <a:r>
              <a:rPr lang="uk-UA" dirty="0"/>
              <a:t>Що казати:</a:t>
            </a:r>
          </a:p>
          <a:p>
            <a:r>
              <a:rPr lang="uk-UA" dirty="0"/>
              <a:t>«Рисунок 3.6 демонструє узагальнену схему об'єднання </a:t>
            </a:r>
            <a:r>
              <a:rPr lang="uk-UA" dirty="0" err="1"/>
              <a:t>відеопотоку</a:t>
            </a:r>
            <a:r>
              <a:rPr lang="uk-UA" dirty="0"/>
              <a:t>, оптичного потоку, </a:t>
            </a:r>
            <a:r>
              <a:rPr lang="uk-UA" dirty="0" err="1"/>
              <a:t>трансформерної</a:t>
            </a:r>
            <a:r>
              <a:rPr lang="uk-UA" dirty="0"/>
              <a:t> мережі та ансамблевого модуля.</a:t>
            </a:r>
          </a:p>
          <a:p>
            <a:endParaRPr lang="uk-UA" dirty="0"/>
          </a:p>
          <a:p>
            <a:r>
              <a:rPr lang="uk-UA" dirty="0" err="1"/>
              <a:t>Відеопотік</a:t>
            </a:r>
            <a:r>
              <a:rPr lang="uk-UA" dirty="0"/>
              <a:t> надходить на блок обчислення оптичного потоку, який формує векторне поле. Паралельно інформація про оптичний потік передається до </a:t>
            </a:r>
            <a:r>
              <a:rPr lang="uk-UA" dirty="0" err="1"/>
              <a:t>трансформерної</a:t>
            </a:r>
            <a:r>
              <a:rPr lang="uk-UA" dirty="0"/>
              <a:t> мережі, яка моделює просторово-часові залежності.</a:t>
            </a:r>
          </a:p>
          <a:p>
            <a:endParaRPr lang="uk-UA" dirty="0"/>
          </a:p>
          <a:p>
            <a:r>
              <a:rPr lang="uk-UA" dirty="0"/>
              <a:t>Після </a:t>
            </a:r>
            <a:r>
              <a:rPr lang="uk-UA" dirty="0" err="1"/>
              <a:t>трансформерної</a:t>
            </a:r>
            <a:r>
              <a:rPr lang="uk-UA" dirty="0"/>
              <a:t> обробки отримані параметри та інформація про оптичний потік об'єднуються в ансамблевому модулі.</a:t>
            </a:r>
          </a:p>
          <a:p>
            <a:endParaRPr lang="uk-UA" dirty="0"/>
          </a:p>
          <a:p>
            <a:r>
              <a:rPr lang="uk-UA" dirty="0"/>
              <a:t>Ансамблевий модуль може використовувати два підходи. По-перше, метод </a:t>
            </a:r>
            <a:r>
              <a:rPr lang="uk-UA" dirty="0" err="1"/>
              <a:t>бегінгу</a:t>
            </a:r>
            <a:r>
              <a:rPr lang="uk-UA" dirty="0"/>
              <a:t> для зменшення дисперсії оцінок шляхом усереднення результатів на різних підвибірках даних. По-друге, метод </a:t>
            </a:r>
            <a:r>
              <a:rPr lang="uk-UA" dirty="0" err="1"/>
              <a:t>бустінгу</a:t>
            </a:r>
            <a:r>
              <a:rPr lang="uk-UA" dirty="0"/>
              <a:t> для послідовного уточнення прогнозів у складних областях сцени.</a:t>
            </a:r>
          </a:p>
          <a:p>
            <a:endParaRPr lang="uk-UA" dirty="0"/>
          </a:p>
          <a:p>
            <a:r>
              <a:rPr lang="uk-UA" dirty="0"/>
              <a:t>На виході схеми формуються прогнозовані параметри динамічних об'єктів, які включають просторове положення об'єкта в кадрі, його миттєву швидкість, напрямок руху, прискорення та прогнозовану траєкторію.»</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25</a:t>
            </a:fld>
            <a:endParaRPr lang="en-US"/>
          </a:p>
        </p:txBody>
      </p:sp>
    </p:spTree>
    <p:extLst>
      <p:ext uri="{BB962C8B-B14F-4D97-AF65-F5344CB8AC3E}">
        <p14:creationId xmlns:p14="http://schemas.microsoft.com/office/powerpoint/2010/main" val="1746442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Структура інформаційної технології (рис.4.1-4.3)</a:t>
            </a:r>
          </a:p>
          <a:p>
            <a:r>
              <a:rPr lang="uk-UA" dirty="0"/>
              <a:t>Що казати:</a:t>
            </a:r>
          </a:p>
          <a:p>
            <a:r>
              <a:rPr lang="uk-UA" dirty="0"/>
              <a:t>«У четвертому розділі розроблено структуру інформаційної технології дистанційної ідентифікації.</a:t>
            </a:r>
          </a:p>
          <a:p>
            <a:endParaRPr lang="uk-UA" dirty="0"/>
          </a:p>
          <a:p>
            <a:r>
              <a:rPr lang="uk-UA" dirty="0"/>
              <a:t>Вхідними даними системи є </a:t>
            </a:r>
            <a:r>
              <a:rPr lang="uk-UA" dirty="0" err="1"/>
              <a:t>відеопотік</a:t>
            </a:r>
            <a:r>
              <a:rPr lang="uk-UA" dirty="0"/>
              <a:t>, сенсорні дані від різнорідних датчиків та статичні зображення. Дані надходять на етап попередньої обробки, який включає синхронізацію кадрів, нормалізацію інтенсивності, вирівнювання геометричних спотворень та фільтрацію шумів.</a:t>
            </a:r>
          </a:p>
          <a:p>
            <a:endParaRPr lang="uk-UA" dirty="0"/>
          </a:p>
          <a:p>
            <a:r>
              <a:rPr lang="uk-UA" dirty="0"/>
              <a:t>Після попередньої обробки дані розподіляються на три паралельні гілки. Перша гілка – оптичний потік – використовує методи </a:t>
            </a:r>
            <a:r>
              <a:rPr lang="en-US" dirty="0" err="1"/>
              <a:t>Farneback</a:t>
            </a:r>
            <a:r>
              <a:rPr lang="en-US" dirty="0"/>
              <a:t>, Lucas-Kanade, Horn-Schunck, </a:t>
            </a:r>
            <a:r>
              <a:rPr lang="en-US" dirty="0" err="1"/>
              <a:t>FlowNet</a:t>
            </a:r>
            <a:r>
              <a:rPr lang="en-US" dirty="0"/>
              <a:t> </a:t>
            </a:r>
            <a:r>
              <a:rPr lang="uk-UA" dirty="0"/>
              <a:t>або </a:t>
            </a:r>
            <a:r>
              <a:rPr lang="en-US" dirty="0" err="1"/>
              <a:t>GeoNet</a:t>
            </a:r>
            <a:r>
              <a:rPr lang="en-US" dirty="0"/>
              <a:t> </a:t>
            </a:r>
            <a:r>
              <a:rPr lang="uk-UA" dirty="0"/>
              <a:t>для оцінювання векторів руху. Друга гілка – структура сцени – використовує методи </a:t>
            </a:r>
            <a:r>
              <a:rPr lang="en-US" dirty="0"/>
              <a:t>Blur, Gradient, </a:t>
            </a:r>
            <a:r>
              <a:rPr lang="en-US" dirty="0" err="1"/>
              <a:t>MiDaS</a:t>
            </a:r>
            <a:r>
              <a:rPr lang="en-US" dirty="0"/>
              <a:t>, </a:t>
            </a:r>
            <a:r>
              <a:rPr lang="en-US" dirty="0" err="1"/>
              <a:t>DPT_Large</a:t>
            </a:r>
            <a:r>
              <a:rPr lang="en-US" dirty="0"/>
              <a:t> </a:t>
            </a:r>
            <a:r>
              <a:rPr lang="uk-UA" dirty="0"/>
              <a:t>або </a:t>
            </a:r>
            <a:r>
              <a:rPr lang="en-US" dirty="0" err="1"/>
              <a:t>GeoNet</a:t>
            </a:r>
            <a:r>
              <a:rPr lang="en-US" dirty="0"/>
              <a:t> </a:t>
            </a:r>
            <a:r>
              <a:rPr lang="uk-UA" dirty="0"/>
              <a:t>для реконструкції тривимірної геометрії. Третя гілка – виявлення об'єктів – використовує </a:t>
            </a:r>
            <a:r>
              <a:rPr lang="en-US" dirty="0"/>
              <a:t>DETR </a:t>
            </a:r>
            <a:r>
              <a:rPr lang="uk-UA" dirty="0"/>
              <a:t>або опціонально </a:t>
            </a:r>
            <a:r>
              <a:rPr lang="en-US" dirty="0"/>
              <a:t>YOLO </a:t>
            </a:r>
            <a:r>
              <a:rPr lang="uk-UA" dirty="0"/>
              <a:t>для локалізації об'єктів.</a:t>
            </a:r>
          </a:p>
          <a:p>
            <a:endParaRPr lang="uk-UA" dirty="0"/>
          </a:p>
          <a:p>
            <a:r>
              <a:rPr lang="uk-UA" dirty="0"/>
              <a:t>Результати з усіх трьох гілок об'єднуються, після чого виконується обчислення параметрів – швидкості, напрямку, траєкторії, положення. Цей підхід забезпечує комплексний аналіз динамічних сцен з урахуванням як рухових, так і просторових характеристик об'єктів.»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26</a:t>
            </a:fld>
            <a:endParaRPr lang="en-US"/>
          </a:p>
        </p:txBody>
      </p:sp>
    </p:spTree>
    <p:extLst>
      <p:ext uri="{BB962C8B-B14F-4D97-AF65-F5344CB8AC3E}">
        <p14:creationId xmlns:p14="http://schemas.microsoft.com/office/powerpoint/2010/main" val="861039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Програмна реалізація (рис.4.4-4.5)</a:t>
            </a:r>
          </a:p>
          <a:p>
            <a:r>
              <a:rPr lang="uk-UA" dirty="0"/>
              <a:t>Що казати:</a:t>
            </a:r>
          </a:p>
          <a:p>
            <a:r>
              <a:rPr lang="uk-UA" dirty="0"/>
              <a:t>«На рисунках 4.4 та 4.5 показано реалізовану модель інформаційної технології.</a:t>
            </a:r>
          </a:p>
          <a:p>
            <a:endParaRPr lang="uk-UA" dirty="0"/>
          </a:p>
          <a:p>
            <a:r>
              <a:rPr lang="uk-UA" dirty="0"/>
              <a:t>Перший блок забезпечує обробку </a:t>
            </a:r>
            <a:r>
              <a:rPr lang="uk-UA" dirty="0" err="1"/>
              <a:t>відеопотоку</a:t>
            </a:r>
            <a:r>
              <a:rPr lang="uk-UA" dirty="0"/>
              <a:t>: отримання відеоданих з камери або збереженого файлу, </a:t>
            </a:r>
            <a:r>
              <a:rPr lang="uk-UA" dirty="0" err="1"/>
              <a:t>покадрову</a:t>
            </a:r>
            <a:r>
              <a:rPr lang="uk-UA" dirty="0"/>
              <a:t> екстракцію зображень та попередню нормалізацію вхідних кадрів.</a:t>
            </a:r>
          </a:p>
          <a:p>
            <a:endParaRPr lang="uk-UA" dirty="0"/>
          </a:p>
          <a:p>
            <a:r>
              <a:rPr lang="uk-UA" dirty="0"/>
              <a:t>Другий блок реалізує </a:t>
            </a:r>
            <a:r>
              <a:rPr lang="uk-UA" dirty="0" err="1"/>
              <a:t>детекцію</a:t>
            </a:r>
            <a:r>
              <a:rPr lang="uk-UA" dirty="0"/>
              <a:t> об'єктів за допомогою </a:t>
            </a:r>
            <a:r>
              <a:rPr lang="uk-UA" dirty="0" err="1"/>
              <a:t>трансформерної</a:t>
            </a:r>
            <a:r>
              <a:rPr lang="uk-UA" dirty="0"/>
              <a:t> моделі </a:t>
            </a:r>
            <a:r>
              <a:rPr lang="en-US" dirty="0"/>
              <a:t>DETR. </a:t>
            </a:r>
            <a:r>
              <a:rPr lang="uk-UA" dirty="0"/>
              <a:t>Модель виконує одночасне прогнозування класів об'єктів, обмежувальних рамок та ймовірностей без потреби в механізмах придушення не-максимумів або попереднього формування областей-кандидатів.</a:t>
            </a:r>
          </a:p>
          <a:p>
            <a:endParaRPr lang="uk-UA" dirty="0"/>
          </a:p>
          <a:p>
            <a:r>
              <a:rPr lang="uk-UA" dirty="0"/>
              <a:t>Третій блок виконує обчислення оптичного потоку для оцінювання векторів руху пікселів між послідовними кадрами. Це дає змогу визначати швидкість, напрямок та інтенсивність руху ідентифікованих об'єктів.</a:t>
            </a:r>
          </a:p>
          <a:p>
            <a:endParaRPr lang="uk-UA" dirty="0"/>
          </a:p>
          <a:p>
            <a:r>
              <a:rPr lang="uk-UA" dirty="0"/>
              <a:t>Результати роботи моделі формуються у вигляді </a:t>
            </a:r>
            <a:r>
              <a:rPr lang="uk-UA" dirty="0" err="1"/>
              <a:t>візуалізованих</a:t>
            </a:r>
            <a:r>
              <a:rPr lang="uk-UA" dirty="0"/>
              <a:t> кадрів з накладеними обмежувальними рамками виявлених об'єктів, кольорових карт оптичного потоку та табличних даних про просторове положення, швидкість і напрямок руху кожного об'єкта.</a:t>
            </a:r>
          </a:p>
          <a:p>
            <a:endParaRPr lang="uk-UA" dirty="0"/>
          </a:p>
          <a:p>
            <a:r>
              <a:rPr lang="uk-UA" dirty="0"/>
              <a:t>Важливо, що запропонована архітектура забезпечує модульність та гнучкість – замість </a:t>
            </a:r>
            <a:r>
              <a:rPr lang="en-US" dirty="0"/>
              <a:t>DETR </a:t>
            </a:r>
            <a:r>
              <a:rPr lang="uk-UA" dirty="0"/>
              <a:t>може бути використаний альтернативний детектор </a:t>
            </a:r>
            <a:r>
              <a:rPr lang="en-US" dirty="0"/>
              <a:t>YOLO, </a:t>
            </a:r>
            <a:r>
              <a:rPr lang="uk-UA" dirty="0"/>
              <a:t>а замість методу </a:t>
            </a:r>
            <a:r>
              <a:rPr lang="en-US" dirty="0" err="1"/>
              <a:t>Farneback</a:t>
            </a:r>
            <a:r>
              <a:rPr lang="en-US" dirty="0"/>
              <a:t> – </a:t>
            </a:r>
            <a:r>
              <a:rPr lang="uk-UA" dirty="0" err="1"/>
              <a:t>нейромережевий</a:t>
            </a:r>
            <a:r>
              <a:rPr lang="uk-UA" dirty="0"/>
              <a:t> підхід </a:t>
            </a:r>
            <a:r>
              <a:rPr lang="en-US" dirty="0" err="1"/>
              <a:t>FlowNet</a:t>
            </a:r>
            <a:r>
              <a:rPr lang="en-US" dirty="0"/>
              <a:t>.»</a:t>
            </a:r>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27</a:t>
            </a:fld>
            <a:endParaRPr lang="en-US"/>
          </a:p>
        </p:txBody>
      </p:sp>
    </p:spTree>
    <p:extLst>
      <p:ext uri="{BB962C8B-B14F-4D97-AF65-F5344CB8AC3E}">
        <p14:creationId xmlns:p14="http://schemas.microsoft.com/office/powerpoint/2010/main" val="587400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Ансамблеві модулі (рис.4.6)</a:t>
            </a:r>
          </a:p>
          <a:p>
            <a:r>
              <a:rPr lang="uk-UA" dirty="0"/>
              <a:t>Що казати:</a:t>
            </a:r>
          </a:p>
          <a:p>
            <a:r>
              <a:rPr lang="uk-UA" dirty="0"/>
              <a:t>«На рисунку 4.6 представлено структуру ансамблевих модулів у системі.</a:t>
            </a:r>
          </a:p>
          <a:p>
            <a:endParaRPr lang="uk-UA" dirty="0"/>
          </a:p>
          <a:p>
            <a:r>
              <a:rPr lang="uk-UA" dirty="0"/>
              <a:t>Для </a:t>
            </a:r>
            <a:r>
              <a:rPr lang="uk-UA" dirty="0" err="1"/>
              <a:t>бегінгу</a:t>
            </a:r>
            <a:r>
              <a:rPr lang="uk-UA" dirty="0"/>
              <a:t> реалізовано паралельну обробку. На різних модифікаціях кадрів – із зміною яскравості, масштабуванням та обрізкою – запускається </a:t>
            </a:r>
            <a:r>
              <a:rPr lang="en-US" dirty="0" err="1"/>
              <a:t>GeoNet</a:t>
            </a:r>
            <a:r>
              <a:rPr lang="en-US" dirty="0"/>
              <a:t>, </a:t>
            </a:r>
            <a:r>
              <a:rPr lang="uk-UA" dirty="0"/>
              <a:t>яка оцінює глибину та оптичний потік. Результати об'єднуються шляхом усереднення карт глибини. Такий підхід дозволяє згладити локальні артефакти та підвищити стабільність результатів.</a:t>
            </a:r>
          </a:p>
          <a:p>
            <a:endParaRPr lang="uk-UA" dirty="0"/>
          </a:p>
          <a:p>
            <a:r>
              <a:rPr lang="uk-UA" dirty="0"/>
              <a:t>Для </a:t>
            </a:r>
            <a:r>
              <a:rPr lang="uk-UA" dirty="0" err="1"/>
              <a:t>бустінгу</a:t>
            </a:r>
            <a:r>
              <a:rPr lang="uk-UA" dirty="0"/>
              <a:t> реалізовано послідовну обробку. Перша модель формує базову карту глибини. Друга модель – коректор зон помилок – уточнює карту у тих регіонах, де було виявлено найбільшу похибку. Це дозволяє суттєво зменшити зміщення та підвищити точність прогнозування, особливо на межах об'єктів або в умовах слабкої освітленості.</a:t>
            </a:r>
          </a:p>
          <a:p>
            <a:endParaRPr lang="uk-UA" dirty="0"/>
          </a:p>
          <a:p>
            <a:r>
              <a:rPr lang="uk-UA" dirty="0"/>
              <a:t>Після ансамблевої корекції результати надходять до модуля об'єднання, де виконується побудова траєкторій та виявлення об'єктів за допомогою </a:t>
            </a:r>
            <a:r>
              <a:rPr lang="en-US" dirty="0"/>
              <a:t>DETR </a:t>
            </a:r>
            <a:r>
              <a:rPr lang="uk-UA" dirty="0"/>
              <a:t>або інших детекторів.»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28</a:t>
            </a:fld>
            <a:endParaRPr lang="en-US"/>
          </a:p>
        </p:txBody>
      </p:sp>
    </p:spTree>
    <p:extLst>
      <p:ext uri="{BB962C8B-B14F-4D97-AF65-F5344CB8AC3E}">
        <p14:creationId xmlns:p14="http://schemas.microsoft.com/office/powerpoint/2010/main" val="10480650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Виявлення об'єктів </a:t>
            </a:r>
            <a:r>
              <a:rPr lang="en-US" dirty="0"/>
              <a:t>DETR (</a:t>
            </a:r>
            <a:r>
              <a:rPr lang="uk-UA" dirty="0"/>
              <a:t>рис.4.7) – параметри</a:t>
            </a:r>
          </a:p>
          <a:p>
            <a:r>
              <a:rPr lang="uk-UA" dirty="0"/>
              <a:t>Що казати:</a:t>
            </a:r>
          </a:p>
          <a:p>
            <a:r>
              <a:rPr lang="uk-UA" dirty="0"/>
              <a:t>«У результаті експериментального запуску моделі </a:t>
            </a:r>
            <a:r>
              <a:rPr lang="en-US" dirty="0"/>
              <a:t>DETR </a:t>
            </a:r>
            <a:r>
              <a:rPr lang="uk-UA" dirty="0"/>
              <a:t>на тестовому </a:t>
            </a:r>
            <a:r>
              <a:rPr lang="uk-UA" dirty="0" err="1"/>
              <a:t>відеопотоці</a:t>
            </a:r>
            <a:r>
              <a:rPr lang="uk-UA" dirty="0"/>
              <a:t> було виявлено шість об'єктів. Найбільші значення швидкості отримано для об'єктів з ідентифікаторами 0, 4 та 5 – відповідно 6,526; 4,592 та 1,840 пікселів на кадр.</a:t>
            </a:r>
          </a:p>
          <a:p>
            <a:endParaRPr lang="uk-UA" dirty="0"/>
          </a:p>
          <a:p>
            <a:r>
              <a:rPr lang="uk-UA" dirty="0"/>
              <a:t>Об'єкти 1, 2 та 3 мають майже нульову швидкість у межах вибраної пари кадрів – приблизно 0,017 пікселя на кадр. Це узгоджується з їх малим локальним зміщенням у полі оптичного потоку.</a:t>
            </a:r>
          </a:p>
          <a:p>
            <a:endParaRPr lang="uk-UA" dirty="0"/>
          </a:p>
          <a:p>
            <a:r>
              <a:rPr lang="uk-UA" dirty="0"/>
              <a:t>Значення глибини </a:t>
            </a:r>
            <a:r>
              <a:rPr lang="en-US" dirty="0"/>
              <a:t>z, </a:t>
            </a:r>
            <a:r>
              <a:rPr lang="uk-UA" dirty="0"/>
              <a:t>наведені в таблиці, є відносною оцінкою глибини, нормованою до діапазону карти глибини, а не метричною відстанню в одиницях </a:t>
            </a:r>
            <a:r>
              <a:rPr lang="en-US" dirty="0"/>
              <a:t>SI. </a:t>
            </a:r>
            <a:r>
              <a:rPr lang="uk-UA" dirty="0"/>
              <a:t>Тим не менш, ці значення дозволяють </a:t>
            </a:r>
            <a:r>
              <a:rPr lang="uk-UA" dirty="0" err="1"/>
              <a:t>коректно</a:t>
            </a:r>
            <a:r>
              <a:rPr lang="uk-UA" dirty="0"/>
              <a:t> </a:t>
            </a:r>
            <a:r>
              <a:rPr lang="uk-UA" dirty="0" err="1"/>
              <a:t>ранжувати</a:t>
            </a:r>
            <a:r>
              <a:rPr lang="uk-UA" dirty="0"/>
              <a:t> об'єкти за відстанню до камери.</a:t>
            </a:r>
          </a:p>
          <a:p>
            <a:endParaRPr lang="uk-UA" dirty="0"/>
          </a:p>
          <a:p>
            <a:r>
              <a:rPr lang="uk-UA" dirty="0"/>
              <a:t>Довіра класифікації для всіх виявлених об'єктів є високою – від 0,74 до 1,00, що свідчить про надійну роботу детектора на тестовому відеоматеріалі.</a:t>
            </a:r>
          </a:p>
          <a:p>
            <a:endParaRPr lang="uk-UA" dirty="0"/>
          </a:p>
          <a:p>
            <a:r>
              <a:rPr lang="uk-UA" dirty="0"/>
              <a:t>Кожен виявлений об'єкт супроводжується обмежувальною рамкою, яка точно окреслює його просторові межі, що є необхідною умовою для подальшого обчислення кінематичних параметрів.»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29</a:t>
            </a:fld>
            <a:endParaRPr lang="en-US"/>
          </a:p>
        </p:txBody>
      </p:sp>
    </p:spTree>
    <p:extLst>
      <p:ext uri="{BB962C8B-B14F-4D97-AF65-F5344CB8AC3E}">
        <p14:creationId xmlns:p14="http://schemas.microsoft.com/office/powerpoint/2010/main" val="741767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Візуалізація ідентифікованих параметрів (рис.4.8)</a:t>
            </a:r>
          </a:p>
          <a:p>
            <a:r>
              <a:rPr lang="uk-UA" dirty="0"/>
              <a:t>Що казати:</a:t>
            </a:r>
          </a:p>
          <a:p>
            <a:r>
              <a:rPr lang="uk-UA" dirty="0"/>
              <a:t>«На рисунку 4.8 показано візуалізацію ідентифікованих параметрів для виявлених об'єктів.</a:t>
            </a:r>
          </a:p>
          <a:p>
            <a:endParaRPr lang="uk-UA" dirty="0"/>
          </a:p>
          <a:p>
            <a:r>
              <a:rPr lang="uk-UA" dirty="0"/>
              <a:t>На кадр </a:t>
            </a:r>
            <a:r>
              <a:rPr lang="uk-UA" dirty="0" err="1"/>
              <a:t>відеопослідовності</a:t>
            </a:r>
            <a:r>
              <a:rPr lang="uk-UA" dirty="0"/>
              <a:t> накладаються обмежувальні рамки виявлених об'єктів, вектори миттєвої швидкості та значення глибини.</a:t>
            </a:r>
          </a:p>
          <a:p>
            <a:endParaRPr lang="uk-UA" dirty="0"/>
          </a:p>
          <a:p>
            <a:r>
              <a:rPr lang="uk-UA" dirty="0"/>
              <a:t>Для кодування напрямку руху використовується кольорова модель </a:t>
            </a:r>
            <a:r>
              <a:rPr lang="en-US" dirty="0"/>
              <a:t>HSV, </a:t>
            </a:r>
            <a:r>
              <a:rPr lang="uk-UA" dirty="0"/>
              <a:t>де відтінок кодує напрямок руху, насиченість є максимальною, а яскравість пропорційна величині </a:t>
            </a:r>
            <a:r>
              <a:rPr lang="uk-UA" dirty="0" err="1"/>
              <a:t>вектора</a:t>
            </a:r>
            <a:r>
              <a:rPr lang="uk-UA" dirty="0"/>
              <a:t> переміщення.</a:t>
            </a:r>
          </a:p>
          <a:p>
            <a:endParaRPr lang="uk-UA" dirty="0"/>
          </a:p>
          <a:p>
            <a:r>
              <a:rPr lang="uk-UA" dirty="0"/>
              <a:t>Така візуалізація дозволяє наочно сприймати динамічні характеристики сцени: пішоходи та транспортні засоби, що рухаються в різних напрямках, позначаються різними кольорами, а інтенсивність кольору відображає швидкість руху.</a:t>
            </a:r>
          </a:p>
          <a:p>
            <a:endParaRPr lang="uk-UA" dirty="0"/>
          </a:p>
          <a:p>
            <a:r>
              <a:rPr lang="uk-UA" dirty="0"/>
              <a:t>Крім того, на кадрі відображаються числові значення швидкості в пікселях на кадр та відносної глибини для кожного об'єкта.</a:t>
            </a:r>
          </a:p>
          <a:p>
            <a:endParaRPr lang="uk-UA" dirty="0"/>
          </a:p>
          <a:p>
            <a:r>
              <a:rPr lang="uk-UA" dirty="0"/>
              <a:t>Такий підхід до візуалізації є важливим не лише для демонстрації результатів, але й для налагодження системи та аналізу її роботи в різних умовах.»</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30</a:t>
            </a:fld>
            <a:endParaRPr lang="en-US"/>
          </a:p>
        </p:txBody>
      </p:sp>
    </p:spTree>
    <p:extLst>
      <p:ext uri="{BB962C8B-B14F-4D97-AF65-F5344CB8AC3E}">
        <p14:creationId xmlns:p14="http://schemas.microsoft.com/office/powerpoint/2010/main" val="6903628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Приклади комбінацій методів</a:t>
            </a:r>
          </a:p>
          <a:p>
            <a:r>
              <a:rPr lang="uk-UA" dirty="0"/>
              <a:t>Що казати:</a:t>
            </a:r>
          </a:p>
          <a:p>
            <a:r>
              <a:rPr lang="uk-UA" dirty="0"/>
              <a:t>«У роботі проаналізовано різні комбінації методів оптичного потоку та оцінювання глибини.</a:t>
            </a:r>
          </a:p>
          <a:p>
            <a:endParaRPr lang="uk-UA" dirty="0"/>
          </a:p>
          <a:p>
            <a:r>
              <a:rPr lang="uk-UA" dirty="0"/>
              <a:t>Перша комбінація – </a:t>
            </a:r>
            <a:r>
              <a:rPr lang="en-US" dirty="0" err="1"/>
              <a:t>Farneback</a:t>
            </a:r>
            <a:r>
              <a:rPr lang="en-US" dirty="0"/>
              <a:t> </a:t>
            </a:r>
            <a:r>
              <a:rPr lang="uk-UA" dirty="0"/>
              <a:t>плюс </a:t>
            </a:r>
            <a:r>
              <a:rPr lang="en-US" dirty="0" err="1"/>
              <a:t>MiDaS</a:t>
            </a:r>
            <a:r>
              <a:rPr lang="en-US" dirty="0"/>
              <a:t> – </a:t>
            </a:r>
            <a:r>
              <a:rPr lang="uk-UA" dirty="0"/>
              <a:t>це класичний поліноміальний метод оптичного потоку в парі з </a:t>
            </a:r>
            <a:r>
              <a:rPr lang="uk-UA" dirty="0" err="1"/>
              <a:t>трансформерною</a:t>
            </a:r>
            <a:r>
              <a:rPr lang="uk-UA" dirty="0"/>
              <a:t> моделлю глибини. Така комбінація забезпечує хороший баланс між швидкодією та точністю.</a:t>
            </a:r>
          </a:p>
          <a:p>
            <a:endParaRPr lang="uk-UA" dirty="0"/>
          </a:p>
          <a:p>
            <a:r>
              <a:rPr lang="uk-UA" dirty="0"/>
              <a:t>Друга комбінація – </a:t>
            </a:r>
            <a:r>
              <a:rPr lang="en-US" dirty="0" err="1"/>
              <a:t>FlowNet</a:t>
            </a:r>
            <a:r>
              <a:rPr lang="en-US" dirty="0"/>
              <a:t> </a:t>
            </a:r>
            <a:r>
              <a:rPr lang="uk-UA" dirty="0"/>
              <a:t>плюс </a:t>
            </a:r>
            <a:r>
              <a:rPr lang="en-US" dirty="0" err="1"/>
              <a:t>DPT_Large</a:t>
            </a:r>
            <a:r>
              <a:rPr lang="en-US" dirty="0"/>
              <a:t> – </a:t>
            </a:r>
            <a:r>
              <a:rPr lang="uk-UA" dirty="0" err="1"/>
              <a:t>нейромережевий</a:t>
            </a:r>
            <a:r>
              <a:rPr lang="uk-UA" dirty="0"/>
              <a:t> оптичний потік з щільним </a:t>
            </a:r>
            <a:r>
              <a:rPr lang="uk-UA" dirty="0" err="1"/>
              <a:t>трансформером</a:t>
            </a:r>
            <a:r>
              <a:rPr lang="uk-UA" dirty="0"/>
              <a:t> глибини. Ця комбінація дає більш деталізоване поле оптичного потоку та вищу роздільну здатність карти глибини, особливо на межах об'єктів.</a:t>
            </a:r>
          </a:p>
          <a:p>
            <a:endParaRPr lang="uk-UA" dirty="0"/>
          </a:p>
          <a:p>
            <a:r>
              <a:rPr lang="uk-UA" dirty="0"/>
              <a:t>Третя комбінація – інтегрована модель </a:t>
            </a:r>
            <a:r>
              <a:rPr lang="en-US" dirty="0" err="1"/>
              <a:t>GeoNet</a:t>
            </a:r>
            <a:r>
              <a:rPr lang="en-US" dirty="0"/>
              <a:t>, </a:t>
            </a:r>
            <a:r>
              <a:rPr lang="uk-UA" dirty="0"/>
              <a:t>яка одночасно оцінює глибину та оптичний потік. Ця комбінація забезпечує найкращу узгодженість між просторовою та часовою інформацією: рухомі об'єкти чітко відокремлюються від статичного фону, а їх просторове положення узгоджується з картою глибини.</a:t>
            </a:r>
          </a:p>
          <a:p>
            <a:endParaRPr lang="uk-UA" dirty="0"/>
          </a:p>
          <a:p>
            <a:r>
              <a:rPr lang="uk-UA" dirty="0"/>
              <a:t>Четверта комбінація – </a:t>
            </a:r>
            <a:r>
              <a:rPr lang="en-US" dirty="0"/>
              <a:t>Horn-Schunck </a:t>
            </a:r>
            <a:r>
              <a:rPr lang="uk-UA" dirty="0"/>
              <a:t>плюс </a:t>
            </a:r>
            <a:r>
              <a:rPr lang="en-US" dirty="0"/>
              <a:t>Bagging – </a:t>
            </a:r>
            <a:r>
              <a:rPr lang="uk-UA" dirty="0"/>
              <a:t>глобальний метод оптичного потоку з ансамблевою оцінкою глибини. Ця комбінація забезпечує високу стійкість до шумів та артефактів.»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31</a:t>
            </a:fld>
            <a:endParaRPr lang="en-US"/>
          </a:p>
        </p:txBody>
      </p:sp>
    </p:spTree>
    <p:extLst>
      <p:ext uri="{BB962C8B-B14F-4D97-AF65-F5344CB8AC3E}">
        <p14:creationId xmlns:p14="http://schemas.microsoft.com/office/powerpoint/2010/main" val="13280596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Порівняння методів оптичного потоку (табл.4.4)</a:t>
            </a:r>
          </a:p>
          <a:p>
            <a:r>
              <a:rPr lang="uk-UA" dirty="0"/>
              <a:t>Що казати:</a:t>
            </a:r>
          </a:p>
          <a:p>
            <a:r>
              <a:rPr lang="uk-UA" dirty="0"/>
              <a:t>«Таблиця 4.4 містить результати порівняльного аналізу методів оптичного потоку.</a:t>
            </a:r>
          </a:p>
          <a:p>
            <a:endParaRPr lang="uk-UA" dirty="0"/>
          </a:p>
          <a:p>
            <a:r>
              <a:rPr lang="en-US" dirty="0" err="1"/>
              <a:t>Farneback</a:t>
            </a:r>
            <a:r>
              <a:rPr lang="en-US" dirty="0"/>
              <a:t> </a:t>
            </a:r>
            <a:r>
              <a:rPr lang="uk-UA" dirty="0"/>
              <a:t>використано як базовий </a:t>
            </a:r>
            <a:r>
              <a:rPr lang="uk-UA" dirty="0" err="1"/>
              <a:t>референсний</a:t>
            </a:r>
            <a:r>
              <a:rPr lang="uk-UA" dirty="0"/>
              <a:t> потік, тому його значення </a:t>
            </a:r>
            <a:r>
              <a:rPr lang="en-US" dirty="0"/>
              <a:t>EPE </a:t>
            </a:r>
            <a:r>
              <a:rPr lang="uk-UA" dirty="0"/>
              <a:t>та </a:t>
            </a:r>
            <a:r>
              <a:rPr lang="en-US" dirty="0"/>
              <a:t>AAE </a:t>
            </a:r>
            <a:r>
              <a:rPr lang="uk-UA" dirty="0"/>
              <a:t>дорівнюють нулю.</a:t>
            </a:r>
          </a:p>
          <a:p>
            <a:endParaRPr lang="uk-UA" dirty="0"/>
          </a:p>
          <a:p>
            <a:r>
              <a:rPr lang="en-US" dirty="0"/>
              <a:t>Lucas-Kanade </a:t>
            </a:r>
            <a:r>
              <a:rPr lang="uk-UA" dirty="0"/>
              <a:t>формує розріджене поле за характерними точками. Відносно </a:t>
            </a:r>
            <a:r>
              <a:rPr lang="uk-UA" dirty="0" err="1"/>
              <a:t>референсу</a:t>
            </a:r>
            <a:r>
              <a:rPr lang="uk-UA" dirty="0"/>
              <a:t> він має </a:t>
            </a:r>
            <a:r>
              <a:rPr lang="en-US" dirty="0"/>
              <a:t>EPE 0,273 </a:t>
            </a:r>
            <a:r>
              <a:rPr lang="uk-UA" dirty="0"/>
              <a:t>пікселя та </a:t>
            </a:r>
            <a:r>
              <a:rPr lang="en-US" dirty="0"/>
              <a:t>AAE 0,152 </a:t>
            </a:r>
            <a:r>
              <a:rPr lang="uk-UA" dirty="0"/>
              <a:t>радіана. Для об'єкта 0 цей метод дає значно меншу середню швидкість – лише 0,013 пікселя на кадр замість 6,526.</a:t>
            </a:r>
          </a:p>
          <a:p>
            <a:endParaRPr lang="uk-UA" dirty="0"/>
          </a:p>
          <a:p>
            <a:r>
              <a:rPr lang="en-US" dirty="0"/>
              <a:t>Horn-Schunck </a:t>
            </a:r>
            <a:r>
              <a:rPr lang="uk-UA" dirty="0"/>
              <a:t>забезпечує згладжене поле руху з </a:t>
            </a:r>
            <a:r>
              <a:rPr lang="uk-UA" dirty="0" err="1"/>
              <a:t>регуляризацією</a:t>
            </a:r>
            <a:r>
              <a:rPr lang="uk-UA" dirty="0"/>
              <a:t>. Його похибки складають </a:t>
            </a:r>
            <a:r>
              <a:rPr lang="en-US" dirty="0"/>
              <a:t>EPE 0,266 </a:t>
            </a:r>
            <a:r>
              <a:rPr lang="uk-UA" dirty="0"/>
              <a:t>пікселя та </a:t>
            </a:r>
            <a:r>
              <a:rPr lang="en-US" dirty="0"/>
              <a:t>AAE 0,145 </a:t>
            </a:r>
            <a:r>
              <a:rPr lang="uk-UA" dirty="0"/>
              <a:t>радіана, а швидкість об'єкта 0 оцінено як 0,325 пікселя на кадр.</a:t>
            </a:r>
          </a:p>
          <a:p>
            <a:endParaRPr lang="uk-UA" dirty="0"/>
          </a:p>
          <a:p>
            <a:r>
              <a:rPr lang="en-US" dirty="0" err="1"/>
              <a:t>FlowNet</a:t>
            </a:r>
            <a:r>
              <a:rPr lang="en-US" dirty="0"/>
              <a:t> </a:t>
            </a:r>
            <a:r>
              <a:rPr lang="uk-UA" dirty="0"/>
              <a:t>та </a:t>
            </a:r>
            <a:r>
              <a:rPr lang="en-US" dirty="0" err="1"/>
              <a:t>GeoNet</a:t>
            </a:r>
            <a:r>
              <a:rPr lang="en-US" dirty="0"/>
              <a:t> </a:t>
            </a:r>
            <a:r>
              <a:rPr lang="uk-UA" dirty="0"/>
              <a:t>у цьому експерименті використано як проксі-оцінки через недоступність оригінальних моделей </a:t>
            </a:r>
            <a:r>
              <a:rPr lang="en-US" dirty="0"/>
              <a:t>RAFT. </a:t>
            </a:r>
            <a:r>
              <a:rPr lang="uk-UA" dirty="0"/>
              <a:t>Вони фактично повертають резервний варіант потоку на основі </a:t>
            </a:r>
            <a:r>
              <a:rPr lang="en-US" dirty="0" err="1"/>
              <a:t>Farneback</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Нульові значення </a:t>
            </a:r>
            <a:r>
              <a:rPr lang="en-US" dirty="0"/>
              <a:t>EPE </a:t>
            </a:r>
            <a:r>
              <a:rPr lang="uk-UA" dirty="0"/>
              <a:t>та </a:t>
            </a:r>
            <a:r>
              <a:rPr lang="en-US" dirty="0"/>
              <a:t>AAE </a:t>
            </a:r>
            <a:r>
              <a:rPr lang="uk-UA" dirty="0"/>
              <a:t>для цих методів не слід трактувати як абсолютну перевагу, це лише відображення того, що </a:t>
            </a:r>
            <a:r>
              <a:rPr lang="en-US" dirty="0" err="1"/>
              <a:t>Farneback</a:t>
            </a:r>
            <a:r>
              <a:rPr lang="en-US" dirty="0"/>
              <a:t> </a:t>
            </a:r>
            <a:r>
              <a:rPr lang="uk-UA" dirty="0"/>
              <a:t>було обрано </a:t>
            </a:r>
            <a:r>
              <a:rPr lang="uk-UA" dirty="0" err="1"/>
              <a:t>референсом</a:t>
            </a:r>
            <a:r>
              <a:rPr lang="uk-UA" dirty="0"/>
              <a:t> для цього конкретного запуску.»</a:t>
            </a:r>
            <a:r>
              <a:rPr lang="uk-UA" sz="1200" kern="1200" dirty="0">
                <a:solidFill>
                  <a:schemeClr val="tx1"/>
                </a:solidFill>
                <a:effectLst/>
                <a:latin typeface="+mn-lt"/>
                <a:ea typeface="+mn-ea"/>
                <a:cs typeface="+mn-cs"/>
              </a:rPr>
              <a:t> 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dirty="0"/>
              <a:t>Середня кутова похибка </a:t>
            </a:r>
            <a:r>
              <a:rPr lang="en-US" dirty="0"/>
              <a:t>AAE (Angular Average Error) </a:t>
            </a:r>
            <a:r>
              <a:rPr lang="uk-UA" dirty="0"/>
              <a:t>вимірює розбіжність між передбаченим та істинним векторами руху за напрямком і визначається за формулою</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32</a:t>
            </a:fld>
            <a:endParaRPr lang="en-US"/>
          </a:p>
        </p:txBody>
      </p:sp>
    </p:spTree>
    <p:extLst>
      <p:ext uri="{BB962C8B-B14F-4D97-AF65-F5344CB8AC3E}">
        <p14:creationId xmlns:p14="http://schemas.microsoft.com/office/powerpoint/2010/main" val="365915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Порівняння методів оцінювання глибини (табл.4.5)</a:t>
            </a:r>
          </a:p>
          <a:p>
            <a:r>
              <a:rPr lang="uk-UA" dirty="0"/>
              <a:t>Що казати:</a:t>
            </a:r>
          </a:p>
          <a:p>
            <a:r>
              <a:rPr lang="uk-UA" dirty="0"/>
              <a:t>«Таблиця 4.5 містить результати порівняння методів оцінювання глибини. </a:t>
            </a:r>
            <a:r>
              <a:rPr lang="en-US" dirty="0" err="1"/>
              <a:t>MiDaS</a:t>
            </a:r>
            <a:r>
              <a:rPr lang="en-US" dirty="0"/>
              <a:t> </a:t>
            </a:r>
            <a:r>
              <a:rPr lang="uk-UA" dirty="0"/>
              <a:t>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en-US" dirty="0"/>
              <a:t>Bagging </a:t>
            </a:r>
            <a:r>
              <a:rPr lang="uk-UA" dirty="0"/>
              <a:t>з наступними показниками: </a:t>
            </a:r>
            <a:r>
              <a:rPr lang="en-US" dirty="0"/>
              <a:t>RMSE – 0,713, MAE – 0,474, PSNR – 51,065 </a:t>
            </a:r>
            <a:r>
              <a:rPr lang="uk-UA" dirty="0"/>
              <a:t>децибел, </a:t>
            </a:r>
            <a:r>
              <a:rPr lang="en-US" dirty="0" err="1"/>
              <a:t>IoU</a:t>
            </a:r>
            <a:r>
              <a:rPr lang="en-US" dirty="0"/>
              <a:t> – 0,996, Dice – 0,998. </a:t>
            </a:r>
            <a:r>
              <a:rPr lang="uk-UA" dirty="0"/>
              <a:t>Це підтверджує ефективність ансамблевого підходу для підвищення точності оцінювання глибини.</a:t>
            </a:r>
          </a:p>
          <a:p>
            <a:endParaRPr lang="uk-UA" dirty="0"/>
          </a:p>
          <a:p>
            <a:r>
              <a:rPr lang="en-US" dirty="0" err="1"/>
              <a:t>GeoNet</a:t>
            </a:r>
            <a:r>
              <a:rPr lang="en-US" dirty="0"/>
              <a:t>-</a:t>
            </a:r>
            <a:r>
              <a:rPr lang="uk-UA" dirty="0"/>
              <a:t>проксі також показав високі результати: </a:t>
            </a:r>
            <a:r>
              <a:rPr lang="en-US" dirty="0"/>
              <a:t>RMSE – 1,660, MAE – 0,977, PSNR – 43,727 </a:t>
            </a:r>
            <a:r>
              <a:rPr lang="uk-UA" dirty="0"/>
              <a:t>децибел, </a:t>
            </a:r>
            <a:r>
              <a:rPr lang="en-US" dirty="0" err="1"/>
              <a:t>IoU</a:t>
            </a:r>
            <a:r>
              <a:rPr lang="en-US" dirty="0"/>
              <a:t> – 0,995, Dice – 0,997.</a:t>
            </a:r>
          </a:p>
          <a:p>
            <a:endParaRPr lang="en-US" dirty="0"/>
          </a:p>
          <a:p>
            <a:r>
              <a:rPr lang="en-US" dirty="0" err="1"/>
              <a:t>DPT_Large</a:t>
            </a:r>
            <a:r>
              <a:rPr lang="en-US" dirty="0"/>
              <a:t> </a:t>
            </a:r>
            <a:r>
              <a:rPr lang="uk-UA" dirty="0"/>
              <a:t>демонструє високу структурну узгодженість з </a:t>
            </a:r>
            <a:r>
              <a:rPr lang="uk-UA" dirty="0" err="1"/>
              <a:t>референсом</a:t>
            </a:r>
            <a:r>
              <a:rPr lang="uk-UA" dirty="0"/>
              <a:t> – </a:t>
            </a:r>
            <a:r>
              <a:rPr lang="en-US" dirty="0" err="1"/>
              <a:t>IoU</a:t>
            </a:r>
            <a:r>
              <a:rPr lang="en-US" dirty="0"/>
              <a:t> 0,954 </a:t>
            </a:r>
            <a:r>
              <a:rPr lang="uk-UA" dirty="0"/>
              <a:t>та </a:t>
            </a:r>
            <a:r>
              <a:rPr lang="en-US" dirty="0"/>
              <a:t>Dice 0,976, </a:t>
            </a:r>
            <a:r>
              <a:rPr lang="uk-UA" dirty="0"/>
              <a:t>але має більшу амплітудну відмінність за </a:t>
            </a:r>
            <a:r>
              <a:rPr lang="en-US" dirty="0"/>
              <a:t>RMSE </a:t>
            </a:r>
            <a:r>
              <a:rPr lang="uk-UA" dirty="0"/>
              <a:t>та </a:t>
            </a:r>
            <a:r>
              <a:rPr lang="en-US" dirty="0"/>
              <a:t>MAE – 12,593 </a:t>
            </a:r>
            <a:r>
              <a:rPr lang="uk-UA" dirty="0"/>
              <a:t>та 9,057 відповідно.</a:t>
            </a:r>
          </a:p>
          <a:p>
            <a:endParaRPr lang="uk-UA" dirty="0"/>
          </a:p>
          <a:p>
            <a:r>
              <a:rPr lang="uk-UA" dirty="0"/>
              <a:t>Методи </a:t>
            </a:r>
            <a:r>
              <a:rPr lang="en-US" dirty="0"/>
              <a:t>Blur </a:t>
            </a:r>
            <a:r>
              <a:rPr lang="uk-UA" dirty="0"/>
              <a:t>та </a:t>
            </a:r>
            <a:r>
              <a:rPr lang="en-US" dirty="0"/>
              <a:t>Gradient, </a:t>
            </a:r>
            <a:r>
              <a:rPr lang="uk-UA" dirty="0"/>
              <a:t>які є простими базовими методами, показали незадовільні результати: великі значення </a:t>
            </a:r>
            <a:r>
              <a:rPr lang="en-US" dirty="0"/>
              <a:t>RMSE </a:t>
            </a:r>
            <a:r>
              <a:rPr lang="uk-UA" dirty="0"/>
              <a:t>та </a:t>
            </a:r>
            <a:r>
              <a:rPr lang="en-US" dirty="0"/>
              <a:t>MAE, </a:t>
            </a:r>
            <a:r>
              <a:rPr lang="uk-UA" dirty="0"/>
              <a:t>низькі </a:t>
            </a:r>
            <a:r>
              <a:rPr lang="en-US" dirty="0"/>
              <a:t>PSNR, </a:t>
            </a:r>
            <a:r>
              <a:rPr lang="en-US" dirty="0" err="1"/>
              <a:t>IoU</a:t>
            </a:r>
            <a:r>
              <a:rPr lang="en-US" dirty="0"/>
              <a:t> </a:t>
            </a:r>
            <a:r>
              <a:rPr lang="uk-UA" dirty="0"/>
              <a:t>та </a:t>
            </a:r>
            <a:r>
              <a:rPr lang="en-US" dirty="0"/>
              <a:t>Dice. </a:t>
            </a:r>
            <a:r>
              <a:rPr lang="uk-UA" dirty="0"/>
              <a:t>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en-US" dirty="0"/>
              <a:t>Boosting </a:t>
            </a:r>
            <a:r>
              <a:rPr lang="uk-UA" dirty="0"/>
              <a:t>дав проміжні результати: </a:t>
            </a:r>
            <a:r>
              <a:rPr lang="en-US" dirty="0"/>
              <a:t>RMSE 5,088, PSNR 34,000 </a:t>
            </a:r>
            <a:r>
              <a:rPr lang="uk-UA" dirty="0"/>
              <a:t>децибел, </a:t>
            </a:r>
            <a:r>
              <a:rPr lang="en-US" dirty="0" err="1"/>
              <a:t>IoU</a:t>
            </a:r>
            <a:r>
              <a:rPr lang="en-US" dirty="0"/>
              <a:t> 0,981.»</a:t>
            </a:r>
            <a:r>
              <a:rPr lang="uk-UA" dirty="0"/>
              <a:t> Середньоквадратична похибка </a:t>
            </a:r>
            <a:r>
              <a:rPr lang="en-US" dirty="0"/>
              <a:t>RMSE (Root Mean Square Error) </a:t>
            </a:r>
            <a:r>
              <a:rPr lang="uk-UA" dirty="0"/>
              <a:t>є стандартною метрикою для оцінки точності відновлення глибини сцени та обчислюється за </a:t>
            </a:r>
            <a:r>
              <a:rPr lang="uk-UA" dirty="0" err="1"/>
              <a:t>формулоюПікове</a:t>
            </a:r>
            <a:r>
              <a:rPr lang="uk-UA" dirty="0"/>
              <a:t> відношення сигнал/шум </a:t>
            </a:r>
            <a:r>
              <a:rPr lang="en-US" dirty="0"/>
              <a:t>PSNR (Peak Signal-to-Noise Ratio) </a:t>
            </a:r>
            <a:r>
              <a:rPr lang="uk-UA" dirty="0"/>
              <a:t>використовується для оцінки якості відновлення карти глибини як зображення та визначається за формулою (4.21)</a:t>
            </a:r>
            <a:r>
              <a:rPr lang="en-US" dirty="0"/>
              <a:t> PSNR </a:t>
            </a:r>
            <a:r>
              <a:rPr lang="uk-UA" dirty="0"/>
              <a:t>вимірюється в децибелах (</a:t>
            </a:r>
            <a:r>
              <a:rPr lang="uk-UA" dirty="0" err="1"/>
              <a:t>дБ</a:t>
            </a:r>
            <a:r>
              <a:rPr lang="uk-UA" dirty="0"/>
              <a:t>) і є логарифмічною мірою відношення максимально можливої потужності сигналу до потужності шуму, що спотворює сигнал. Інтерпретація </a:t>
            </a:r>
            <a:r>
              <a:rPr lang="en-US" dirty="0"/>
              <a:t>PSNR </a:t>
            </a:r>
            <a:r>
              <a:rPr lang="uk-UA" dirty="0"/>
              <a:t>є наступною: чим вище значення, тим менші спотворення вносить алгоритм. Значення </a:t>
            </a:r>
            <a:r>
              <a:rPr lang="en-US" dirty="0"/>
              <a:t>PSNR </a:t>
            </a:r>
            <a:r>
              <a:rPr lang="uk-UA" dirty="0"/>
              <a:t>вище 30 </a:t>
            </a:r>
            <a:r>
              <a:rPr lang="uk-UA" dirty="0" err="1"/>
              <a:t>дБ</a:t>
            </a:r>
            <a:r>
              <a:rPr lang="uk-UA" dirty="0"/>
              <a:t> свідчить про високу якість відновлення глибинної карти, при цьому спотворення практично непомітні для подальших алгоритмів аналізу. Значення </a:t>
            </a:r>
            <a:r>
              <a:rPr lang="en-US" dirty="0"/>
              <a:t>PSNR </a:t>
            </a:r>
            <a:r>
              <a:rPr lang="uk-UA" dirty="0"/>
              <a:t>вище 40 </a:t>
            </a:r>
            <a:r>
              <a:rPr lang="uk-UA" dirty="0" err="1"/>
              <a:t>дБ</a:t>
            </a:r>
            <a:r>
              <a:rPr lang="uk-UA" dirty="0"/>
              <a:t> вважається відмінним, оскільки відповідає майже ідеальному відновленню.</a:t>
            </a:r>
          </a:p>
          <a:p>
            <a:r>
              <a:rPr lang="en-US" dirty="0"/>
              <a:t>Intersection over Union (</a:t>
            </a:r>
            <a:r>
              <a:rPr lang="en-US" dirty="0" err="1"/>
              <a:t>IoU</a:t>
            </a:r>
            <a:r>
              <a:rPr lang="en-US" dirty="0"/>
              <a:t>) </a:t>
            </a:r>
            <a:r>
              <a:rPr lang="uk-UA" dirty="0"/>
              <a:t>є стандартною метрикою для оцінки точності сегментації об’єктів у комп’ютерному зорі та задається формулою (4.23):</a:t>
            </a:r>
          </a:p>
          <a:p>
            <a:r>
              <a:rPr lang="uk-UA" dirty="0"/>
              <a:t>	</a:t>
            </a:r>
            <a:r>
              <a:rPr lang="en-US" dirty="0" err="1"/>
              <a:t>IoU</a:t>
            </a:r>
            <a:r>
              <a:rPr lang="en-US" dirty="0"/>
              <a:t>=TP/(TP+FP+FN),	(4.45)</a:t>
            </a:r>
          </a:p>
          <a:p>
            <a:r>
              <a:rPr lang="uk-UA" dirty="0"/>
              <a:t>де </a:t>
            </a:r>
            <a:r>
              <a:rPr lang="en-US" dirty="0"/>
              <a:t>TP (True Positive) – </a:t>
            </a:r>
            <a:r>
              <a:rPr lang="uk-UA" dirty="0"/>
              <a:t>кількість пікселів, правильно віднесених до об’єкта (істинно позитивні); </a:t>
            </a:r>
            <a:r>
              <a:rPr lang="en-US" dirty="0"/>
              <a:t>FP (False Positive) – </a:t>
            </a:r>
            <a:r>
              <a:rPr lang="uk-UA" dirty="0"/>
              <a:t>кількість пікселів, хибно віднесених до об’єкта (хибно позитивні, помилкові спрацювання); </a:t>
            </a:r>
            <a:r>
              <a:rPr lang="en-US" dirty="0"/>
              <a:t>FN (False Negative) – </a:t>
            </a:r>
            <a:r>
              <a:rPr lang="uk-UA" dirty="0"/>
              <a:t>кількість пікселів об’єкта, які модель пропустила (хибно негативні). </a:t>
            </a:r>
          </a:p>
          <a:p>
            <a:r>
              <a:rPr lang="uk-UA" dirty="0"/>
              <a:t>Геометричний зміст </a:t>
            </a:r>
            <a:r>
              <a:rPr lang="en-US" dirty="0" err="1"/>
              <a:t>IoU</a:t>
            </a:r>
            <a:r>
              <a:rPr lang="en-US" dirty="0"/>
              <a:t> – </a:t>
            </a:r>
            <a:r>
              <a:rPr lang="uk-UA" dirty="0"/>
              <a:t>це відношення площі перетину передбаченої та істинної масок об’єкта до площі їх об’єднання. </a:t>
            </a:r>
            <a:r>
              <a:rPr lang="en-US" dirty="0" err="1"/>
              <a:t>IoU</a:t>
            </a:r>
            <a:r>
              <a:rPr lang="en-US" dirty="0"/>
              <a:t> </a:t>
            </a:r>
            <a:r>
              <a:rPr lang="uk-UA" dirty="0"/>
              <a:t>приймає значення від 0 (повна невідповідність) до 1 (ідеальний збіг). У практичних задачах значення </a:t>
            </a:r>
            <a:r>
              <a:rPr lang="en-US" dirty="0" err="1"/>
              <a:t>IoU</a:t>
            </a:r>
            <a:r>
              <a:rPr lang="en-US" dirty="0"/>
              <a:t> </a:t>
            </a:r>
            <a:r>
              <a:rPr lang="uk-UA" dirty="0"/>
              <a:t>вище 0.7 вважається хорошим результатом, вище 0.8 – дуже хорошим, а вище 0.9 – відмінним.</a:t>
            </a:r>
          </a:p>
          <a:p>
            <a:r>
              <a:rPr lang="uk-UA" dirty="0"/>
              <a:t>Коефіцієнт </a:t>
            </a:r>
            <a:r>
              <a:rPr lang="uk-UA" dirty="0" err="1"/>
              <a:t>Дайса</a:t>
            </a:r>
            <a:r>
              <a:rPr lang="uk-UA" dirty="0"/>
              <a:t> (</a:t>
            </a:r>
            <a:r>
              <a:rPr lang="en-US" dirty="0"/>
              <a:t>Dice) </a:t>
            </a:r>
            <a:r>
              <a:rPr lang="uk-UA" dirty="0"/>
              <a:t>є альтернативною метрикою якості сегментації, тісно пов’язаною з </a:t>
            </a:r>
            <a:r>
              <a:rPr lang="en-US" dirty="0" err="1"/>
              <a:t>IoU</a:t>
            </a:r>
            <a:r>
              <a:rPr lang="en-US" dirty="0"/>
              <a:t>, </a:t>
            </a:r>
            <a:r>
              <a:rPr lang="uk-UA" dirty="0"/>
              <a:t>і визначається за формулою </a:t>
            </a:r>
            <a:fld id="{84CC6CB3-BEB6-463D-98C0-0BD5528F190C}" type="slidenum">
              <a:rPr lang="uk-UA" smtClean="0"/>
              <a:t>33</a:t>
            </a:fld>
            <a:fld id="{FB321136-7EE8-4EE3-B66F-01D4B3AC101B}" type="slidenum">
              <a:rPr lang="uk-UA" smtClean="0"/>
              <a:t>33</a:t>
            </a:fld>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33</a:t>
            </a:fld>
            <a:endParaRPr lang="en-US"/>
          </a:p>
        </p:txBody>
      </p:sp>
    </p:spTree>
    <p:extLst>
      <p:ext uri="{BB962C8B-B14F-4D97-AF65-F5344CB8AC3E}">
        <p14:creationId xmlns:p14="http://schemas.microsoft.com/office/powerpoint/2010/main" val="4069009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Аналіз отриманих результатів</a:t>
            </a:r>
          </a:p>
          <a:p>
            <a:r>
              <a:rPr lang="uk-UA" dirty="0"/>
              <a:t>Що казати:</a:t>
            </a:r>
          </a:p>
          <a:p>
            <a:r>
              <a:rPr lang="uk-UA" dirty="0"/>
              <a:t>«Проведений аналіз отриманих результатів дозволяє зробити такі висновки.</a:t>
            </a:r>
          </a:p>
          <a:p>
            <a:endParaRPr lang="uk-UA" dirty="0"/>
          </a:p>
          <a:p>
            <a:r>
              <a:rPr lang="uk-UA" dirty="0"/>
              <a:t>Найкраща точність відновлення глибини забезпечується ансамблевим підходом </a:t>
            </a:r>
            <a:r>
              <a:rPr lang="en-US" dirty="0"/>
              <a:t>Bagging – RMSE = 0,713, PSNR = 51,065 </a:t>
            </a:r>
            <a:r>
              <a:rPr lang="uk-UA" dirty="0"/>
              <a:t>децибел, </a:t>
            </a:r>
            <a:r>
              <a:rPr lang="en-US" dirty="0" err="1"/>
              <a:t>IoU</a:t>
            </a:r>
            <a:r>
              <a:rPr lang="en-US" dirty="0"/>
              <a:t> = 0,996. </a:t>
            </a:r>
            <a:r>
              <a:rPr lang="uk-UA" dirty="0"/>
              <a:t>Це значно перевершує результати використання окремих моделей </a:t>
            </a:r>
            <a:r>
              <a:rPr lang="en-US" dirty="0" err="1"/>
              <a:t>MiDaS</a:t>
            </a:r>
            <a:r>
              <a:rPr lang="en-US" dirty="0"/>
              <a:t> </a:t>
            </a:r>
            <a:r>
              <a:rPr lang="uk-UA" dirty="0"/>
              <a:t>або </a:t>
            </a:r>
            <a:r>
              <a:rPr lang="en-US" dirty="0" err="1"/>
              <a:t>DPT_Large</a:t>
            </a:r>
            <a:r>
              <a:rPr lang="en-US" dirty="0"/>
              <a:t>.</a:t>
            </a:r>
          </a:p>
          <a:p>
            <a:endParaRPr lang="en-US" dirty="0"/>
          </a:p>
          <a:p>
            <a:r>
              <a:rPr lang="en-US" dirty="0" err="1"/>
              <a:t>GeoNet</a:t>
            </a:r>
            <a:r>
              <a:rPr lang="en-US" dirty="0"/>
              <a:t> </a:t>
            </a:r>
            <a:r>
              <a:rPr lang="uk-UA" dirty="0"/>
              <a:t>та </a:t>
            </a:r>
            <a:r>
              <a:rPr lang="en-US" dirty="0" err="1"/>
              <a:t>DPT_Large</a:t>
            </a:r>
            <a:r>
              <a:rPr lang="en-US" dirty="0"/>
              <a:t> </a:t>
            </a:r>
            <a:r>
              <a:rPr lang="uk-UA" dirty="0"/>
              <a:t>також показали високі результати, але </a:t>
            </a:r>
            <a:r>
              <a:rPr lang="en-US" dirty="0"/>
              <a:t>Bagging </a:t>
            </a:r>
            <a:r>
              <a:rPr lang="uk-UA" dirty="0"/>
              <a:t>перевершує їх за рахунок усереднення оцінок на різних підвибірках даних.</a:t>
            </a:r>
          </a:p>
          <a:p>
            <a:endParaRPr lang="uk-UA" dirty="0"/>
          </a:p>
          <a:p>
            <a:r>
              <a:rPr lang="uk-UA" dirty="0"/>
              <a:t>Щільні методи оптичного потоку, такі як </a:t>
            </a:r>
            <a:r>
              <a:rPr lang="en-US" dirty="0" err="1"/>
              <a:t>Farneback</a:t>
            </a:r>
            <a:r>
              <a:rPr lang="en-US" dirty="0"/>
              <a:t> </a:t>
            </a:r>
            <a:r>
              <a:rPr lang="uk-UA" dirty="0"/>
              <a:t>та </a:t>
            </a:r>
            <a:r>
              <a:rPr lang="en-US" dirty="0" err="1"/>
              <a:t>FlowNet</a:t>
            </a:r>
            <a:r>
              <a:rPr lang="en-US" dirty="0"/>
              <a:t>, </a:t>
            </a:r>
            <a:r>
              <a:rPr lang="uk-UA" dirty="0"/>
              <a:t>дають узгоджені оцінки швидкості для рухомих об'єктів, тоді як </a:t>
            </a:r>
            <a:r>
              <a:rPr lang="en-US" dirty="0"/>
              <a:t>Lucas-Kanade </a:t>
            </a:r>
            <a:r>
              <a:rPr lang="uk-UA" dirty="0"/>
              <a:t>придатний лише для локального супроводу характерних точок.</a:t>
            </a:r>
          </a:p>
          <a:p>
            <a:endParaRPr lang="uk-UA" dirty="0"/>
          </a:p>
          <a:p>
            <a:r>
              <a:rPr lang="en-US" dirty="0"/>
              <a:t>Horn-Schunck </a:t>
            </a:r>
            <a:r>
              <a:rPr lang="uk-UA" dirty="0"/>
              <a:t>забезпечує гладке поле руху і може бути використаний як компроміс між щільністю поля та регулярністю оцінки.</a:t>
            </a:r>
          </a:p>
          <a:p>
            <a:endParaRPr lang="uk-UA" dirty="0"/>
          </a:p>
          <a:p>
            <a:r>
              <a:rPr lang="uk-UA" dirty="0"/>
              <a:t>Для сценаріїв реального часу рекомендується використовувати </a:t>
            </a:r>
            <a:r>
              <a:rPr lang="en-US" dirty="0"/>
              <a:t>DETR </a:t>
            </a:r>
            <a:r>
              <a:rPr lang="uk-UA" dirty="0"/>
              <a:t>у поєднанні з </a:t>
            </a:r>
            <a:r>
              <a:rPr lang="en-US" dirty="0" err="1"/>
              <a:t>Farneback</a:t>
            </a:r>
            <a:r>
              <a:rPr lang="en-US" dirty="0"/>
              <a:t> </a:t>
            </a:r>
            <a:r>
              <a:rPr lang="uk-UA" dirty="0"/>
              <a:t>або </a:t>
            </a:r>
            <a:r>
              <a:rPr lang="en-US" dirty="0"/>
              <a:t>Horn-Schunck </a:t>
            </a:r>
            <a:r>
              <a:rPr lang="uk-UA" dirty="0"/>
              <a:t>та </a:t>
            </a:r>
            <a:r>
              <a:rPr lang="en-US" dirty="0" err="1"/>
              <a:t>MiDaS</a:t>
            </a:r>
            <a:r>
              <a:rPr lang="en-US" dirty="0"/>
              <a:t> </a:t>
            </a:r>
            <a:r>
              <a:rPr lang="uk-UA" dirty="0"/>
              <a:t>або </a:t>
            </a:r>
            <a:r>
              <a:rPr lang="en-US" dirty="0"/>
              <a:t>Bagging. </a:t>
            </a:r>
            <a:r>
              <a:rPr lang="uk-UA" dirty="0"/>
              <a:t>Для задач підвищеної стійкості до локальних артефактів доцільні ансамблеві карти глибини.</a:t>
            </a:r>
          </a:p>
          <a:p>
            <a:endParaRPr lang="uk-UA" dirty="0"/>
          </a:p>
          <a:p>
            <a:r>
              <a:rPr lang="uk-UA" dirty="0"/>
              <a:t>Остаточне порівняння з </a:t>
            </a:r>
            <a:r>
              <a:rPr lang="en-US" dirty="0"/>
              <a:t>YOLO </a:t>
            </a:r>
            <a:r>
              <a:rPr lang="uk-UA" dirty="0"/>
              <a:t>потребує повторного запуску середовища з доступними відповідними моделями.»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34</a:t>
            </a:fld>
            <a:endParaRPr lang="en-US"/>
          </a:p>
        </p:txBody>
      </p:sp>
    </p:spTree>
    <p:extLst>
      <p:ext uri="{BB962C8B-B14F-4D97-AF65-F5344CB8AC3E}">
        <p14:creationId xmlns:p14="http://schemas.microsoft.com/office/powerpoint/2010/main" val="5477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4B50C-5DD8-46ED-37E1-9B921D1B4287}"/>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A209FFD7-7EBF-B0DE-47CC-7A445FF4E283}"/>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0E796B7B-0C14-C6CC-9934-5DBBB676F39A}"/>
              </a:ext>
            </a:extLst>
          </p:cNvPr>
          <p:cNvSpPr>
            <a:spLocks noGrp="1"/>
          </p:cNvSpPr>
          <p:nvPr>
            <p:ph type="body" idx="1"/>
          </p:nvPr>
        </p:nvSpPr>
        <p:spPr/>
        <p:txBody>
          <a:bodyPr/>
          <a:lstStyle/>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p:txBody>
      </p:sp>
      <p:sp>
        <p:nvSpPr>
          <p:cNvPr id="4" name="Місце для номера слайда 3">
            <a:extLst>
              <a:ext uri="{FF2B5EF4-FFF2-40B4-BE49-F238E27FC236}">
                <a16:creationId xmlns:a16="http://schemas.microsoft.com/office/drawing/2014/main" id="{88702F7A-7080-AE36-95A6-17E2B6030E5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29712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DA9D-3BC1-4FD0-12C1-6FE9FCCA8476}"/>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0530AC2-64BD-96B6-5EB0-9E05C2B16E1C}"/>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9ACB150D-C61A-53D0-644B-B872AF655E84}"/>
              </a:ext>
            </a:extLst>
          </p:cNvPr>
          <p:cNvSpPr>
            <a:spLocks noGrp="1"/>
          </p:cNvSpPr>
          <p:nvPr>
            <p:ph type="body" idx="1"/>
          </p:nvPr>
        </p:nvSpPr>
        <p:spPr/>
        <p:txBody>
          <a:bodyPr/>
          <a:lstStyle/>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p:txBody>
      </p:sp>
      <p:sp>
        <p:nvSpPr>
          <p:cNvPr id="4" name="Місце для номера слайда 3">
            <a:extLst>
              <a:ext uri="{FF2B5EF4-FFF2-40B4-BE49-F238E27FC236}">
                <a16:creationId xmlns:a16="http://schemas.microsoft.com/office/drawing/2014/main" id="{6B93D68C-284A-C5CE-C8F6-CFB383C91CF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2974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F7E3D-33B4-BBA9-B423-C1EBB88983D5}"/>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84D9CAF-2D03-F6AC-8EAD-4EC39C4AE116}"/>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466DCE68-331F-C81A-12DC-6D37B87910A4}"/>
              </a:ext>
            </a:extLst>
          </p:cNvPr>
          <p:cNvSpPr>
            <a:spLocks noGrp="1"/>
          </p:cNvSpPr>
          <p:nvPr>
            <p:ph type="body" idx="1"/>
          </p:nvPr>
        </p:nvSpPr>
        <p:spPr/>
        <p:txBody>
          <a:bodyPr/>
          <a:lstStyle/>
          <a:p>
            <a:r>
              <a:rPr lang="uk-UA" dirty="0"/>
              <a:t>Практичне значення</a:t>
            </a:r>
          </a:p>
          <a:p>
            <a:r>
              <a:rPr lang="uk-UA" dirty="0"/>
              <a:t>Що казати:</a:t>
            </a:r>
          </a:p>
          <a:p>
            <a:r>
              <a:rPr lang="uk-UA" dirty="0"/>
              <a:t>«Практичне значення отриманих результатів реалізується в чотирьох ключових галузях української економіки.</a:t>
            </a:r>
          </a:p>
          <a:p>
            <a:endParaRPr lang="uk-UA" dirty="0"/>
          </a:p>
          <a:p>
            <a:r>
              <a:rPr lang="uk-UA" dirty="0"/>
              <a:t>Перша галузь – безпека та оборона, де розроблена технологія забезпечує високу точність відстеження об'єктів у реальному часі для систем відеоспостереження, охорони периметра та навігації безпілотних літальних апаратів.</a:t>
            </a:r>
          </a:p>
          <a:p>
            <a:endParaRPr lang="uk-UA" dirty="0"/>
          </a:p>
          <a:p>
            <a:r>
              <a:rPr lang="uk-UA" dirty="0"/>
              <a:t>Друга галузь – автономний транспорт та логістика, де методи ідентифікації швидкості, траєкторії та глибини дозволяють створювати надійні системи уникнення зіткнень.</a:t>
            </a:r>
          </a:p>
          <a:p>
            <a:endParaRPr lang="uk-UA" dirty="0"/>
          </a:p>
          <a:p>
            <a:r>
              <a:rPr lang="uk-UA" dirty="0"/>
              <a:t>Третя галузь – </a:t>
            </a:r>
            <a:r>
              <a:rPr lang="uk-UA" dirty="0" err="1"/>
              <a:t>цифровізація</a:t>
            </a:r>
            <a:r>
              <a:rPr lang="uk-UA" dirty="0"/>
              <a:t> та економіка, де оптимізація обчислювальних процесів дозволяє розгортати інтелектуальні системи на мобільних пристроях та вбудованих платформах.</a:t>
            </a:r>
          </a:p>
          <a:p>
            <a:endParaRPr lang="uk-UA" dirty="0"/>
          </a:p>
          <a:p>
            <a:r>
              <a:rPr lang="uk-UA" dirty="0"/>
              <a:t>Четверта галузь – медицина, де методи аналізу руху можуть бути адаптовані для </a:t>
            </a:r>
            <a:r>
              <a:rPr lang="uk-UA" dirty="0" err="1"/>
              <a:t>неінвазивної</a:t>
            </a:r>
            <a:r>
              <a:rPr lang="uk-UA" dirty="0"/>
              <a:t> діагностики внутрішніх органів.» Практичне значення отриманих результатів полягає в безпосередньому використанні запропонованих моделей, методів та програмних засобів при впровадженні інтелектуальних систем відеоспостереження, </a:t>
            </a:r>
            <a:r>
              <a:rPr lang="uk-UA" dirty="0" err="1"/>
              <a:t>робототехнічних</a:t>
            </a:r>
            <a:r>
              <a:rPr lang="uk-UA" dirty="0"/>
              <a:t> комплексів та систем підтримки прийняття рішень, ідентифікації параметрів </a:t>
            </a:r>
            <a:r>
              <a:rPr lang="uk-UA" dirty="0" err="1"/>
              <a:t>радіосплесків</a:t>
            </a:r>
            <a:r>
              <a:rPr lang="uk-UA" dirty="0"/>
              <a:t>, завдяки чому досягається підвищення точності, надійності, можливості та адаптивності дистанційної ідентифікації динамічних об’єктів.</a:t>
            </a:r>
          </a:p>
          <a:p>
            <a:r>
              <a:rPr lang="uk-UA" dirty="0"/>
              <a:t>Практична цінність отриманих результатів дослідження полягає у можливості їх впровадження у таких важливих галузях української економіки:</a:t>
            </a:r>
          </a:p>
          <a:p>
            <a:r>
              <a:rPr lang="uk-UA" dirty="0"/>
              <a:t>– безпека та оборона, де технології дистанційної ідентифікації забезпечують високу точність відстеження об’єктів у реальному часі за складних умов, що має пряме застосування для систем відеоспостереження, охорони периметра та навігації безпілотних літальних апаратів (БПЛА);</a:t>
            </a:r>
          </a:p>
          <a:p>
            <a:r>
              <a:rPr lang="uk-UA" dirty="0"/>
              <a:t>– автономний транспорт та логістика, де методи ідентифікації швидкості, траєкторії та глибини дозволяють створювати надійні системи уникнення зіткнень для автономних транспортних засобів та </a:t>
            </a:r>
            <a:r>
              <a:rPr lang="uk-UA" dirty="0" err="1"/>
              <a:t>роботизованих</a:t>
            </a:r>
            <a:r>
              <a:rPr lang="uk-UA" dirty="0"/>
              <a:t> платформ;</a:t>
            </a:r>
          </a:p>
          <a:p>
            <a:r>
              <a:rPr lang="uk-UA" dirty="0"/>
              <a:t>– </a:t>
            </a:r>
            <a:r>
              <a:rPr lang="uk-UA" dirty="0" err="1"/>
              <a:t>цифровізація</a:t>
            </a:r>
            <a:r>
              <a:rPr lang="uk-UA" dirty="0"/>
              <a:t> та економіка, де оптимізація обчислювальних процесів дозволяє розгортати інтелектуальні системи на мобільних пристроях та вбудованих платформах, що знижує витрати на автоматизацію виробництва та логістики;</a:t>
            </a:r>
          </a:p>
          <a:p>
            <a:r>
              <a:rPr lang="uk-UA" dirty="0"/>
              <a:t>– медицина, де методи аналізу руху можуть бути адаптовані для </a:t>
            </a:r>
            <a:r>
              <a:rPr lang="uk-UA" dirty="0" err="1"/>
              <a:t>неінвазивної</a:t>
            </a:r>
            <a:r>
              <a:rPr lang="uk-UA" dirty="0"/>
              <a:t> діагностики внутрішніх органів (швидкість кровотоку, рух серця), що сприяє ранньому виявленню захворювань. </a:t>
            </a:r>
          </a:p>
          <a:p>
            <a:r>
              <a:rPr lang="uk-UA" dirty="0"/>
              <a:t>Результати роботи (Додаток Г) впроваджені  у навчальному процесі кафедри інформаційних систем та технологій НТУ «ХПІ» в дисциплінах «Інтелектуальні системи», «Інтелектуальний аналіз даних», «Дослідження операцій». У навчальному процесі кафедри цифрових технологій та програмно-аналітичних рішень ТОВ «Технічний університет «Метінвест Політехніка» в дисциплінах «Продуктивність офісних систем», «Основи </a:t>
            </a:r>
            <a:r>
              <a:rPr lang="uk-UA" dirty="0" err="1"/>
              <a:t>кібербезпеки</a:t>
            </a:r>
            <a:r>
              <a:rPr lang="uk-UA" dirty="0"/>
              <a:t> та захисту інформації», «Розробка </a:t>
            </a:r>
            <a:r>
              <a:rPr lang="en-US" dirty="0"/>
              <a:t>GUI», «</a:t>
            </a:r>
            <a:r>
              <a:rPr lang="uk-UA" dirty="0"/>
              <a:t>Технології захисту даних та інформаційної безпеки». У Радіоастрономічному інституті НАН України в частині дослідження та аналізу динамічних процесів у сонячній атмосфері за даними дистанційних радіоспостережень, зокрема для виявлення та ідентифікації сонячних </a:t>
            </a:r>
            <a:r>
              <a:rPr lang="uk-UA" dirty="0" err="1"/>
              <a:t>радіосплесків</a:t>
            </a:r>
            <a:r>
              <a:rPr lang="uk-UA" dirty="0"/>
              <a:t> </a:t>
            </a:r>
            <a:endParaRPr lang="en-US" dirty="0"/>
          </a:p>
        </p:txBody>
      </p:sp>
      <p:sp>
        <p:nvSpPr>
          <p:cNvPr id="4" name="Місце для номера слайда 3">
            <a:extLst>
              <a:ext uri="{FF2B5EF4-FFF2-40B4-BE49-F238E27FC236}">
                <a16:creationId xmlns:a16="http://schemas.microsoft.com/office/drawing/2014/main" id="{21A64F6E-3BC4-5627-BC46-FADCAE6820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59489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B068-B0E8-6B35-2DA4-45D70379039A}"/>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1BB03CD-4F9A-333C-6690-5B566A809CD7}"/>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D5B616AA-513B-FF7F-F219-BD43F6CFE89F}"/>
              </a:ext>
            </a:extLst>
          </p:cNvPr>
          <p:cNvSpPr>
            <a:spLocks noGrp="1"/>
          </p:cNvSpPr>
          <p:nvPr>
            <p:ph type="body" idx="1"/>
          </p:nvPr>
        </p:nvSpPr>
        <p:spPr/>
        <p:txBody>
          <a:bodyPr/>
          <a:lstStyle/>
          <a:p>
            <a:r>
              <a:rPr lang="uk-UA" dirty="0"/>
              <a:t>«Результати дисертаційної роботи опубліковано у п'ятнадцяти наукових працях, з яких одна стаття входить до </a:t>
            </a:r>
            <a:r>
              <a:rPr lang="uk-UA" dirty="0" err="1"/>
              <a:t>наукометричної</a:t>
            </a:r>
            <a:r>
              <a:rPr lang="uk-UA" dirty="0"/>
              <a:t> бази </a:t>
            </a:r>
            <a:r>
              <a:rPr lang="en-US" dirty="0"/>
              <a:t>Scopus, </a:t>
            </a:r>
            <a:r>
              <a:rPr lang="uk-UA" dirty="0"/>
              <a:t>сім статей опубліковано у фахових виданнях України категорії Б, а також сім робіт апробаційного характеру.</a:t>
            </a:r>
          </a:p>
          <a:p>
            <a:endParaRPr lang="uk-UA" dirty="0"/>
          </a:p>
          <a:p>
            <a:r>
              <a:rPr lang="uk-UA" dirty="0"/>
              <a:t>Апробація результатів відбувалася на міжнародних конференціях </a:t>
            </a:r>
            <a:r>
              <a:rPr lang="en-US" dirty="0" err="1"/>
              <a:t>MicroCAD</a:t>
            </a:r>
            <a:r>
              <a:rPr lang="en-US" dirty="0"/>
              <a:t> </a:t>
            </a:r>
            <a:r>
              <a:rPr lang="uk-UA" dirty="0"/>
              <a:t>у 2023, 2024 та 2025 роках, на конференції </a:t>
            </a:r>
            <a:r>
              <a:rPr lang="en-US" dirty="0" err="1"/>
              <a:t>KhPI</a:t>
            </a:r>
            <a:r>
              <a:rPr lang="en-US" dirty="0"/>
              <a:t> Week on Advanced Technology </a:t>
            </a:r>
            <a:r>
              <a:rPr lang="uk-UA" dirty="0"/>
              <a:t>у 2025 році, а також на конференціях магістрантів та аспірантів НТУ «ХПІ».</a:t>
            </a:r>
          </a:p>
          <a:p>
            <a:endParaRPr lang="uk-UA" dirty="0"/>
          </a:p>
          <a:p>
            <a:r>
              <a:rPr lang="uk-UA" dirty="0"/>
              <a:t>Результати впроваджено у навчальний процес НТУ «ХПІ» та ТОВ «Метінвест Політехніка», а також у Радіоастрономічному інституті НАН України.»</a:t>
            </a:r>
            <a:endParaRPr lang="en-US" dirty="0"/>
          </a:p>
        </p:txBody>
      </p:sp>
      <p:sp>
        <p:nvSpPr>
          <p:cNvPr id="4" name="Місце для номера слайда 3">
            <a:extLst>
              <a:ext uri="{FF2B5EF4-FFF2-40B4-BE49-F238E27FC236}">
                <a16:creationId xmlns:a16="http://schemas.microsoft.com/office/drawing/2014/main" id="{96035ED2-B11D-B532-C797-7ADF4FB222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0714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Висновки</a:t>
            </a:r>
          </a:p>
          <a:p>
            <a:r>
              <a:rPr lang="uk-UA" dirty="0"/>
              <a:t>Що казати:</a:t>
            </a:r>
          </a:p>
          <a:p>
            <a:r>
              <a:rPr lang="uk-UA" dirty="0"/>
              <a:t>«Узагальнюючи результати дисертаційного дослідження, можна зробити такі висновки.</a:t>
            </a:r>
          </a:p>
          <a:p>
            <a:endParaRPr lang="uk-UA" dirty="0"/>
          </a:p>
          <a:p>
            <a:r>
              <a:rPr lang="uk-UA" dirty="0"/>
              <a:t>По-перше, розроблено моделі, методи та інформаційну технологію дистанційної ідентифікації параметрів динамічних об'єктів, яка поєднує </a:t>
            </a:r>
            <a:r>
              <a:rPr lang="uk-UA" dirty="0" err="1"/>
              <a:t>трансформерне</a:t>
            </a:r>
            <a:r>
              <a:rPr lang="uk-UA" dirty="0"/>
              <a:t> виявлення об'єктів, методи оптичного потоку, </a:t>
            </a:r>
            <a:r>
              <a:rPr lang="uk-UA" dirty="0" err="1"/>
              <a:t>нейромережеве</a:t>
            </a:r>
            <a:r>
              <a:rPr lang="uk-UA" dirty="0"/>
              <a:t> оцінювання глибини та ансамблеву обробку результатів.</a:t>
            </a:r>
          </a:p>
          <a:p>
            <a:endParaRPr lang="uk-UA" dirty="0"/>
          </a:p>
          <a:p>
            <a:r>
              <a:rPr lang="uk-UA" dirty="0"/>
              <a:t>По-друге, запропоновано метод дистанційної ідентифікації на основі </a:t>
            </a:r>
            <a:r>
              <a:rPr lang="en-US" dirty="0"/>
              <a:t>DETR </a:t>
            </a:r>
            <a:r>
              <a:rPr lang="uk-UA" dirty="0"/>
              <a:t>та оптичного потоку, який забезпечує одночасне виявлення, відстеження та оцінювання кінематичних параметрів об'єктів.</a:t>
            </a:r>
          </a:p>
          <a:p>
            <a:endParaRPr lang="uk-UA" dirty="0"/>
          </a:p>
          <a:p>
            <a:r>
              <a:rPr lang="uk-UA" dirty="0"/>
              <a:t>По-третє, удосконалено метод оцінювання глибини шляхом адаптивного комбінування моделей з ансамблевими підходами </a:t>
            </a:r>
            <a:r>
              <a:rPr lang="en-US" dirty="0"/>
              <a:t>Bagging </a:t>
            </a:r>
            <a:r>
              <a:rPr lang="uk-UA" dirty="0"/>
              <a:t>та </a:t>
            </a:r>
            <a:r>
              <a:rPr lang="en-US" dirty="0"/>
              <a:t>Boosting.</a:t>
            </a:r>
          </a:p>
          <a:p>
            <a:endParaRPr lang="en-US" dirty="0"/>
          </a:p>
          <a:p>
            <a:r>
              <a:rPr lang="uk-UA" dirty="0"/>
              <a:t>По-четверте, експериментально підтверджено перевагу ансамблевого підходу </a:t>
            </a:r>
            <a:r>
              <a:rPr lang="en-US" dirty="0"/>
              <a:t>Bagging </a:t>
            </a:r>
            <a:r>
              <a:rPr lang="uk-UA" dirty="0"/>
              <a:t>над окремими моделями оцінювання глибини – </a:t>
            </a:r>
            <a:r>
              <a:rPr lang="en-US" dirty="0"/>
              <a:t>RMSE = 0,713, </a:t>
            </a:r>
            <a:r>
              <a:rPr lang="en-US" dirty="0" err="1"/>
              <a:t>IoU</a:t>
            </a:r>
            <a:r>
              <a:rPr lang="en-US" dirty="0"/>
              <a:t> = 0,996.</a:t>
            </a:r>
          </a:p>
          <a:p>
            <a:endParaRPr lang="en-US" dirty="0"/>
          </a:p>
          <a:p>
            <a:r>
              <a:rPr lang="uk-UA" dirty="0"/>
              <a:t>По-п'яте, розроблена інформаційна технологія здатна працювати в реальному часі та є стійкою до шумів, оклюзій та зміни освітлення.»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39</a:t>
            </a:fld>
            <a:endParaRPr lang="en-US"/>
          </a:p>
        </p:txBody>
      </p:sp>
    </p:spTree>
    <p:extLst>
      <p:ext uri="{BB962C8B-B14F-4D97-AF65-F5344CB8AC3E}">
        <p14:creationId xmlns:p14="http://schemas.microsoft.com/office/powerpoint/2010/main" val="39334819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061A5-9931-DC2E-7075-2EA8772A1E12}"/>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62D91369-62A8-4901-A496-BC1A35A445BF}"/>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D08D90CA-CEFF-20C2-4B4A-5493AB397867}"/>
              </a:ext>
            </a:extLst>
          </p:cNvPr>
          <p:cNvSpPr>
            <a:spLocks noGrp="1"/>
          </p:cNvSpPr>
          <p:nvPr>
            <p:ph type="body" idx="1"/>
          </p:nvPr>
        </p:nvSpPr>
        <p:spPr/>
        <p:txBody>
          <a:bodyPr/>
          <a:lstStyle/>
          <a:p>
            <a:r>
              <a:rPr lang="uk-UA" dirty="0"/>
              <a:t>Висновки</a:t>
            </a:r>
          </a:p>
          <a:p>
            <a:r>
              <a:rPr lang="uk-UA" dirty="0"/>
              <a:t>Що казати:</a:t>
            </a:r>
          </a:p>
          <a:p>
            <a:r>
              <a:rPr lang="uk-UA" dirty="0"/>
              <a:t>«Узагальнюючи результати дисертаційного дослідження, можна зробити такі висновки.</a:t>
            </a:r>
          </a:p>
          <a:p>
            <a:endParaRPr lang="uk-UA" dirty="0"/>
          </a:p>
          <a:p>
            <a:r>
              <a:rPr lang="uk-UA" dirty="0"/>
              <a:t>По-перше, розроблено моделі, методи та інформаційну технологію дистанційної ідентифікації параметрів динамічних об'єктів, яка поєднує </a:t>
            </a:r>
            <a:r>
              <a:rPr lang="uk-UA" dirty="0" err="1"/>
              <a:t>трансформерне</a:t>
            </a:r>
            <a:r>
              <a:rPr lang="uk-UA" dirty="0"/>
              <a:t> виявлення об'єктів, методи оптичного потоку, </a:t>
            </a:r>
            <a:r>
              <a:rPr lang="uk-UA" dirty="0" err="1"/>
              <a:t>нейромережеве</a:t>
            </a:r>
            <a:r>
              <a:rPr lang="uk-UA" dirty="0"/>
              <a:t> оцінювання глибини та ансамблеву обробку результатів.</a:t>
            </a:r>
          </a:p>
          <a:p>
            <a:endParaRPr lang="uk-UA" dirty="0"/>
          </a:p>
          <a:p>
            <a:r>
              <a:rPr lang="uk-UA" dirty="0"/>
              <a:t>По-друге, запропоновано метод дистанційної ідентифікації на основі </a:t>
            </a:r>
            <a:r>
              <a:rPr lang="en-US" dirty="0"/>
              <a:t>DETR </a:t>
            </a:r>
            <a:r>
              <a:rPr lang="uk-UA" dirty="0"/>
              <a:t>та оптичного потоку, який забезпечує одночасне виявлення, відстеження та оцінювання кінематичних параметрів об'єктів.</a:t>
            </a:r>
          </a:p>
          <a:p>
            <a:endParaRPr lang="uk-UA" dirty="0"/>
          </a:p>
          <a:p>
            <a:r>
              <a:rPr lang="uk-UA" dirty="0"/>
              <a:t>По-третє, удосконалено метод оцінювання глибини шляхом адаптивного комбінування моделей з ансамблевими підходами </a:t>
            </a:r>
            <a:r>
              <a:rPr lang="en-US" dirty="0"/>
              <a:t>Bagging </a:t>
            </a:r>
            <a:r>
              <a:rPr lang="uk-UA" dirty="0"/>
              <a:t>та </a:t>
            </a:r>
            <a:r>
              <a:rPr lang="en-US" dirty="0"/>
              <a:t>Boosting.</a:t>
            </a:r>
          </a:p>
          <a:p>
            <a:endParaRPr lang="en-US" dirty="0"/>
          </a:p>
          <a:p>
            <a:r>
              <a:rPr lang="uk-UA" dirty="0"/>
              <a:t>По-четверте, експериментально підтверджено перевагу ансамблевого підходу </a:t>
            </a:r>
            <a:r>
              <a:rPr lang="en-US" dirty="0"/>
              <a:t>Bagging </a:t>
            </a:r>
            <a:r>
              <a:rPr lang="uk-UA" dirty="0"/>
              <a:t>над окремими моделями оцінювання глибини – </a:t>
            </a:r>
            <a:r>
              <a:rPr lang="en-US" dirty="0"/>
              <a:t>RMSE = 0,713, </a:t>
            </a:r>
            <a:r>
              <a:rPr lang="en-US" dirty="0" err="1"/>
              <a:t>IoU</a:t>
            </a:r>
            <a:r>
              <a:rPr lang="en-US" dirty="0"/>
              <a:t> = 0,996.</a:t>
            </a:r>
          </a:p>
          <a:p>
            <a:endParaRPr lang="en-US" dirty="0"/>
          </a:p>
          <a:p>
            <a:r>
              <a:rPr lang="uk-UA" dirty="0"/>
              <a:t>По-п'яте, розроблена інформаційна технологія здатна працювати в реальному часі та є стійкою до шумів, оклюзій та зміни освітлення.»</a:t>
            </a:r>
            <a:endParaRPr lang="en-US" dirty="0"/>
          </a:p>
        </p:txBody>
      </p:sp>
      <p:sp>
        <p:nvSpPr>
          <p:cNvPr id="4" name="Місце для номера слайда 3">
            <a:extLst>
              <a:ext uri="{FF2B5EF4-FFF2-40B4-BE49-F238E27FC236}">
                <a16:creationId xmlns:a16="http://schemas.microsoft.com/office/drawing/2014/main" id="{2E2B2E91-1E57-2B18-95BC-F275D274D8F6}"/>
              </a:ext>
            </a:extLst>
          </p:cNvPr>
          <p:cNvSpPr>
            <a:spLocks noGrp="1"/>
          </p:cNvSpPr>
          <p:nvPr>
            <p:ph type="sldNum" sz="quarter" idx="5"/>
          </p:nvPr>
        </p:nvSpPr>
        <p:spPr/>
        <p:txBody>
          <a:bodyPr/>
          <a:lstStyle/>
          <a:p>
            <a:fld id="{22D210FF-A65C-4C43-9EF1-FEAEFF91A41E}" type="slidenum">
              <a:rPr lang="en-US" smtClean="0"/>
              <a:t>40</a:t>
            </a:fld>
            <a:endParaRPr lang="en-US"/>
          </a:p>
        </p:txBody>
      </p:sp>
    </p:spTree>
    <p:extLst>
      <p:ext uri="{BB962C8B-B14F-4D97-AF65-F5344CB8AC3E}">
        <p14:creationId xmlns:p14="http://schemas.microsoft.com/office/powerpoint/2010/main" val="6586292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Доповідь завершена, Дякую за увагу.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41</a:t>
            </a:fld>
            <a:endParaRPr lang="en-US"/>
          </a:p>
        </p:txBody>
      </p:sp>
    </p:spTree>
    <p:extLst>
      <p:ext uri="{BB962C8B-B14F-4D97-AF65-F5344CB8AC3E}">
        <p14:creationId xmlns:p14="http://schemas.microsoft.com/office/powerpoint/2010/main" val="22756790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1" kern="1200" dirty="0">
                <a:solidFill>
                  <a:schemeClr val="tx1"/>
                </a:solidFill>
                <a:effectLst/>
                <a:latin typeface="+mn-lt"/>
                <a:ea typeface="+mn-ea"/>
                <a:cs typeface="+mn-cs"/>
              </a:rPr>
              <a:t>Публікації та впровадження</a:t>
            </a:r>
          </a:p>
          <a:p>
            <a:r>
              <a:rPr lang="uk-UA" sz="1200" b="1" i="0" kern="1200" dirty="0">
                <a:solidFill>
                  <a:schemeClr val="tx1"/>
                </a:solidFill>
                <a:effectLst/>
                <a:latin typeface="+mn-lt"/>
                <a:ea typeface="+mn-ea"/>
                <a:cs typeface="+mn-cs"/>
              </a:rPr>
              <a:t>Що казати:</a:t>
            </a:r>
            <a:br>
              <a:rPr lang="uk-UA" sz="1200" b="0" i="0" kern="1200" dirty="0">
                <a:solidFill>
                  <a:schemeClr val="tx1"/>
                </a:solidFill>
                <a:effectLst/>
                <a:latin typeface="+mn-lt"/>
                <a:ea typeface="+mn-ea"/>
                <a:cs typeface="+mn-cs"/>
              </a:rPr>
            </a:br>
            <a:r>
              <a:rPr lang="uk-UA" sz="1200" b="0" i="0" kern="1200" dirty="0">
                <a:solidFill>
                  <a:schemeClr val="tx1"/>
                </a:solidFill>
                <a:effectLst/>
                <a:latin typeface="+mn-lt"/>
                <a:ea typeface="+mn-ea"/>
                <a:cs typeface="+mn-cs"/>
              </a:rPr>
              <a:t>«Завершуючи доповідь, зазначу основні публікації та впровадження результатів.</a:t>
            </a:r>
          </a:p>
          <a:p>
            <a:r>
              <a:rPr lang="uk-UA" sz="1200" b="0" i="0" kern="1200" dirty="0">
                <a:solidFill>
                  <a:schemeClr val="tx1"/>
                </a:solidFill>
                <a:effectLst/>
                <a:latin typeface="+mn-lt"/>
                <a:ea typeface="+mn-ea"/>
                <a:cs typeface="+mn-cs"/>
              </a:rPr>
              <a:t>Основні наукові результати опубліковано в одній статті, що індексується </a:t>
            </a:r>
            <a:r>
              <a:rPr lang="uk-UA" sz="1200" b="0" i="0" kern="1200" dirty="0" err="1">
                <a:solidFill>
                  <a:schemeClr val="tx1"/>
                </a:solidFill>
                <a:effectLst/>
                <a:latin typeface="+mn-lt"/>
                <a:ea typeface="+mn-ea"/>
                <a:cs typeface="+mn-cs"/>
              </a:rPr>
              <a:t>наукометричною</a:t>
            </a:r>
            <a:r>
              <a:rPr lang="uk-UA" sz="1200" b="0" i="0" kern="1200" dirty="0">
                <a:solidFill>
                  <a:schemeClr val="tx1"/>
                </a:solidFill>
                <a:effectLst/>
                <a:latin typeface="+mn-lt"/>
                <a:ea typeface="+mn-ea"/>
                <a:cs typeface="+mn-cs"/>
              </a:rPr>
              <a:t> базою </a:t>
            </a:r>
            <a:r>
              <a:rPr lang="en-US" sz="1200" b="0" i="0" kern="1200" dirty="0">
                <a:solidFill>
                  <a:schemeClr val="tx1"/>
                </a:solidFill>
                <a:effectLst/>
                <a:latin typeface="+mn-lt"/>
                <a:ea typeface="+mn-ea"/>
                <a:cs typeface="+mn-cs"/>
              </a:rPr>
              <a:t>Scopus, </a:t>
            </a:r>
            <a:r>
              <a:rPr lang="uk-UA" sz="1200" b="0" i="0" kern="1200" dirty="0">
                <a:solidFill>
                  <a:schemeClr val="tx1"/>
                </a:solidFill>
                <a:effectLst/>
                <a:latin typeface="+mn-lt"/>
                <a:ea typeface="+mn-ea"/>
                <a:cs typeface="+mn-cs"/>
              </a:rPr>
              <a:t>семи статтях у фахових виданнях України категорії Б, а також семи матеріалах апробаційного характеру.</a:t>
            </a:r>
          </a:p>
          <a:p>
            <a:r>
              <a:rPr lang="uk-UA" sz="1200" b="0" i="0" kern="1200" dirty="0">
                <a:solidFill>
                  <a:schemeClr val="tx1"/>
                </a:solidFill>
                <a:effectLst/>
                <a:latin typeface="+mn-lt"/>
                <a:ea typeface="+mn-ea"/>
                <a:cs typeface="+mn-cs"/>
              </a:rPr>
              <a:t>Результати роботи впроваджено у навчальний процес кафедри інформаційних систем та технологій НТУ «ХПІ» в дисциплінах «Інтелектуальні системи», «Інтелектуальний аналіз даних» та «Дослідження операцій».</a:t>
            </a:r>
          </a:p>
          <a:p>
            <a:r>
              <a:rPr lang="uk-UA" sz="1200" b="0" i="0" kern="1200" dirty="0">
                <a:solidFill>
                  <a:schemeClr val="tx1"/>
                </a:solidFill>
                <a:effectLst/>
                <a:latin typeface="+mn-lt"/>
                <a:ea typeface="+mn-ea"/>
                <a:cs typeface="+mn-cs"/>
              </a:rPr>
              <a:t>Також результати впроваджено у навчальний процес кафедри цифрових технологій та програмно-аналітичних рішень ТОВ «Технічний університет «Метінвест Політехніка» в дисциплінах з </a:t>
            </a:r>
            <a:r>
              <a:rPr lang="uk-UA" sz="1200" b="0" i="0" kern="1200" dirty="0" err="1">
                <a:solidFill>
                  <a:schemeClr val="tx1"/>
                </a:solidFill>
                <a:effectLst/>
                <a:latin typeface="+mn-lt"/>
                <a:ea typeface="+mn-ea"/>
                <a:cs typeface="+mn-cs"/>
              </a:rPr>
              <a:t>кібербезпеки</a:t>
            </a:r>
            <a:r>
              <a:rPr lang="uk-UA" sz="1200" b="0" i="0" kern="1200" dirty="0">
                <a:solidFill>
                  <a:schemeClr val="tx1"/>
                </a:solidFill>
                <a:effectLst/>
                <a:latin typeface="+mn-lt"/>
                <a:ea typeface="+mn-ea"/>
                <a:cs typeface="+mn-cs"/>
              </a:rPr>
              <a:t>, розробки графічного інтерфейсу та захисту даних.</a:t>
            </a:r>
          </a:p>
          <a:p>
            <a:r>
              <a:rPr lang="uk-UA" sz="1200" b="0" i="0" kern="1200" dirty="0">
                <a:solidFill>
                  <a:schemeClr val="tx1"/>
                </a:solidFill>
                <a:effectLst/>
                <a:latin typeface="+mn-lt"/>
                <a:ea typeface="+mn-ea"/>
                <a:cs typeface="+mn-cs"/>
              </a:rPr>
              <a:t>Крім того, розроблені методи використовуються в Радіоастрономічному інституті НАН України для аналізу динамічних процесів у сонячній атмосфері та ідентифікації сонячних </a:t>
            </a:r>
            <a:r>
              <a:rPr lang="uk-UA" sz="1200" b="0" i="0" kern="1200" dirty="0" err="1">
                <a:solidFill>
                  <a:schemeClr val="tx1"/>
                </a:solidFill>
                <a:effectLst/>
                <a:latin typeface="+mn-lt"/>
                <a:ea typeface="+mn-ea"/>
                <a:cs typeface="+mn-cs"/>
              </a:rPr>
              <a:t>радіосплесків</a:t>
            </a:r>
            <a:r>
              <a:rPr lang="uk-UA"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Дякую за увагу! Готовий відповісти на запитання.»</a:t>
            </a:r>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42</a:t>
            </a:fld>
            <a:endParaRPr lang="en-US"/>
          </a:p>
        </p:txBody>
      </p:sp>
    </p:spTree>
    <p:extLst>
      <p:ext uri="{BB962C8B-B14F-4D97-AF65-F5344CB8AC3E}">
        <p14:creationId xmlns:p14="http://schemas.microsoft.com/office/powerpoint/2010/main" val="2151962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09376CE-E413-47B5-9955-DF33D028A515}" type="datetime1">
              <a:rPr lang="en-US" smtClean="0"/>
              <a:t>5/9/2026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E5BC24-6D9F-45C9-A1E6-DAA26DB68E68}" type="datetime1">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8AE8BC-C838-43F5-A7FD-09BEAB414ED5}" type="datetime1">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4375B-9201-465A-8DD8-32CE88108D77}" type="datetime1">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46042E-127D-4D06-8476-2EBF4D068D0B}" type="datetime1">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161233-01FA-4414-A401-EB6143E04C70}" type="datetime1">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18A83-F165-46C6-8B1C-2FAD48A99E0D}" type="datetime1">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7EA46A-0702-4A70-B93B-84A6935B1D00}" type="datetime1">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2CF17C-FA5A-4230-B492-868116E142BF}" type="datetime1">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52371-F564-4420-AE6C-77A949A9739C}" type="datetime1">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F228DE-3D3C-4A15-A516-00F1FA845691}" type="datetime1">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E4A2CD-0BBB-4692-8C65-6FEE5BAEB1B8}" type="datetime1">
              <a:rPr lang="en-US" smtClean="0"/>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5.jpeg"/><Relationship Id="rId7" Type="http://schemas.openxmlformats.org/officeDocument/2006/relationships/diagramColors" Target="../diagrams/colors4.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6.jpeg"/><Relationship Id="rId7" Type="http://schemas.openxmlformats.org/officeDocument/2006/relationships/diagramColors" Target="../diagrams/colors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6.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6.jpeg"/><Relationship Id="rId7" Type="http://schemas.openxmlformats.org/officeDocument/2006/relationships/diagramColors" Target="../diagrams/colors6.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7.jpeg"/><Relationship Id="rId7" Type="http://schemas.openxmlformats.org/officeDocument/2006/relationships/diagramColors" Target="../diagrams/colors7.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8.jpeg"/><Relationship Id="rId7" Type="http://schemas.openxmlformats.org/officeDocument/2006/relationships/diagramColors" Target="../diagrams/colors8.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495312" y="1138227"/>
            <a:ext cx="9855439" cy="3379694"/>
          </a:xfrm>
        </p:spPr>
        <p:txBody>
          <a:bodyPr anchor="b">
            <a:normAutofit fontScale="90000"/>
          </a:bodyPr>
          <a:lstStyle/>
          <a:p>
            <a:pPr algn="l">
              <a:lnSpc>
                <a:spcPct val="90000"/>
              </a:lnSpc>
            </a:pPr>
            <a:r>
              <a:rPr lang="uk-UA" sz="5600" dirty="0"/>
              <a:t>МОДЕЛІ, МЕТОДИ ТА ІНФОРМАЦІЙНА ТЕХНОЛОГІЯ</a:t>
            </a:r>
          </a:p>
          <a:p>
            <a:pPr algn="l">
              <a:lnSpc>
                <a:spcPct val="90000"/>
              </a:lnSpc>
            </a:pPr>
            <a:r>
              <a:rPr lang="uk-UA" sz="5600" dirty="0"/>
              <a:t>ДИСТАНЦІЙНОЇ ІДЕНТИФІКАЦІЇ ПАРАМЕТРІВ ДИНАМІЧНИХ ОБ'ЄКТІВ</a:t>
            </a:r>
          </a:p>
        </p:txBody>
      </p:sp>
      <p:sp>
        <p:nvSpPr>
          <p:cNvPr id="3" name="Subtitle 2"/>
          <p:cNvSpPr>
            <a:spLocks noGrp="1"/>
          </p:cNvSpPr>
          <p:nvPr>
            <p:ph type="subTitle" idx="1"/>
          </p:nvPr>
        </p:nvSpPr>
        <p:spPr>
          <a:xfrm>
            <a:off x="2840019" y="4837221"/>
            <a:ext cx="9187030" cy="1519130"/>
          </a:xfrm>
        </p:spPr>
        <p:txBody>
          <a:bodyPr>
            <a:noAutofit/>
          </a:bodyPr>
          <a:lstStyle/>
          <a:p>
            <a:pPr algn="l">
              <a:lnSpc>
                <a:spcPct val="90000"/>
              </a:lnSpc>
            </a:pPr>
            <a:r>
              <a:rPr lang="uk-UA" sz="1600" b="1" dirty="0">
                <a:solidFill>
                  <a:schemeClr val="tx1"/>
                </a:solidFill>
              </a:rPr>
              <a:t>Здобувач: </a:t>
            </a:r>
            <a:r>
              <a:rPr lang="uk-UA" sz="1400" dirty="0"/>
              <a:t>аспірант </a:t>
            </a:r>
            <a:r>
              <a:rPr lang="ru-RU" sz="1400" dirty="0" err="1"/>
              <a:t>кафедри</a:t>
            </a:r>
            <a:r>
              <a:rPr lang="ru-RU" sz="1400" dirty="0"/>
              <a:t> </a:t>
            </a:r>
            <a:r>
              <a:rPr lang="ru-RU" sz="1400" dirty="0" err="1"/>
              <a:t>інформаційних</a:t>
            </a:r>
            <a:r>
              <a:rPr lang="ru-RU" sz="1400" dirty="0"/>
              <a:t> систем та </a:t>
            </a:r>
            <a:r>
              <a:rPr lang="ru-RU" sz="1400" dirty="0" err="1"/>
              <a:t>технологій</a:t>
            </a:r>
            <a:r>
              <a:rPr lang="uk-UA" sz="1400" dirty="0"/>
              <a:t> </a:t>
            </a:r>
            <a:r>
              <a:rPr lang="uk-UA" altLang="ru-RU" sz="1400" dirty="0">
                <a:latin typeface="Arial" panose="020B0604020202020204" pitchFamily="34" charset="0"/>
                <a:cs typeface="Arial" panose="020B0604020202020204" pitchFamily="34" charset="0"/>
              </a:rPr>
              <a:t>Національний технічний університет «ХПІ» </a:t>
            </a:r>
            <a:endParaRPr lang="uk-UA" sz="1400" dirty="0"/>
          </a:p>
          <a:p>
            <a:pPr algn="r">
              <a:lnSpc>
                <a:spcPct val="90000"/>
              </a:lnSpc>
            </a:pPr>
            <a:r>
              <a:rPr lang="uk-UA" dirty="0"/>
              <a:t>Кондратов Олексій Михайлович</a:t>
            </a:r>
          </a:p>
          <a:p>
            <a:pPr algn="l">
              <a:lnSpc>
                <a:spcPct val="90000"/>
              </a:lnSpc>
            </a:pPr>
            <a:r>
              <a:rPr lang="uk-UA" sz="1600" b="1" dirty="0">
                <a:solidFill>
                  <a:schemeClr val="tx1"/>
                </a:solidFill>
              </a:rPr>
              <a:t>Науковий керівник:</a:t>
            </a:r>
            <a:r>
              <a:rPr lang="uk-UA" sz="1600" dirty="0"/>
              <a:t> </a:t>
            </a:r>
            <a:r>
              <a:rPr lang="uk-UA" sz="1400" dirty="0"/>
              <a:t>завідувачка кафедри інформаційних систем та технологій, доктор технічних наук, професорка</a:t>
            </a:r>
          </a:p>
          <a:p>
            <a:pPr algn="r">
              <a:lnSpc>
                <a:spcPct val="90000"/>
              </a:lnSpc>
            </a:pPr>
            <a:r>
              <a:rPr lang="uk-UA" dirty="0"/>
              <a:t>Нікуліна Олена Миколаївна</a:t>
            </a:r>
          </a:p>
        </p:txBody>
      </p:sp>
      <p:sp>
        <p:nvSpPr>
          <p:cNvPr id="25"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Місце для номера слайда 3">
            <a:extLst>
              <a:ext uri="{FF2B5EF4-FFF2-40B4-BE49-F238E27FC236}">
                <a16:creationId xmlns:a16="http://schemas.microsoft.com/office/drawing/2014/main" id="{13D71568-31A8-FCE1-8584-28F89ED64BDB}"/>
              </a:ext>
            </a:extLst>
          </p:cNvPr>
          <p:cNvSpPr>
            <a:spLocks noGrp="1"/>
          </p:cNvSpPr>
          <p:nvPr>
            <p:ph type="sldNum" sz="quarter" idx="12"/>
          </p:nvPr>
        </p:nvSpPr>
        <p:spPr/>
        <p:txBody>
          <a:bodyPr/>
          <a:lstStyle/>
          <a:p>
            <a:fld id="{C1FF6DA9-008F-8B48-92A6-B652298478BF}" type="slidenum">
              <a:rPr lang="en-US" sz="3200" smtClean="0">
                <a:solidFill>
                  <a:schemeClr val="bg1"/>
                </a:solidFill>
              </a:rPr>
              <a:t>1</a:t>
            </a:fld>
            <a:endParaRPr lang="en-US" sz="3200" dirty="0">
              <a:solidFill>
                <a:schemeClr val="bg1"/>
              </a:solidFill>
            </a:endParaRPr>
          </a:p>
        </p:txBody>
      </p:sp>
      <p:pic>
        <p:nvPicPr>
          <p:cNvPr id="5" name="Picture 12" descr="https://o.remove.bg/downloads/98b0b567-363d-4261-ab9f-b6f6f38a4a1f/khpi-removebg-preview.png">
            <a:extLst>
              <a:ext uri="{FF2B5EF4-FFF2-40B4-BE49-F238E27FC236}">
                <a16:creationId xmlns:a16="http://schemas.microsoft.com/office/drawing/2014/main" id="{4781434E-99E1-53E7-F5E9-0053858196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89" y="103091"/>
            <a:ext cx="898609" cy="8986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DDCB84E-56E6-96DC-5D75-5FA0A0C6CD9A}"/>
              </a:ext>
            </a:extLst>
          </p:cNvPr>
          <p:cNvSpPr txBox="1"/>
          <p:nvPr/>
        </p:nvSpPr>
        <p:spPr>
          <a:xfrm>
            <a:off x="-159213" y="170704"/>
            <a:ext cx="7989982" cy="830997"/>
          </a:xfrm>
          <a:prstGeom prst="rect">
            <a:avLst/>
          </a:prstGeom>
          <a:noFill/>
        </p:spPr>
        <p:txBody>
          <a:bodyPr wrap="square" rtlCol="0">
            <a:spAutoFit/>
          </a:bodyPr>
          <a:lstStyle/>
          <a:p>
            <a:pPr algn="ctr"/>
            <a:r>
              <a:rPr lang="uk-UA" sz="2400" dirty="0">
                <a:solidFill>
                  <a:srgbClr val="9D2131"/>
                </a:solidFill>
                <a:latin typeface="Georgia" panose="02040502050405020303" pitchFamily="18" charset="0"/>
              </a:rPr>
              <a:t>Національний технічний університет </a:t>
            </a:r>
          </a:p>
          <a:p>
            <a:pPr algn="ctr"/>
            <a:r>
              <a:rPr lang="uk-UA" sz="2400" dirty="0">
                <a:solidFill>
                  <a:srgbClr val="9D2131"/>
                </a:solidFill>
                <a:latin typeface="Georgia" panose="02040502050405020303" pitchFamily="18" charset="0"/>
              </a:rPr>
              <a:t>«Харківський політехнічний інститут»</a:t>
            </a:r>
            <a:endParaRPr lang="en-US" sz="2400" dirty="0">
              <a:solidFill>
                <a:srgbClr val="9D2131"/>
              </a:solidFill>
              <a:latin typeface="Georgia" panose="02040502050405020303" pitchFamily="18" charset="0"/>
            </a:endParaRPr>
          </a:p>
        </p:txBody>
      </p:sp>
      <p:sp>
        <p:nvSpPr>
          <p:cNvPr id="7" name="Rectangle 10">
            <a:extLst>
              <a:ext uri="{FF2B5EF4-FFF2-40B4-BE49-F238E27FC236}">
                <a16:creationId xmlns:a16="http://schemas.microsoft.com/office/drawing/2014/main" id="{0FEF4FDB-1822-DD84-0BAC-B1C74A84F4EB}"/>
              </a:ext>
            </a:extLst>
          </p:cNvPr>
          <p:cNvSpPr>
            <a:spLocks noChangeArrowheads="1"/>
          </p:cNvSpPr>
          <p:nvPr/>
        </p:nvSpPr>
        <p:spPr bwMode="auto">
          <a:xfrm>
            <a:off x="3623556" y="3910372"/>
            <a:ext cx="79928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spAutoFit/>
          </a:bodyPr>
          <a:lstStyle/>
          <a:p>
            <a:pPr algn="ctr">
              <a:lnSpc>
                <a:spcPct val="150000"/>
              </a:lnSpc>
              <a:spcAft>
                <a:spcPts val="0"/>
              </a:spcAft>
            </a:pPr>
            <a:r>
              <a:rPr lang="uk-UA" sz="1600" b="1" dirty="0">
                <a:latin typeface="Arial" panose="020B0604020202020204" pitchFamily="34" charset="0"/>
                <a:cs typeface="Arial" panose="020B0604020202020204" pitchFamily="34" charset="0"/>
              </a:rPr>
              <a:t>Дисертація на здобуття наукового ступеня доктора філософії</a:t>
            </a:r>
            <a:endParaRPr lang="ru-RU" sz="1600" b="1" dirty="0">
              <a:latin typeface="Arial" panose="020B0604020202020204" pitchFamily="34" charset="0"/>
              <a:cs typeface="Arial" panose="020B0604020202020204" pitchFamily="34" charset="0"/>
            </a:endParaRPr>
          </a:p>
          <a:p>
            <a:pPr algn="ctr"/>
            <a:r>
              <a:rPr lang="uk-UA" altLang="ru-RU" sz="1600" b="1" dirty="0">
                <a:latin typeface="Arial" panose="020B0604020202020204" pitchFamily="34" charset="0"/>
                <a:cs typeface="Arial" panose="020B0604020202020204" pitchFamily="34" charset="0"/>
              </a:rPr>
              <a:t>за спеціальністю 122 – Комп’ютерні науки</a:t>
            </a:r>
          </a:p>
        </p:txBody>
      </p:sp>
      <p:sp>
        <p:nvSpPr>
          <p:cNvPr id="9" name="Rectangle 10">
            <a:extLst>
              <a:ext uri="{FF2B5EF4-FFF2-40B4-BE49-F238E27FC236}">
                <a16:creationId xmlns:a16="http://schemas.microsoft.com/office/drawing/2014/main" id="{1C597A8C-F8C6-0BAC-45CB-A44F8057ED94}"/>
              </a:ext>
            </a:extLst>
          </p:cNvPr>
          <p:cNvSpPr>
            <a:spLocks noChangeArrowheads="1"/>
          </p:cNvSpPr>
          <p:nvPr/>
        </p:nvSpPr>
        <p:spPr bwMode="auto">
          <a:xfrm>
            <a:off x="3389657" y="6419385"/>
            <a:ext cx="2664296" cy="338554"/>
          </a:xfrm>
          <a:prstGeom prst="rect">
            <a:avLst/>
          </a:prstGeom>
          <a:solidFill>
            <a:schemeClr val="bg1"/>
          </a:solidFill>
          <a:ln>
            <a:noFill/>
          </a:ln>
          <a:effectLst/>
        </p:spPr>
        <p:txBody>
          <a:bodyPr wrap="square" lIns="0" rIns="0" anchor="ctr">
            <a:spAutoFit/>
          </a:bodyPr>
          <a:lstStyle/>
          <a:p>
            <a:pPr algn="ctr"/>
            <a:r>
              <a:rPr lang="uk-UA" altLang="ru-RU" sz="1600" dirty="0">
                <a:latin typeface="Arial" panose="020B0604020202020204" pitchFamily="34" charset="0"/>
                <a:cs typeface="Arial" panose="020B0604020202020204" pitchFamily="34" charset="0"/>
              </a:rPr>
              <a:t>Харків - 2026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06443"/>
          </a:xfrm>
        </p:spPr>
        <p:txBody>
          <a:bodyPr>
            <a:normAutofit/>
          </a:bodyPr>
          <a:lstStyle/>
          <a:p>
            <a:r>
              <a:rPr lang="uk-UA" sz="4000"/>
              <a:t>Актуальність теми</a:t>
            </a:r>
          </a:p>
        </p:txBody>
      </p:sp>
      <p:graphicFrame>
        <p:nvGraphicFramePr>
          <p:cNvPr id="5" name="Content Placeholder 2">
            <a:extLst>
              <a:ext uri="{FF2B5EF4-FFF2-40B4-BE49-F238E27FC236}">
                <a16:creationId xmlns:a16="http://schemas.microsoft.com/office/drawing/2014/main" id="{788D146D-E888-E028-9F34-6A47C6E4C08B}"/>
              </a:ext>
            </a:extLst>
          </p:cNvPr>
          <p:cNvGraphicFramePr>
            <a:graphicFrameLocks noGrp="1"/>
          </p:cNvGraphicFramePr>
          <p:nvPr>
            <p:ph idx="1"/>
            <p:extLst>
              <p:ext uri="{D42A27DB-BD31-4B8C-83A1-F6EECF244321}">
                <p14:modId xmlns:p14="http://schemas.microsoft.com/office/powerpoint/2010/main" val="653196317"/>
              </p:ext>
            </p:extLst>
          </p:nvPr>
        </p:nvGraphicFramePr>
        <p:xfrm>
          <a:off x="-1" y="1355465"/>
          <a:ext cx="12188951" cy="4864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номера слайда 3">
            <a:extLst>
              <a:ext uri="{FF2B5EF4-FFF2-40B4-BE49-F238E27FC236}">
                <a16:creationId xmlns:a16="http://schemas.microsoft.com/office/drawing/2014/main" id="{48320F92-94BA-5436-F08D-16DBABB29775}"/>
              </a:ext>
            </a:extLst>
          </p:cNvPr>
          <p:cNvSpPr>
            <a:spLocks noGrp="1"/>
          </p:cNvSpPr>
          <p:nvPr>
            <p:ph type="sldNum" sz="quarter" idx="12"/>
          </p:nvPr>
        </p:nvSpPr>
        <p:spPr/>
        <p:txBody>
          <a:bodyPr/>
          <a:lstStyle/>
          <a:p>
            <a:fld id="{C1FF6DA9-008F-8B48-92A6-B652298478BF}" type="slidenum">
              <a:rPr lang="en-US" sz="3200" smtClean="0"/>
              <a:t>2</a:t>
            </a:fld>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ru-RU" sz="5400" dirty="0"/>
              <a:t>Мета, </a:t>
            </a:r>
            <a:r>
              <a:rPr lang="ru-RU" sz="5400" dirty="0" err="1"/>
              <a:t>об’єкт</a:t>
            </a:r>
            <a:r>
              <a:rPr lang="ru-RU" sz="5400" dirty="0"/>
              <a:t>, предмет та </a:t>
            </a:r>
            <a:r>
              <a:rPr lang="ru-RU" sz="5400" dirty="0" err="1"/>
              <a:t>методи</a:t>
            </a:r>
            <a:endParaRPr lang="ru-RU" sz="5400" dirty="0"/>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279699" y="1929384"/>
            <a:ext cx="12349779" cy="4453762"/>
          </a:xfrm>
        </p:spPr>
        <p:txBody>
          <a:bodyPr>
            <a:normAutofit/>
          </a:bodyPr>
          <a:lstStyle/>
          <a:p>
            <a:r>
              <a:rPr lang="uk-UA" sz="2200" dirty="0"/>
              <a:t>Метою дисертаційної роботи є підвищення точності, надійності та адаптивності дистанційної ідентифікації параметрів динамічних об’єктів, що рухаються у просторі для розробка моделей, методів та інформаційної технології, які поєднують </a:t>
            </a:r>
            <a:r>
              <a:rPr lang="uk-UA" sz="2200" dirty="0" err="1"/>
              <a:t>трансформерні</a:t>
            </a:r>
            <a:r>
              <a:rPr lang="uk-UA" sz="2200" dirty="0"/>
              <a:t> моделі виявлення об’єктів, алгоритми оптичного потоку та методи обчислювального інтелекту для обробки відеоданих у режимі реального часу.</a:t>
            </a:r>
          </a:p>
          <a:p>
            <a:r>
              <a:rPr lang="uk-UA" sz="2200" dirty="0"/>
              <a:t>Об’єкт дослідження</a:t>
            </a:r>
            <a:r>
              <a:rPr lang="en-US" sz="2200" dirty="0"/>
              <a:t>:</a:t>
            </a:r>
            <a:r>
              <a:rPr lang="uk-UA" sz="2200" dirty="0"/>
              <a:t> процес дистанційної ідентифікації параметрів динамічних об’єктів у </a:t>
            </a:r>
            <a:r>
              <a:rPr lang="uk-UA" sz="2200" dirty="0" err="1"/>
              <a:t>відеопотоках</a:t>
            </a:r>
            <a:r>
              <a:rPr lang="uk-UA" sz="2200" dirty="0"/>
              <a:t> та сенсорних даних.</a:t>
            </a:r>
          </a:p>
          <a:p>
            <a:r>
              <a:rPr lang="uk-UA" sz="2200" dirty="0"/>
              <a:t>Предмет дослідження: моделі, методи та інформаційна технологія визначення просторових, кінематичних і структурних параметрів динамічних об’єктів на основі </a:t>
            </a:r>
            <a:r>
              <a:rPr lang="uk-UA" sz="2200" dirty="0" err="1"/>
              <a:t>трансформерів</a:t>
            </a:r>
            <a:r>
              <a:rPr lang="uk-UA" sz="2200" dirty="0"/>
              <a:t>, оптичного потоку, </a:t>
            </a:r>
            <a:r>
              <a:rPr lang="uk-UA" sz="2200" dirty="0" err="1"/>
              <a:t>нейромережевої</a:t>
            </a:r>
            <a:r>
              <a:rPr lang="uk-UA" sz="2200" dirty="0"/>
              <a:t> оцінки глибини та ансамблевих методів.</a:t>
            </a:r>
          </a:p>
          <a:p>
            <a:r>
              <a:rPr lang="uk-UA" sz="2200" dirty="0"/>
              <a:t>Методи: комп'ютерний зір (оптичний потік), глибоке навчання (</a:t>
            </a:r>
            <a:r>
              <a:rPr lang="en-US" sz="2200" dirty="0"/>
              <a:t>DETR, </a:t>
            </a:r>
            <a:r>
              <a:rPr lang="en-US" sz="2200" dirty="0" err="1"/>
              <a:t>FlowNet</a:t>
            </a:r>
            <a:r>
              <a:rPr lang="en-US" sz="2200" dirty="0"/>
              <a:t>, </a:t>
            </a:r>
            <a:r>
              <a:rPr lang="en-US" sz="2200" dirty="0" err="1"/>
              <a:t>MiDaS</a:t>
            </a:r>
            <a:r>
              <a:rPr lang="en-US" sz="2200" dirty="0"/>
              <a:t>, DPT), </a:t>
            </a:r>
            <a:r>
              <a:rPr lang="uk-UA" sz="2200" dirty="0"/>
              <a:t>ансамблеві методи (</a:t>
            </a:r>
            <a:r>
              <a:rPr lang="en-US" sz="2200" dirty="0"/>
              <a:t>Bagging, Boosting), </a:t>
            </a:r>
            <a:r>
              <a:rPr lang="uk-UA" sz="2200" dirty="0"/>
              <a:t>математичне моделювання, теорія ймовірностей</a:t>
            </a:r>
          </a:p>
        </p:txBody>
      </p:sp>
      <p:sp>
        <p:nvSpPr>
          <p:cNvPr id="4" name="Місце для номера слайда 3">
            <a:extLst>
              <a:ext uri="{FF2B5EF4-FFF2-40B4-BE49-F238E27FC236}">
                <a16:creationId xmlns:a16="http://schemas.microsoft.com/office/drawing/2014/main" id="{15AD457C-8B60-DAAE-796D-9625CAAE3C50}"/>
              </a:ext>
            </a:extLst>
          </p:cNvPr>
          <p:cNvSpPr>
            <a:spLocks noGrp="1"/>
          </p:cNvSpPr>
          <p:nvPr>
            <p:ph type="sldNum" sz="quarter" idx="12"/>
          </p:nvPr>
        </p:nvSpPr>
        <p:spPr/>
        <p:txBody>
          <a:bodyPr/>
          <a:lstStyle/>
          <a:p>
            <a:fld id="{C1FF6DA9-008F-8B48-92A6-B652298478BF}" type="slidenum">
              <a:rPr lang="en-US" sz="3200" smtClean="0"/>
              <a:t>3</a:t>
            </a:fld>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92762D-E191-816F-8E29-AA5A06D10877}"/>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8BB1921-3DAC-23FA-D5A0-AD6B6919B659}"/>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DE708A5-B078-16D3-1083-45E76BE112CD}"/>
              </a:ext>
            </a:extLst>
          </p:cNvPr>
          <p:cNvSpPr>
            <a:spLocks noGrp="1"/>
          </p:cNvSpPr>
          <p:nvPr>
            <p:ph type="title"/>
          </p:nvPr>
        </p:nvSpPr>
        <p:spPr>
          <a:xfrm>
            <a:off x="457200" y="273050"/>
            <a:ext cx="3008313" cy="1162050"/>
          </a:xfrm>
        </p:spPr>
        <p:txBody>
          <a:bodyPr>
            <a:normAutofit/>
          </a:bodyPr>
          <a:lstStyle/>
          <a:p>
            <a:r>
              <a:rPr lang="uk-UA" sz="3200" dirty="0"/>
              <a:t>З</a:t>
            </a:r>
            <a:r>
              <a:rPr lang="ru-RU" sz="3200" dirty="0" err="1"/>
              <a:t>адачі</a:t>
            </a:r>
            <a:r>
              <a:rPr lang="ru-RU" sz="3200" dirty="0"/>
              <a:t> </a:t>
            </a:r>
            <a:r>
              <a:rPr lang="uk-UA" sz="3200" dirty="0"/>
              <a:t>дослідження</a:t>
            </a:r>
            <a:endParaRPr lang="ru-RU" sz="3200" dirty="0"/>
          </a:p>
        </p:txBody>
      </p:sp>
      <p:sp>
        <p:nvSpPr>
          <p:cNvPr id="4" name="Місце для тексту 3">
            <a:extLst>
              <a:ext uri="{FF2B5EF4-FFF2-40B4-BE49-F238E27FC236}">
                <a16:creationId xmlns:a16="http://schemas.microsoft.com/office/drawing/2014/main" id="{DF9F996E-070B-6805-829A-A8C670324F16}"/>
              </a:ext>
            </a:extLst>
          </p:cNvPr>
          <p:cNvSpPr>
            <a:spLocks noGrp="1"/>
          </p:cNvSpPr>
          <p:nvPr>
            <p:ph type="body" sz="half" idx="2"/>
          </p:nvPr>
        </p:nvSpPr>
        <p:spPr>
          <a:xfrm>
            <a:off x="457200" y="1435100"/>
            <a:ext cx="3008313" cy="4691063"/>
          </a:xfrm>
        </p:spPr>
        <p:txBody>
          <a:bodyPr/>
          <a:lstStyle/>
          <a:p>
            <a:r>
              <a:rPr lang="ru-RU" dirty="0"/>
              <a:t>Для </a:t>
            </a:r>
            <a:r>
              <a:rPr lang="ru-RU" dirty="0" err="1"/>
              <a:t>досягнення</a:t>
            </a:r>
            <a:r>
              <a:rPr lang="ru-RU" dirty="0"/>
              <a:t> </a:t>
            </a:r>
            <a:r>
              <a:rPr lang="ru-RU" dirty="0" err="1"/>
              <a:t>поставленої</a:t>
            </a:r>
            <a:r>
              <a:rPr lang="ru-RU" dirty="0"/>
              <a:t> мети </a:t>
            </a:r>
            <a:r>
              <a:rPr lang="ru-RU" dirty="0" err="1"/>
              <a:t>вирішуються</a:t>
            </a:r>
            <a:r>
              <a:rPr lang="ru-RU" dirty="0"/>
              <a:t> </a:t>
            </a:r>
            <a:r>
              <a:rPr lang="ru-RU" dirty="0" err="1"/>
              <a:t>наступні</a:t>
            </a:r>
            <a:r>
              <a:rPr lang="ru-RU" dirty="0"/>
              <a:t> </a:t>
            </a:r>
            <a:r>
              <a:rPr lang="ru-RU" dirty="0" err="1"/>
              <a:t>задачі</a:t>
            </a:r>
            <a:r>
              <a:rPr lang="ru-RU" dirty="0"/>
              <a:t>:</a:t>
            </a:r>
            <a:endParaRPr lang="en-US" dirty="0"/>
          </a:p>
          <a:p>
            <a:endParaRPr lang="en-US" dirty="0"/>
          </a:p>
        </p:txBody>
      </p:sp>
      <p:graphicFrame>
        <p:nvGraphicFramePr>
          <p:cNvPr id="24" name="Місце для вмісту 11">
            <a:extLst>
              <a:ext uri="{FF2B5EF4-FFF2-40B4-BE49-F238E27FC236}">
                <a16:creationId xmlns:a16="http://schemas.microsoft.com/office/drawing/2014/main" id="{9DC1AC37-3A6F-9707-A065-DF081425F83C}"/>
              </a:ext>
            </a:extLst>
          </p:cNvPr>
          <p:cNvGraphicFramePr>
            <a:graphicFrameLocks noGrp="1"/>
          </p:cNvGraphicFramePr>
          <p:nvPr>
            <p:ph idx="1"/>
            <p:extLst>
              <p:ext uri="{D42A27DB-BD31-4B8C-83A1-F6EECF244321}">
                <p14:modId xmlns:p14="http://schemas.microsoft.com/office/powerpoint/2010/main" val="3699611732"/>
              </p:ext>
            </p:extLst>
          </p:nvPr>
        </p:nvGraphicFramePr>
        <p:xfrm>
          <a:off x="3162748" y="10"/>
          <a:ext cx="9029252" cy="68579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Місце для номера слайда 12">
            <a:extLst>
              <a:ext uri="{FF2B5EF4-FFF2-40B4-BE49-F238E27FC236}">
                <a16:creationId xmlns:a16="http://schemas.microsoft.com/office/drawing/2014/main" id="{872BA988-C8BB-BAC1-E495-93D29A9E42BE}"/>
              </a:ext>
            </a:extLst>
          </p:cNvPr>
          <p:cNvSpPr>
            <a:spLocks noGrp="1"/>
          </p:cNvSpPr>
          <p:nvPr>
            <p:ph type="sldNum" sz="quarter" idx="12"/>
          </p:nvPr>
        </p:nvSpPr>
        <p:spPr/>
        <p:txBody>
          <a:bodyPr/>
          <a:lstStyle/>
          <a:p>
            <a:fld id="{C1FF6DA9-008F-8B48-92A6-B652298478BF}" type="slidenum">
              <a:rPr lang="en-US" sz="3200" smtClean="0">
                <a:solidFill>
                  <a:schemeClr val="bg1"/>
                </a:solidFill>
              </a:rPr>
              <a:t>4</a:t>
            </a:fld>
            <a:endParaRPr lang="en-US" sz="3200" dirty="0">
              <a:solidFill>
                <a:schemeClr val="bg1"/>
              </a:solidFill>
            </a:endParaRPr>
          </a:p>
        </p:txBody>
      </p:sp>
    </p:spTree>
    <p:extLst>
      <p:ext uri="{BB962C8B-B14F-4D97-AF65-F5344CB8AC3E}">
        <p14:creationId xmlns:p14="http://schemas.microsoft.com/office/powerpoint/2010/main" val="2941157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5975586C-A0A1-6DB6-BAA4-A13C8B69E1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C3A922-65A5-B4DE-5C0B-2CE73E3E0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54CBF3-5304-3337-8430-FBA88C4690D5}"/>
              </a:ext>
            </a:extLst>
          </p:cNvPr>
          <p:cNvSpPr>
            <a:spLocks noGrp="1"/>
          </p:cNvSpPr>
          <p:nvPr>
            <p:ph type="title"/>
          </p:nvPr>
        </p:nvSpPr>
        <p:spPr>
          <a:xfrm>
            <a:off x="838200" y="365125"/>
            <a:ext cx="10515600" cy="1325563"/>
          </a:xfrm>
        </p:spPr>
        <p:txBody>
          <a:bodyPr>
            <a:normAutofit/>
          </a:bodyPr>
          <a:lstStyle/>
          <a:p>
            <a:r>
              <a:rPr lang="ru-RU" sz="5400"/>
              <a:t>Мета, об’єкт, предмет та методи</a:t>
            </a:r>
          </a:p>
        </p:txBody>
      </p:sp>
      <p:sp>
        <p:nvSpPr>
          <p:cNvPr id="19" name="sketch line">
            <a:extLst>
              <a:ext uri="{FF2B5EF4-FFF2-40B4-BE49-F238E27FC236}">
                <a16:creationId xmlns:a16="http://schemas.microsoft.com/office/drawing/2014/main" id="{A38AD033-05B2-AF8D-3C62-2343645AB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9C87C3-603D-8677-F422-3078931E7646}"/>
              </a:ext>
            </a:extLst>
          </p:cNvPr>
          <p:cNvSpPr>
            <a:spLocks noGrp="1"/>
          </p:cNvSpPr>
          <p:nvPr>
            <p:ph idx="1"/>
          </p:nvPr>
        </p:nvSpPr>
        <p:spPr>
          <a:xfrm>
            <a:off x="0" y="1929384"/>
            <a:ext cx="12192000" cy="4251960"/>
          </a:xfrm>
        </p:spPr>
        <p:txBody>
          <a:bodyPr>
            <a:noAutofit/>
          </a:bodyPr>
          <a:lstStyle/>
          <a:p>
            <a:r>
              <a:rPr lang="uk-UA" dirty="0"/>
              <a:t>Мета: підвищення точності та надійності ДІПДО</a:t>
            </a:r>
          </a:p>
          <a:p>
            <a:r>
              <a:rPr lang="uk-UA" dirty="0"/>
              <a:t>Об’єкт дослідження: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моделі, методи та інформаційна технологія визначення просторових, кінематичних і структурних параметрів</a:t>
            </a:r>
          </a:p>
          <a:p>
            <a:r>
              <a:rPr lang="uk-UA" dirty="0"/>
              <a:t>Методи: комп'ютерний зір (оптичний потік), глибоке навчання (</a:t>
            </a:r>
            <a:r>
              <a:rPr lang="en-US" dirty="0"/>
              <a:t>DETR, </a:t>
            </a:r>
            <a:r>
              <a:rPr lang="en-US" dirty="0" err="1"/>
              <a:t>FlowNet</a:t>
            </a:r>
            <a:r>
              <a:rPr lang="en-US" dirty="0"/>
              <a:t>, </a:t>
            </a:r>
            <a:r>
              <a:rPr lang="en-US" dirty="0" err="1"/>
              <a:t>MiDaS</a:t>
            </a:r>
            <a:r>
              <a:rPr lang="en-US" dirty="0"/>
              <a:t>, DPT), </a:t>
            </a:r>
            <a:r>
              <a:rPr lang="uk-UA" dirty="0"/>
              <a:t>ансамблеві методи (</a:t>
            </a:r>
            <a:r>
              <a:rPr lang="en-US" dirty="0"/>
              <a:t>Bagging, Boosting), </a:t>
            </a:r>
            <a:r>
              <a:rPr lang="uk-UA" dirty="0"/>
              <a:t>математичне моделювання, теорія ймовірностей</a:t>
            </a:r>
          </a:p>
        </p:txBody>
      </p:sp>
      <p:sp>
        <p:nvSpPr>
          <p:cNvPr id="4" name="Місце для номера слайда 3">
            <a:extLst>
              <a:ext uri="{FF2B5EF4-FFF2-40B4-BE49-F238E27FC236}">
                <a16:creationId xmlns:a16="http://schemas.microsoft.com/office/drawing/2014/main" id="{3181857F-627C-B7C5-BD52-7A8CDB82F875}"/>
              </a:ext>
            </a:extLst>
          </p:cNvPr>
          <p:cNvSpPr>
            <a:spLocks noGrp="1"/>
          </p:cNvSpPr>
          <p:nvPr>
            <p:ph type="sldNum" sz="quarter" idx="12"/>
          </p:nvPr>
        </p:nvSpPr>
        <p:spPr/>
        <p:txBody>
          <a:bodyPr/>
          <a:lstStyle/>
          <a:p>
            <a:fld id="{C1FF6DA9-008F-8B48-92A6-B652298478BF}" type="slidenum">
              <a:rPr lang="en-US" sz="3200" smtClean="0"/>
              <a:t>5</a:t>
            </a:fld>
            <a:endParaRPr lang="en-US" sz="3200" dirty="0"/>
          </a:p>
        </p:txBody>
      </p:sp>
    </p:spTree>
    <p:extLst>
      <p:ext uri="{BB962C8B-B14F-4D97-AF65-F5344CB8AC3E}">
        <p14:creationId xmlns:p14="http://schemas.microsoft.com/office/powerpoint/2010/main" val="1297423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06443"/>
          </a:xfrm>
        </p:spPr>
        <p:txBody>
          <a:bodyPr>
            <a:normAutofit/>
          </a:bodyPr>
          <a:lstStyle/>
          <a:p>
            <a:r>
              <a:rPr lang="uk-UA" sz="4000" dirty="0"/>
              <a:t>Завдання дослідження</a:t>
            </a:r>
          </a:p>
        </p:txBody>
      </p:sp>
      <p:pic>
        <p:nvPicPr>
          <p:cNvPr id="6" name="Picture 5">
            <a:extLst>
              <a:ext uri="{FF2B5EF4-FFF2-40B4-BE49-F238E27FC236}">
                <a16:creationId xmlns:a16="http://schemas.microsoft.com/office/drawing/2014/main" id="{2F00D130-A8D2-5EEF-DEA0-A481DBAC2F79}"/>
              </a:ext>
            </a:extLst>
          </p:cNvPr>
          <p:cNvPicPr>
            <a:picLocks noChangeAspect="1"/>
          </p:cNvPicPr>
          <p:nvPr/>
        </p:nvPicPr>
        <p:blipFill>
          <a:blip r:embed="rId3"/>
          <a:srcRect l="43724" r="6446"/>
          <a:stretch>
            <a:fillRect/>
          </a:stretch>
        </p:blipFill>
        <p:spPr>
          <a:xfrm>
            <a:off x="7989293" y="1904282"/>
            <a:ext cx="3423093" cy="4224808"/>
          </a:xfrm>
          <a:prstGeom prst="rect">
            <a:avLst/>
          </a:prstGeom>
        </p:spPr>
      </p:pic>
      <p:graphicFrame>
        <p:nvGraphicFramePr>
          <p:cNvPr id="5" name="Content Placeholder 2">
            <a:extLst>
              <a:ext uri="{FF2B5EF4-FFF2-40B4-BE49-F238E27FC236}">
                <a16:creationId xmlns:a16="http://schemas.microsoft.com/office/drawing/2014/main" id="{BC65AF12-90EA-80FA-9FC4-F1AC81A11EF0}"/>
              </a:ext>
            </a:extLst>
          </p:cNvPr>
          <p:cNvGraphicFramePr>
            <a:graphicFrameLocks noGrp="1"/>
          </p:cNvGraphicFramePr>
          <p:nvPr>
            <p:ph idx="1"/>
            <p:extLst>
              <p:ext uri="{D42A27DB-BD31-4B8C-83A1-F6EECF244321}">
                <p14:modId xmlns:p14="http://schemas.microsoft.com/office/powerpoint/2010/main" val="1267711783"/>
              </p:ext>
            </p:extLst>
          </p:nvPr>
        </p:nvGraphicFramePr>
        <p:xfrm>
          <a:off x="838200" y="1825625"/>
          <a:ext cx="6714744" cy="43034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номера слайда 3">
            <a:extLst>
              <a:ext uri="{FF2B5EF4-FFF2-40B4-BE49-F238E27FC236}">
                <a16:creationId xmlns:a16="http://schemas.microsoft.com/office/drawing/2014/main" id="{486502A8-20B7-A788-D920-297E187B619C}"/>
              </a:ext>
            </a:extLst>
          </p:cNvPr>
          <p:cNvSpPr>
            <a:spLocks noGrp="1"/>
          </p:cNvSpPr>
          <p:nvPr>
            <p:ph type="sldNum" sz="quarter" idx="12"/>
          </p:nvPr>
        </p:nvSpPr>
        <p:spPr/>
        <p:txBody>
          <a:bodyPr/>
          <a:lstStyle/>
          <a:p>
            <a:fld id="{C1FF6DA9-008F-8B48-92A6-B652298478BF}" type="slidenum">
              <a:rPr lang="en-US" sz="3200" smtClean="0"/>
              <a:t>6</a:t>
            </a:fld>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3" name="Rectangle 1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7" y="502021"/>
            <a:ext cx="9688296" cy="1642969"/>
          </a:xfrm>
        </p:spPr>
        <p:txBody>
          <a:bodyPr anchor="b">
            <a:normAutofit/>
          </a:bodyPr>
          <a:lstStyle/>
          <a:p>
            <a:r>
              <a:rPr lang="uk-UA" sz="4000"/>
              <a:t>Об'єкт та предмет дослідження</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136397" y="2418409"/>
                <a:ext cx="9688296" cy="3454358"/>
              </a:xfrm>
            </p:spPr>
            <p:txBody>
              <a:bodyPr anchor="t">
                <a:normAutofit/>
              </a:bodyPr>
              <a:lstStyle/>
              <a:p>
                <a:r>
                  <a:rPr lang="uk-UA" sz="2000" dirty="0"/>
                  <a:t>Об'єкт: Процес дистанційної ідентифікації параметрів динамічних об'єктів (ДІПДО) у </a:t>
                </a:r>
                <a:r>
                  <a:rPr lang="uk-UA" sz="2000" dirty="0" err="1"/>
                  <a:t>відеопотоках</a:t>
                </a:r>
                <a:r>
                  <a:rPr lang="uk-UA" sz="2000" dirty="0"/>
                  <a:t> та сенсорних даних</a:t>
                </a:r>
              </a:p>
              <a:p>
                <a:r>
                  <a:rPr lang="uk-UA" sz="2000" dirty="0"/>
                  <a:t>Включає етапи: отримання даних, попередню обробку, виділення ознак, прийняття рішень</a:t>
                </a:r>
              </a:p>
              <a:p>
                <a:r>
                  <a:rPr lang="uk-UA" sz="2000" dirty="0"/>
                  <a:t>Предмет: Моделі, методи та інформаційна технологія визначення просторових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r>
                      <a:rPr lang="en-US" sz="2000" i="1">
                        <a:latin typeface="Cambria Math" panose="02040503050406030204" pitchFamily="18" charset="0"/>
                      </a:rPr>
                      <m:t>𝑧</m:t>
                    </m:r>
                  </m:oMath>
                </a14:m>
                <a:r>
                  <a:rPr lang="en-US" sz="2000" dirty="0"/>
                  <a:t>, </a:t>
                </a:r>
                <a:r>
                  <a:rPr lang="uk-UA" sz="2000" dirty="0"/>
                  <a:t>глибина, розміри), кінематичних (</a:t>
                </a:r>
                <a14:m>
                  <m:oMath xmlns:m="http://schemas.openxmlformats.org/officeDocument/2006/math">
                    <m:r>
                      <a:rPr lang="en-US" sz="2000" i="1">
                        <a:latin typeface="Cambria Math" panose="02040503050406030204" pitchFamily="18" charset="0"/>
                      </a:rPr>
                      <m:t>𝑣</m:t>
                    </m:r>
                    <m:r>
                      <a:rPr lang="en-US" sz="2000" i="1">
                        <a:latin typeface="Cambria Math" panose="02040503050406030204" pitchFamily="18" charset="0"/>
                      </a:rPr>
                      <m:t>, </m:t>
                    </m:r>
                    <m:r>
                      <a:rPr lang="en-US" sz="2000" i="1">
                        <a:latin typeface="Cambria Math" panose="02040503050406030204" pitchFamily="18" charset="0"/>
                      </a:rPr>
                      <m:t>𝑎</m:t>
                    </m:r>
                    <m:r>
                      <a:rPr lang="en-US" sz="2000" i="1">
                        <a:latin typeface="Cambria Math" panose="02040503050406030204" pitchFamily="18" charset="0"/>
                      </a:rPr>
                      <m:t>, </m:t>
                    </m:r>
                    <m:r>
                      <a:rPr lang="el-GR" sz="2000" i="1">
                        <a:latin typeface="Cambria Math" panose="02040503050406030204" pitchFamily="18" charset="0"/>
                      </a:rPr>
                      <m:t>𝜃</m:t>
                    </m:r>
                  </m:oMath>
                </a14:m>
                <a:r>
                  <a:rPr lang="el-GR" sz="2000" dirty="0"/>
                  <a:t>, </a:t>
                </a:r>
                <a:r>
                  <a:rPr lang="uk-UA" sz="2000" dirty="0"/>
                  <a:t>траєкторія) та структурних (контур, клас) параметрів</a:t>
                </a:r>
              </a:p>
              <a:p>
                <a:r>
                  <a:rPr lang="uk-UA" sz="2000" dirty="0"/>
                  <a:t>Основна увага – поєднання </a:t>
                </a:r>
                <a:r>
                  <a:rPr lang="uk-UA" sz="2000" dirty="0" err="1"/>
                  <a:t>трансформерів</a:t>
                </a:r>
                <a:r>
                  <a:rPr lang="uk-UA" sz="2000" dirty="0"/>
                  <a:t>, оптичного потоку, </a:t>
                </a:r>
                <a:r>
                  <a:rPr lang="uk-UA" sz="2000" dirty="0" err="1"/>
                  <a:t>нейромережевої</a:t>
                </a:r>
                <a:r>
                  <a:rPr lang="uk-UA" sz="2000" dirty="0"/>
                  <a:t> глибини та ансамблів</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136397" y="2418409"/>
                <a:ext cx="9688296" cy="3454358"/>
              </a:xfrm>
              <a:blipFill>
                <a:blip r:embed="rId3"/>
                <a:stretch>
                  <a:fillRect l="-566" t="-1060" r="-943"/>
                </a:stretch>
              </a:blipFill>
            </p:spPr>
            <p:txBody>
              <a:bodyPr/>
              <a:lstStyle/>
              <a:p>
                <a:r>
                  <a:rPr lang="en-US">
                    <a:noFill/>
                  </a:rPr>
                  <a:t> </a:t>
                </a:r>
              </a:p>
            </p:txBody>
          </p:sp>
        </mc:Fallback>
      </mc:AlternateContent>
      <p:sp>
        <p:nvSpPr>
          <p:cNvPr id="24" name="Rectangle 1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Місце для номера слайда 3">
            <a:extLst>
              <a:ext uri="{FF2B5EF4-FFF2-40B4-BE49-F238E27FC236}">
                <a16:creationId xmlns:a16="http://schemas.microsoft.com/office/drawing/2014/main" id="{8EA9BFDB-95E7-A586-C0D2-528CE73061C9}"/>
              </a:ext>
            </a:extLst>
          </p:cNvPr>
          <p:cNvSpPr>
            <a:spLocks noGrp="1"/>
          </p:cNvSpPr>
          <p:nvPr>
            <p:ph type="sldNum" sz="quarter" idx="12"/>
          </p:nvPr>
        </p:nvSpPr>
        <p:spPr/>
        <p:txBody>
          <a:bodyPr/>
          <a:lstStyle/>
          <a:p>
            <a:fld id="{C1FF6DA9-008F-8B48-92A6-B652298478BF}" type="slidenum">
              <a:rPr lang="en-US" sz="3200" smtClean="0"/>
              <a:t>7</a:t>
            </a:fld>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5558489" cy="1325563"/>
          </a:xfrm>
        </p:spPr>
        <p:txBody>
          <a:bodyPr>
            <a:normAutofit/>
          </a:bodyPr>
          <a:lstStyle/>
          <a:p>
            <a:pPr>
              <a:lnSpc>
                <a:spcPct val="90000"/>
              </a:lnSpc>
            </a:pPr>
            <a:r>
              <a:rPr lang="ru-RU" sz="4100" dirty="0" err="1"/>
              <a:t>Аналіз</a:t>
            </a:r>
            <a:r>
              <a:rPr lang="ru-RU" sz="4100" dirty="0"/>
              <a:t> задач та </a:t>
            </a:r>
            <a:r>
              <a:rPr lang="ru-RU" sz="4100" dirty="0" err="1"/>
              <a:t>методів</a:t>
            </a:r>
            <a:r>
              <a:rPr lang="ru-RU" sz="4100" dirty="0"/>
              <a:t> ДІПДО</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838200" y="1825625"/>
            <a:ext cx="5558489" cy="4351338"/>
          </a:xfrm>
        </p:spPr>
        <p:txBody>
          <a:bodyPr>
            <a:normAutofit/>
          </a:bodyPr>
          <a:lstStyle/>
          <a:p>
            <a:pPr>
              <a:lnSpc>
                <a:spcPct val="90000"/>
              </a:lnSpc>
            </a:pPr>
            <a:r>
              <a:rPr lang="uk-UA" sz="2500"/>
              <a:t>Динамічні </a:t>
            </a:r>
            <a:r>
              <a:rPr lang="uk-UA" sz="2500" err="1"/>
              <a:t>об'єкти</a:t>
            </a:r>
            <a:r>
              <a:rPr lang="uk-UA" sz="2500"/>
              <a:t>: </a:t>
            </a:r>
            <a:r>
              <a:rPr lang="uk-UA" sz="2500" err="1"/>
              <a:t>складні</a:t>
            </a:r>
            <a:r>
              <a:rPr lang="uk-UA" sz="2500"/>
              <a:t> </a:t>
            </a:r>
            <a:r>
              <a:rPr lang="uk-UA" sz="2500" err="1"/>
              <a:t>багатовимірні</a:t>
            </a:r>
            <a:r>
              <a:rPr lang="uk-UA" sz="2500"/>
              <a:t> </a:t>
            </a:r>
            <a:r>
              <a:rPr lang="uk-UA" sz="2500" err="1"/>
              <a:t>системи</a:t>
            </a:r>
            <a:r>
              <a:rPr lang="uk-UA" sz="2500"/>
              <a:t>, </a:t>
            </a:r>
            <a:r>
              <a:rPr lang="uk-UA" sz="2500" err="1"/>
              <a:t>стан</a:t>
            </a:r>
            <a:r>
              <a:rPr lang="uk-UA" sz="2500"/>
              <a:t> </a:t>
            </a:r>
            <a:r>
              <a:rPr lang="uk-UA" sz="2500" err="1"/>
              <a:t>яких</a:t>
            </a:r>
            <a:r>
              <a:rPr lang="uk-UA" sz="2500"/>
              <a:t> </a:t>
            </a:r>
            <a:r>
              <a:rPr lang="uk-UA" sz="2500" err="1"/>
              <a:t>безперервно</a:t>
            </a:r>
            <a:r>
              <a:rPr lang="uk-UA" sz="2500"/>
              <a:t> </a:t>
            </a:r>
            <a:r>
              <a:rPr lang="uk-UA" sz="2500" err="1"/>
              <a:t>змінюється</a:t>
            </a:r>
            <a:r>
              <a:rPr lang="uk-UA" sz="2500"/>
              <a:t> в </a:t>
            </a:r>
            <a:r>
              <a:rPr lang="uk-UA" sz="2500" err="1"/>
              <a:t>часі</a:t>
            </a:r>
            <a:endParaRPr lang="uk-UA" sz="2500"/>
          </a:p>
          <a:p>
            <a:pPr>
              <a:lnSpc>
                <a:spcPct val="90000"/>
              </a:lnSpc>
            </a:pPr>
            <a:r>
              <a:rPr lang="uk-UA" sz="2500"/>
              <a:t>Основні </a:t>
            </a:r>
            <a:r>
              <a:rPr lang="uk-UA" sz="2500" err="1"/>
              <a:t>групи</a:t>
            </a:r>
            <a:r>
              <a:rPr lang="uk-UA" sz="2500"/>
              <a:t> </a:t>
            </a:r>
            <a:r>
              <a:rPr lang="uk-UA" sz="2500" err="1"/>
              <a:t>параметрів</a:t>
            </a:r>
            <a:r>
              <a:rPr lang="uk-UA" sz="2500"/>
              <a:t>: </a:t>
            </a:r>
            <a:r>
              <a:rPr lang="uk-UA" sz="2500" err="1"/>
              <a:t>просторові</a:t>
            </a:r>
            <a:r>
              <a:rPr lang="uk-UA" sz="2500"/>
              <a:t>, </a:t>
            </a:r>
            <a:r>
              <a:rPr lang="uk-UA" sz="2500" err="1"/>
              <a:t>кінематичні</a:t>
            </a:r>
            <a:r>
              <a:rPr lang="uk-UA" sz="2500"/>
              <a:t>, </a:t>
            </a:r>
            <a:r>
              <a:rPr lang="uk-UA" sz="2500" err="1"/>
              <a:t>структурні</a:t>
            </a:r>
            <a:endParaRPr lang="uk-UA" sz="2500"/>
          </a:p>
          <a:p>
            <a:pPr>
              <a:lnSpc>
                <a:spcPct val="90000"/>
              </a:lnSpc>
            </a:pPr>
            <a:r>
              <a:rPr lang="uk-UA" sz="2500"/>
              <a:t>Еволюція </a:t>
            </a:r>
            <a:r>
              <a:rPr lang="uk-UA" sz="2500" err="1"/>
              <a:t>методів</a:t>
            </a:r>
            <a:r>
              <a:rPr lang="uk-UA" sz="2500"/>
              <a:t>: </a:t>
            </a:r>
            <a:r>
              <a:rPr lang="uk-UA" sz="2500" err="1"/>
              <a:t>від</a:t>
            </a:r>
            <a:r>
              <a:rPr lang="uk-UA" sz="2500"/>
              <a:t> </a:t>
            </a:r>
            <a:r>
              <a:rPr lang="uk-UA" sz="2500" err="1"/>
              <a:t>класичних</a:t>
            </a:r>
            <a:r>
              <a:rPr lang="uk-UA" sz="2500"/>
              <a:t> (</a:t>
            </a:r>
            <a:r>
              <a:rPr lang="en-US" sz="2500"/>
              <a:t>Viola-Jones, HOG, DPM) </a:t>
            </a:r>
            <a:r>
              <a:rPr lang="uk-UA" sz="2500" err="1"/>
              <a:t>до</a:t>
            </a:r>
            <a:r>
              <a:rPr lang="uk-UA" sz="2500"/>
              <a:t> </a:t>
            </a:r>
            <a:r>
              <a:rPr lang="uk-UA" sz="2500" err="1"/>
              <a:t>сучасних</a:t>
            </a:r>
            <a:r>
              <a:rPr lang="uk-UA" sz="2500"/>
              <a:t> (</a:t>
            </a:r>
            <a:r>
              <a:rPr lang="en-US" sz="2500"/>
              <a:t>CNN, </a:t>
            </a:r>
            <a:r>
              <a:rPr lang="uk-UA" sz="2500" err="1"/>
              <a:t>трансформери</a:t>
            </a:r>
            <a:r>
              <a:rPr lang="uk-UA" sz="2500"/>
              <a:t> </a:t>
            </a:r>
            <a:r>
              <a:rPr lang="en-US" sz="2500"/>
              <a:t>DETR, YOLO)</a:t>
            </a:r>
          </a:p>
          <a:p>
            <a:pPr>
              <a:lnSpc>
                <a:spcPct val="90000"/>
              </a:lnSpc>
            </a:pPr>
            <a:r>
              <a:rPr lang="uk-UA" sz="2500" err="1"/>
              <a:t>Інформаційні</a:t>
            </a:r>
            <a:r>
              <a:rPr lang="uk-UA" sz="2500"/>
              <a:t> </a:t>
            </a:r>
            <a:r>
              <a:rPr lang="uk-UA" sz="2500" err="1"/>
              <a:t>технології</a:t>
            </a:r>
            <a:r>
              <a:rPr lang="uk-UA" sz="2500"/>
              <a:t>: </a:t>
            </a:r>
            <a:r>
              <a:rPr lang="uk-UA" sz="2500" err="1"/>
              <a:t>комп'ютерний</a:t>
            </a:r>
            <a:r>
              <a:rPr lang="uk-UA" sz="2500"/>
              <a:t> </a:t>
            </a:r>
            <a:r>
              <a:rPr lang="uk-UA" sz="2500" err="1"/>
              <a:t>зір</a:t>
            </a:r>
            <a:r>
              <a:rPr lang="uk-UA" sz="2500"/>
              <a:t>, </a:t>
            </a:r>
            <a:r>
              <a:rPr lang="uk-UA" sz="2500" err="1"/>
              <a:t>глибоке</a:t>
            </a:r>
            <a:r>
              <a:rPr lang="uk-UA" sz="2500"/>
              <a:t> </a:t>
            </a:r>
            <a:r>
              <a:rPr lang="uk-UA" sz="2500" err="1"/>
              <a:t>навчання</a:t>
            </a:r>
            <a:r>
              <a:rPr lang="uk-UA" sz="2500"/>
              <a:t>, </a:t>
            </a:r>
            <a:r>
              <a:rPr lang="uk-UA" sz="2500" err="1"/>
              <a:t>ансамблеві</a:t>
            </a:r>
            <a:r>
              <a:rPr lang="uk-UA" sz="2500"/>
              <a:t> </a:t>
            </a:r>
            <a:r>
              <a:rPr lang="uk-UA" sz="2500" err="1"/>
              <a:t>методи</a:t>
            </a:r>
            <a:endParaRPr lang="uk-UA" sz="2500"/>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5"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Місце для номера слайда 3">
            <a:extLst>
              <a:ext uri="{FF2B5EF4-FFF2-40B4-BE49-F238E27FC236}">
                <a16:creationId xmlns:a16="http://schemas.microsoft.com/office/drawing/2014/main" id="{E3B57CEE-53D9-B0BF-C499-90665A863927}"/>
              </a:ext>
            </a:extLst>
          </p:cNvPr>
          <p:cNvSpPr>
            <a:spLocks noGrp="1"/>
          </p:cNvSpPr>
          <p:nvPr>
            <p:ph type="sldNum" sz="quarter" idx="12"/>
          </p:nvPr>
        </p:nvSpPr>
        <p:spPr/>
        <p:txBody>
          <a:bodyPr/>
          <a:lstStyle/>
          <a:p>
            <a:fld id="{C1FF6DA9-008F-8B48-92A6-B652298478BF}" type="slidenum">
              <a:rPr lang="en-US" sz="3200" smtClean="0"/>
              <a:t>8</a:t>
            </a:fld>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4805"/>
            <a:ext cx="10515600" cy="1505883"/>
          </a:xfrm>
        </p:spPr>
        <p:txBody>
          <a:bodyPr anchor="ctr">
            <a:normAutofit/>
          </a:bodyPr>
          <a:lstStyle/>
          <a:p>
            <a:pPr>
              <a:lnSpc>
                <a:spcPct val="90000"/>
              </a:lnSpc>
            </a:pPr>
            <a:r>
              <a:rPr lang="uk-UA" sz="4800" dirty="0"/>
              <a:t>Класифікація параметрів динамічних об'єктів</a:t>
            </a: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93341302"/>
                  </p:ext>
                </p:extLst>
              </p:nvPr>
            </p:nvGraphicFramePr>
            <p:xfrm>
              <a:off x="838200" y="1850038"/>
              <a:ext cx="10512548" cy="4441082"/>
            </p:xfrm>
            <a:graphic>
              <a:graphicData uri="http://schemas.openxmlformats.org/drawingml/2006/table">
                <a:tbl>
                  <a:tblPr firstRow="1" bandRow="1">
                    <a:tableStyleId>{5C22544A-7EE6-4342-B048-85BDC9FD1C3A}</a:tableStyleId>
                  </a:tblPr>
                  <a:tblGrid>
                    <a:gridCol w="2859154">
                      <a:extLst>
                        <a:ext uri="{9D8B030D-6E8A-4147-A177-3AD203B41FA5}">
                          <a16:colId xmlns:a16="http://schemas.microsoft.com/office/drawing/2014/main" val="20000"/>
                        </a:ext>
                      </a:extLst>
                    </a:gridCol>
                    <a:gridCol w="7653394">
                      <a:extLst>
                        <a:ext uri="{9D8B030D-6E8A-4147-A177-3AD203B41FA5}">
                          <a16:colId xmlns:a16="http://schemas.microsoft.com/office/drawing/2014/main" val="20001"/>
                        </a:ext>
                      </a:extLst>
                    </a:gridCol>
                  </a:tblGrid>
                  <a:tr h="734615">
                    <a:tc>
                      <a:txBody>
                        <a:bodyPr/>
                        <a:lstStyle/>
                        <a:p>
                          <a:pPr>
                            <a:defRPr b="1"/>
                          </a:pPr>
                          <a:r>
                            <a:rPr lang="uk-UA" sz="3300"/>
                            <a:t>Категорія</a:t>
                          </a:r>
                        </a:p>
                      </a:txBody>
                      <a:tcPr marL="166958" marR="166958" marT="83479" marB="83479"/>
                    </a:tc>
                    <a:tc>
                      <a:txBody>
                        <a:bodyPr/>
                        <a:lstStyle/>
                        <a:p>
                          <a:pPr>
                            <a:defRPr b="1"/>
                          </a:pPr>
                          <a:r>
                            <a:rPr lang="uk-UA" sz="3300"/>
                            <a:t>Параметри</a:t>
                          </a:r>
                        </a:p>
                      </a:txBody>
                      <a:tcPr marL="166958" marR="166958" marT="83479" marB="83479"/>
                    </a:tc>
                    <a:extLst>
                      <a:ext uri="{0D108BD9-81ED-4DB2-BD59-A6C34878D82A}">
                        <a16:rowId xmlns:a16="http://schemas.microsoft.com/office/drawing/2014/main" val="10000"/>
                      </a:ext>
                    </a:extLst>
                  </a:tr>
                  <a:tr h="1235489">
                    <a:tc>
                      <a:txBody>
                        <a:bodyPr/>
                        <a:lstStyle/>
                        <a:p>
                          <a:r>
                            <a:rPr lang="uk-UA" sz="3300"/>
                            <a:t>Просторові</a:t>
                          </a:r>
                        </a:p>
                      </a:txBody>
                      <a:tcPr marL="166958" marR="166958" marT="83479" marB="83479"/>
                    </a:tc>
                    <a:tc>
                      <a:txBody>
                        <a:bodyPr/>
                        <a:lstStyle/>
                        <a:p>
                          <a:r>
                            <a:rPr lang="uk-UA" sz="3300" dirty="0"/>
                            <a:t>Координати </a:t>
                          </a:r>
                          <a14:m>
                            <m:oMath xmlns:m="http://schemas.openxmlformats.org/officeDocument/2006/math">
                              <m:r>
                                <a:rPr lang="uk-UA" sz="3300" i="1" dirty="0" smtClean="0">
                                  <a:latin typeface="Cambria Math" panose="02040503050406030204" pitchFamily="18" charset="0"/>
                                </a:rPr>
                                <m:t>(</m:t>
                              </m:r>
                              <m:r>
                                <a:rPr lang="en-US" sz="3300" i="1" dirty="0" err="1" smtClean="0">
                                  <a:latin typeface="Cambria Math" panose="02040503050406030204" pitchFamily="18" charset="0"/>
                                </a:rPr>
                                <m:t>𝑥</m:t>
                              </m:r>
                              <m:r>
                                <a:rPr lang="en-US" sz="3300" i="1" dirty="0" err="1" smtClean="0">
                                  <a:latin typeface="Cambria Math" panose="02040503050406030204" pitchFamily="18" charset="0"/>
                                </a:rPr>
                                <m:t>,</m:t>
                              </m:r>
                              <m:r>
                                <a:rPr lang="en-US" sz="3300" i="1" dirty="0" err="1" smtClean="0">
                                  <a:latin typeface="Cambria Math" panose="02040503050406030204" pitchFamily="18" charset="0"/>
                                </a:rPr>
                                <m:t>𝑦</m:t>
                              </m:r>
                              <m:r>
                                <a:rPr lang="en-US" sz="3300" i="1" dirty="0" err="1" smtClean="0">
                                  <a:latin typeface="Cambria Math" panose="02040503050406030204" pitchFamily="18" charset="0"/>
                                </a:rPr>
                                <m:t>,</m:t>
                              </m:r>
                              <m:r>
                                <a:rPr lang="en-US" sz="3300" i="1" dirty="0" err="1" smtClean="0">
                                  <a:latin typeface="Cambria Math" panose="02040503050406030204" pitchFamily="18" charset="0"/>
                                </a:rPr>
                                <m:t>𝑧</m:t>
                              </m:r>
                              <m:r>
                                <a:rPr lang="en-US" sz="3300" i="1" dirty="0" smtClean="0">
                                  <a:latin typeface="Cambria Math" panose="02040503050406030204" pitchFamily="18" charset="0"/>
                                </a:rPr>
                                <m:t>)</m:t>
                              </m:r>
                            </m:oMath>
                          </a14:m>
                          <a:r>
                            <a:rPr lang="en-US" sz="3300" dirty="0"/>
                            <a:t>, </a:t>
                          </a:r>
                          <a:r>
                            <a:rPr lang="uk-UA" sz="3300" dirty="0"/>
                            <a:t>глибина, розміри </a:t>
                          </a:r>
                          <a14:m>
                            <m:oMath xmlns:m="http://schemas.openxmlformats.org/officeDocument/2006/math">
                              <m:r>
                                <a:rPr lang="uk-UA" sz="3300" i="1" dirty="0" smtClean="0">
                                  <a:latin typeface="Cambria Math" panose="02040503050406030204" pitchFamily="18" charset="0"/>
                                </a:rPr>
                                <m:t>(</m:t>
                              </m:r>
                              <m:r>
                                <a:rPr lang="en-US" sz="3300" i="1" dirty="0" err="1" smtClean="0">
                                  <a:latin typeface="Cambria Math" panose="02040503050406030204" pitchFamily="18" charset="0"/>
                                </a:rPr>
                                <m:t>𝑤</m:t>
                              </m:r>
                              <m:r>
                                <a:rPr lang="en-US" sz="3300" i="1" dirty="0" err="1" smtClean="0">
                                  <a:latin typeface="Cambria Math" panose="02040503050406030204" pitchFamily="18" charset="0"/>
                                </a:rPr>
                                <m:t>,</m:t>
                              </m:r>
                              <m:r>
                                <a:rPr lang="en-US" sz="3300" i="1" dirty="0" err="1" smtClean="0">
                                  <a:latin typeface="Cambria Math" panose="02040503050406030204" pitchFamily="18" charset="0"/>
                                </a:rPr>
                                <m:t>h</m:t>
                              </m:r>
                              <m:r>
                                <a:rPr lang="en-US" sz="3300" i="1" dirty="0" smtClean="0">
                                  <a:latin typeface="Cambria Math" panose="02040503050406030204" pitchFamily="18" charset="0"/>
                                </a:rPr>
                                <m:t>)</m:t>
                              </m:r>
                            </m:oMath>
                          </a14:m>
                          <a:r>
                            <a:rPr lang="en-US" sz="3300" dirty="0"/>
                            <a:t>, </a:t>
                          </a:r>
                          <a:r>
                            <a:rPr lang="uk-UA" sz="3300" dirty="0"/>
                            <a:t>орієнтація</a:t>
                          </a:r>
                        </a:p>
                      </a:txBody>
                      <a:tcPr marL="166958" marR="166958" marT="83479" marB="83479"/>
                    </a:tc>
                    <a:extLst>
                      <a:ext uri="{0D108BD9-81ED-4DB2-BD59-A6C34878D82A}">
                        <a16:rowId xmlns:a16="http://schemas.microsoft.com/office/drawing/2014/main" val="10001"/>
                      </a:ext>
                    </a:extLst>
                  </a:tr>
                  <a:tr h="1235489">
                    <a:tc>
                      <a:txBody>
                        <a:bodyPr/>
                        <a:lstStyle/>
                        <a:p>
                          <a:r>
                            <a:rPr lang="uk-UA" sz="3300"/>
                            <a:t>Кінематичні</a:t>
                          </a:r>
                        </a:p>
                      </a:txBody>
                      <a:tcPr marL="166958" marR="166958" marT="83479" marB="83479"/>
                    </a:tc>
                    <a:tc>
                      <a:txBody>
                        <a:bodyPr/>
                        <a:lstStyle/>
                        <a:p>
                          <a:r>
                            <a:rPr lang="ru-RU" sz="3300" dirty="0" err="1"/>
                            <a:t>Швидкість</a:t>
                          </a:r>
                          <a:r>
                            <a:rPr lang="ru-RU" sz="3300" dirty="0"/>
                            <a:t> (</a:t>
                          </a:r>
                          <a14:m>
                            <m:oMath xmlns:m="http://schemas.openxmlformats.org/officeDocument/2006/math">
                              <m:r>
                                <a:rPr lang="ru-RU" sz="3300" i="1" dirty="0" smtClean="0">
                                  <a:latin typeface="Cambria Math" panose="02040503050406030204" pitchFamily="18" charset="0"/>
                                </a:rPr>
                                <m:t>𝑣</m:t>
                              </m:r>
                            </m:oMath>
                          </a14:m>
                          <a:r>
                            <a:rPr lang="ru-RU" sz="3300" dirty="0"/>
                            <a:t>), </a:t>
                          </a:r>
                          <a:r>
                            <a:rPr lang="ru-RU" sz="3300" dirty="0" err="1"/>
                            <a:t>прискорення</a:t>
                          </a:r>
                          <a:r>
                            <a:rPr lang="ru-RU" sz="3300" dirty="0"/>
                            <a:t> (</a:t>
                          </a:r>
                          <a14:m>
                            <m:oMath xmlns:m="http://schemas.openxmlformats.org/officeDocument/2006/math">
                              <m:r>
                                <a:rPr lang="ru-RU" sz="3300" i="1" dirty="0" smtClean="0">
                                  <a:latin typeface="Cambria Math" panose="02040503050406030204" pitchFamily="18" charset="0"/>
                                </a:rPr>
                                <m:t>𝑎</m:t>
                              </m:r>
                            </m:oMath>
                          </a14:m>
                          <a:r>
                            <a:rPr lang="ru-RU" sz="3300" dirty="0"/>
                            <a:t>), </a:t>
                          </a:r>
                          <a:r>
                            <a:rPr lang="ru-RU" sz="3300" dirty="0" err="1"/>
                            <a:t>напрям</a:t>
                          </a:r>
                          <a:r>
                            <a:rPr lang="ru-RU" sz="3300" dirty="0"/>
                            <a:t> руху (</a:t>
                          </a:r>
                          <a14:m>
                            <m:oMath xmlns:m="http://schemas.openxmlformats.org/officeDocument/2006/math">
                              <m:r>
                                <a:rPr lang="ru-RU" sz="3300" i="1" dirty="0" smtClean="0">
                                  <a:latin typeface="Cambria Math" panose="02040503050406030204" pitchFamily="18" charset="0"/>
                                </a:rPr>
                                <m:t>𝜃</m:t>
                              </m:r>
                            </m:oMath>
                          </a14:m>
                          <a:r>
                            <a:rPr lang="ru-RU" sz="3300" dirty="0"/>
                            <a:t>), </a:t>
                          </a:r>
                          <a:r>
                            <a:rPr lang="ru-RU" sz="3300" dirty="0" err="1"/>
                            <a:t>траєкторія</a:t>
                          </a:r>
                          <a:r>
                            <a:rPr lang="ru-RU" sz="3300" dirty="0"/>
                            <a:t> (</a:t>
                          </a:r>
                          <a14:m>
                            <m:oMath xmlns:m="http://schemas.openxmlformats.org/officeDocument/2006/math">
                              <m:r>
                                <a:rPr lang="ru-RU" sz="3300" i="1" dirty="0" smtClean="0">
                                  <a:latin typeface="Cambria Math" panose="02040503050406030204" pitchFamily="18" charset="0"/>
                                </a:rPr>
                                <m:t>𝑇</m:t>
                              </m:r>
                            </m:oMath>
                          </a14:m>
                          <a:r>
                            <a:rPr lang="ru-RU" sz="3300" dirty="0"/>
                            <a:t>)</a:t>
                          </a:r>
                        </a:p>
                      </a:txBody>
                      <a:tcPr marL="166958" marR="166958" marT="83479" marB="83479"/>
                    </a:tc>
                    <a:extLst>
                      <a:ext uri="{0D108BD9-81ED-4DB2-BD59-A6C34878D82A}">
                        <a16:rowId xmlns:a16="http://schemas.microsoft.com/office/drawing/2014/main" val="10002"/>
                      </a:ext>
                    </a:extLst>
                  </a:tr>
                  <a:tr h="1235489">
                    <a:tc>
                      <a:txBody>
                        <a:bodyPr/>
                        <a:lstStyle/>
                        <a:p>
                          <a:r>
                            <a:rPr lang="uk-UA" sz="3300"/>
                            <a:t>Структурні</a:t>
                          </a:r>
                        </a:p>
                      </a:txBody>
                      <a:tcPr marL="166958" marR="166958" marT="83479" marB="83479"/>
                    </a:tc>
                    <a:tc>
                      <a:txBody>
                        <a:bodyPr/>
                        <a:lstStyle/>
                        <a:p>
                          <a:r>
                            <a:rPr lang="ru-RU" sz="3300" dirty="0"/>
                            <a:t>Контур, </a:t>
                          </a:r>
                          <a:r>
                            <a:rPr lang="ru-RU" sz="3300" dirty="0" err="1"/>
                            <a:t>площа</a:t>
                          </a:r>
                          <a:r>
                            <a:rPr lang="ru-RU" sz="3300" dirty="0"/>
                            <a:t> (</a:t>
                          </a:r>
                          <a14:m>
                            <m:oMath xmlns:m="http://schemas.openxmlformats.org/officeDocument/2006/math">
                              <m:r>
                                <a:rPr lang="ru-RU" sz="3300" i="1" dirty="0" smtClean="0">
                                  <a:latin typeface="Cambria Math" panose="02040503050406030204" pitchFamily="18" charset="0"/>
                                </a:rPr>
                                <m:t>𝑆</m:t>
                              </m:r>
                            </m:oMath>
                          </a14:m>
                          <a:r>
                            <a:rPr lang="ru-RU" sz="3300" dirty="0"/>
                            <a:t>), </a:t>
                          </a:r>
                          <a:r>
                            <a:rPr lang="ru-RU" sz="3300" dirty="0" err="1"/>
                            <a:t>клас</a:t>
                          </a:r>
                          <a:r>
                            <a:rPr lang="ru-RU" sz="3300" dirty="0"/>
                            <a:t> </a:t>
                          </a:r>
                          <a:r>
                            <a:rPr lang="ru-RU" sz="3300" dirty="0" err="1"/>
                            <a:t>об'єкта</a:t>
                          </a:r>
                          <a:r>
                            <a:rPr lang="ru-RU" sz="3300" dirty="0"/>
                            <a:t>, </a:t>
                          </a:r>
                          <a:r>
                            <a:rPr lang="ru-RU" sz="3300" dirty="0" err="1"/>
                            <a:t>ознаки</a:t>
                          </a:r>
                          <a:r>
                            <a:rPr lang="ru-RU" sz="3300" dirty="0"/>
                            <a:t> </a:t>
                          </a:r>
                          <a:r>
                            <a:rPr lang="ru-RU" sz="3300" dirty="0" err="1"/>
                            <a:t>форми</a:t>
                          </a:r>
                          <a:endParaRPr lang="ru-RU" sz="3300" dirty="0"/>
                        </a:p>
                      </a:txBody>
                      <a:tcPr marL="166958" marR="166958" marT="83479" marB="83479"/>
                    </a:tc>
                    <a:extLst>
                      <a:ext uri="{0D108BD9-81ED-4DB2-BD59-A6C34878D82A}">
                        <a16:rowId xmlns:a16="http://schemas.microsoft.com/office/drawing/2014/main" val="10003"/>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93341302"/>
                  </p:ext>
                </p:extLst>
              </p:nvPr>
            </p:nvGraphicFramePr>
            <p:xfrm>
              <a:off x="838200" y="1850038"/>
              <a:ext cx="10512548" cy="4441082"/>
            </p:xfrm>
            <a:graphic>
              <a:graphicData uri="http://schemas.openxmlformats.org/drawingml/2006/table">
                <a:tbl>
                  <a:tblPr firstRow="1" bandRow="1">
                    <a:tableStyleId>{5C22544A-7EE6-4342-B048-85BDC9FD1C3A}</a:tableStyleId>
                  </a:tblPr>
                  <a:tblGrid>
                    <a:gridCol w="2859154">
                      <a:extLst>
                        <a:ext uri="{9D8B030D-6E8A-4147-A177-3AD203B41FA5}">
                          <a16:colId xmlns:a16="http://schemas.microsoft.com/office/drawing/2014/main" val="20000"/>
                        </a:ext>
                      </a:extLst>
                    </a:gridCol>
                    <a:gridCol w="7653394">
                      <a:extLst>
                        <a:ext uri="{9D8B030D-6E8A-4147-A177-3AD203B41FA5}">
                          <a16:colId xmlns:a16="http://schemas.microsoft.com/office/drawing/2014/main" val="20001"/>
                        </a:ext>
                      </a:extLst>
                    </a:gridCol>
                  </a:tblGrid>
                  <a:tr h="734615">
                    <a:tc>
                      <a:txBody>
                        <a:bodyPr/>
                        <a:lstStyle/>
                        <a:p>
                          <a:pPr>
                            <a:defRPr b="1"/>
                          </a:pPr>
                          <a:r>
                            <a:rPr lang="uk-UA" sz="3300"/>
                            <a:t>Категорія</a:t>
                          </a:r>
                        </a:p>
                      </a:txBody>
                      <a:tcPr marL="166958" marR="166958" marT="83479" marB="83479"/>
                    </a:tc>
                    <a:tc>
                      <a:txBody>
                        <a:bodyPr/>
                        <a:lstStyle/>
                        <a:p>
                          <a:pPr>
                            <a:defRPr b="1"/>
                          </a:pPr>
                          <a:r>
                            <a:rPr lang="uk-UA" sz="3300"/>
                            <a:t>Параметри</a:t>
                          </a:r>
                        </a:p>
                      </a:txBody>
                      <a:tcPr marL="166958" marR="166958" marT="83479" marB="83479"/>
                    </a:tc>
                    <a:extLst>
                      <a:ext uri="{0D108BD9-81ED-4DB2-BD59-A6C34878D82A}">
                        <a16:rowId xmlns:a16="http://schemas.microsoft.com/office/drawing/2014/main" val="10000"/>
                      </a:ext>
                    </a:extLst>
                  </a:tr>
                  <a:tr h="1235489">
                    <a:tc>
                      <a:txBody>
                        <a:bodyPr/>
                        <a:lstStyle/>
                        <a:p>
                          <a:r>
                            <a:rPr lang="uk-UA" sz="3300"/>
                            <a:t>Просторові</a:t>
                          </a:r>
                        </a:p>
                      </a:txBody>
                      <a:tcPr marL="166958" marR="166958" marT="83479" marB="83479"/>
                    </a:tc>
                    <a:tc>
                      <a:txBody>
                        <a:bodyPr/>
                        <a:lstStyle/>
                        <a:p>
                          <a:endParaRPr lang="en-US"/>
                        </a:p>
                      </a:txBody>
                      <a:tcPr marL="166958" marR="166958" marT="83479" marB="83479">
                        <a:blipFill>
                          <a:blip r:embed="rId3"/>
                          <a:stretch>
                            <a:fillRect l="-37420" t="-63054" r="-398" b="-208867"/>
                          </a:stretch>
                        </a:blipFill>
                      </a:tcPr>
                    </a:tc>
                    <a:extLst>
                      <a:ext uri="{0D108BD9-81ED-4DB2-BD59-A6C34878D82A}">
                        <a16:rowId xmlns:a16="http://schemas.microsoft.com/office/drawing/2014/main" val="10001"/>
                      </a:ext>
                    </a:extLst>
                  </a:tr>
                  <a:tr h="1235489">
                    <a:tc>
                      <a:txBody>
                        <a:bodyPr/>
                        <a:lstStyle/>
                        <a:p>
                          <a:r>
                            <a:rPr lang="uk-UA" sz="3300"/>
                            <a:t>Кінематичні</a:t>
                          </a:r>
                        </a:p>
                      </a:txBody>
                      <a:tcPr marL="166958" marR="166958" marT="83479" marB="83479"/>
                    </a:tc>
                    <a:tc>
                      <a:txBody>
                        <a:bodyPr/>
                        <a:lstStyle/>
                        <a:p>
                          <a:endParaRPr lang="en-US"/>
                        </a:p>
                      </a:txBody>
                      <a:tcPr marL="166958" marR="166958" marT="83479" marB="83479">
                        <a:blipFill>
                          <a:blip r:embed="rId3"/>
                          <a:stretch>
                            <a:fillRect l="-37420" t="-163054" r="-398" b="-108867"/>
                          </a:stretch>
                        </a:blipFill>
                      </a:tcPr>
                    </a:tc>
                    <a:extLst>
                      <a:ext uri="{0D108BD9-81ED-4DB2-BD59-A6C34878D82A}">
                        <a16:rowId xmlns:a16="http://schemas.microsoft.com/office/drawing/2014/main" val="10002"/>
                      </a:ext>
                    </a:extLst>
                  </a:tr>
                  <a:tr h="1235489">
                    <a:tc>
                      <a:txBody>
                        <a:bodyPr/>
                        <a:lstStyle/>
                        <a:p>
                          <a:r>
                            <a:rPr lang="uk-UA" sz="3300"/>
                            <a:t>Структурні</a:t>
                          </a:r>
                        </a:p>
                      </a:txBody>
                      <a:tcPr marL="166958" marR="166958" marT="83479" marB="83479"/>
                    </a:tc>
                    <a:tc>
                      <a:txBody>
                        <a:bodyPr/>
                        <a:lstStyle/>
                        <a:p>
                          <a:endParaRPr lang="en-US"/>
                        </a:p>
                      </a:txBody>
                      <a:tcPr marL="166958" marR="166958" marT="83479" marB="83479">
                        <a:blipFill>
                          <a:blip r:embed="rId3"/>
                          <a:stretch>
                            <a:fillRect l="-37420" t="-263054" r="-398" b="-8867"/>
                          </a:stretch>
                        </a:blipFill>
                      </a:tcPr>
                    </a:tc>
                    <a:extLst>
                      <a:ext uri="{0D108BD9-81ED-4DB2-BD59-A6C34878D82A}">
                        <a16:rowId xmlns:a16="http://schemas.microsoft.com/office/drawing/2014/main" val="10003"/>
                      </a:ext>
                    </a:extLst>
                  </a:tr>
                </a:tbl>
              </a:graphicData>
            </a:graphic>
          </p:graphicFrame>
        </mc:Fallback>
      </mc:AlternateContent>
      <p:sp>
        <p:nvSpPr>
          <p:cNvPr id="4" name="Місце для номера слайда 3">
            <a:extLst>
              <a:ext uri="{FF2B5EF4-FFF2-40B4-BE49-F238E27FC236}">
                <a16:creationId xmlns:a16="http://schemas.microsoft.com/office/drawing/2014/main" id="{0EF7CED6-350F-C932-3929-B4D78FDFDB07}"/>
              </a:ext>
            </a:extLst>
          </p:cNvPr>
          <p:cNvSpPr>
            <a:spLocks noGrp="1"/>
          </p:cNvSpPr>
          <p:nvPr>
            <p:ph type="sldNum" sz="quarter" idx="12"/>
          </p:nvPr>
        </p:nvSpPr>
        <p:spPr/>
        <p:txBody>
          <a:bodyPr/>
          <a:lstStyle/>
          <a:p>
            <a:fld id="{C1FF6DA9-008F-8B48-92A6-B652298478BF}" type="slidenum">
              <a:rPr lang="en-US" sz="3200" smtClean="0"/>
              <a:t>9</a:t>
            </a:fld>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1442" y="685800"/>
            <a:ext cx="4353116" cy="1474666"/>
          </a:xfrm>
        </p:spPr>
        <p:txBody>
          <a:bodyPr anchor="b">
            <a:normAutofit/>
          </a:bodyPr>
          <a:lstStyle/>
          <a:p>
            <a:pPr>
              <a:lnSpc>
                <a:spcPct val="90000"/>
              </a:lnSpc>
            </a:pPr>
            <a:r>
              <a:rPr lang="ru-RU" sz="3200">
                <a:solidFill>
                  <a:srgbClr val="595959"/>
                </a:solidFill>
              </a:rPr>
              <a:t>Еволюція класичних методів виявлення об'єктів</a:t>
            </a:r>
          </a:p>
        </p:txBody>
      </p:sp>
      <p:sp>
        <p:nvSpPr>
          <p:cNvPr id="3" name="Content Placeholder 2"/>
          <p:cNvSpPr>
            <a:spLocks noGrp="1"/>
          </p:cNvSpPr>
          <p:nvPr>
            <p:ph idx="1"/>
          </p:nvPr>
        </p:nvSpPr>
        <p:spPr>
          <a:xfrm>
            <a:off x="871442" y="2447337"/>
            <a:ext cx="4353116" cy="3770434"/>
          </a:xfrm>
        </p:spPr>
        <p:txBody>
          <a:bodyPr anchor="t">
            <a:normAutofit/>
          </a:bodyPr>
          <a:lstStyle/>
          <a:p>
            <a:r>
              <a:rPr lang="en-US" sz="2000" dirty="0">
                <a:solidFill>
                  <a:srgbClr val="595959"/>
                </a:solidFill>
              </a:rPr>
              <a:t>Viola-Jones → HOG → DPM → Aggregated Channel Features</a:t>
            </a:r>
          </a:p>
          <a:p>
            <a:r>
              <a:rPr lang="uk-UA" sz="2000" dirty="0">
                <a:solidFill>
                  <a:srgbClr val="595959"/>
                </a:solidFill>
              </a:rPr>
              <a:t>В овалах: інтегральне представлення, гістограми градієнтів, деформовані частини</a:t>
            </a:r>
          </a:p>
        </p:txBody>
      </p:sp>
      <p:pic>
        <p:nvPicPr>
          <p:cNvPr id="15" name="Рисунок 14">
            <a:extLst>
              <a:ext uri="{FF2B5EF4-FFF2-40B4-BE49-F238E27FC236}">
                <a16:creationId xmlns:a16="http://schemas.microsoft.com/office/drawing/2014/main" id="{88F91EAA-CE1A-E19F-E6C2-499579797E8A}"/>
              </a:ext>
            </a:extLst>
          </p:cNvPr>
          <p:cNvPicPr>
            <a:picLocks noChangeAspect="1"/>
          </p:cNvPicPr>
          <p:nvPr/>
        </p:nvPicPr>
        <p:blipFill>
          <a:blip r:embed="rId3"/>
          <a:stretch>
            <a:fillRect/>
          </a:stretch>
        </p:blipFill>
        <p:spPr>
          <a:xfrm>
            <a:off x="7205472" y="-188506"/>
            <a:ext cx="3828288" cy="7056757"/>
          </a:xfrm>
          <a:prstGeom prst="rect">
            <a:avLst/>
          </a:prstGeom>
        </p:spPr>
      </p:pic>
      <p:sp>
        <p:nvSpPr>
          <p:cNvPr id="4" name="Місце для номера слайда 3">
            <a:extLst>
              <a:ext uri="{FF2B5EF4-FFF2-40B4-BE49-F238E27FC236}">
                <a16:creationId xmlns:a16="http://schemas.microsoft.com/office/drawing/2014/main" id="{3C169386-49E8-D55A-061D-94FB23EB2146}"/>
              </a:ext>
            </a:extLst>
          </p:cNvPr>
          <p:cNvSpPr>
            <a:spLocks noGrp="1"/>
          </p:cNvSpPr>
          <p:nvPr>
            <p:ph type="sldNum" sz="quarter" idx="12"/>
          </p:nvPr>
        </p:nvSpPr>
        <p:spPr/>
        <p:txBody>
          <a:bodyPr/>
          <a:lstStyle/>
          <a:p>
            <a:fld id="{C1FF6DA9-008F-8B48-92A6-B652298478BF}" type="slidenum">
              <a:rPr lang="en-US" sz="3200" smtClean="0"/>
              <a:t>10</a:t>
            </a:fld>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uk-UA"/>
              <a:t>Одноетапні </a:t>
            </a:r>
            <a:r>
              <a:rPr lang="en-US"/>
              <a:t>CNN-</a:t>
            </a:r>
            <a:r>
              <a:rPr lang="uk-UA"/>
              <a:t>детектори</a:t>
            </a:r>
            <a:endParaRPr lang="en-US"/>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Рисунок 5">
            <a:extLst>
              <a:ext uri="{FF2B5EF4-FFF2-40B4-BE49-F238E27FC236}">
                <a16:creationId xmlns:a16="http://schemas.microsoft.com/office/drawing/2014/main" id="{511EAC47-C170-9C1D-2C39-EC7938E37E3F}"/>
              </a:ext>
            </a:extLst>
          </p:cNvPr>
          <p:cNvPicPr>
            <a:picLocks noChangeAspect="1"/>
          </p:cNvPicPr>
          <p:nvPr/>
        </p:nvPicPr>
        <p:blipFill>
          <a:blip r:embed="rId3"/>
          <a:stretch>
            <a:fillRect/>
          </a:stretch>
        </p:blipFill>
        <p:spPr>
          <a:xfrm>
            <a:off x="1094724" y="511293"/>
            <a:ext cx="399429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r>
              <a:rPr lang="en-US"/>
              <a:t>YOLO (2015) → SSD (2015) → RetinaNet (2017) → CornerNet (2018) → CenterNet (2019) → DETR (2020) → Deformable DETR (2021)</a:t>
            </a:r>
            <a:endParaRPr lang="en-US" dirty="0"/>
          </a:p>
        </p:txBody>
      </p:sp>
      <p:sp>
        <p:nvSpPr>
          <p:cNvPr id="4" name="Місце для номера слайда 3">
            <a:extLst>
              <a:ext uri="{FF2B5EF4-FFF2-40B4-BE49-F238E27FC236}">
                <a16:creationId xmlns:a16="http://schemas.microsoft.com/office/drawing/2014/main" id="{F3FD0322-2A63-5C2A-87DF-F0CA8EB93180}"/>
              </a:ext>
            </a:extLst>
          </p:cNvPr>
          <p:cNvSpPr>
            <a:spLocks noGrp="1"/>
          </p:cNvSpPr>
          <p:nvPr>
            <p:ph type="sldNum" sz="quarter" idx="12"/>
          </p:nvPr>
        </p:nvSpPr>
        <p:spPr/>
        <p:txBody>
          <a:bodyPr/>
          <a:lstStyle/>
          <a:p>
            <a:fld id="{C1FF6DA9-008F-8B48-92A6-B652298478BF}" type="slidenum">
              <a:rPr lang="en-US" sz="3200" smtClean="0"/>
              <a:t>11</a:t>
            </a:fld>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dirty="0"/>
              <a:t>Двоетапні </a:t>
            </a:r>
            <a:r>
              <a:rPr dirty="0" err="1"/>
              <a:t>архітектури</a:t>
            </a:r>
            <a:r>
              <a:rPr dirty="0"/>
              <a:t> R-CNN</a:t>
            </a:r>
            <a:endParaRPr lang="en-US"/>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Рисунок 5">
            <a:extLst>
              <a:ext uri="{FF2B5EF4-FFF2-40B4-BE49-F238E27FC236}">
                <a16:creationId xmlns:a16="http://schemas.microsoft.com/office/drawing/2014/main" id="{DBED8728-CA98-8B59-A3E0-CFD0D6BC28EC}"/>
              </a:ext>
            </a:extLst>
          </p:cNvPr>
          <p:cNvPicPr>
            <a:picLocks noChangeAspect="1"/>
          </p:cNvPicPr>
          <p:nvPr/>
        </p:nvPicPr>
        <p:blipFill>
          <a:blip r:embed="rId3"/>
          <a:stretch>
            <a:fillRect/>
          </a:stretch>
        </p:blipFill>
        <p:spPr>
          <a:xfrm>
            <a:off x="1378007" y="511293"/>
            <a:ext cx="3427730"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r>
              <a:rPr dirty="0"/>
              <a:t>R-CNN → SPP-Net → Fast R-CNN → Faster R-CNN → Mask R-CNN → Cascade R-CNN</a:t>
            </a:r>
          </a:p>
          <a:p>
            <a:r>
              <a:rPr dirty="0" err="1"/>
              <a:t>Ключові</a:t>
            </a:r>
            <a:r>
              <a:rPr dirty="0"/>
              <a:t> </a:t>
            </a:r>
            <a:r>
              <a:rPr dirty="0" err="1"/>
              <a:t>особливості</a:t>
            </a:r>
            <a:r>
              <a:rPr dirty="0"/>
              <a:t>: ROI pooling, RPN, </a:t>
            </a:r>
            <a:r>
              <a:rPr dirty="0" err="1"/>
              <a:t>багатозадачне</a:t>
            </a:r>
            <a:r>
              <a:rPr dirty="0"/>
              <a:t> </a:t>
            </a:r>
            <a:r>
              <a:rPr dirty="0" err="1"/>
              <a:t>навчання</a:t>
            </a:r>
            <a:r>
              <a:rPr dirty="0"/>
              <a:t>, </a:t>
            </a:r>
            <a:r>
              <a:rPr dirty="0" err="1"/>
              <a:t>сегментація</a:t>
            </a:r>
            <a:endParaRPr dirty="0"/>
          </a:p>
        </p:txBody>
      </p:sp>
      <p:sp>
        <p:nvSpPr>
          <p:cNvPr id="4" name="Місце для номера слайда 3">
            <a:extLst>
              <a:ext uri="{FF2B5EF4-FFF2-40B4-BE49-F238E27FC236}">
                <a16:creationId xmlns:a16="http://schemas.microsoft.com/office/drawing/2014/main" id="{3986E8CE-726D-0767-6BCD-5E6F2ABD47BB}"/>
              </a:ext>
            </a:extLst>
          </p:cNvPr>
          <p:cNvSpPr>
            <a:spLocks noGrp="1"/>
          </p:cNvSpPr>
          <p:nvPr>
            <p:ph type="sldNum" sz="quarter" idx="12"/>
          </p:nvPr>
        </p:nvSpPr>
        <p:spPr/>
        <p:txBody>
          <a:bodyPr/>
          <a:lstStyle/>
          <a:p>
            <a:fld id="{C1FF6DA9-008F-8B48-92A6-B652298478BF}" type="slidenum">
              <a:rPr lang="en-US" sz="3200" smtClean="0"/>
              <a:t>12</a:t>
            </a:fld>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a:normAutofit/>
          </a:bodyPr>
          <a:lstStyle/>
          <a:p>
            <a:r>
              <a:rPr lang="uk-UA" dirty="0">
                <a:solidFill>
                  <a:srgbClr val="FFFFFF"/>
                </a:solidFill>
              </a:rPr>
              <a:t>Моделі динамічних об'єктів</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70153" y="1526033"/>
                <a:ext cx="5536397" cy="3935281"/>
              </a:xfrm>
            </p:spPr>
            <p:txBody>
              <a:bodyPr>
                <a:normAutofit/>
              </a:bodyPr>
              <a:lstStyle/>
              <a:p>
                <a:pPr>
                  <a:lnSpc>
                    <a:spcPct val="90000"/>
                  </a:lnSpc>
                </a:pPr>
                <a:r>
                  <a:rPr lang="uk-UA" sz="2500" err="1"/>
                  <a:t>Концептуальна</a:t>
                </a:r>
                <a:r>
                  <a:rPr lang="uk-UA" sz="2500"/>
                  <a:t> </a:t>
                </a:r>
                <a:r>
                  <a:rPr lang="uk-UA" sz="2500" err="1"/>
                  <a:t>модель</a:t>
                </a:r>
                <a:r>
                  <a:rPr lang="uk-UA" sz="2500"/>
                  <a:t>: </a:t>
                </a:r>
                <a14:m>
                  <m:oMath xmlns:m="http://schemas.openxmlformats.org/officeDocument/2006/math">
                    <m:r>
                      <m:rPr>
                        <m:sty m:val="p"/>
                      </m:rPr>
                      <a:rPr lang="el-GR" sz="2500" i="0" dirty="0" smtClean="0">
                        <a:latin typeface="Cambria Math" panose="02040503050406030204" pitchFamily="18" charset="0"/>
                      </a:rPr>
                      <m:t>Θ</m:t>
                    </m:r>
                    <m:r>
                      <a:rPr lang="el-GR" sz="2500" i="1" dirty="0">
                        <a:latin typeface="Cambria Math" panose="02040503050406030204" pitchFamily="18" charset="0"/>
                      </a:rPr>
                      <m:t>=</m:t>
                    </m:r>
                    <m:r>
                      <a:rPr lang="el-GR" sz="2500" i="1" dirty="0">
                        <a:latin typeface="Cambria Math" panose="02040503050406030204" pitchFamily="18" charset="0"/>
                      </a:rPr>
                      <m:t>ℱ</m:t>
                    </m:r>
                    <m:d>
                      <m:dPr>
                        <m:ctrlPr>
                          <a:rPr lang="ar-AE" sz="2500" i="1" dirty="0">
                            <a:latin typeface="Cambria Math" panose="02040503050406030204" pitchFamily="18" charset="0"/>
                          </a:rPr>
                        </m:ctrlPr>
                      </m:dPr>
                      <m:e>
                        <m:r>
                          <a:rPr lang="ar-AE" sz="2500" i="1" dirty="0">
                            <a:latin typeface="Cambria Math" panose="02040503050406030204" pitchFamily="18" charset="0"/>
                          </a:rPr>
                          <m:t>𝑉</m:t>
                        </m:r>
                        <m:d>
                          <m:dPr>
                            <m:ctrlPr>
                              <a:rPr lang="ar-AE" sz="2500" i="1" dirty="0">
                                <a:latin typeface="Cambria Math" panose="02040503050406030204" pitchFamily="18" charset="0"/>
                              </a:rPr>
                            </m:ctrlPr>
                          </m:dPr>
                          <m:e>
                            <m:r>
                              <a:rPr lang="ar-AE" sz="2500" i="1" dirty="0" err="1">
                                <a:latin typeface="Cambria Math" panose="02040503050406030204" pitchFamily="18" charset="0"/>
                              </a:rPr>
                              <m:t>𝑥</m:t>
                            </m:r>
                            <m:r>
                              <a:rPr lang="ar-AE" sz="2500" i="1" dirty="0" err="1">
                                <a:latin typeface="Cambria Math" panose="02040503050406030204" pitchFamily="18" charset="0"/>
                              </a:rPr>
                              <m:t>,</m:t>
                            </m:r>
                            <m:r>
                              <a:rPr lang="ar-AE" sz="2500" i="1" dirty="0" err="1">
                                <a:latin typeface="Cambria Math" panose="02040503050406030204" pitchFamily="18" charset="0"/>
                              </a:rPr>
                              <m:t>𝑦</m:t>
                            </m:r>
                            <m:r>
                              <a:rPr lang="ar-AE" sz="2500" i="1" dirty="0" err="1">
                                <a:latin typeface="Cambria Math" panose="02040503050406030204" pitchFamily="18" charset="0"/>
                              </a:rPr>
                              <m:t>,</m:t>
                            </m:r>
                            <m:r>
                              <a:rPr lang="ar-AE" sz="2500" i="1" dirty="0" err="1">
                                <a:latin typeface="Cambria Math" panose="02040503050406030204" pitchFamily="18" charset="0"/>
                              </a:rPr>
                              <m:t>𝑡</m:t>
                            </m:r>
                          </m:e>
                        </m:d>
                        <m:r>
                          <a:rPr lang="ar-AE" sz="2500" i="1" dirty="0">
                            <a:latin typeface="Cambria Math" panose="02040503050406030204" pitchFamily="18" charset="0"/>
                          </a:rPr>
                          <m:t>,</m:t>
                        </m:r>
                        <m:r>
                          <a:rPr lang="ar-AE" sz="2500" i="1" dirty="0">
                            <a:latin typeface="Cambria Math" panose="02040503050406030204" pitchFamily="18" charset="0"/>
                          </a:rPr>
                          <m:t>ℳ</m:t>
                        </m:r>
                        <m:r>
                          <a:rPr lang="ar-AE" sz="2500" i="1" dirty="0">
                            <a:latin typeface="Cambria Math" panose="02040503050406030204" pitchFamily="18" charset="0"/>
                          </a:rPr>
                          <m:t>,</m:t>
                        </m:r>
                        <m:r>
                          <a:rPr lang="ar-AE" sz="2500" i="1" dirty="0">
                            <a:latin typeface="Cambria Math" panose="02040503050406030204" pitchFamily="18" charset="0"/>
                          </a:rPr>
                          <m:t>𝒜</m:t>
                        </m:r>
                      </m:e>
                    </m:d>
                  </m:oMath>
                </a14:m>
                <a:endParaRPr lang="ar-AE" sz="2500"/>
              </a:p>
              <a:p>
                <a:pPr>
                  <a:lnSpc>
                    <a:spcPct val="90000"/>
                  </a:lnSpc>
                </a:pPr>
                <a:r>
                  <a:rPr lang="uk-UA" sz="2500" err="1"/>
                  <a:t>Вектор</a:t>
                </a:r>
                <a:r>
                  <a:rPr lang="uk-UA" sz="2500"/>
                  <a:t> </a:t>
                </a:r>
                <a:r>
                  <a:rPr lang="uk-UA" sz="2500" err="1"/>
                  <a:t>стану</a:t>
                </a:r>
                <a:r>
                  <a:rPr lang="uk-UA" sz="2500"/>
                  <a:t>: </a:t>
                </a:r>
                <a14:m>
                  <m:oMath xmlns:m="http://schemas.openxmlformats.org/officeDocument/2006/math">
                    <m:r>
                      <a:rPr lang="uk-UA" sz="2500" i="1" dirty="0" smtClean="0">
                        <a:latin typeface="Cambria Math" panose="02040503050406030204" pitchFamily="18" charset="0"/>
                      </a:rPr>
                      <m:t>𝑆</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𝑡</m:t>
                        </m:r>
                      </m:e>
                    </m:d>
                    <m:r>
                      <a:rPr lang="ar-AE" sz="2500" i="1" dirty="0" smtClean="0">
                        <a:latin typeface="Cambria Math" panose="02040503050406030204" pitchFamily="18" charset="0"/>
                      </a:rPr>
                      <m:t>=</m:t>
                    </m:r>
                    <m:d>
                      <m:dPr>
                        <m:begChr m:val="["/>
                        <m:endChr m:val="]"/>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𝑥</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𝑡</m:t>
                            </m:r>
                          </m:e>
                        </m:d>
                        <m:r>
                          <a:rPr lang="ar-AE" sz="2500" i="1" dirty="0" smtClean="0">
                            <a:latin typeface="Cambria Math" panose="02040503050406030204" pitchFamily="18" charset="0"/>
                          </a:rPr>
                          <m:t>,</m:t>
                        </m:r>
                        <m:r>
                          <a:rPr lang="ar-AE" sz="2500" i="1" dirty="0" smtClean="0">
                            <a:latin typeface="Cambria Math" panose="02040503050406030204" pitchFamily="18" charset="0"/>
                          </a:rPr>
                          <m:t>𝑦</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𝑡</m:t>
                            </m:r>
                          </m:e>
                        </m:d>
                        <m:r>
                          <a:rPr lang="ar-AE" sz="2500" i="1" dirty="0" smtClean="0">
                            <a:latin typeface="Cambria Math" panose="02040503050406030204" pitchFamily="18" charset="0"/>
                          </a:rPr>
                          <m:t>,</m:t>
                        </m:r>
                        <m:sSub>
                          <m:sSubPr>
                            <m:ctrlPr>
                              <a:rPr lang="ar-AE" sz="2500" i="1" dirty="0" err="1" smtClean="0">
                                <a:latin typeface="Cambria Math" panose="02040503050406030204" pitchFamily="18" charset="0"/>
                              </a:rPr>
                            </m:ctrlPr>
                          </m:sSubPr>
                          <m:e>
                            <m:r>
                              <a:rPr lang="ar-AE" sz="2500" i="1" dirty="0" err="1">
                                <a:latin typeface="Cambria Math" panose="02040503050406030204" pitchFamily="18" charset="0"/>
                              </a:rPr>
                              <m:t>𝑣</m:t>
                            </m:r>
                          </m:e>
                          <m:sub>
                            <m:r>
                              <a:rPr lang="ar-AE" sz="2500" i="1" dirty="0" err="1">
                                <a:latin typeface="Cambria Math" panose="02040503050406030204" pitchFamily="18" charset="0"/>
                              </a:rPr>
                              <m:t>𝑥</m:t>
                            </m:r>
                          </m:sub>
                        </m:sSub>
                        <m:d>
                          <m:dPr>
                            <m:ctrlPr>
                              <a:rPr lang="ar-AE" sz="2500" i="1" dirty="0">
                                <a:latin typeface="Cambria Math" panose="02040503050406030204" pitchFamily="18" charset="0"/>
                              </a:rPr>
                            </m:ctrlPr>
                          </m:dPr>
                          <m:e>
                            <m:r>
                              <a:rPr lang="ar-AE" sz="2500" i="1" dirty="0">
                                <a:latin typeface="Cambria Math" panose="02040503050406030204" pitchFamily="18" charset="0"/>
                              </a:rPr>
                              <m:t>𝑡</m:t>
                            </m:r>
                          </m:e>
                        </m:d>
                        <m:r>
                          <a:rPr lang="ar-AE" sz="2500" i="1" dirty="0">
                            <a:latin typeface="Cambria Math" panose="02040503050406030204" pitchFamily="18" charset="0"/>
                          </a:rPr>
                          <m:t>,</m:t>
                        </m:r>
                        <m:sSub>
                          <m:sSubPr>
                            <m:ctrlPr>
                              <a:rPr lang="ar-AE" sz="2500" i="1" dirty="0" err="1">
                                <a:latin typeface="Cambria Math" panose="02040503050406030204" pitchFamily="18" charset="0"/>
                              </a:rPr>
                            </m:ctrlPr>
                          </m:sSubPr>
                          <m:e>
                            <m:r>
                              <a:rPr lang="ar-AE" sz="2500" i="1" dirty="0" err="1">
                                <a:latin typeface="Cambria Math" panose="02040503050406030204" pitchFamily="18" charset="0"/>
                              </a:rPr>
                              <m:t>𝑣</m:t>
                            </m:r>
                          </m:e>
                          <m:sub>
                            <m:r>
                              <a:rPr lang="ar-AE" sz="2500" i="1" dirty="0" err="1">
                                <a:latin typeface="Cambria Math" panose="02040503050406030204" pitchFamily="18" charset="0"/>
                              </a:rPr>
                              <m:t>𝑦</m:t>
                            </m:r>
                          </m:sub>
                        </m:sSub>
                        <m:d>
                          <m:dPr>
                            <m:ctrlPr>
                              <a:rPr lang="ar-AE" sz="2500" i="1" dirty="0">
                                <a:latin typeface="Cambria Math" panose="02040503050406030204" pitchFamily="18" charset="0"/>
                              </a:rPr>
                            </m:ctrlPr>
                          </m:dPr>
                          <m:e>
                            <m:r>
                              <a:rPr lang="ar-AE" sz="2500" i="1" dirty="0">
                                <a:latin typeface="Cambria Math" panose="02040503050406030204" pitchFamily="18" charset="0"/>
                              </a:rPr>
                              <m:t>𝑡</m:t>
                            </m:r>
                          </m:e>
                        </m:d>
                        <m:r>
                          <a:rPr lang="ar-AE" sz="2500" i="1" dirty="0">
                            <a:latin typeface="Cambria Math" panose="02040503050406030204" pitchFamily="18" charset="0"/>
                          </a:rPr>
                          <m:t>,</m:t>
                        </m:r>
                        <m:r>
                          <a:rPr lang="ar-AE" sz="2500" i="1" dirty="0">
                            <a:latin typeface="Cambria Math" panose="02040503050406030204" pitchFamily="18" charset="0"/>
                          </a:rPr>
                          <m:t>𝜃</m:t>
                        </m:r>
                        <m:d>
                          <m:dPr>
                            <m:ctrlPr>
                              <a:rPr lang="ar-AE" sz="2500" i="1" dirty="0">
                                <a:latin typeface="Cambria Math" panose="02040503050406030204" pitchFamily="18" charset="0"/>
                              </a:rPr>
                            </m:ctrlPr>
                          </m:dPr>
                          <m:e>
                            <m:r>
                              <a:rPr lang="ar-AE" sz="2500" i="1" dirty="0">
                                <a:latin typeface="Cambria Math" panose="02040503050406030204" pitchFamily="18" charset="0"/>
                              </a:rPr>
                              <m:t>𝑡</m:t>
                            </m:r>
                          </m:e>
                        </m:d>
                      </m:e>
                    </m:d>
                    <m:r>
                      <a:rPr lang="en-US" sz="2500" i="1" dirty="0">
                        <a:latin typeface="Cambria Math" panose="02040503050406030204" pitchFamily="18" charset="0"/>
                      </a:rPr>
                      <m:t>ᵀ</m:t>
                    </m:r>
                  </m:oMath>
                </a14:m>
                <a:endParaRPr lang="en-US" sz="2500"/>
              </a:p>
              <a:p>
                <a:pPr>
                  <a:lnSpc>
                    <a:spcPct val="90000"/>
                  </a:lnSpc>
                </a:pPr>
                <a:r>
                  <a:rPr lang="uk-UA" sz="2500"/>
                  <a:t>Динамічна </a:t>
                </a:r>
                <a:r>
                  <a:rPr lang="uk-UA" sz="2500" err="1"/>
                  <a:t>модель</a:t>
                </a:r>
                <a:r>
                  <a:rPr lang="uk-UA" sz="2500"/>
                  <a:t>: </a:t>
                </a:r>
                <a14:m>
                  <m:oMath xmlns:m="http://schemas.openxmlformats.org/officeDocument/2006/math">
                    <m:r>
                      <a:rPr lang="en-US" sz="2500" i="1" dirty="0" smtClean="0">
                        <a:latin typeface="Cambria Math" panose="02040503050406030204" pitchFamily="18" charset="0"/>
                      </a:rPr>
                      <m:t>ṡ</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𝑡</m:t>
                        </m:r>
                      </m:e>
                    </m:d>
                    <m:r>
                      <a:rPr lang="ar-AE" sz="2500" i="1" dirty="0" smtClean="0">
                        <a:latin typeface="Cambria Math" panose="02040503050406030204" pitchFamily="18" charset="0"/>
                      </a:rPr>
                      <m:t>=</m:t>
                    </m:r>
                    <m:r>
                      <a:rPr lang="ar-AE" sz="2500" i="1" dirty="0" smtClean="0">
                        <a:latin typeface="Cambria Math" panose="02040503050406030204" pitchFamily="18" charset="0"/>
                      </a:rPr>
                      <m:t>𝑓</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𝑠</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𝑡</m:t>
                            </m:r>
                          </m:e>
                        </m:d>
                        <m:r>
                          <a:rPr lang="ar-AE" sz="2500" i="1" dirty="0" smtClean="0">
                            <a:latin typeface="Cambria Math" panose="02040503050406030204" pitchFamily="18" charset="0"/>
                          </a:rPr>
                          <m:t>,</m:t>
                        </m:r>
                        <m:r>
                          <a:rPr lang="ar-AE" sz="2500" i="1" dirty="0" smtClean="0">
                            <a:latin typeface="Cambria Math" panose="02040503050406030204" pitchFamily="18" charset="0"/>
                          </a:rPr>
                          <m:t>𝑤</m:t>
                        </m:r>
                        <m:d>
                          <m:dPr>
                            <m:ctrlPr>
                              <a:rPr lang="ar-AE" sz="2500" i="1" dirty="0" smtClean="0">
                                <a:latin typeface="Cambria Math" panose="02040503050406030204" pitchFamily="18" charset="0"/>
                              </a:rPr>
                            </m:ctrlPr>
                          </m:dPr>
                          <m:e>
                            <m:r>
                              <a:rPr lang="ar-AE" sz="2500" i="1" dirty="0" smtClean="0">
                                <a:latin typeface="Cambria Math" panose="02040503050406030204" pitchFamily="18" charset="0"/>
                              </a:rPr>
                              <m:t>𝑡</m:t>
                            </m:r>
                          </m:e>
                        </m:d>
                      </m:e>
                    </m:d>
                  </m:oMath>
                </a14:m>
                <a:endParaRPr lang="ar-AE" sz="2500"/>
              </a:p>
              <a:p>
                <a:pPr>
                  <a:lnSpc>
                    <a:spcPct val="90000"/>
                  </a:lnSpc>
                </a:pPr>
                <a:r>
                  <a:rPr lang="uk-UA" sz="2500" err="1"/>
                  <a:t>Інтеграція</a:t>
                </a:r>
                <a:r>
                  <a:rPr lang="uk-UA" sz="2500"/>
                  <a:t> </a:t>
                </a:r>
                <a:r>
                  <a:rPr lang="en-US" sz="2500"/>
                  <a:t>DETR, </a:t>
                </a:r>
                <a:r>
                  <a:rPr lang="uk-UA" sz="2500" err="1"/>
                  <a:t>оптичного</a:t>
                </a:r>
                <a:r>
                  <a:rPr lang="uk-UA" sz="2500"/>
                  <a:t> </a:t>
                </a:r>
                <a:r>
                  <a:rPr lang="uk-UA" sz="2500" err="1"/>
                  <a:t>потоку</a:t>
                </a:r>
                <a:r>
                  <a:rPr lang="uk-UA" sz="2500"/>
                  <a:t>, </a:t>
                </a:r>
                <a:r>
                  <a:rPr lang="en-US" sz="2500" err="1"/>
                  <a:t>GeoNet</a:t>
                </a:r>
                <a:r>
                  <a:rPr lang="en-US" sz="2500"/>
                  <a:t> </a:t>
                </a:r>
                <a:r>
                  <a:rPr lang="uk-UA" sz="2500" err="1"/>
                  <a:t>та</a:t>
                </a:r>
                <a:r>
                  <a:rPr lang="uk-UA" sz="2500"/>
                  <a:t> </a:t>
                </a:r>
                <a:r>
                  <a:rPr lang="uk-UA" sz="2500" err="1"/>
                  <a:t>ансамблів</a:t>
                </a:r>
                <a:r>
                  <a:rPr lang="uk-UA" sz="2500"/>
                  <a:t> </a:t>
                </a:r>
                <a:r>
                  <a:rPr lang="uk-UA" sz="2500" err="1"/>
                  <a:t>забезпечує</a:t>
                </a:r>
                <a:r>
                  <a:rPr lang="uk-UA" sz="2500"/>
                  <a:t> </a:t>
                </a:r>
                <a:r>
                  <a:rPr lang="uk-UA" sz="2500" err="1"/>
                  <a:t>просторово-часове</a:t>
                </a:r>
                <a:r>
                  <a:rPr lang="uk-UA" sz="2500"/>
                  <a:t> </a:t>
                </a:r>
                <a:r>
                  <a:rPr lang="uk-UA" sz="2500" err="1"/>
                  <a:t>представлення</a:t>
                </a:r>
                <a:endParaRPr lang="uk-UA" sz="25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370153" y="1526033"/>
                <a:ext cx="5536397" cy="3935281"/>
              </a:xfrm>
              <a:blipFill>
                <a:blip r:embed="rId3"/>
                <a:stretch>
                  <a:fillRect l="-1652" t="-2012"/>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2E8F3876-32AF-D952-CEF4-3D7AB829FDA5}"/>
              </a:ext>
            </a:extLst>
          </p:cNvPr>
          <p:cNvSpPr>
            <a:spLocks noGrp="1"/>
          </p:cNvSpPr>
          <p:nvPr>
            <p:ph type="sldNum" sz="quarter" idx="12"/>
          </p:nvPr>
        </p:nvSpPr>
        <p:spPr/>
        <p:txBody>
          <a:bodyPr/>
          <a:lstStyle/>
          <a:p>
            <a:fld id="{C1FF6DA9-008F-8B48-92A6-B652298478BF}" type="slidenum">
              <a:rPr lang="en-US" sz="3200" smtClean="0"/>
              <a:t>13</a:t>
            </a:fld>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5" y="1463040"/>
            <a:ext cx="3796306" cy="2690949"/>
          </a:xfrm>
        </p:spPr>
        <p:txBody>
          <a:bodyPr anchor="t">
            <a:normAutofit/>
          </a:bodyPr>
          <a:lstStyle/>
          <a:p>
            <a:r>
              <a:rPr lang="uk-UA" sz="3700"/>
              <a:t>Методи обчислювального інтелекту</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56218" y="1463039"/>
                <a:ext cx="5542387" cy="4300447"/>
              </a:xfrm>
            </p:spPr>
            <p:txBody>
              <a:bodyPr anchor="t">
                <a:normAutofit/>
              </a:bodyPr>
              <a:lstStyle/>
              <a:p>
                <a:r>
                  <a:rPr lang="en-US" sz="2200" dirty="0"/>
                  <a:t>Bagging (Bootstrap Aggregating): </a:t>
                </a:r>
                <a:r>
                  <a:rPr lang="uk-UA" sz="2200" dirty="0"/>
                  <a:t>усереднення результатів на різних підвибірках – зменшення дисперсії</a:t>
                </a:r>
              </a:p>
              <a:p>
                <a:r>
                  <a:rPr lang="en-US" sz="2200" dirty="0"/>
                  <a:t>Boosting: </a:t>
                </a:r>
                <a:r>
                  <a:rPr lang="uk-UA" sz="2200" dirty="0"/>
                  <a:t>послідовне виправлення помилок попередніх моделей – зменшення зміщення</a:t>
                </a:r>
              </a:p>
              <a:p>
                <a:r>
                  <a:rPr lang="uk-UA" sz="2200" dirty="0"/>
                  <a:t>Формули: </a:t>
                </a:r>
                <a14:m>
                  <m:oMath xmlns:m="http://schemas.openxmlformats.org/officeDocument/2006/math">
                    <m:r>
                      <a:rPr lang="uk-UA" sz="2200" i="1">
                        <a:latin typeface="Cambria Math" panose="02040503050406030204" pitchFamily="18" charset="0"/>
                      </a:rPr>
                      <m:t>𝑦</m:t>
                    </m:r>
                    <m:sSub>
                      <m:sSubPr>
                        <m:ctrlPr>
                          <a:rPr lang="ar-AE" sz="2200" i="1">
                            <a:latin typeface="Cambria Math" panose="02040503050406030204" pitchFamily="18" charset="0"/>
                          </a:rPr>
                        </m:ctrlPr>
                      </m:sSubPr>
                      <m:e>
                        <m:r>
                          <a:rPr lang="ar-AE" sz="2200" i="1">
                            <a:latin typeface="Cambria Math" panose="02040503050406030204" pitchFamily="18" charset="0"/>
                          </a:rPr>
                          <m:t>̂</m:t>
                        </m:r>
                      </m:e>
                      <m:sub>
                        <m:r>
                          <a:rPr lang="ar-AE" sz="2200" i="1">
                            <a:latin typeface="Cambria Math" panose="02040503050406030204" pitchFamily="18" charset="0"/>
                          </a:rPr>
                          <m:t>𝑏𝑎𝑔</m:t>
                        </m:r>
                      </m:sub>
                    </m:sSub>
                    <m:r>
                      <a:rPr lang="ar-AE" sz="2200" i="1">
                        <a:latin typeface="Cambria Math" panose="02040503050406030204" pitchFamily="18" charset="0"/>
                      </a:rPr>
                      <m:t>=</m:t>
                    </m:r>
                    <m:d>
                      <m:dPr>
                        <m:ctrlPr>
                          <a:rPr lang="ar-AE" sz="2200" i="1">
                            <a:latin typeface="Cambria Math" panose="02040503050406030204" pitchFamily="18" charset="0"/>
                          </a:rPr>
                        </m:ctrlPr>
                      </m:dPr>
                      <m:e>
                        <m:r>
                          <a:rPr lang="ar-AE" sz="2200" i="1">
                            <a:latin typeface="Cambria Math" panose="02040503050406030204" pitchFamily="18" charset="0"/>
                          </a:rPr>
                          <m:t>1</m:t>
                        </m:r>
                        <m:r>
                          <m:rPr>
                            <m:lit/>
                          </m:rPr>
                          <a:rPr lang="ar-AE" sz="2200" i="1">
                            <a:latin typeface="Cambria Math" panose="02040503050406030204" pitchFamily="18" charset="0"/>
                          </a:rPr>
                          <m:t>/</m:t>
                        </m:r>
                        <m:r>
                          <a:rPr lang="ar-AE" sz="2200" i="1">
                            <a:latin typeface="Cambria Math" panose="02040503050406030204" pitchFamily="18" charset="0"/>
                          </a:rPr>
                          <m:t>𝑀</m:t>
                        </m:r>
                      </m:e>
                    </m:d>
                    <m:nary>
                      <m:naryPr>
                        <m:chr m:val="∑"/>
                        <m:subHide m:val="on"/>
                        <m:supHide m:val="on"/>
                        <m:ctrlPr>
                          <a:rPr lang="ar-AE" sz="2200" i="1">
                            <a:latin typeface="Cambria Math" panose="02040503050406030204" pitchFamily="18" charset="0"/>
                          </a:rPr>
                        </m:ctrlPr>
                      </m:naryPr>
                      <m:sub/>
                      <m:sup/>
                      <m:e>
                        <m:sSub>
                          <m:sSubPr>
                            <m:ctrlPr>
                              <a:rPr lang="ar-AE" sz="2200" i="1">
                                <a:latin typeface="Cambria Math" panose="02040503050406030204" pitchFamily="18" charset="0"/>
                              </a:rPr>
                            </m:ctrlPr>
                          </m:sSubPr>
                          <m:e>
                            <m:r>
                              <a:rPr lang="ar-AE" sz="2200" i="1">
                                <a:latin typeface="Cambria Math" panose="02040503050406030204" pitchFamily="18" charset="0"/>
                              </a:rPr>
                              <m:t>𝑓</m:t>
                            </m:r>
                          </m:e>
                          <m:sub>
                            <m:r>
                              <a:rPr lang="ar-AE" sz="2200" i="1">
                                <a:latin typeface="Cambria Math" panose="02040503050406030204" pitchFamily="18" charset="0"/>
                              </a:rPr>
                              <m:t>𝑖</m:t>
                            </m:r>
                          </m:sub>
                        </m:sSub>
                        <m:d>
                          <m:dPr>
                            <m:ctrlPr>
                              <a:rPr lang="ar-AE" sz="2200" i="1">
                                <a:latin typeface="Cambria Math" panose="02040503050406030204" pitchFamily="18" charset="0"/>
                              </a:rPr>
                            </m:ctrlPr>
                          </m:dPr>
                          <m:e>
                            <m:r>
                              <a:rPr lang="ar-AE" sz="2200" i="1">
                                <a:latin typeface="Cambria Math" panose="02040503050406030204" pitchFamily="18" charset="0"/>
                              </a:rPr>
                              <m:t>𝑥</m:t>
                            </m:r>
                          </m:e>
                        </m:d>
                      </m:e>
                    </m:nary>
                  </m:oMath>
                </a14:m>
                <a:r>
                  <a:rPr lang="ar-AE" sz="2200" dirty="0"/>
                  <a:t>,   </a:t>
                </a:r>
                <a14:m>
                  <m:oMath xmlns:m="http://schemas.openxmlformats.org/officeDocument/2006/math">
                    <m:r>
                      <a:rPr lang="ar-AE" sz="2200" i="1">
                        <a:latin typeface="Cambria Math" panose="02040503050406030204" pitchFamily="18" charset="0"/>
                      </a:rPr>
                      <m:t>𝑦</m:t>
                    </m:r>
                    <m:sSub>
                      <m:sSubPr>
                        <m:ctrlPr>
                          <a:rPr lang="ar-AE" sz="2200" i="1">
                            <a:latin typeface="Cambria Math" panose="02040503050406030204" pitchFamily="18" charset="0"/>
                          </a:rPr>
                        </m:ctrlPr>
                      </m:sSubPr>
                      <m:e>
                        <m:r>
                          <a:rPr lang="ar-AE" sz="2200" i="1">
                            <a:latin typeface="Cambria Math" panose="02040503050406030204" pitchFamily="18" charset="0"/>
                          </a:rPr>
                          <m:t>̂</m:t>
                        </m:r>
                      </m:e>
                      <m:sub>
                        <m:r>
                          <a:rPr lang="ar-AE" sz="2200" i="1">
                            <a:latin typeface="Cambria Math" panose="02040503050406030204" pitchFamily="18" charset="0"/>
                          </a:rPr>
                          <m:t>𝑏𝑜𝑜𝑠𝑡</m:t>
                        </m:r>
                      </m:sub>
                    </m:sSub>
                    <m:r>
                      <a:rPr lang="ar-AE" sz="2200" i="1">
                        <a:latin typeface="Cambria Math" panose="02040503050406030204" pitchFamily="18" charset="0"/>
                      </a:rPr>
                      <m:t>=</m:t>
                    </m:r>
                    <m:nary>
                      <m:naryPr>
                        <m:chr m:val="∑"/>
                        <m:subHide m:val="on"/>
                        <m:supHide m:val="on"/>
                        <m:ctrlPr>
                          <a:rPr lang="ar-AE" sz="2200" i="1">
                            <a:latin typeface="Cambria Math" panose="02040503050406030204" pitchFamily="18" charset="0"/>
                          </a:rPr>
                        </m:ctrlPr>
                      </m:naryPr>
                      <m:sub/>
                      <m:sup/>
                      <m:e>
                        <m:sSub>
                          <m:sSubPr>
                            <m:ctrlPr>
                              <a:rPr lang="ar-AE" sz="2200" i="1">
                                <a:latin typeface="Cambria Math" panose="02040503050406030204" pitchFamily="18" charset="0"/>
                              </a:rPr>
                            </m:ctrlPr>
                          </m:sSubPr>
                          <m:e>
                            <m:r>
                              <a:rPr lang="ar-AE" sz="2200" i="1">
                                <a:latin typeface="Cambria Math" panose="02040503050406030204" pitchFamily="18" charset="0"/>
                              </a:rPr>
                              <m:t>𝛼</m:t>
                            </m:r>
                          </m:e>
                          <m:sub>
                            <m:r>
                              <a:rPr lang="ar-AE" sz="2200" i="1">
                                <a:latin typeface="Cambria Math" panose="02040503050406030204" pitchFamily="18" charset="0"/>
                              </a:rPr>
                              <m:t>𝑖</m:t>
                            </m:r>
                          </m:sub>
                        </m:sSub>
                        <m:sSub>
                          <m:sSubPr>
                            <m:ctrlPr>
                              <a:rPr lang="ar-AE" sz="2200" i="1">
                                <a:latin typeface="Cambria Math" panose="02040503050406030204" pitchFamily="18" charset="0"/>
                              </a:rPr>
                            </m:ctrlPr>
                          </m:sSubPr>
                          <m:e>
                            <m:r>
                              <a:rPr lang="ar-AE" sz="2200" i="1">
                                <a:latin typeface="Cambria Math" panose="02040503050406030204" pitchFamily="18" charset="0"/>
                              </a:rPr>
                              <m:t>𝑓</m:t>
                            </m:r>
                          </m:e>
                          <m:sub>
                            <m:r>
                              <a:rPr lang="ar-AE" sz="2200" i="1">
                                <a:latin typeface="Cambria Math" panose="02040503050406030204" pitchFamily="18" charset="0"/>
                              </a:rPr>
                              <m:t>𝑖</m:t>
                            </m:r>
                          </m:sub>
                        </m:sSub>
                        <m:d>
                          <m:dPr>
                            <m:ctrlPr>
                              <a:rPr lang="ar-AE" sz="2200" i="1">
                                <a:latin typeface="Cambria Math" panose="02040503050406030204" pitchFamily="18" charset="0"/>
                              </a:rPr>
                            </m:ctrlPr>
                          </m:dPr>
                          <m:e>
                            <m:r>
                              <a:rPr lang="ar-AE" sz="2200" i="1">
                                <a:latin typeface="Cambria Math" panose="02040503050406030204" pitchFamily="18" charset="0"/>
                              </a:rPr>
                              <m:t>𝑥</m:t>
                            </m:r>
                          </m:e>
                        </m:d>
                      </m:e>
                    </m:nary>
                  </m:oMath>
                </a14:m>
                <a:r>
                  <a:rPr lang="ar-AE" sz="2200" dirty="0"/>
                  <a:t>,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𝛼</m:t>
                        </m:r>
                      </m:e>
                      <m:sub>
                        <m:r>
                          <a:rPr lang="ar-AE" sz="2200" i="1">
                            <a:latin typeface="Cambria Math" panose="02040503050406030204" pitchFamily="18" charset="0"/>
                          </a:rPr>
                          <m:t>𝑖</m:t>
                        </m:r>
                      </m:sub>
                    </m:sSub>
                    <m:r>
                      <a:rPr lang="ar-AE" sz="2200" i="1">
                        <a:latin typeface="Cambria Math" panose="02040503050406030204" pitchFamily="18" charset="0"/>
                      </a:rPr>
                      <m:t>=½</m:t>
                    </m:r>
                    <m:r>
                      <a:rPr lang="ar-AE" sz="2200" i="1">
                        <a:latin typeface="Cambria Math" panose="02040503050406030204" pitchFamily="18" charset="0"/>
                      </a:rPr>
                      <m:t>𝑙</m:t>
                    </m:r>
                    <m:func>
                      <m:funcPr>
                        <m:ctrlPr>
                          <a:rPr lang="ar-AE" sz="2200" i="1">
                            <a:latin typeface="Cambria Math" panose="02040503050406030204" pitchFamily="18" charset="0"/>
                          </a:rPr>
                        </m:ctrlPr>
                      </m:funcPr>
                      <m:fName>
                        <m:r>
                          <a:rPr lang="ar-AE" sz="2200" i="1">
                            <a:latin typeface="Cambria Math" panose="02040503050406030204" pitchFamily="18" charset="0"/>
                          </a:rPr>
                          <m:t>𝑛</m:t>
                        </m:r>
                      </m:fName>
                      <m:e>
                        <m:d>
                          <m:dPr>
                            <m:ctrlPr>
                              <a:rPr lang="ar-AE" sz="2200" i="1">
                                <a:latin typeface="Cambria Math" panose="02040503050406030204" pitchFamily="18" charset="0"/>
                              </a:rPr>
                            </m:ctrlPr>
                          </m:dPr>
                          <m:e>
                            <m:d>
                              <m:dPr>
                                <m:ctrlPr>
                                  <a:rPr lang="ar-AE" sz="2200" i="1">
                                    <a:latin typeface="Cambria Math" panose="02040503050406030204" pitchFamily="18" charset="0"/>
                                  </a:rPr>
                                </m:ctrlPr>
                              </m:dPr>
                              <m:e>
                                <m:r>
                                  <a:rPr lang="ar-AE" sz="2200" i="1">
                                    <a:latin typeface="Cambria Math" panose="02040503050406030204" pitchFamily="18" charset="0"/>
                                  </a:rPr>
                                  <m:t>1</m:t>
                                </m:r>
                                <m:r>
                                  <a:rPr lang="ar-AE" sz="2200" i="1">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𝜀</m:t>
                                    </m:r>
                                  </m:e>
                                  <m:sub>
                                    <m:r>
                                      <a:rPr lang="ar-AE" sz="2200" i="1">
                                        <a:latin typeface="Cambria Math" panose="02040503050406030204" pitchFamily="18" charset="0"/>
                                      </a:rPr>
                                      <m:t>𝑖</m:t>
                                    </m:r>
                                  </m:sub>
                                </m:sSub>
                              </m:e>
                            </m:d>
                            <m:r>
                              <m:rPr>
                                <m:lit/>
                              </m:rPr>
                              <a:rPr lang="ar-AE" sz="2200" i="1">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𝜀</m:t>
                                </m:r>
                              </m:e>
                              <m:sub>
                                <m:r>
                                  <a:rPr lang="ar-AE" sz="2200" i="1">
                                    <a:latin typeface="Cambria Math" panose="02040503050406030204" pitchFamily="18" charset="0"/>
                                  </a:rPr>
                                  <m:t>𝑖</m:t>
                                </m:r>
                              </m:sub>
                            </m:sSub>
                          </m:e>
                        </m:d>
                      </m:e>
                    </m:func>
                  </m:oMath>
                </a14:m>
                <a:endParaRPr lang="ar-AE" sz="2200" dirty="0"/>
              </a:p>
              <a:p>
                <a:r>
                  <a:rPr lang="uk-UA" sz="2200" dirty="0"/>
                  <a:t>У роботі адаптовано для оцінки глибини та оптичного потоку</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656218" y="1463039"/>
                <a:ext cx="5542387" cy="4300447"/>
              </a:xfrm>
              <a:blipFill>
                <a:blip r:embed="rId3"/>
                <a:stretch>
                  <a:fillRect l="-1320" t="-993"/>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1BABBE8-5D37-4332-A90C-E2B01630412B}"/>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594707"/>
            <a:ext cx="9833548" cy="1325563"/>
          </a:xfrm>
        </p:spPr>
        <p:txBody>
          <a:bodyPr anchor="b">
            <a:normAutofit/>
          </a:bodyPr>
          <a:lstStyle/>
          <a:p>
            <a:r>
              <a:rPr lang="uk-UA" sz="3600">
                <a:solidFill>
                  <a:schemeClr val="tx2"/>
                </a:solidFill>
              </a:rPr>
              <a:t>Методи оптичного потоку</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179226" y="3329677"/>
                <a:ext cx="9833548" cy="2457269"/>
              </a:xfrm>
            </p:spPr>
            <p:txBody>
              <a:bodyPr>
                <a:normAutofit/>
              </a:bodyPr>
              <a:lstStyle/>
              <a:p>
                <a:r>
                  <a:rPr lang="en-US" sz="1800">
                    <a:solidFill>
                      <a:schemeClr val="tx2"/>
                    </a:solidFill>
                  </a:rPr>
                  <a:t>Lucas-Kanade (</a:t>
                </a:r>
                <a:r>
                  <a:rPr lang="uk-UA" sz="1800">
                    <a:solidFill>
                      <a:schemeClr val="tx2"/>
                    </a:solidFill>
                  </a:rPr>
                  <a:t>локальний): </a:t>
                </a:r>
                <a14:m>
                  <m:oMath xmlns:m="http://schemas.openxmlformats.org/officeDocument/2006/math">
                    <m:r>
                      <a:rPr lang="uk-UA" sz="1800" i="1">
                        <a:solidFill>
                          <a:schemeClr val="tx2"/>
                        </a:solidFill>
                        <a:latin typeface="Cambria Math" panose="02040503050406030204" pitchFamily="18" charset="0"/>
                      </a:rPr>
                      <m:t>𝐴</m:t>
                    </m:r>
                    <m:r>
                      <a:rPr lang="en-US" sz="1800" i="1">
                        <a:solidFill>
                          <a:schemeClr val="tx2"/>
                        </a:solidFill>
                        <a:latin typeface="Cambria Math" panose="02040503050406030204" pitchFamily="18" charset="0"/>
                      </a:rPr>
                      <m:t>ᵀ</m:t>
                    </m:r>
                    <m:r>
                      <a:rPr lang="en-US" sz="1800" i="1">
                        <a:solidFill>
                          <a:schemeClr val="tx2"/>
                        </a:solidFill>
                        <a:latin typeface="Cambria Math" panose="02040503050406030204" pitchFamily="18" charset="0"/>
                      </a:rPr>
                      <m:t>𝐴</m:t>
                    </m:r>
                    <m:r>
                      <a:rPr lang="en-US" sz="1800" i="1">
                        <a:solidFill>
                          <a:schemeClr val="tx2"/>
                        </a:solidFill>
                        <a:latin typeface="Cambria Math" panose="02040503050406030204" pitchFamily="18" charset="0"/>
                      </a:rPr>
                      <m:t> </m:t>
                    </m:r>
                    <m:r>
                      <a:rPr lang="en-US" sz="1800" i="1">
                        <a:solidFill>
                          <a:schemeClr val="tx2"/>
                        </a:solidFill>
                        <a:latin typeface="Cambria Math" panose="02040503050406030204" pitchFamily="18" charset="0"/>
                      </a:rPr>
                      <m:t>𝑣</m:t>
                    </m:r>
                    <m:r>
                      <a:rPr lang="en-US" sz="1800" i="1">
                        <a:solidFill>
                          <a:schemeClr val="tx2"/>
                        </a:solidFill>
                        <a:latin typeface="Cambria Math" panose="02040503050406030204" pitchFamily="18" charset="0"/>
                      </a:rPr>
                      <m:t> = </m:t>
                    </m:r>
                    <m:r>
                      <a:rPr lang="en-US" sz="1800" i="1">
                        <a:solidFill>
                          <a:schemeClr val="tx2"/>
                        </a:solidFill>
                        <a:latin typeface="Cambria Math" panose="02040503050406030204" pitchFamily="18" charset="0"/>
                      </a:rPr>
                      <m:t>𝐴</m:t>
                    </m:r>
                    <m:r>
                      <a:rPr lang="en-US" sz="1800" i="1">
                        <a:solidFill>
                          <a:schemeClr val="tx2"/>
                        </a:solidFill>
                        <a:latin typeface="Cambria Math" panose="02040503050406030204" pitchFamily="18" charset="0"/>
                      </a:rPr>
                      <m:t>ᵀ</m:t>
                    </m:r>
                    <m:r>
                      <a:rPr lang="en-US" sz="1800" i="1">
                        <a:solidFill>
                          <a:schemeClr val="tx2"/>
                        </a:solidFill>
                        <a:latin typeface="Cambria Math" panose="02040503050406030204" pitchFamily="18" charset="0"/>
                      </a:rPr>
                      <m:t>𝑏</m:t>
                    </m:r>
                  </m:oMath>
                </a14:m>
                <a:r>
                  <a:rPr lang="en-US" sz="1800">
                    <a:solidFill>
                      <a:schemeClr val="tx2"/>
                    </a:solidFill>
                  </a:rPr>
                  <a:t>, </a:t>
                </a:r>
                <a:r>
                  <a:rPr lang="uk-UA" sz="1800">
                    <a:solidFill>
                      <a:schemeClr val="tx2"/>
                    </a:solidFill>
                  </a:rPr>
                  <a:t>розв'язок МНК</a:t>
                </a:r>
              </a:p>
              <a:p>
                <a:r>
                  <a:rPr lang="en-US" sz="1800">
                    <a:solidFill>
                      <a:schemeClr val="tx2"/>
                    </a:solidFill>
                  </a:rPr>
                  <a:t>Horn-Schunck (</a:t>
                </a:r>
                <a:r>
                  <a:rPr lang="uk-UA" sz="1800">
                    <a:solidFill>
                      <a:schemeClr val="tx2"/>
                    </a:solidFill>
                  </a:rPr>
                  <a:t>глобальний): </a:t>
                </a:r>
                <a14:m>
                  <m:oMath xmlns:m="http://schemas.openxmlformats.org/officeDocument/2006/math">
                    <m:r>
                      <a:rPr lang="uk-UA" sz="1800" i="1">
                        <a:solidFill>
                          <a:schemeClr val="tx2"/>
                        </a:solidFill>
                        <a:latin typeface="Cambria Math" panose="02040503050406030204" pitchFamily="18" charset="0"/>
                      </a:rPr>
                      <m:t>𝐸</m:t>
                    </m:r>
                    <m:r>
                      <a:rPr lang="uk-UA" sz="1800" i="1">
                        <a:solidFill>
                          <a:schemeClr val="tx2"/>
                        </a:solidFill>
                        <a:latin typeface="Cambria Math" panose="02040503050406030204" pitchFamily="18" charset="0"/>
                      </a:rPr>
                      <m:t>=</m:t>
                    </m:r>
                    <m:nary>
                      <m:naryPr>
                        <m:chr m:val="∬"/>
                        <m:subHide m:val="on"/>
                        <m:supHide m:val="on"/>
                        <m:ctrlPr>
                          <a:rPr lang="ar-AE" sz="1800" i="1">
                            <a:solidFill>
                              <a:schemeClr val="tx2"/>
                            </a:solidFill>
                            <a:latin typeface="Cambria Math" panose="02040503050406030204" pitchFamily="18" charset="0"/>
                          </a:rPr>
                        </m:ctrlPr>
                      </m:naryPr>
                      <m:sub/>
                      <m:sup/>
                      <m:e>
                        <m:d>
                          <m:dPr>
                            <m:begChr m:val="["/>
                            <m:endChr m:val="]"/>
                            <m:ctrlPr>
                              <a:rPr lang="ar-AE" sz="1800" i="1">
                                <a:solidFill>
                                  <a:schemeClr val="tx2"/>
                                </a:solidFill>
                                <a:latin typeface="Cambria Math" panose="02040503050406030204" pitchFamily="18" charset="0"/>
                              </a:rPr>
                            </m:ctrlPr>
                          </m:dPr>
                          <m:e>
                            <m:sSup>
                              <m:sSupPr>
                                <m:ctrlPr>
                                  <a:rPr lang="ar-AE" sz="1800" i="1">
                                    <a:solidFill>
                                      <a:schemeClr val="tx2"/>
                                    </a:solidFill>
                                    <a:latin typeface="Cambria Math" panose="02040503050406030204" pitchFamily="18" charset="0"/>
                                  </a:rPr>
                                </m:ctrlPr>
                              </m:sSupPr>
                              <m:e>
                                <m:d>
                                  <m:dPr>
                                    <m:ctrlPr>
                                      <a:rPr lang="ar-AE" sz="1800" i="1">
                                        <a:solidFill>
                                          <a:schemeClr val="tx2"/>
                                        </a:solidFill>
                                        <a:latin typeface="Cambria Math" panose="02040503050406030204" pitchFamily="18" charset="0"/>
                                      </a:rPr>
                                    </m:ctrlPr>
                                  </m:dPr>
                                  <m:e>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𝐼</m:t>
                                        </m:r>
                                      </m:e>
                                      <m:sub>
                                        <m:r>
                                          <a:rPr lang="ar-AE" sz="1800" i="1">
                                            <a:solidFill>
                                              <a:schemeClr val="tx2"/>
                                            </a:solidFill>
                                            <a:latin typeface="Cambria Math" panose="02040503050406030204" pitchFamily="18" charset="0"/>
                                          </a:rPr>
                                          <m:t>𝑥</m:t>
                                        </m:r>
                                      </m:sub>
                                    </m:sSub>
                                    <m:r>
                                      <a:rPr lang="ar-AE" sz="1800" i="1">
                                        <a:solidFill>
                                          <a:schemeClr val="tx2"/>
                                        </a:solidFill>
                                        <a:latin typeface="Cambria Math" panose="02040503050406030204" pitchFamily="18" charset="0"/>
                                      </a:rPr>
                                      <m:t>𝑢</m:t>
                                    </m:r>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𝐼</m:t>
                                        </m:r>
                                      </m:e>
                                      <m:sub>
                                        <m:r>
                                          <a:rPr lang="ar-AE" sz="1800" i="1">
                                            <a:solidFill>
                                              <a:schemeClr val="tx2"/>
                                            </a:solidFill>
                                            <a:latin typeface="Cambria Math" panose="02040503050406030204" pitchFamily="18" charset="0"/>
                                          </a:rPr>
                                          <m:t>𝑦</m:t>
                                        </m:r>
                                      </m:sub>
                                    </m:sSub>
                                    <m:r>
                                      <a:rPr lang="ar-AE" sz="1800" i="1">
                                        <a:solidFill>
                                          <a:schemeClr val="tx2"/>
                                        </a:solidFill>
                                        <a:latin typeface="Cambria Math" panose="02040503050406030204" pitchFamily="18" charset="0"/>
                                      </a:rPr>
                                      <m:t>𝑣</m:t>
                                    </m:r>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𝐼</m:t>
                                        </m:r>
                                      </m:e>
                                      <m:sub>
                                        <m:r>
                                          <a:rPr lang="ar-AE" sz="1800" i="1">
                                            <a:solidFill>
                                              <a:schemeClr val="tx2"/>
                                            </a:solidFill>
                                            <a:latin typeface="Cambria Math" panose="02040503050406030204" pitchFamily="18" charset="0"/>
                                          </a:rPr>
                                          <m:t>𝑡</m:t>
                                        </m:r>
                                      </m:sub>
                                    </m:sSub>
                                  </m:e>
                                </m:d>
                              </m:e>
                              <m:sup>
                                <m:r>
                                  <a:rPr lang="ar-AE" sz="1800" i="1">
                                    <a:solidFill>
                                      <a:schemeClr val="tx2"/>
                                    </a:solidFill>
                                    <a:latin typeface="Cambria Math" panose="02040503050406030204" pitchFamily="18" charset="0"/>
                                  </a:rPr>
                                  <m:t>2</m:t>
                                </m:r>
                              </m:sup>
                            </m:sSup>
                            <m:r>
                              <a:rPr lang="ar-AE" sz="1800" i="1">
                                <a:solidFill>
                                  <a:schemeClr val="tx2"/>
                                </a:solidFill>
                                <a:latin typeface="Cambria Math" panose="02040503050406030204" pitchFamily="18" charset="0"/>
                              </a:rPr>
                              <m:t>+</m:t>
                            </m:r>
                            <m:sSup>
                              <m:sSupPr>
                                <m:ctrlPr>
                                  <a:rPr lang="ar-AE" sz="1800" i="1">
                                    <a:solidFill>
                                      <a:schemeClr val="tx2"/>
                                    </a:solidFill>
                                    <a:latin typeface="Cambria Math" panose="02040503050406030204" pitchFamily="18" charset="0"/>
                                  </a:rPr>
                                </m:ctrlPr>
                              </m:sSupPr>
                              <m:e>
                                <m:r>
                                  <a:rPr lang="ar-AE" sz="1800" i="1">
                                    <a:solidFill>
                                      <a:schemeClr val="tx2"/>
                                    </a:solidFill>
                                    <a:latin typeface="Cambria Math" panose="02040503050406030204" pitchFamily="18" charset="0"/>
                                  </a:rPr>
                                  <m:t>𝛼</m:t>
                                </m:r>
                              </m:e>
                              <m:sup>
                                <m:r>
                                  <a:rPr lang="ar-AE" sz="1800" i="1">
                                    <a:solidFill>
                                      <a:schemeClr val="tx2"/>
                                    </a:solidFill>
                                    <a:latin typeface="Cambria Math" panose="02040503050406030204" pitchFamily="18" charset="0"/>
                                  </a:rPr>
                                  <m:t>2</m:t>
                                </m:r>
                              </m:sup>
                            </m:sSup>
                            <m:d>
                              <m:dPr>
                                <m:ctrlPr>
                                  <a:rPr lang="ar-AE" sz="1800" i="1">
                                    <a:solidFill>
                                      <a:schemeClr val="tx2"/>
                                    </a:solidFill>
                                    <a:latin typeface="Cambria Math" panose="02040503050406030204" pitchFamily="18" charset="0"/>
                                  </a:rPr>
                                </m:ctrlPr>
                              </m:dPr>
                              <m:e>
                                <m:sSup>
                                  <m:sSupPr>
                                    <m:ctrlPr>
                                      <a:rPr lang="ar-AE" sz="1800" i="1">
                                        <a:solidFill>
                                          <a:schemeClr val="tx2"/>
                                        </a:solidFill>
                                        <a:latin typeface="Cambria Math" panose="02040503050406030204" pitchFamily="18" charset="0"/>
                                      </a:rPr>
                                    </m:ctrlPr>
                                  </m:sSupPr>
                                  <m:e>
                                    <m:d>
                                      <m:dPr>
                                        <m:begChr m:val="‖"/>
                                        <m:endChr m:val="‖"/>
                                        <m:ctrlPr>
                                          <a:rPr lang="ar-AE" sz="1800" i="1">
                                            <a:solidFill>
                                              <a:schemeClr val="tx2"/>
                                            </a:solidFill>
                                            <a:latin typeface="Cambria Math" panose="02040503050406030204" pitchFamily="18" charset="0"/>
                                          </a:rPr>
                                        </m:ctrlPr>
                                      </m:dPr>
                                      <m:e>
                                        <m:r>
                                          <m:rPr>
                                            <m:sty m:val="p"/>
                                          </m:rPr>
                                          <a:rPr lang="ar-AE" sz="1800" i="0">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𝑢</m:t>
                                        </m:r>
                                      </m:e>
                                    </m:d>
                                  </m:e>
                                  <m:sup>
                                    <m:r>
                                      <a:rPr lang="ar-AE" sz="1800" i="1">
                                        <a:solidFill>
                                          <a:schemeClr val="tx2"/>
                                        </a:solidFill>
                                        <a:latin typeface="Cambria Math" panose="02040503050406030204" pitchFamily="18" charset="0"/>
                                      </a:rPr>
                                      <m:t>2</m:t>
                                    </m:r>
                                  </m:sup>
                                </m:sSup>
                                <m:r>
                                  <a:rPr lang="ar-AE" sz="1800" i="1">
                                    <a:solidFill>
                                      <a:schemeClr val="tx2"/>
                                    </a:solidFill>
                                    <a:latin typeface="Cambria Math" panose="02040503050406030204" pitchFamily="18" charset="0"/>
                                  </a:rPr>
                                  <m:t>+</m:t>
                                </m:r>
                                <m:sSup>
                                  <m:sSupPr>
                                    <m:ctrlPr>
                                      <a:rPr lang="ar-AE" sz="1800" i="1">
                                        <a:solidFill>
                                          <a:schemeClr val="tx2"/>
                                        </a:solidFill>
                                        <a:latin typeface="Cambria Math" panose="02040503050406030204" pitchFamily="18" charset="0"/>
                                      </a:rPr>
                                    </m:ctrlPr>
                                  </m:sSupPr>
                                  <m:e>
                                    <m:d>
                                      <m:dPr>
                                        <m:begChr m:val="‖"/>
                                        <m:endChr m:val="‖"/>
                                        <m:ctrlPr>
                                          <a:rPr lang="ar-AE" sz="1800" i="1">
                                            <a:solidFill>
                                              <a:schemeClr val="tx2"/>
                                            </a:solidFill>
                                            <a:latin typeface="Cambria Math" panose="02040503050406030204" pitchFamily="18" charset="0"/>
                                          </a:rPr>
                                        </m:ctrlPr>
                                      </m:dPr>
                                      <m:e>
                                        <m:r>
                                          <m:rPr>
                                            <m:sty m:val="p"/>
                                          </m:rPr>
                                          <a:rPr lang="ar-AE" sz="1800" i="0">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𝑣</m:t>
                                        </m:r>
                                      </m:e>
                                    </m:d>
                                  </m:e>
                                  <m:sup>
                                    <m:r>
                                      <a:rPr lang="ar-AE" sz="1800" i="1">
                                        <a:solidFill>
                                          <a:schemeClr val="tx2"/>
                                        </a:solidFill>
                                        <a:latin typeface="Cambria Math" panose="02040503050406030204" pitchFamily="18" charset="0"/>
                                      </a:rPr>
                                      <m:t>2</m:t>
                                    </m:r>
                                  </m:sup>
                                </m:sSup>
                              </m:e>
                            </m:d>
                          </m:e>
                        </m:d>
                        <m:r>
                          <a:rPr lang="ar-AE" sz="1800" i="1">
                            <a:solidFill>
                              <a:schemeClr val="tx2"/>
                            </a:solidFill>
                            <a:latin typeface="Cambria Math" panose="02040503050406030204" pitchFamily="18" charset="0"/>
                          </a:rPr>
                          <m:t>𝑑𝑥𝑑𝑦</m:t>
                        </m:r>
                      </m:e>
                    </m:nary>
                  </m:oMath>
                </a14:m>
                <a:endParaRPr lang="ar-AE" sz="1800">
                  <a:solidFill>
                    <a:schemeClr val="tx2"/>
                  </a:solidFill>
                </a:endParaRPr>
              </a:p>
              <a:p>
                <a:r>
                  <a:rPr lang="en-US" sz="1800">
                    <a:solidFill>
                      <a:schemeClr val="tx2"/>
                    </a:solidFill>
                  </a:rPr>
                  <a:t>Farneback (</a:t>
                </a:r>
                <a:r>
                  <a:rPr lang="uk-UA" sz="1800">
                    <a:solidFill>
                      <a:schemeClr val="tx2"/>
                    </a:solidFill>
                  </a:rPr>
                  <a:t>поліноміальний): </a:t>
                </a:r>
                <a14:m>
                  <m:oMath xmlns:m="http://schemas.openxmlformats.org/officeDocument/2006/math">
                    <m:r>
                      <a:rPr lang="uk-UA" sz="1800" i="1">
                        <a:solidFill>
                          <a:schemeClr val="tx2"/>
                        </a:solidFill>
                        <a:latin typeface="Cambria Math" panose="02040503050406030204" pitchFamily="18" charset="0"/>
                      </a:rPr>
                      <m:t>𝑓</m:t>
                    </m:r>
                    <m:d>
                      <m:dPr>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𝑥</m:t>
                        </m:r>
                      </m:e>
                    </m:d>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𝑥</m:t>
                    </m:r>
                    <m:r>
                      <a:rPr lang="en-US" sz="1800" i="1">
                        <a:solidFill>
                          <a:schemeClr val="tx2"/>
                        </a:solidFill>
                        <a:latin typeface="Cambria Math" panose="02040503050406030204" pitchFamily="18" charset="0"/>
                      </a:rPr>
                      <m:t>ᵀ</m:t>
                    </m:r>
                    <m:r>
                      <a:rPr lang="en-US" sz="1800" i="1">
                        <a:solidFill>
                          <a:schemeClr val="tx2"/>
                        </a:solidFill>
                        <a:latin typeface="Cambria Math" panose="02040503050406030204" pitchFamily="18" charset="0"/>
                      </a:rPr>
                      <m:t>𝐴𝑥</m:t>
                    </m:r>
                    <m:r>
                      <a:rPr lang="en-US" sz="1800" i="1">
                        <a:solidFill>
                          <a:schemeClr val="tx2"/>
                        </a:solidFill>
                        <a:latin typeface="Cambria Math" panose="02040503050406030204" pitchFamily="18" charset="0"/>
                      </a:rPr>
                      <m:t>+</m:t>
                    </m:r>
                    <m:r>
                      <a:rPr lang="en-US" sz="1800" i="1">
                        <a:solidFill>
                          <a:schemeClr val="tx2"/>
                        </a:solidFill>
                        <a:latin typeface="Cambria Math" panose="02040503050406030204" pitchFamily="18" charset="0"/>
                      </a:rPr>
                      <m:t>𝑏</m:t>
                    </m:r>
                    <m:r>
                      <a:rPr lang="en-US" sz="1800" i="1">
                        <a:solidFill>
                          <a:schemeClr val="tx2"/>
                        </a:solidFill>
                        <a:latin typeface="Cambria Math" panose="02040503050406030204" pitchFamily="18" charset="0"/>
                      </a:rPr>
                      <m:t>ᵀ</m:t>
                    </m:r>
                    <m:r>
                      <a:rPr lang="en-US" sz="1800" i="1">
                        <a:solidFill>
                          <a:schemeClr val="tx2"/>
                        </a:solidFill>
                        <a:latin typeface="Cambria Math" panose="02040503050406030204" pitchFamily="18" charset="0"/>
                      </a:rPr>
                      <m:t>𝑥</m:t>
                    </m:r>
                    <m:r>
                      <a:rPr lang="en-US" sz="1800" i="1">
                        <a:solidFill>
                          <a:schemeClr val="tx2"/>
                        </a:solidFill>
                        <a:latin typeface="Cambria Math" panose="02040503050406030204" pitchFamily="18" charset="0"/>
                      </a:rPr>
                      <m:t>+</m:t>
                    </m:r>
                    <m:r>
                      <a:rPr lang="en-US" sz="1800" i="1">
                        <a:solidFill>
                          <a:schemeClr val="tx2"/>
                        </a:solidFill>
                        <a:latin typeface="Cambria Math" panose="02040503050406030204" pitchFamily="18" charset="0"/>
                      </a:rPr>
                      <m:t>𝑐</m:t>
                    </m:r>
                    <m:r>
                      <a:rPr lang="en-US" sz="1800" i="1">
                        <a:solidFill>
                          <a:schemeClr val="tx2"/>
                        </a:solidFill>
                        <a:latin typeface="Cambria Math" panose="02040503050406030204" pitchFamily="18" charset="0"/>
                      </a:rPr>
                      <m:t>,</m:t>
                    </m:r>
                    <m:r>
                      <a:rPr lang="en-US" sz="1800" i="1">
                        <a:solidFill>
                          <a:schemeClr val="tx2"/>
                        </a:solidFill>
                        <a:latin typeface="Cambria Math" panose="02040503050406030204" pitchFamily="18" charset="0"/>
                      </a:rPr>
                      <m:t>𝑑</m:t>
                    </m:r>
                    <m:r>
                      <a:rPr lang="en-US" sz="1800" i="1">
                        <a:solidFill>
                          <a:schemeClr val="tx2"/>
                        </a:solidFill>
                        <a:latin typeface="Cambria Math" panose="02040503050406030204" pitchFamily="18" charset="0"/>
                      </a:rPr>
                      <m:t>=−½</m:t>
                    </m:r>
                    <m:sSup>
                      <m:sSupPr>
                        <m:ctrlPr>
                          <a:rPr lang="ar-AE" sz="1800" i="1">
                            <a:solidFill>
                              <a:schemeClr val="tx2"/>
                            </a:solidFill>
                            <a:latin typeface="Cambria Math" panose="02040503050406030204" pitchFamily="18" charset="0"/>
                          </a:rPr>
                        </m:ctrlPr>
                      </m:sSupPr>
                      <m:e>
                        <m:r>
                          <a:rPr lang="ar-AE" sz="1800" i="1">
                            <a:solidFill>
                              <a:schemeClr val="tx2"/>
                            </a:solidFill>
                            <a:latin typeface="Cambria Math" panose="02040503050406030204" pitchFamily="18" charset="0"/>
                          </a:rPr>
                          <m:t>𝐴</m:t>
                        </m:r>
                      </m:e>
                      <m:sup>
                        <m:r>
                          <a:rPr lang="ar-AE" sz="1800" i="1">
                            <a:solidFill>
                              <a:schemeClr val="tx2"/>
                            </a:solidFill>
                            <a:latin typeface="Cambria Math" panose="02040503050406030204" pitchFamily="18" charset="0"/>
                          </a:rPr>
                          <m:t>1</m:t>
                        </m:r>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1</m:t>
                        </m:r>
                      </m:sup>
                    </m:sSup>
                    <m:d>
                      <m:dPr>
                        <m:ctrlPr>
                          <a:rPr lang="ar-AE" sz="1800" i="1">
                            <a:solidFill>
                              <a:schemeClr val="tx2"/>
                            </a:solidFill>
                            <a:latin typeface="Cambria Math" panose="02040503050406030204" pitchFamily="18" charset="0"/>
                          </a:rPr>
                        </m:ctrlPr>
                      </m:dPr>
                      <m:e>
                        <m:sSup>
                          <m:sSupPr>
                            <m:ctrlPr>
                              <a:rPr lang="ar-AE" sz="1800" i="1">
                                <a:solidFill>
                                  <a:schemeClr val="tx2"/>
                                </a:solidFill>
                                <a:latin typeface="Cambria Math" panose="02040503050406030204" pitchFamily="18" charset="0"/>
                              </a:rPr>
                            </m:ctrlPr>
                          </m:sSupPr>
                          <m:e>
                            <m:r>
                              <a:rPr lang="ar-AE" sz="1800" i="1">
                                <a:solidFill>
                                  <a:schemeClr val="tx2"/>
                                </a:solidFill>
                                <a:latin typeface="Cambria Math" panose="02040503050406030204" pitchFamily="18" charset="0"/>
                              </a:rPr>
                              <m:t>𝑏</m:t>
                            </m:r>
                          </m:e>
                          <m:sup>
                            <m:r>
                              <a:rPr lang="ar-AE" sz="1800" i="1">
                                <a:solidFill>
                                  <a:schemeClr val="tx2"/>
                                </a:solidFill>
                                <a:latin typeface="Cambria Math" panose="02040503050406030204" pitchFamily="18" charset="0"/>
                              </a:rPr>
                              <m:t>2</m:t>
                            </m:r>
                          </m:sup>
                        </m:sSup>
                        <m:r>
                          <a:rPr lang="ar-AE" sz="1800" i="1">
                            <a:solidFill>
                              <a:schemeClr val="tx2"/>
                            </a:solidFill>
                            <a:latin typeface="Cambria Math" panose="02040503050406030204" pitchFamily="18" charset="0"/>
                          </a:rPr>
                          <m:t>−</m:t>
                        </m:r>
                        <m:sSup>
                          <m:sSupPr>
                            <m:ctrlPr>
                              <a:rPr lang="ar-AE" sz="1800" i="1">
                                <a:solidFill>
                                  <a:schemeClr val="tx2"/>
                                </a:solidFill>
                                <a:latin typeface="Cambria Math" panose="02040503050406030204" pitchFamily="18" charset="0"/>
                              </a:rPr>
                            </m:ctrlPr>
                          </m:sSupPr>
                          <m:e>
                            <m:r>
                              <a:rPr lang="ar-AE" sz="1800" i="1">
                                <a:solidFill>
                                  <a:schemeClr val="tx2"/>
                                </a:solidFill>
                                <a:latin typeface="Cambria Math" panose="02040503050406030204" pitchFamily="18" charset="0"/>
                              </a:rPr>
                              <m:t>𝑏</m:t>
                            </m:r>
                          </m:e>
                          <m:sup>
                            <m:r>
                              <a:rPr lang="ar-AE" sz="1800" i="1">
                                <a:solidFill>
                                  <a:schemeClr val="tx2"/>
                                </a:solidFill>
                                <a:latin typeface="Cambria Math" panose="02040503050406030204" pitchFamily="18" charset="0"/>
                              </a:rPr>
                              <m:t>1</m:t>
                            </m:r>
                          </m:sup>
                        </m:sSup>
                      </m:e>
                    </m:d>
                  </m:oMath>
                </a14:m>
                <a:endParaRPr lang="ar-AE" sz="1800">
                  <a:solidFill>
                    <a:schemeClr val="tx2"/>
                  </a:solidFill>
                </a:endParaRPr>
              </a:p>
              <a:p>
                <a:r>
                  <a:rPr lang="uk-UA" sz="1800">
                    <a:solidFill>
                      <a:schemeClr val="tx2"/>
                    </a:solidFill>
                  </a:rPr>
                  <a:t>Нейромережеві: </a:t>
                </a:r>
                <a:r>
                  <a:rPr lang="en-US" sz="1800">
                    <a:solidFill>
                      <a:schemeClr val="tx2"/>
                    </a:solidFill>
                  </a:rPr>
                  <a:t>FlowNet (end-to-end), RAFT (</a:t>
                </a:r>
                <a:r>
                  <a:rPr lang="uk-UA" sz="1800">
                    <a:solidFill>
                      <a:schemeClr val="tx2"/>
                    </a:solidFill>
                  </a:rPr>
                  <a:t>рекурентний), </a:t>
                </a:r>
                <a:r>
                  <a:rPr lang="en-US" sz="1800">
                    <a:solidFill>
                      <a:schemeClr val="tx2"/>
                    </a:solidFill>
                  </a:rPr>
                  <a:t>GeoNet (</a:t>
                </a:r>
                <a:r>
                  <a:rPr lang="uk-UA" sz="1800">
                    <a:solidFill>
                      <a:schemeClr val="tx2"/>
                    </a:solidFill>
                  </a:rPr>
                  <a:t>сумісна оцінка)</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179226" y="3329677"/>
                <a:ext cx="9833548" cy="2457269"/>
              </a:xfrm>
              <a:blipFill>
                <a:blip r:embed="rId3"/>
                <a:stretch>
                  <a:fillRect l="-372" t="-4963"/>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41656471-EA6C-71FC-A6A2-8E6116953286}"/>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594707"/>
            <a:ext cx="9833548" cy="1325563"/>
          </a:xfrm>
        </p:spPr>
        <p:txBody>
          <a:bodyPr anchor="b">
            <a:normAutofit/>
          </a:bodyPr>
          <a:lstStyle/>
          <a:p>
            <a:r>
              <a:rPr lang="uk-UA" sz="3600">
                <a:solidFill>
                  <a:schemeClr val="tx2"/>
                </a:solidFill>
              </a:rPr>
              <a:t>Нейромережеві моделі аналізу руху</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179226" y="3329677"/>
                <a:ext cx="9833548" cy="2457269"/>
              </a:xfrm>
            </p:spPr>
            <p:txBody>
              <a:bodyPr>
                <a:normAutofit/>
              </a:bodyPr>
              <a:lstStyle/>
              <a:p>
                <a:r>
                  <a:rPr lang="en-US" sz="1800" dirty="0" err="1">
                    <a:solidFill>
                      <a:schemeClr val="tx2"/>
                    </a:solidFill>
                  </a:rPr>
                  <a:t>FlowNet</a:t>
                </a:r>
                <a:r>
                  <a:rPr lang="en-US" sz="1800" dirty="0">
                    <a:solidFill>
                      <a:schemeClr val="tx2"/>
                    </a:solidFill>
                  </a:rPr>
                  <a:t>: </a:t>
                </a:r>
                <a:r>
                  <a:rPr lang="uk-UA" sz="1800" dirty="0" err="1">
                    <a:solidFill>
                      <a:schemeClr val="tx2"/>
                    </a:solidFill>
                  </a:rPr>
                  <a:t>енкодер</a:t>
                </a:r>
                <a:r>
                  <a:rPr lang="uk-UA" sz="1800" dirty="0">
                    <a:solidFill>
                      <a:schemeClr val="tx2"/>
                    </a:solidFill>
                  </a:rPr>
                  <a:t>-декодер, втрата </a:t>
                </a:r>
                <a14:m>
                  <m:oMath xmlns:m="http://schemas.openxmlformats.org/officeDocument/2006/math">
                    <m:r>
                      <a:rPr lang="uk-UA" sz="1800" i="1">
                        <a:solidFill>
                          <a:schemeClr val="tx2"/>
                        </a:solidFill>
                        <a:latin typeface="Cambria Math" panose="02040503050406030204" pitchFamily="18" charset="0"/>
                      </a:rPr>
                      <m:t>𝐸𝑃𝐸</m:t>
                    </m:r>
                    <m:d>
                      <m:dPr>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1</m:t>
                        </m:r>
                        <m:r>
                          <m:rPr>
                            <m:lit/>
                          </m:rP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𝑁</m:t>
                        </m:r>
                      </m:e>
                    </m:d>
                    <m:r>
                      <a:rPr lang="ar-AE" sz="1800" i="1">
                        <a:solidFill>
                          <a:schemeClr val="tx2"/>
                        </a:solidFill>
                        <a:latin typeface="Cambria Math" panose="02040503050406030204" pitchFamily="18" charset="0"/>
                      </a:rPr>
                      <m:t>=∑</m:t>
                    </m:r>
                    <m:sSup>
                      <m:sSupPr>
                        <m:ctrlPr>
                          <a:rPr lang="ar-AE" sz="1800" i="1">
                            <a:solidFill>
                              <a:schemeClr val="tx2"/>
                            </a:solidFill>
                            <a:latin typeface="Cambria Math" panose="02040503050406030204" pitchFamily="18" charset="0"/>
                          </a:rPr>
                        </m:ctrlPr>
                      </m:sSupPr>
                      <m:e>
                        <m:d>
                          <m:dPr>
                            <m:begChr m:val="‖"/>
                            <m:endChr m:val="‖"/>
                            <m:ctrlPr>
                              <a:rPr lang="ar-AE" sz="1800" i="1">
                                <a:solidFill>
                                  <a:schemeClr val="tx2"/>
                                </a:solidFill>
                                <a:latin typeface="Cambria Math" panose="02040503050406030204" pitchFamily="18" charset="0"/>
                              </a:rPr>
                            </m:ctrlPr>
                          </m:dPr>
                          <m:e>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𝐹</m:t>
                                </m:r>
                              </m:e>
                              <m:sub>
                                <m:r>
                                  <a:rPr lang="ar-AE" sz="1800" i="1">
                                    <a:solidFill>
                                      <a:schemeClr val="tx2"/>
                                    </a:solidFill>
                                    <a:latin typeface="Cambria Math" panose="02040503050406030204" pitchFamily="18" charset="0"/>
                                  </a:rPr>
                                  <m:t>𝑝𝑟𝑒𝑑</m:t>
                                </m:r>
                              </m:sub>
                            </m:sSub>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𝐹</m:t>
                                </m:r>
                              </m:e>
                              <m:sub>
                                <m:r>
                                  <a:rPr lang="ar-AE" sz="1800" i="1">
                                    <a:solidFill>
                                      <a:schemeClr val="tx2"/>
                                    </a:solidFill>
                                    <a:latin typeface="Cambria Math" panose="02040503050406030204" pitchFamily="18" charset="0"/>
                                  </a:rPr>
                                  <m:t>𝑔𝑡</m:t>
                                </m:r>
                              </m:sub>
                            </m:sSub>
                          </m:e>
                        </m:d>
                      </m:e>
                      <m:sup>
                        <m:r>
                          <a:rPr lang="ar-AE" sz="1800" i="1">
                            <a:solidFill>
                              <a:schemeClr val="tx2"/>
                            </a:solidFill>
                            <a:latin typeface="Cambria Math" panose="02040503050406030204" pitchFamily="18" charset="0"/>
                          </a:rPr>
                          <m:t>2</m:t>
                        </m:r>
                      </m:sup>
                    </m:sSup>
                  </m:oMath>
                </a14:m>
                <a:endParaRPr lang="ar-AE" sz="1800" dirty="0">
                  <a:solidFill>
                    <a:schemeClr val="tx2"/>
                  </a:solidFill>
                </a:endParaRPr>
              </a:p>
              <a:p>
                <a:r>
                  <a:rPr lang="en-US" sz="1800" dirty="0">
                    <a:solidFill>
                      <a:schemeClr val="tx2"/>
                    </a:solidFill>
                  </a:rPr>
                  <a:t>RAFT: </a:t>
                </a:r>
                <a:r>
                  <a:rPr lang="uk-UA" sz="1800" dirty="0">
                    <a:solidFill>
                      <a:schemeClr val="tx2"/>
                    </a:solidFill>
                  </a:rPr>
                  <a:t>кореляційний об'єм </a:t>
                </a:r>
                <a14:m>
                  <m:oMath xmlns:m="http://schemas.openxmlformats.org/officeDocument/2006/math">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𝐶</m:t>
                        </m:r>
                      </m:e>
                      <m:sub>
                        <m:r>
                          <a:rPr lang="ar-AE" sz="1800" i="1">
                            <a:solidFill>
                              <a:schemeClr val="tx2"/>
                            </a:solidFill>
                            <a:latin typeface="Cambria Math" panose="02040503050406030204" pitchFamily="18" charset="0"/>
                          </a:rPr>
                          <m:t>𝑖</m:t>
                        </m:r>
                      </m:sub>
                    </m:sSub>
                    <m:r>
                      <a:rPr lang="ar-AE" sz="1800" i="1">
                        <a:solidFill>
                          <a:schemeClr val="tx2"/>
                        </a:solidFill>
                        <a:latin typeface="Cambria Math" panose="02040503050406030204" pitchFamily="18" charset="0"/>
                      </a:rPr>
                      <m:t>𝑗𝑘𝑙</m:t>
                    </m:r>
                    <m:r>
                      <a:rPr lang="ar-AE" sz="1800" i="1">
                        <a:solidFill>
                          <a:schemeClr val="tx2"/>
                        </a:solidFill>
                        <a:latin typeface="Cambria Math" panose="02040503050406030204" pitchFamily="18" charset="0"/>
                      </a:rPr>
                      <m:t>=</m:t>
                    </m:r>
                    <m:d>
                      <m:dPr>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1</m:t>
                        </m:r>
                        <m:r>
                          <m:rPr>
                            <m:lit/>
                          </m:rPr>
                          <a:rPr lang="ar-AE" sz="1800" i="1">
                            <a:solidFill>
                              <a:schemeClr val="tx2"/>
                            </a:solidFill>
                            <a:latin typeface="Cambria Math" panose="02040503050406030204" pitchFamily="18" charset="0"/>
                          </a:rPr>
                          <m:t>/</m:t>
                        </m:r>
                        <m:rad>
                          <m:radPr>
                            <m:degHide m:val="on"/>
                            <m:ctrlPr>
                              <a:rPr lang="ar-AE" sz="1800" i="1">
                                <a:solidFill>
                                  <a:schemeClr val="tx2"/>
                                </a:solidFill>
                                <a:latin typeface="Cambria Math" panose="02040503050406030204" pitchFamily="18" charset="0"/>
                              </a:rPr>
                            </m:ctrlPr>
                          </m:radPr>
                          <m:deg/>
                          <m:e>
                            <m:d>
                              <m:dPr>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𝐻𝑊</m:t>
                                </m:r>
                              </m:e>
                            </m:d>
                          </m:e>
                        </m:rad>
                      </m:e>
                    </m:d>
                    <m:nary>
                      <m:naryPr>
                        <m:chr m:val="∑"/>
                        <m:subHide m:val="on"/>
                        <m:supHide m:val="on"/>
                        <m:ctrlPr>
                          <a:rPr lang="ar-AE" sz="1800" i="1">
                            <a:solidFill>
                              <a:schemeClr val="tx2"/>
                            </a:solidFill>
                            <a:latin typeface="Cambria Math" panose="02040503050406030204" pitchFamily="18" charset="0"/>
                          </a:rPr>
                        </m:ctrlPr>
                      </m:naryPr>
                      <m:sub/>
                      <m:sup/>
                      <m:e>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𝑓</m:t>
                            </m:r>
                          </m:e>
                          <m:sub>
                            <m:r>
                              <a:rPr lang="ar-AE" sz="1800" i="1">
                                <a:solidFill>
                                  <a:schemeClr val="tx2"/>
                                </a:solidFill>
                                <a:latin typeface="Cambria Math" panose="02040503050406030204" pitchFamily="18" charset="0"/>
                              </a:rPr>
                              <m:t>𝑖𝑗</m:t>
                            </m:r>
                            <m:r>
                              <a:rPr lang="ar-AE" sz="1800" i="1">
                                <a:solidFill>
                                  <a:schemeClr val="tx2"/>
                                </a:solidFill>
                                <a:latin typeface="Cambria Math" panose="02040503050406030204" pitchFamily="18" charset="0"/>
                              </a:rPr>
                              <m:t>h</m:t>
                            </m:r>
                            <m:r>
                              <a:rPr lang="ar-AE" sz="1800" i="1">
                                <a:solidFill>
                                  <a:schemeClr val="tx2"/>
                                </a:solidFill>
                                <a:latin typeface="Cambria Math" panose="02040503050406030204" pitchFamily="18" charset="0"/>
                              </a:rPr>
                              <m:t>𝑤</m:t>
                            </m:r>
                          </m:sub>
                        </m:sSub>
                      </m:e>
                    </m:nary>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𝑔</m:t>
                        </m:r>
                      </m:e>
                      <m:sub>
                        <m:r>
                          <a:rPr lang="ar-AE" sz="1800" i="1">
                            <a:solidFill>
                              <a:schemeClr val="tx2"/>
                            </a:solidFill>
                            <a:latin typeface="Cambria Math" panose="02040503050406030204" pitchFamily="18" charset="0"/>
                          </a:rPr>
                          <m:t>𝑘𝑙</m:t>
                        </m:r>
                        <m:r>
                          <a:rPr lang="ar-AE" sz="1800" i="1">
                            <a:solidFill>
                              <a:schemeClr val="tx2"/>
                            </a:solidFill>
                            <a:latin typeface="Cambria Math" panose="02040503050406030204" pitchFamily="18" charset="0"/>
                          </a:rPr>
                          <m:t>h</m:t>
                        </m:r>
                        <m:r>
                          <a:rPr lang="ar-AE" sz="1800" i="1">
                            <a:solidFill>
                              <a:schemeClr val="tx2"/>
                            </a:solidFill>
                            <a:latin typeface="Cambria Math" panose="02040503050406030204" pitchFamily="18" charset="0"/>
                          </a:rPr>
                          <m:t>𝑤</m:t>
                        </m:r>
                      </m:sub>
                    </m:sSub>
                  </m:oMath>
                </a14:m>
                <a:r>
                  <a:rPr lang="ar-AE" sz="1800" dirty="0">
                    <a:solidFill>
                      <a:schemeClr val="tx2"/>
                    </a:solidFill>
                  </a:rPr>
                  <a:t>, </a:t>
                </a:r>
                <a:r>
                  <a:rPr lang="en-US" sz="1800" dirty="0">
                    <a:solidFill>
                      <a:schemeClr val="tx2"/>
                    </a:solidFill>
                  </a:rPr>
                  <a:t>GRU-</a:t>
                </a:r>
                <a:r>
                  <a:rPr lang="uk-UA" sz="1800" dirty="0">
                    <a:solidFill>
                      <a:schemeClr val="tx2"/>
                    </a:solidFill>
                  </a:rPr>
                  <a:t>оновлення</a:t>
                </a:r>
              </a:p>
              <a:p>
                <a:r>
                  <a:rPr lang="en-US" sz="1800" dirty="0" err="1">
                    <a:solidFill>
                      <a:schemeClr val="tx2"/>
                    </a:solidFill>
                  </a:rPr>
                  <a:t>GeoNet</a:t>
                </a:r>
                <a:r>
                  <a:rPr lang="en-US" sz="1800" dirty="0">
                    <a:solidFill>
                      <a:schemeClr val="tx2"/>
                    </a:solidFill>
                  </a:rPr>
                  <a:t>: </a:t>
                </a:r>
                <a:r>
                  <a:rPr lang="uk-UA" sz="1800" dirty="0">
                    <a:solidFill>
                      <a:schemeClr val="tx2"/>
                    </a:solidFill>
                  </a:rPr>
                  <a:t>сумісна оцінка глибини та оптичного потоку з геометричними обмеженнями</a:t>
                </a:r>
              </a:p>
              <a:p>
                <a:r>
                  <a:rPr lang="en-US" sz="1800" dirty="0">
                    <a:solidFill>
                      <a:schemeClr val="tx2"/>
                    </a:solidFill>
                  </a:rPr>
                  <a:t>DETR: </a:t>
                </a:r>
                <a:r>
                  <a:rPr lang="uk-UA" sz="1800" dirty="0" err="1">
                    <a:solidFill>
                      <a:schemeClr val="tx2"/>
                    </a:solidFill>
                  </a:rPr>
                  <a:t>трансформер</a:t>
                </a:r>
                <a:r>
                  <a:rPr lang="uk-UA" sz="1800" dirty="0">
                    <a:solidFill>
                      <a:schemeClr val="tx2"/>
                    </a:solidFill>
                  </a:rPr>
                  <a:t> для виявлення об'єктів, угорська втрата для парування</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179226" y="3329677"/>
                <a:ext cx="9833548" cy="2457269"/>
              </a:xfrm>
              <a:blipFill>
                <a:blip r:embed="rId3"/>
                <a:stretch>
                  <a:fillRect l="-372"/>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C4F1FE74-F58B-13AE-9D90-3AF168BE091D}"/>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uk-UA" sz="4800"/>
              <a:t>Ансамблеві методи (</a:t>
            </a:r>
            <a:r>
              <a:rPr lang="en-US" sz="4800"/>
              <a:t>Bagging, Boosting)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45028" y="3017522"/>
                <a:ext cx="9941319" cy="3124658"/>
              </a:xfrm>
            </p:spPr>
            <p:txBody>
              <a:bodyPr anchor="ctr">
                <a:normAutofit/>
              </a:bodyPr>
              <a:lstStyle/>
              <a:p>
                <a:r>
                  <a:rPr lang="en-US" sz="2400" dirty="0"/>
                  <a:t>Bagging: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𝐷</m:t>
                        </m:r>
                      </m:e>
                      <m:sub>
                        <m:r>
                          <a:rPr lang="ar-AE" sz="2400" i="1">
                            <a:latin typeface="Cambria Math" panose="02040503050406030204" pitchFamily="18" charset="0"/>
                          </a:rPr>
                          <m:t>𝑏𝑎𝑔</m:t>
                        </m:r>
                      </m:sub>
                    </m:sSub>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i="1">
                            <a:latin typeface="Cambria Math" panose="02040503050406030204" pitchFamily="18" charset="0"/>
                          </a:rPr>
                          <m:t>,</m:t>
                        </m:r>
                        <m:r>
                          <a:rPr lang="ar-AE" sz="2400" i="1">
                            <a:latin typeface="Cambria Math" panose="02040503050406030204" pitchFamily="18" charset="0"/>
                          </a:rPr>
                          <m:t>𝑦</m:t>
                        </m:r>
                      </m:e>
                    </m:d>
                    <m:r>
                      <a:rPr lang="ar-AE" sz="2400" i="1">
                        <a:latin typeface="Cambria Math" panose="02040503050406030204" pitchFamily="18" charset="0"/>
                      </a:rPr>
                      <m:t>=</m:t>
                    </m:r>
                    <m:d>
                      <m:dPr>
                        <m:ctrlPr>
                          <a:rPr lang="ar-AE" sz="2400" i="1">
                            <a:latin typeface="Cambria Math" panose="02040503050406030204" pitchFamily="18" charset="0"/>
                          </a:rPr>
                        </m:ctrlPr>
                      </m:dPr>
                      <m:e>
                        <m:r>
                          <a:rPr lang="ar-AE" sz="2400" i="1">
                            <a:latin typeface="Cambria Math" panose="02040503050406030204" pitchFamily="18" charset="0"/>
                          </a:rPr>
                          <m:t>1</m:t>
                        </m:r>
                        <m:r>
                          <m:rPr>
                            <m:lit/>
                          </m:rPr>
                          <a:rPr lang="ar-AE" sz="2400" i="1">
                            <a:latin typeface="Cambria Math" panose="02040503050406030204" pitchFamily="18" charset="0"/>
                          </a:rPr>
                          <m:t>/</m:t>
                        </m:r>
                        <m:r>
                          <a:rPr lang="ar-AE" sz="2400" i="1">
                            <a:latin typeface="Cambria Math" panose="02040503050406030204" pitchFamily="18" charset="0"/>
                          </a:rPr>
                          <m:t>𝑀</m:t>
                        </m:r>
                      </m:e>
                    </m:d>
                    <m:nary>
                      <m:naryPr>
                        <m:chr m:val="∑"/>
                        <m:subHide m:val="on"/>
                        <m:supHide m:val="on"/>
                        <m:ctrlPr>
                          <a:rPr lang="ar-AE" sz="2400" i="1">
                            <a:latin typeface="Cambria Math" panose="02040503050406030204" pitchFamily="18" charset="0"/>
                          </a:rPr>
                        </m:ctrlPr>
                      </m:naryPr>
                      <m:sub/>
                      <m:sup/>
                      <m:e>
                        <m:sSub>
                          <m:sSubPr>
                            <m:ctrlPr>
                              <a:rPr lang="ar-AE" sz="2400" i="1">
                                <a:latin typeface="Cambria Math" panose="02040503050406030204" pitchFamily="18" charset="0"/>
                              </a:rPr>
                            </m:ctrlPr>
                          </m:sSubPr>
                          <m:e>
                            <m:r>
                              <a:rPr lang="ar-AE" sz="2400" i="1">
                                <a:latin typeface="Cambria Math" panose="02040503050406030204" pitchFamily="18" charset="0"/>
                              </a:rPr>
                              <m:t>𝐷</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i="1">
                                <a:latin typeface="Cambria Math" panose="02040503050406030204" pitchFamily="18" charset="0"/>
                              </a:rPr>
                              <m:t>,</m:t>
                            </m:r>
                            <m:r>
                              <a:rPr lang="ar-AE" sz="2400" i="1">
                                <a:latin typeface="Cambria Math" panose="02040503050406030204" pitchFamily="18" charset="0"/>
                              </a:rPr>
                              <m:t>𝑦</m:t>
                            </m:r>
                          </m:e>
                        </m:d>
                      </m:e>
                    </m:nary>
                  </m:oMath>
                </a14:m>
                <a:r>
                  <a:rPr lang="ar-AE" sz="2400" dirty="0"/>
                  <a:t>– </a:t>
                </a:r>
                <a:r>
                  <a:rPr lang="uk-UA" sz="2400" dirty="0"/>
                  <a:t>усереднення карт глибини</a:t>
                </a:r>
              </a:p>
              <a:p>
                <a:r>
                  <a:rPr lang="en-US" sz="2400" dirty="0"/>
                  <a:t>Boosting: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𝐷</m:t>
                        </m:r>
                      </m:e>
                      <m:sub>
                        <m:r>
                          <a:rPr lang="ar-AE" sz="2400" i="1">
                            <a:latin typeface="Cambria Math" panose="02040503050406030204" pitchFamily="18" charset="0"/>
                          </a:rPr>
                          <m:t>𝑓</m:t>
                        </m:r>
                      </m:sub>
                    </m:sSub>
                    <m:r>
                      <a:rPr lang="ar-AE" sz="2400" i="1">
                        <a:latin typeface="Cambria Math" panose="02040503050406030204" pitchFamily="18" charset="0"/>
                      </a:rPr>
                      <m:t>𝑖𝑛𝑎𝑙</m:t>
                    </m:r>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i="1">
                        <a:latin typeface="Cambria Math" panose="02040503050406030204" pitchFamily="18" charset="0"/>
                      </a:rPr>
                      <m:t>=</m:t>
                    </m:r>
                    <m:sSup>
                      <m:sSupPr>
                        <m:ctrlPr>
                          <a:rPr lang="ar-AE" sz="2400" i="1">
                            <a:latin typeface="Cambria Math" panose="02040503050406030204" pitchFamily="18" charset="0"/>
                          </a:rPr>
                        </m:ctrlPr>
                      </m:sSupPr>
                      <m:e>
                        <m:r>
                          <a:rPr lang="ar-AE" sz="2400" i="1">
                            <a:latin typeface="Cambria Math" panose="02040503050406030204" pitchFamily="18" charset="0"/>
                          </a:rPr>
                          <m:t>𝐷</m:t>
                        </m:r>
                      </m:e>
                      <m:sup>
                        <m:r>
                          <a:rPr lang="ar-AE" sz="2400" i="1">
                            <a:latin typeface="Cambria Math" panose="02040503050406030204" pitchFamily="18" charset="0"/>
                          </a:rPr>
                          <m:t>1</m:t>
                        </m:r>
                      </m:sup>
                    </m:sSup>
                    <m:d>
                      <m:dPr>
                        <m:ctrlPr>
                          <a:rPr lang="ar-AE" sz="2400" i="1">
                            <a:latin typeface="Cambria Math" panose="02040503050406030204" pitchFamily="18" charset="0"/>
                          </a:rPr>
                        </m:ctrlPr>
                      </m:dPr>
                      <m:e>
                        <m:r>
                          <a:rPr lang="ar-AE" sz="2400" i="1">
                            <a:latin typeface="Cambria Math" panose="02040503050406030204" pitchFamily="18" charset="0"/>
                          </a:rPr>
                          <m:t>𝑥</m:t>
                        </m:r>
                      </m:e>
                    </m:d>
                  </m:oMath>
                </a14:m>
                <a:r>
                  <a:rPr lang="uk-UA" sz="2400" dirty="0"/>
                  <a:t>якщо </a:t>
                </a:r>
                <a14:m>
                  <m:oMath xmlns:m="http://schemas.openxmlformats.org/officeDocument/2006/math">
                    <m:r>
                      <a:rPr lang="uk-UA" sz="2400" i="1">
                        <a:latin typeface="Cambria Math" panose="02040503050406030204" pitchFamily="18" charset="0"/>
                      </a:rPr>
                      <m:t>|</m:t>
                    </m:r>
                    <m:r>
                      <m:rPr>
                        <m:sty m:val="p"/>
                      </m:rPr>
                      <a:rPr lang="uk-UA" sz="2400" i="0">
                        <a:latin typeface="Cambria Math" panose="02040503050406030204" pitchFamily="18" charset="0"/>
                      </a:rPr>
                      <m:t>∇</m:t>
                    </m:r>
                    <m:r>
                      <a:rPr lang="uk-UA" sz="2400" i="1">
                        <a:latin typeface="Cambria Math" panose="02040503050406030204" pitchFamily="18" charset="0"/>
                      </a:rPr>
                      <m:t>𝐷</m:t>
                    </m:r>
                    <m:r>
                      <a:rPr lang="uk-UA" sz="2400" i="1">
                        <a:latin typeface="Cambria Math" panose="02040503050406030204" pitchFamily="18" charset="0"/>
                      </a:rPr>
                      <m:t>₁</m:t>
                    </m:r>
                    <m:r>
                      <a:rPr lang="uk-UA" sz="2400" i="1">
                        <a:latin typeface="Cambria Math" panose="02040503050406030204" pitchFamily="18" charset="0"/>
                      </a:rPr>
                      <m:t>(</m:t>
                    </m:r>
                    <m:r>
                      <a:rPr lang="uk-UA" sz="2400" i="1">
                        <a:latin typeface="Cambria Math" panose="02040503050406030204" pitchFamily="18" charset="0"/>
                      </a:rPr>
                      <m:t>𝑥</m:t>
                    </m:r>
                    <m:r>
                      <a:rPr lang="uk-UA" sz="2400" i="1">
                        <a:latin typeface="Cambria Math" panose="02040503050406030204" pitchFamily="18" charset="0"/>
                      </a:rPr>
                      <m:t>)|≤</m:t>
                    </m:r>
                    <m:r>
                      <a:rPr lang="uk-UA" sz="2400" i="1">
                        <a:latin typeface="Cambria Math" panose="02040503050406030204" pitchFamily="18" charset="0"/>
                      </a:rPr>
                      <m:t>𝜏</m:t>
                    </m:r>
                  </m:oMath>
                </a14:m>
                <a:r>
                  <a:rPr lang="uk-UA" sz="2400" dirty="0"/>
                  <a:t>, інакше </a:t>
                </a:r>
                <a14:m>
                  <m:oMath xmlns:m="http://schemas.openxmlformats.org/officeDocument/2006/math">
                    <m:r>
                      <a:rPr lang="uk-UA" sz="2400" i="1">
                        <a:latin typeface="Cambria Math" panose="02040503050406030204" pitchFamily="18" charset="0"/>
                      </a:rPr>
                      <m:t>𝐷</m:t>
                    </m:r>
                    <m:r>
                      <a:rPr lang="uk-UA" sz="2400" i="1">
                        <a:latin typeface="Cambria Math" panose="02040503050406030204" pitchFamily="18" charset="0"/>
                      </a:rPr>
                      <m:t>₂</m:t>
                    </m:r>
                    <m:r>
                      <a:rPr lang="uk-UA" sz="2400" i="1">
                        <a:latin typeface="Cambria Math" panose="02040503050406030204" pitchFamily="18" charset="0"/>
                      </a:rPr>
                      <m:t>(</m:t>
                    </m:r>
                    <m:r>
                      <a:rPr lang="uk-UA" sz="2400" i="1">
                        <a:latin typeface="Cambria Math" panose="02040503050406030204" pitchFamily="18" charset="0"/>
                      </a:rPr>
                      <m:t>𝑥</m:t>
                    </m:r>
                    <m:r>
                      <a:rPr lang="uk-UA" sz="2400" i="1">
                        <a:latin typeface="Cambria Math" panose="02040503050406030204" pitchFamily="18" charset="0"/>
                      </a:rPr>
                      <m:t>)</m:t>
                    </m:r>
                  </m:oMath>
                </a14:m>
                <a:r>
                  <a:rPr lang="uk-UA" sz="2400" dirty="0"/>
                  <a:t> (адаптивне комбінування)</a:t>
                </a:r>
              </a:p>
              <a:p>
                <a:r>
                  <a:rPr lang="uk-UA" sz="2400" dirty="0"/>
                  <a:t>Вага моделі в </a:t>
                </a:r>
                <a:r>
                  <a:rPr lang="uk-UA" sz="2400" dirty="0" err="1"/>
                  <a:t>бустингу</a:t>
                </a:r>
                <a:r>
                  <a:rPr lang="uk-UA" sz="2400" dirty="0"/>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i="1">
                        <a:latin typeface="Cambria Math" panose="02040503050406030204" pitchFamily="18" charset="0"/>
                      </a:rPr>
                      <m:t>=½</m:t>
                    </m:r>
                    <m:r>
                      <a:rPr lang="ar-AE" sz="2400" i="1">
                        <a:latin typeface="Cambria Math" panose="02040503050406030204" pitchFamily="18" charset="0"/>
                      </a:rPr>
                      <m:t>𝑙</m:t>
                    </m:r>
                    <m:func>
                      <m:funcPr>
                        <m:ctrlPr>
                          <a:rPr lang="ar-AE" sz="2400" i="1">
                            <a:latin typeface="Cambria Math" panose="02040503050406030204" pitchFamily="18" charset="0"/>
                          </a:rPr>
                        </m:ctrlPr>
                      </m:funcPr>
                      <m:fName>
                        <m:r>
                          <a:rPr lang="ar-AE" sz="2400" i="1">
                            <a:latin typeface="Cambria Math" panose="02040503050406030204" pitchFamily="18" charset="0"/>
                          </a:rPr>
                          <m:t>𝑛</m:t>
                        </m:r>
                      </m:fName>
                      <m:e>
                        <m:d>
                          <m:dPr>
                            <m:ctrlPr>
                              <a:rPr lang="ar-AE" sz="2400" i="1">
                                <a:latin typeface="Cambria Math" panose="02040503050406030204" pitchFamily="18" charset="0"/>
                              </a:rPr>
                            </m:ctrlPr>
                          </m:dPr>
                          <m:e>
                            <m:d>
                              <m:dPr>
                                <m:ctrlPr>
                                  <a:rPr lang="ar-AE" sz="2400" i="1">
                                    <a:latin typeface="Cambria Math" panose="02040503050406030204" pitchFamily="18" charset="0"/>
                                  </a:rPr>
                                </m:ctrlPr>
                              </m:dPr>
                              <m:e>
                                <m:r>
                                  <a:rPr lang="ar-AE" sz="2400" i="1">
                                    <a:latin typeface="Cambria Math" panose="02040503050406030204" pitchFamily="18" charset="0"/>
                                  </a:rPr>
                                  <m:t>1</m:t>
                                </m:r>
                                <m:r>
                                  <a:rPr lang="ar-AE" sz="2400" i="1">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𝜀</m:t>
                                    </m:r>
                                  </m:e>
                                  <m:sub>
                                    <m:r>
                                      <a:rPr lang="ar-AE" sz="2400" i="1">
                                        <a:latin typeface="Cambria Math" panose="02040503050406030204" pitchFamily="18" charset="0"/>
                                      </a:rPr>
                                      <m:t>𝑖</m:t>
                                    </m:r>
                                  </m:sub>
                                </m:sSub>
                              </m:e>
                            </m:d>
                            <m:r>
                              <m:rPr>
                                <m:lit/>
                              </m:rPr>
                              <a:rPr lang="ar-AE" sz="2400" i="1">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𝜀</m:t>
                                </m:r>
                              </m:e>
                              <m:sub>
                                <m:r>
                                  <a:rPr lang="ar-AE" sz="2400" i="1">
                                    <a:latin typeface="Cambria Math" panose="02040503050406030204" pitchFamily="18" charset="0"/>
                                  </a:rPr>
                                  <m:t>𝑖</m:t>
                                </m:r>
                              </m:sub>
                            </m:sSub>
                          </m:e>
                        </m:d>
                      </m:e>
                    </m:func>
                  </m:oMath>
                </a14:m>
                <a:endParaRPr lang="ar-AE" sz="2400" dirty="0"/>
              </a:p>
              <a:p>
                <a:r>
                  <a:rPr lang="uk-UA" sz="2400" dirty="0"/>
                  <a:t>Застосовано до комбінацій </a:t>
                </a:r>
                <a:r>
                  <a:rPr lang="en-US" sz="2400" dirty="0" err="1"/>
                  <a:t>MiDaS</a:t>
                </a:r>
                <a:r>
                  <a:rPr lang="en-US" sz="2400" dirty="0"/>
                  <a:t>, DPT, </a:t>
                </a:r>
                <a:r>
                  <a:rPr lang="en-US" sz="2400" dirty="0" err="1"/>
                  <a:t>GeoNet</a:t>
                </a:r>
                <a:r>
                  <a:rPr lang="en-US" sz="2400" dirty="0"/>
                  <a:t> – </a:t>
                </a:r>
                <a:r>
                  <a:rPr lang="uk-UA" sz="2400" dirty="0"/>
                  <a:t>підвищує стійкість на межах об'єктів</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045028" y="3017522"/>
                <a:ext cx="9941319" cy="3124658"/>
              </a:xfrm>
              <a:blipFill>
                <a:blip r:embed="rId3"/>
                <a:stretch>
                  <a:fillRect l="-797" t="-11306"/>
                </a:stretch>
              </a:blipFill>
            </p:spPr>
            <p:txBody>
              <a:bodyPr/>
              <a:lstStyle/>
              <a:p>
                <a:r>
                  <a:rPr lang="en-US">
                    <a:noFill/>
                  </a:rPr>
                  <a:t> </a:t>
                </a:r>
              </a:p>
            </p:txBody>
          </p:sp>
        </mc:Fallback>
      </mc:AlternateContent>
      <p:cxnSp>
        <p:nvCxnSpPr>
          <p:cNvPr id="25"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Місце для номера слайда 3">
            <a:extLst>
              <a:ext uri="{FF2B5EF4-FFF2-40B4-BE49-F238E27FC236}">
                <a16:creationId xmlns:a16="http://schemas.microsoft.com/office/drawing/2014/main" id="{F0D91BED-FEAE-8152-6484-CF52FC22CE13}"/>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5" y="1463040"/>
            <a:ext cx="3796306" cy="2690949"/>
          </a:xfrm>
        </p:spPr>
        <p:txBody>
          <a:bodyPr anchor="t">
            <a:normAutofit/>
          </a:bodyPr>
          <a:lstStyle/>
          <a:p>
            <a:pPr>
              <a:lnSpc>
                <a:spcPct val="90000"/>
              </a:lnSpc>
            </a:pPr>
            <a:r>
              <a:rPr lang="uk-UA" sz="4100"/>
              <a:t>Об'єднання методів (просторово-часова модель)</a:t>
            </a:r>
          </a:p>
        </p:txBody>
      </p:sp>
      <p:grpSp>
        <p:nvGrpSpPr>
          <p:cNvPr id="19"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1"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56218" y="1463039"/>
                <a:ext cx="5542387" cy="4300447"/>
              </a:xfrm>
            </p:spPr>
            <p:txBody>
              <a:bodyPr anchor="t">
                <a:normAutofit/>
              </a:bodyPr>
              <a:lstStyle/>
              <a:p>
                <a:r>
                  <a:rPr lang="uk-UA" sz="2200" dirty="0"/>
                  <a:t>Просторово-часова модель: </a:t>
                </a:r>
                <a14:m>
                  <m:oMath xmlns:m="http://schemas.openxmlformats.org/officeDocument/2006/math">
                    <m:r>
                      <a:rPr lang="uk-UA" sz="2200" i="1">
                        <a:latin typeface="Cambria Math" panose="02040503050406030204" pitchFamily="18" charset="0"/>
                      </a:rPr>
                      <m:t>𝐼</m:t>
                    </m:r>
                    <m:r>
                      <a:rPr lang="uk-UA" sz="2200" i="1">
                        <a:latin typeface="Cambria Math" panose="02040503050406030204" pitchFamily="18" charset="0"/>
                      </a:rPr>
                      <m:t>(</m:t>
                    </m:r>
                    <m:r>
                      <a:rPr lang="uk-UA" sz="2200" i="1">
                        <a:latin typeface="Cambria Math" panose="02040503050406030204" pitchFamily="18" charset="0"/>
                      </a:rPr>
                      <m:t>𝑥</m:t>
                    </m:r>
                    <m:r>
                      <a:rPr lang="uk-UA" sz="2200" i="1">
                        <a:latin typeface="Cambria Math" panose="02040503050406030204" pitchFamily="18" charset="0"/>
                      </a:rPr>
                      <m:t>,</m:t>
                    </m:r>
                    <m:r>
                      <a:rPr lang="uk-UA" sz="2200" i="1">
                        <a:latin typeface="Cambria Math" panose="02040503050406030204" pitchFamily="18" charset="0"/>
                      </a:rPr>
                      <m:t>𝑦</m:t>
                    </m:r>
                    <m:r>
                      <a:rPr lang="uk-UA" sz="2200" i="1">
                        <a:latin typeface="Cambria Math" panose="02040503050406030204" pitchFamily="18" charset="0"/>
                      </a:rPr>
                      <m:t>,</m:t>
                    </m:r>
                    <m:r>
                      <a:rPr lang="uk-UA" sz="2200" i="1">
                        <a:latin typeface="Cambria Math" panose="02040503050406030204" pitchFamily="18" charset="0"/>
                      </a:rPr>
                      <m:t>𝑡</m:t>
                    </m:r>
                    <m:r>
                      <a:rPr lang="uk-UA" sz="2200" i="1">
                        <a:latin typeface="Cambria Math" panose="02040503050406030204" pitchFamily="18" charset="0"/>
                      </a:rPr>
                      <m:t>)</m:t>
                    </m:r>
                  </m:oMath>
                </a14:m>
                <a:r>
                  <a:rPr lang="uk-UA" sz="2200" dirty="0"/>
                  <a:t>: </a:t>
                </a:r>
                <a14:m>
                  <m:oMath xmlns:m="http://schemas.openxmlformats.org/officeDocument/2006/math">
                    <m:r>
                      <m:rPr>
                        <m:sty m:val="p"/>
                      </m:rPr>
                      <a:rPr lang="el-GR" sz="2200" i="0">
                        <a:latin typeface="Cambria Math" panose="02040503050406030204" pitchFamily="18" charset="0"/>
                      </a:rPr>
                      <m:t>Ω</m:t>
                    </m:r>
                    <m:r>
                      <a:rPr lang="el-GR" sz="2200" i="1">
                        <a:latin typeface="Cambria Math" panose="02040503050406030204" pitchFamily="18" charset="0"/>
                      </a:rPr>
                      <m:t> ⊂ </m:t>
                    </m:r>
                    <m:r>
                      <a:rPr lang="el-GR" sz="2200" i="1">
                        <a:latin typeface="Cambria Math" panose="02040503050406030204" pitchFamily="18" charset="0"/>
                      </a:rPr>
                      <m:t>ℝ</m:t>
                    </m:r>
                    <m:r>
                      <a:rPr lang="el-GR" sz="2200" i="1">
                        <a:latin typeface="Cambria Math" panose="02040503050406030204" pitchFamily="18" charset="0"/>
                      </a:rPr>
                      <m:t>²</m:t>
                    </m:r>
                    <m:r>
                      <a:rPr lang="el-GR" sz="2200" i="1">
                        <a:latin typeface="Cambria Math" panose="02040503050406030204" pitchFamily="18" charset="0"/>
                      </a:rPr>
                      <m:t>×[</m:t>
                    </m:r>
                    <m:r>
                      <a:rPr lang="el-GR" sz="2200" i="1">
                        <a:latin typeface="Cambria Math" panose="02040503050406030204" pitchFamily="18" charset="0"/>
                      </a:rPr>
                      <m:t>0</m:t>
                    </m:r>
                    <m:r>
                      <a:rPr lang="el-GR" sz="2200" i="1">
                        <a:latin typeface="Cambria Math" panose="02040503050406030204" pitchFamily="18" charset="0"/>
                      </a:rPr>
                      <m:t>,</m:t>
                    </m:r>
                    <m:r>
                      <a:rPr lang="el-GR" sz="2200" i="1">
                        <a:latin typeface="Cambria Math" panose="02040503050406030204" pitchFamily="18" charset="0"/>
                      </a:rPr>
                      <m:t>𝑇</m:t>
                    </m:r>
                    <m:r>
                      <a:rPr lang="el-GR" sz="2200" i="1">
                        <a:latin typeface="Cambria Math" panose="02040503050406030204" pitchFamily="18" charset="0"/>
                      </a:rPr>
                      <m:t>] → </m:t>
                    </m:r>
                    <m:r>
                      <a:rPr lang="el-GR" sz="2200" i="1">
                        <a:latin typeface="Cambria Math" panose="02040503050406030204" pitchFamily="18" charset="0"/>
                      </a:rPr>
                      <m:t>ℝ</m:t>
                    </m:r>
                  </m:oMath>
                </a14:m>
                <a:endParaRPr lang="el-GR" sz="2200" dirty="0"/>
              </a:p>
              <a:p>
                <a:r>
                  <a:rPr lang="uk-UA" sz="2200" dirty="0"/>
                  <a:t>Сумісна оцінка </a:t>
                </a:r>
                <a:r>
                  <a:rPr lang="en-US" sz="2200" dirty="0" err="1"/>
                  <a:t>GeoNet</a:t>
                </a:r>
                <a:r>
                  <a:rPr lang="en-US" sz="2200" dirty="0"/>
                  <a:t>: </a:t>
                </a:r>
                <a14:m>
                  <m:oMath xmlns:m="http://schemas.openxmlformats.org/officeDocument/2006/math">
                    <m:r>
                      <a:rPr lang="en-US" sz="2200" i="1">
                        <a:latin typeface="Cambria Math" panose="02040503050406030204" pitchFamily="18" charset="0"/>
                      </a:rPr>
                      <m:t>𝐼</m:t>
                    </m:r>
                    <m:r>
                      <a:rPr lang="en-US" sz="2200" i="1">
                        <a:latin typeface="Cambria Math" panose="02040503050406030204" pitchFamily="18" charset="0"/>
                      </a:rPr>
                      <m:t>₂</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 = </m:t>
                    </m:r>
                    <m:r>
                      <a:rPr lang="en-US" sz="2200" i="1">
                        <a:latin typeface="Cambria Math" panose="02040503050406030204" pitchFamily="18" charset="0"/>
                      </a:rPr>
                      <m:t>𝐼</m:t>
                    </m:r>
                    <m:r>
                      <a:rPr lang="en-US" sz="2200" i="1">
                        <a:latin typeface="Cambria Math" panose="02040503050406030204" pitchFamily="18" charset="0"/>
                      </a:rPr>
                      <m:t>₁</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m:t>
                    </m:r>
                    <m:r>
                      <a:rPr lang="en-US" sz="2200" i="1">
                        <a:latin typeface="Cambria Math" panose="02040503050406030204" pitchFamily="18" charset="0"/>
                      </a:rPr>
                      <m:t>𝑓</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m:t>
                    </m:r>
                  </m:oMath>
                </a14:m>
                <a:r>
                  <a:rPr lang="en-US" sz="2200" dirty="0"/>
                  <a:t>, </a:t>
                </a:r>
                <a14:m>
                  <m:oMath xmlns:m="http://schemas.openxmlformats.org/officeDocument/2006/math">
                    <m:r>
                      <a:rPr lang="en-US" sz="2200" i="1">
                        <a:latin typeface="Cambria Math" panose="02040503050406030204" pitchFamily="18" charset="0"/>
                      </a:rPr>
                      <m:t>𝑓</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 = </m:t>
                    </m:r>
                    <m:r>
                      <a:rPr lang="en-US" sz="2200" i="1">
                        <a:latin typeface="Cambria Math" panose="02040503050406030204" pitchFamily="18" charset="0"/>
                      </a:rPr>
                      <m:t>𝑇</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m:t>
                    </m:r>
                    <m:r>
                      <a:rPr lang="en-US" sz="2200" i="1">
                        <a:latin typeface="Cambria Math" panose="02040503050406030204" pitchFamily="18" charset="0"/>
                      </a:rPr>
                      <m:t>𝑍</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m:t>
                    </m:r>
                    <m:r>
                      <a:rPr lang="en-US" sz="2200" i="1">
                        <a:latin typeface="Cambria Math" panose="02040503050406030204" pitchFamily="18" charset="0"/>
                      </a:rPr>
                      <m:t>𝑍</m:t>
                    </m:r>
                    <m:r>
                      <a:rPr lang="en-US" sz="2200" i="1">
                        <a:latin typeface="Cambria Math" panose="02040503050406030204" pitchFamily="18" charset="0"/>
                      </a:rPr>
                      <m:t>₀</m:t>
                    </m:r>
                    <m:r>
                      <a:rPr lang="en-US" sz="2200" i="1">
                        <a:latin typeface="Cambria Math" panose="02040503050406030204" pitchFamily="18" charset="0"/>
                      </a:rPr>
                      <m:t>)/</m:t>
                    </m:r>
                    <m:r>
                      <a:rPr lang="en-US" sz="2200" i="1">
                        <a:latin typeface="Cambria Math" panose="02040503050406030204" pitchFamily="18" charset="0"/>
                      </a:rPr>
                      <m:t>𝑍</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m:t>
                    </m:r>
                    <m:r>
                      <a:rPr lang="en-US" sz="2200" i="1">
                        <a:latin typeface="Cambria Math" panose="02040503050406030204" pitchFamily="18" charset="0"/>
                      </a:rPr>
                      <m:t>𝑝𝑟𝑜𝑗</m:t>
                    </m:r>
                    <m:r>
                      <a:rPr lang="en-US" sz="2200" i="1">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rPr>
                      <m:t>)</m:t>
                    </m:r>
                  </m:oMath>
                </a14:m>
                <a:endParaRPr lang="en-US" sz="2200" dirty="0"/>
              </a:p>
              <a:p>
                <a:r>
                  <a:rPr lang="uk-UA" sz="2200" dirty="0"/>
                  <a:t>Обчислення кінематичних параметрів за полем оптичного потоку (</a:t>
                </a:r>
                <a14:m>
                  <m:oMath xmlns:m="http://schemas.openxmlformats.org/officeDocument/2006/math">
                    <m:r>
                      <a:rPr lang="uk-UA" sz="2200" i="1">
                        <a:latin typeface="Cambria Math" panose="02040503050406030204" pitchFamily="18" charset="0"/>
                      </a:rPr>
                      <m:t>𝑣</m:t>
                    </m:r>
                  </m:oMath>
                </a14:m>
                <a:r>
                  <a:rPr lang="uk-UA" sz="2200" dirty="0"/>
                  <a:t>, </a:t>
                </a:r>
                <a14:m>
                  <m:oMath xmlns:m="http://schemas.openxmlformats.org/officeDocument/2006/math">
                    <m:r>
                      <a:rPr lang="uk-UA" sz="2200" i="1">
                        <a:latin typeface="Cambria Math" panose="02040503050406030204" pitchFamily="18" charset="0"/>
                      </a:rPr>
                      <m:t>𝜃</m:t>
                    </m:r>
                  </m:oMath>
                </a14:m>
                <a:r>
                  <a:rPr lang="uk-UA" sz="2200" dirty="0"/>
                  <a:t>, траєкторія, прискорення)</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656218" y="1463039"/>
                <a:ext cx="5542387" cy="4300447"/>
              </a:xfrm>
              <a:blipFill>
                <a:blip r:embed="rId3"/>
                <a:stretch>
                  <a:fillRect l="-1320" t="-993" r="-1760"/>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C7D2F7B-856C-2A6E-C775-68C2AF33B595}"/>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5" y="1463040"/>
            <a:ext cx="3796306" cy="2690949"/>
          </a:xfrm>
        </p:spPr>
        <p:txBody>
          <a:bodyPr anchor="t">
            <a:normAutofit/>
          </a:bodyPr>
          <a:lstStyle/>
          <a:p>
            <a:r>
              <a:rPr lang="uk-UA" sz="4800"/>
              <a:t>Концепція моделей ДІПДО</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56218" y="1463039"/>
                <a:ext cx="5542387" cy="4300447"/>
              </a:xfrm>
            </p:spPr>
            <p:txBody>
              <a:bodyPr anchor="t">
                <a:normAutofit/>
              </a:bodyPr>
              <a:lstStyle/>
              <a:p>
                <a:r>
                  <a:rPr lang="uk-UA" sz="2200" dirty="0"/>
                  <a:t>Три рівні: виявлення об'єктів (</a:t>
                </a:r>
                <a:r>
                  <a:rPr lang="en-US" sz="2200" dirty="0"/>
                  <a:t>DETR), </a:t>
                </a:r>
                <a:r>
                  <a:rPr lang="uk-UA" sz="2200" dirty="0"/>
                  <a:t>оцінка руху (оптичний потік), просторова структура (глибина)</a:t>
                </a:r>
              </a:p>
              <a:p>
                <a:r>
                  <a:rPr lang="uk-UA" sz="2200" dirty="0"/>
                  <a:t>Інтеграція дозволяє перейти від </a:t>
                </a:r>
                <a:r>
                  <a:rPr lang="uk-UA" sz="2200" dirty="0" err="1"/>
                  <a:t>покадрового</a:t>
                </a:r>
                <a:r>
                  <a:rPr lang="uk-UA" sz="2200" dirty="0"/>
                  <a:t> виявлення до просторово-часового опису</a:t>
                </a:r>
              </a:p>
              <a:p>
                <a:r>
                  <a:rPr lang="uk-UA" sz="2200" dirty="0"/>
                  <a:t>Архітектура системи: </a:t>
                </a:r>
                <a14:m>
                  <m:oMath xmlns:m="http://schemas.openxmlformats.org/officeDocument/2006/math">
                    <m:r>
                      <a:rPr lang="uk-UA" sz="2200" i="1">
                        <a:latin typeface="Cambria Math" panose="02040503050406030204" pitchFamily="18" charset="0"/>
                      </a:rPr>
                      <m:t>𝑆</m:t>
                    </m:r>
                    <m:r>
                      <a:rPr lang="uk-UA" sz="2200" i="1">
                        <a:latin typeface="Cambria Math" panose="02040503050406030204" pitchFamily="18" charset="0"/>
                      </a:rPr>
                      <m:t> = {</m:t>
                    </m:r>
                    <m:r>
                      <a:rPr lang="uk-UA" sz="2200" i="1">
                        <a:latin typeface="Cambria Math" panose="02040503050406030204" pitchFamily="18" charset="0"/>
                      </a:rPr>
                      <m:t>𝐷</m:t>
                    </m:r>
                    <m:r>
                      <a:rPr lang="uk-UA" sz="2200" i="1">
                        <a:latin typeface="Cambria Math" panose="02040503050406030204" pitchFamily="18" charset="0"/>
                      </a:rPr>
                      <m:t>, </m:t>
                    </m:r>
                    <m:r>
                      <a:rPr lang="uk-UA" sz="2200" i="1">
                        <a:latin typeface="Cambria Math" panose="02040503050406030204" pitchFamily="18" charset="0"/>
                      </a:rPr>
                      <m:t>𝐹</m:t>
                    </m:r>
                    <m:r>
                      <a:rPr lang="uk-UA" sz="2200" i="1">
                        <a:latin typeface="Cambria Math" panose="02040503050406030204" pitchFamily="18" charset="0"/>
                      </a:rPr>
                      <m:t>, </m:t>
                    </m:r>
                    <m:r>
                      <a:rPr lang="uk-UA" sz="2200" i="1">
                        <a:latin typeface="Cambria Math" panose="02040503050406030204" pitchFamily="18" charset="0"/>
                      </a:rPr>
                      <m:t>𝑍</m:t>
                    </m:r>
                    <m:r>
                      <a:rPr lang="uk-UA" sz="2200" i="1">
                        <a:latin typeface="Cambria Math" panose="02040503050406030204" pitchFamily="18" charset="0"/>
                      </a:rPr>
                      <m:t>, </m:t>
                    </m:r>
                    <m:r>
                      <a:rPr lang="uk-UA" sz="2200" i="1">
                        <a:latin typeface="Cambria Math" panose="02040503050406030204" pitchFamily="18" charset="0"/>
                      </a:rPr>
                      <m:t>𝑃</m:t>
                    </m:r>
                    <m:r>
                      <a:rPr lang="uk-UA" sz="2200" i="1">
                        <a:latin typeface="Cambria Math" panose="02040503050406030204" pitchFamily="18" charset="0"/>
                      </a:rPr>
                      <m:t>, </m:t>
                    </m:r>
                    <m:r>
                      <a:rPr lang="uk-UA" sz="2200" i="1">
                        <a:latin typeface="Cambria Math" panose="02040503050406030204" pitchFamily="18" charset="0"/>
                      </a:rPr>
                      <m:t>𝑉</m:t>
                    </m:r>
                    <m:r>
                      <a:rPr lang="uk-UA" sz="2200" i="1">
                        <a:latin typeface="Cambria Math" panose="02040503050406030204" pitchFamily="18" charset="0"/>
                      </a:rPr>
                      <m:t>}</m:t>
                    </m:r>
                  </m:oMath>
                </a14:m>
                <a:r>
                  <a:rPr lang="uk-UA" sz="2200" dirty="0"/>
                  <a:t> (детектор, оптичний потік, глибина, параметри, візуалізація)</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656218" y="1463039"/>
                <a:ext cx="5542387" cy="4300447"/>
              </a:xfrm>
              <a:blipFill>
                <a:blip r:embed="rId3"/>
                <a:stretch>
                  <a:fillRect l="-1320" t="-993" r="-330"/>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D1C49C1D-5C24-C6D8-EF61-35F1618F52B6}"/>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4672" y="802955"/>
            <a:ext cx="4766330" cy="1454051"/>
          </a:xfrm>
        </p:spPr>
        <p:txBody>
          <a:bodyPr>
            <a:normAutofit/>
          </a:bodyPr>
          <a:lstStyle/>
          <a:p>
            <a:r>
              <a:rPr lang="uk-UA" sz="3600">
                <a:solidFill>
                  <a:schemeClr val="tx2"/>
                </a:solidFill>
              </a:rPr>
              <a:t>Аналітична модель – </a:t>
            </a:r>
            <a:r>
              <a:rPr lang="en-US" sz="3600">
                <a:solidFill>
                  <a:schemeClr val="tx2"/>
                </a:solidFill>
              </a:rPr>
              <a:t>DETR + Optical Flow</a:t>
            </a:r>
          </a:p>
        </p:txBody>
      </p:sp>
      <p:sp>
        <p:nvSpPr>
          <p:cNvPr id="3" name="Content Placeholder 2"/>
          <p:cNvSpPr>
            <a:spLocks noGrp="1"/>
          </p:cNvSpPr>
          <p:nvPr>
            <p:ph idx="1"/>
          </p:nvPr>
        </p:nvSpPr>
        <p:spPr>
          <a:xfrm>
            <a:off x="804672" y="2421683"/>
            <a:ext cx="4765949" cy="3353476"/>
          </a:xfrm>
        </p:spPr>
        <p:txBody>
          <a:bodyPr anchor="t">
            <a:normAutofit/>
          </a:bodyPr>
          <a:lstStyle/>
          <a:p>
            <a:r>
              <a:rPr lang="uk-UA" sz="1800">
                <a:solidFill>
                  <a:schemeClr val="tx2"/>
                </a:solidFill>
              </a:rPr>
              <a:t>Вхідний відеопотік → </a:t>
            </a:r>
            <a:r>
              <a:rPr lang="en-US" sz="1800">
                <a:solidFill>
                  <a:schemeClr val="tx2"/>
                </a:solidFill>
              </a:rPr>
              <a:t>DETR (</a:t>
            </a:r>
            <a:r>
              <a:rPr lang="uk-UA" sz="1800">
                <a:solidFill>
                  <a:schemeClr val="tx2"/>
                </a:solidFill>
              </a:rPr>
              <a:t>локалізація об'єктів) → оптичний потік (вектори руху) → аналіз параметрів (швидкість, напрямок)</a:t>
            </a: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Рисунок 5">
            <a:extLst>
              <a:ext uri="{FF2B5EF4-FFF2-40B4-BE49-F238E27FC236}">
                <a16:creationId xmlns:a16="http://schemas.microsoft.com/office/drawing/2014/main" id="{7B4C8D36-A28D-1AEF-0726-159C26F8246E}"/>
              </a:ext>
            </a:extLst>
          </p:cNvPr>
          <p:cNvPicPr>
            <a:picLocks noChangeAspect="1"/>
          </p:cNvPicPr>
          <p:nvPr/>
        </p:nvPicPr>
        <p:blipFill>
          <a:blip r:embed="rId3"/>
          <a:stretch>
            <a:fillRect/>
          </a:stretch>
        </p:blipFill>
        <p:spPr>
          <a:xfrm>
            <a:off x="7723601" y="1700784"/>
            <a:ext cx="4111814" cy="4379976"/>
          </a:xfrm>
          <a:prstGeom prst="rect">
            <a:avLst/>
          </a:prstGeom>
        </p:spPr>
      </p:pic>
      <p:sp>
        <p:nvSpPr>
          <p:cNvPr id="4" name="Місце для номера слайда 3">
            <a:extLst>
              <a:ext uri="{FF2B5EF4-FFF2-40B4-BE49-F238E27FC236}">
                <a16:creationId xmlns:a16="http://schemas.microsoft.com/office/drawing/2014/main" id="{9E14E4F2-873C-013D-2290-BBFE45B8AF7C}"/>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280679"/>
            <a:ext cx="9833548" cy="1325563"/>
          </a:xfrm>
        </p:spPr>
        <p:txBody>
          <a:bodyPr anchor="b">
            <a:normAutofit/>
          </a:bodyPr>
          <a:lstStyle/>
          <a:p>
            <a:r>
              <a:rPr lang="uk-UA" sz="3600">
                <a:solidFill>
                  <a:schemeClr val="tx2"/>
                </a:solidFill>
              </a:rPr>
              <a:t>Модель </a:t>
            </a:r>
            <a:r>
              <a:rPr lang="en-US" sz="3600">
                <a:solidFill>
                  <a:schemeClr val="tx2"/>
                </a:solidFill>
              </a:rPr>
              <a:t>DETR (Detection Transformer)</a:t>
            </a: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79226" y="2890979"/>
                <a:ext cx="9833548" cy="2693976"/>
              </a:xfrm>
            </p:spPr>
            <p:txBody>
              <a:bodyPr>
                <a:normAutofit/>
              </a:bodyPr>
              <a:lstStyle/>
              <a:p>
                <a:r>
                  <a:rPr lang="uk-UA" sz="1800">
                    <a:solidFill>
                      <a:schemeClr val="tx2"/>
                    </a:solidFill>
                  </a:rPr>
                  <a:t>Багатоголова увага: </a:t>
                </a:r>
                <a14:m>
                  <m:oMath xmlns:m="http://schemas.openxmlformats.org/officeDocument/2006/math">
                    <m:r>
                      <a:rPr lang="uk-UA" sz="1800" i="1">
                        <a:solidFill>
                          <a:schemeClr val="tx2"/>
                        </a:solidFill>
                        <a:latin typeface="Cambria Math" panose="02040503050406030204" pitchFamily="18" charset="0"/>
                      </a:rPr>
                      <m:t>𝑀𝑢𝑙𝑡𝑖𝐻𝑒𝑎𝑑</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𝑄</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𝐾</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𝑉</m:t>
                    </m:r>
                    <m:r>
                      <a:rPr lang="uk-UA" sz="1800" i="1">
                        <a:solidFill>
                          <a:schemeClr val="tx2"/>
                        </a:solidFill>
                        <a:latin typeface="Cambria Math" panose="02040503050406030204" pitchFamily="18" charset="0"/>
                      </a:rPr>
                      <m:t>) = </m:t>
                    </m:r>
                    <m:r>
                      <a:rPr lang="uk-UA" sz="1800" i="1">
                        <a:solidFill>
                          <a:schemeClr val="tx2"/>
                        </a:solidFill>
                        <a:latin typeface="Cambria Math" panose="02040503050406030204" pitchFamily="18" charset="0"/>
                      </a:rPr>
                      <m:t>𝐶𝑜𝑛𝑐𝑎𝑡</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h</m:t>
                    </m:r>
                    <m:r>
                      <a:rPr lang="uk-UA" sz="1800" i="1">
                        <a:solidFill>
                          <a:schemeClr val="tx2"/>
                        </a:solidFill>
                        <a:latin typeface="Cambria Math" panose="02040503050406030204" pitchFamily="18" charset="0"/>
                      </a:rPr>
                      <m:t>𝑒𝑎𝑑</m:t>
                    </m:r>
                    <m:r>
                      <a:rPr lang="uk-UA" sz="1800" i="1">
                        <a:solidFill>
                          <a:schemeClr val="tx2"/>
                        </a:solidFill>
                        <a:latin typeface="Cambria Math" panose="02040503050406030204" pitchFamily="18" charset="0"/>
                      </a:rPr>
                      <m:t>₁</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h</m:t>
                    </m:r>
                    <m:r>
                      <a:rPr lang="uk-UA" sz="1800" i="1">
                        <a:solidFill>
                          <a:schemeClr val="tx2"/>
                        </a:solidFill>
                        <a:latin typeface="Cambria Math" panose="02040503050406030204" pitchFamily="18" charset="0"/>
                      </a:rPr>
                      <m:t>𝑒𝑎</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𝑑</m:t>
                        </m:r>
                      </m:e>
                      <m:sub>
                        <m:r>
                          <a:rPr lang="ar-AE" sz="1800" i="1">
                            <a:solidFill>
                              <a:schemeClr val="tx2"/>
                            </a:solidFill>
                            <a:latin typeface="Cambria Math" panose="02040503050406030204" pitchFamily="18" charset="0"/>
                          </a:rPr>
                          <m:t>h</m:t>
                        </m:r>
                      </m:sub>
                    </m:sSub>
                    <m:r>
                      <a:rPr lang="ar-AE" sz="1800" i="1">
                        <a:solidFill>
                          <a:schemeClr val="tx2"/>
                        </a:solidFill>
                        <a:latin typeface="Cambria Math" panose="02040503050406030204" pitchFamily="18" charset="0"/>
                      </a:rPr>
                      <m:t>)</m:t>
                    </m:r>
                    <m:sSup>
                      <m:sSupPr>
                        <m:ctrlPr>
                          <a:rPr lang="ar-AE" sz="1800" i="1">
                            <a:solidFill>
                              <a:schemeClr val="tx2"/>
                            </a:solidFill>
                            <a:latin typeface="Cambria Math" panose="02040503050406030204" pitchFamily="18" charset="0"/>
                          </a:rPr>
                        </m:ctrlPr>
                      </m:sSupPr>
                      <m:e>
                        <m:r>
                          <a:rPr lang="ar-AE" sz="1800" i="1">
                            <a:solidFill>
                              <a:schemeClr val="tx2"/>
                            </a:solidFill>
                            <a:latin typeface="Cambria Math" panose="02040503050406030204" pitchFamily="18" charset="0"/>
                          </a:rPr>
                          <m:t>𝑊</m:t>
                        </m:r>
                      </m:e>
                      <m:sup>
                        <m:r>
                          <a:rPr lang="ar-AE" sz="1800" i="1">
                            <a:solidFill>
                              <a:schemeClr val="tx2"/>
                            </a:solidFill>
                            <a:latin typeface="Cambria Math" panose="02040503050406030204" pitchFamily="18" charset="0"/>
                          </a:rPr>
                          <m:t>𝑂</m:t>
                        </m:r>
                      </m:sup>
                    </m:sSup>
                  </m:oMath>
                </a14:m>
                <a:endParaRPr lang="ar-AE" sz="1800">
                  <a:solidFill>
                    <a:schemeClr val="tx2"/>
                  </a:solidFill>
                </a:endParaRPr>
              </a:p>
              <a:p>
                <a:r>
                  <a:rPr lang="uk-UA" sz="1800">
                    <a:solidFill>
                      <a:schemeClr val="tx2"/>
                    </a:solidFill>
                  </a:rPr>
                  <a:t>Голова уваги: </a:t>
                </a:r>
                <a14:m>
                  <m:oMath xmlns:m="http://schemas.openxmlformats.org/officeDocument/2006/math">
                    <m:r>
                      <a:rPr lang="uk-UA" sz="1800" i="1">
                        <a:solidFill>
                          <a:schemeClr val="tx2"/>
                        </a:solidFill>
                        <a:latin typeface="Cambria Math" panose="02040503050406030204" pitchFamily="18" charset="0"/>
                      </a:rPr>
                      <m:t>h</m:t>
                    </m:r>
                    <m:r>
                      <a:rPr lang="uk-UA" sz="1800" i="1">
                        <a:solidFill>
                          <a:schemeClr val="tx2"/>
                        </a:solidFill>
                        <a:latin typeface="Cambria Math" panose="02040503050406030204" pitchFamily="18" charset="0"/>
                      </a:rPr>
                      <m:t>𝑒𝑎</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𝑑</m:t>
                        </m:r>
                      </m:e>
                      <m:sub>
                        <m:r>
                          <a:rPr lang="ar-AE" sz="1800" i="1">
                            <a:solidFill>
                              <a:schemeClr val="tx2"/>
                            </a:solidFill>
                            <a:latin typeface="Cambria Math" panose="02040503050406030204" pitchFamily="18" charset="0"/>
                          </a:rPr>
                          <m:t>𝑖</m:t>
                        </m:r>
                      </m:sub>
                    </m:sSub>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𝐴𝑡𝑡𝑒𝑛𝑡𝑖𝑜𝑛</m:t>
                    </m:r>
                    <m:d>
                      <m:dPr>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𝑄</m:t>
                        </m:r>
                        <m:sSubSup>
                          <m:sSubSupPr>
                            <m:ctrlPr>
                              <a:rPr lang="ar-AE" sz="1800" i="1">
                                <a:solidFill>
                                  <a:schemeClr val="tx2"/>
                                </a:solidFill>
                                <a:latin typeface="Cambria Math" panose="02040503050406030204" pitchFamily="18" charset="0"/>
                              </a:rPr>
                            </m:ctrlPr>
                          </m:sSubSupPr>
                          <m:e>
                            <m:r>
                              <a:rPr lang="ar-AE" sz="1800" i="1">
                                <a:solidFill>
                                  <a:schemeClr val="tx2"/>
                                </a:solidFill>
                                <a:latin typeface="Cambria Math" panose="02040503050406030204" pitchFamily="18" charset="0"/>
                              </a:rPr>
                              <m:t>𝑊</m:t>
                            </m:r>
                          </m:e>
                          <m:sub>
                            <m:r>
                              <a:rPr lang="ar-AE" sz="1800" i="1">
                                <a:solidFill>
                                  <a:schemeClr val="tx2"/>
                                </a:solidFill>
                                <a:latin typeface="Cambria Math" panose="02040503050406030204" pitchFamily="18" charset="0"/>
                              </a:rPr>
                              <m:t>𝑖</m:t>
                            </m:r>
                          </m:sub>
                          <m:sup>
                            <m:r>
                              <a:rPr lang="ar-AE" sz="1800" i="1">
                                <a:solidFill>
                                  <a:schemeClr val="tx2"/>
                                </a:solidFill>
                                <a:latin typeface="Cambria Math" panose="02040503050406030204" pitchFamily="18" charset="0"/>
                              </a:rPr>
                              <m:t>𝑄</m:t>
                            </m:r>
                          </m:sup>
                        </m:sSubSup>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𝐾</m:t>
                        </m:r>
                        <m:sSubSup>
                          <m:sSubSupPr>
                            <m:ctrlPr>
                              <a:rPr lang="ar-AE" sz="1800" i="1">
                                <a:solidFill>
                                  <a:schemeClr val="tx2"/>
                                </a:solidFill>
                                <a:latin typeface="Cambria Math" panose="02040503050406030204" pitchFamily="18" charset="0"/>
                              </a:rPr>
                            </m:ctrlPr>
                          </m:sSubSupPr>
                          <m:e>
                            <m:r>
                              <a:rPr lang="ar-AE" sz="1800" i="1">
                                <a:solidFill>
                                  <a:schemeClr val="tx2"/>
                                </a:solidFill>
                                <a:latin typeface="Cambria Math" panose="02040503050406030204" pitchFamily="18" charset="0"/>
                              </a:rPr>
                              <m:t>𝑊</m:t>
                            </m:r>
                          </m:e>
                          <m:sub>
                            <m:r>
                              <a:rPr lang="ar-AE" sz="1800" i="1">
                                <a:solidFill>
                                  <a:schemeClr val="tx2"/>
                                </a:solidFill>
                                <a:latin typeface="Cambria Math" panose="02040503050406030204" pitchFamily="18" charset="0"/>
                              </a:rPr>
                              <m:t>𝑖</m:t>
                            </m:r>
                          </m:sub>
                          <m:sup>
                            <m:r>
                              <a:rPr lang="ar-AE" sz="1800" i="1">
                                <a:solidFill>
                                  <a:schemeClr val="tx2"/>
                                </a:solidFill>
                                <a:latin typeface="Cambria Math" panose="02040503050406030204" pitchFamily="18" charset="0"/>
                              </a:rPr>
                              <m:t>𝐾</m:t>
                            </m:r>
                          </m:sup>
                        </m:sSubSup>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𝑉</m:t>
                        </m:r>
                        <m:sSubSup>
                          <m:sSubSupPr>
                            <m:ctrlPr>
                              <a:rPr lang="ar-AE" sz="1800" i="1">
                                <a:solidFill>
                                  <a:schemeClr val="tx2"/>
                                </a:solidFill>
                                <a:latin typeface="Cambria Math" panose="02040503050406030204" pitchFamily="18" charset="0"/>
                              </a:rPr>
                            </m:ctrlPr>
                          </m:sSubSupPr>
                          <m:e>
                            <m:r>
                              <a:rPr lang="ar-AE" sz="1800" i="1">
                                <a:solidFill>
                                  <a:schemeClr val="tx2"/>
                                </a:solidFill>
                                <a:latin typeface="Cambria Math" panose="02040503050406030204" pitchFamily="18" charset="0"/>
                              </a:rPr>
                              <m:t>𝑊</m:t>
                            </m:r>
                          </m:e>
                          <m:sub>
                            <m:r>
                              <a:rPr lang="ar-AE" sz="1800" i="1">
                                <a:solidFill>
                                  <a:schemeClr val="tx2"/>
                                </a:solidFill>
                                <a:latin typeface="Cambria Math" panose="02040503050406030204" pitchFamily="18" charset="0"/>
                              </a:rPr>
                              <m:t>𝑖</m:t>
                            </m:r>
                          </m:sub>
                          <m:sup>
                            <m:r>
                              <a:rPr lang="ar-AE" sz="1800" i="1">
                                <a:solidFill>
                                  <a:schemeClr val="tx2"/>
                                </a:solidFill>
                                <a:latin typeface="Cambria Math" panose="02040503050406030204" pitchFamily="18" charset="0"/>
                              </a:rPr>
                              <m:t>𝑉</m:t>
                            </m:r>
                          </m:sup>
                        </m:sSubSup>
                      </m:e>
                    </m:d>
                  </m:oMath>
                </a14:m>
                <a:endParaRPr lang="ar-AE" sz="1800">
                  <a:solidFill>
                    <a:schemeClr val="tx2"/>
                  </a:solidFill>
                </a:endParaRPr>
              </a:p>
              <a:p>
                <a:r>
                  <a:rPr lang="uk-UA" sz="1800">
                    <a:solidFill>
                      <a:schemeClr val="tx2"/>
                    </a:solidFill>
                  </a:rPr>
                  <a:t>Угорська втрата: </a:t>
                </a:r>
                <a14:m>
                  <m:oMath xmlns:m="http://schemas.openxmlformats.org/officeDocument/2006/math">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𝐻</m:t>
                        </m:r>
                      </m:sub>
                    </m:sSub>
                    <m:r>
                      <a:rPr lang="ar-AE" sz="1800" i="1">
                        <a:solidFill>
                          <a:schemeClr val="tx2"/>
                        </a:solidFill>
                        <a:latin typeface="Cambria Math" panose="02040503050406030204" pitchFamily="18" charset="0"/>
                      </a:rPr>
                      <m:t>𝑢𝑛𝑔𝑎𝑟𝑖𝑎𝑛</m:t>
                    </m:r>
                    <m:r>
                      <a:rPr lang="ar-AE" sz="1800" i="1">
                        <a:solidFill>
                          <a:schemeClr val="tx2"/>
                        </a:solidFill>
                        <a:latin typeface="Cambria Math" panose="02040503050406030204" pitchFamily="18" charset="0"/>
                      </a:rPr>
                      <m:t>=</m:t>
                    </m:r>
                    <m:nary>
                      <m:naryPr>
                        <m:chr m:val="∑"/>
                        <m:subHide m:val="on"/>
                        <m:supHide m:val="on"/>
                        <m:ctrlPr>
                          <a:rPr lang="ar-AE" sz="1800" i="1">
                            <a:solidFill>
                              <a:schemeClr val="tx2"/>
                            </a:solidFill>
                            <a:latin typeface="Cambria Math" panose="02040503050406030204" pitchFamily="18" charset="0"/>
                          </a:rPr>
                        </m:ctrlPr>
                      </m:naryPr>
                      <m:sub/>
                      <m:sup/>
                      <m:e>
                        <m:d>
                          <m:dPr>
                            <m:begChr m:val="["/>
                            <m:endChr m:val="]"/>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𝑙𝑜</m:t>
                            </m:r>
                            <m:func>
                              <m:funcPr>
                                <m:ctrlPr>
                                  <a:rPr lang="ar-AE" sz="1800" i="1">
                                    <a:solidFill>
                                      <a:schemeClr val="tx2"/>
                                    </a:solidFill>
                                    <a:latin typeface="Cambria Math" panose="02040503050406030204" pitchFamily="18" charset="0"/>
                                  </a:rPr>
                                </m:ctrlPr>
                              </m:funcPr>
                              <m:fName>
                                <m:r>
                                  <a:rPr lang="ar-AE" sz="1800" i="1">
                                    <a:solidFill>
                                      <a:schemeClr val="tx2"/>
                                    </a:solidFill>
                                    <a:latin typeface="Cambria Math" panose="02040503050406030204" pitchFamily="18" charset="0"/>
                                  </a:rPr>
                                  <m:t>𝑔</m:t>
                                </m:r>
                              </m:fName>
                              <m:e>
                                <m:r>
                                  <a:rPr lang="ar-AE" sz="1800" i="1">
                                    <a:solidFill>
                                      <a:schemeClr val="tx2"/>
                                    </a:solidFill>
                                    <a:latin typeface="Cambria Math" panose="02040503050406030204" pitchFamily="18" charset="0"/>
                                  </a:rPr>
                                  <m:t>𝑝</m:t>
                                </m:r>
                                <m:acc>
                                  <m:accPr>
                                    <m:chr m:val="̂"/>
                                    <m:ctrlPr>
                                      <a:rPr lang="ar-AE" sz="1800" i="1">
                                        <a:solidFill>
                                          <a:schemeClr val="tx2"/>
                                        </a:solidFill>
                                        <a:latin typeface="Cambria Math" panose="02040503050406030204" pitchFamily="18" charset="0"/>
                                      </a:rPr>
                                    </m:ctrlPr>
                                  </m:accPr>
                                  <m:e>
                                    <m:d>
                                      <m:dPr>
                                        <m:ctrlPr>
                                          <a:rPr lang="ar-AE" sz="1800" i="1">
                                            <a:solidFill>
                                              <a:schemeClr val="tx2"/>
                                            </a:solidFill>
                                            <a:latin typeface="Cambria Math" panose="02040503050406030204" pitchFamily="18" charset="0"/>
                                          </a:rPr>
                                        </m:ctrlPr>
                                      </m:dPr>
                                      <m:e>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𝑐</m:t>
                                            </m:r>
                                          </m:e>
                                          <m:sub>
                                            <m:r>
                                              <a:rPr lang="ar-AE" sz="1800" i="1">
                                                <a:solidFill>
                                                  <a:schemeClr val="tx2"/>
                                                </a:solidFill>
                                                <a:latin typeface="Cambria Math" panose="02040503050406030204" pitchFamily="18" charset="0"/>
                                              </a:rPr>
                                              <m:t>𝑖</m:t>
                                            </m:r>
                                          </m:sub>
                                        </m:sSub>
                                      </m:e>
                                    </m:d>
                                  </m:e>
                                </m:acc>
                              </m:e>
                            </m:func>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1</m:t>
                                </m:r>
                              </m:e>
                              <m:sub>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𝑐</m:t>
                                    </m:r>
                                  </m:e>
                                  <m:sub>
                                    <m:r>
                                      <a:rPr lang="ar-AE" sz="1800" i="1">
                                        <a:solidFill>
                                          <a:schemeClr val="tx2"/>
                                        </a:solidFill>
                                        <a:latin typeface="Cambria Math" panose="02040503050406030204" pitchFamily="18" charset="0"/>
                                      </a:rPr>
                                      <m:t>𝑖</m:t>
                                    </m:r>
                                  </m:sub>
                                </m:sSub>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m:t>
                                </m:r>
                              </m:sub>
                            </m:sSub>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𝑏</m:t>
                                </m:r>
                              </m:sub>
                            </m:sSub>
                            <m:r>
                              <a:rPr lang="ar-AE" sz="1800" i="1">
                                <a:solidFill>
                                  <a:schemeClr val="tx2"/>
                                </a:solidFill>
                                <a:latin typeface="Cambria Math" panose="02040503050406030204" pitchFamily="18" charset="0"/>
                              </a:rPr>
                              <m:t>𝑜𝑥</m:t>
                            </m:r>
                            <m:d>
                              <m:dPr>
                                <m:ctrlPr>
                                  <a:rPr lang="ar-AE" sz="1800" i="1">
                                    <a:solidFill>
                                      <a:schemeClr val="tx2"/>
                                    </a:solidFill>
                                    <a:latin typeface="Cambria Math" panose="02040503050406030204" pitchFamily="18" charset="0"/>
                                  </a:rPr>
                                </m:ctrlPr>
                              </m:dPr>
                              <m:e>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𝑏</m:t>
                                    </m:r>
                                  </m:e>
                                  <m:sub>
                                    <m:r>
                                      <a:rPr lang="ar-AE" sz="1800" i="1">
                                        <a:solidFill>
                                          <a:schemeClr val="tx2"/>
                                        </a:solidFill>
                                        <a:latin typeface="Cambria Math" panose="02040503050406030204" pitchFamily="18" charset="0"/>
                                      </a:rPr>
                                      <m:t>𝑖</m:t>
                                    </m:r>
                                  </m:sub>
                                </m:sSub>
                                <m:r>
                                  <a:rPr lang="ar-AE" sz="1800" i="1">
                                    <a:solidFill>
                                      <a:schemeClr val="tx2"/>
                                    </a:solidFill>
                                    <a:latin typeface="Cambria Math" panose="02040503050406030204" pitchFamily="18" charset="0"/>
                                  </a:rPr>
                                  <m:t>, </m:t>
                                </m:r>
                                <m:acc>
                                  <m:accPr>
                                    <m:chr m:val="̂"/>
                                    <m:ctrlPr>
                                      <a:rPr lang="ar-AE" sz="1800" i="1">
                                        <a:solidFill>
                                          <a:schemeClr val="tx2"/>
                                        </a:solidFill>
                                        <a:latin typeface="Cambria Math" panose="02040503050406030204" pitchFamily="18" charset="0"/>
                                      </a:rPr>
                                    </m:ctrlPr>
                                  </m:accPr>
                                  <m:e>
                                    <m:r>
                                      <a:rPr lang="ar-AE" sz="1800" i="1">
                                        <a:solidFill>
                                          <a:schemeClr val="tx2"/>
                                        </a:solidFill>
                                        <a:latin typeface="Cambria Math" panose="02040503050406030204" pitchFamily="18" charset="0"/>
                                      </a:rPr>
                                      <m:t>𝑏</m:t>
                                    </m:r>
                                  </m:e>
                                </m:acc>
                              </m:e>
                            </m:d>
                          </m:e>
                        </m:d>
                      </m:e>
                    </m:nary>
                  </m:oMath>
                </a14:m>
                <a:endParaRPr lang="ar-AE" sz="1800">
                  <a:solidFill>
                    <a:schemeClr val="tx2"/>
                  </a:solidFill>
                </a:endParaRPr>
              </a:p>
              <a:p>
                <a:r>
                  <a:rPr lang="uk-UA" sz="1800">
                    <a:solidFill>
                      <a:schemeClr val="tx2"/>
                    </a:solidFill>
                  </a:rPr>
                  <a:t>Позиційне кодування, кодер-декодер, </a:t>
                </a:r>
                <a:r>
                  <a:rPr lang="en-US" sz="1800">
                    <a:solidFill>
                      <a:schemeClr val="tx2"/>
                    </a:solidFill>
                  </a:rPr>
                  <a:t>FFN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79226" y="2890979"/>
                <a:ext cx="9833548" cy="2693976"/>
              </a:xfrm>
              <a:blipFill>
                <a:blip r:embed="rId3"/>
                <a:stretch>
                  <a:fillRect l="-372" t="-905"/>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C89AC34B-8E7D-2CAB-EE00-4CEDFF95D5F4}"/>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594707"/>
            <a:ext cx="9833548" cy="1325563"/>
          </a:xfrm>
        </p:spPr>
        <p:txBody>
          <a:bodyPr anchor="b">
            <a:normAutofit/>
          </a:bodyPr>
          <a:lstStyle/>
          <a:p>
            <a:r>
              <a:rPr lang="ru-RU" sz="3600">
                <a:solidFill>
                  <a:schemeClr val="tx2"/>
                </a:solidFill>
              </a:rPr>
              <a:t>Модель GeoNet (сумісна оцінка глибини та потоку)</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79226" y="3329677"/>
                <a:ext cx="9833548" cy="2457269"/>
              </a:xfrm>
            </p:spPr>
            <p:txBody>
              <a:bodyPr>
                <a:normAutofit/>
              </a:bodyPr>
              <a:lstStyle/>
              <a:p>
                <a:r>
                  <a:rPr lang="uk-UA" sz="1800">
                    <a:solidFill>
                      <a:schemeClr val="tx2"/>
                    </a:solidFill>
                  </a:rPr>
                  <a:t>Фотометрична узгодженість: </a:t>
                </a:r>
                <a14:m>
                  <m:oMath xmlns:m="http://schemas.openxmlformats.org/officeDocument/2006/math">
                    <m:r>
                      <a:rPr lang="uk-UA" sz="1800" i="1">
                        <a:solidFill>
                          <a:schemeClr val="tx2"/>
                        </a:solidFill>
                        <a:latin typeface="Cambria Math" panose="02040503050406030204" pitchFamily="18" charset="0"/>
                      </a:rPr>
                      <m:t>𝐼</m:t>
                    </m:r>
                    <m:r>
                      <a:rPr lang="uk-UA" sz="1800" i="1">
                        <a:solidFill>
                          <a:schemeClr val="tx2"/>
                        </a:solidFill>
                        <a:latin typeface="Cambria Math" panose="02040503050406030204" pitchFamily="18" charset="0"/>
                      </a:rPr>
                      <m:t>₂</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 = </m:t>
                    </m:r>
                    <m:r>
                      <a:rPr lang="uk-UA" sz="1800" i="1">
                        <a:solidFill>
                          <a:schemeClr val="tx2"/>
                        </a:solidFill>
                        <a:latin typeface="Cambria Math" panose="02040503050406030204" pitchFamily="18" charset="0"/>
                      </a:rPr>
                      <m:t>𝐼</m:t>
                    </m:r>
                    <m:r>
                      <a:rPr lang="uk-UA" sz="1800" i="1">
                        <a:solidFill>
                          <a:schemeClr val="tx2"/>
                        </a:solidFill>
                        <a:latin typeface="Cambria Math" panose="02040503050406030204" pitchFamily="18" charset="0"/>
                      </a:rPr>
                      <m:t>₁</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𝑓</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m:t>
                    </m:r>
                  </m:oMath>
                </a14:m>
                <a:endParaRPr lang="uk-UA" sz="1800">
                  <a:solidFill>
                    <a:schemeClr val="tx2"/>
                  </a:solidFill>
                </a:endParaRPr>
              </a:p>
              <a:p>
                <a:r>
                  <a:rPr lang="uk-UA" sz="1800">
                    <a:solidFill>
                      <a:schemeClr val="tx2"/>
                    </a:solidFill>
                  </a:rPr>
                  <a:t>Геометрична модель: </a:t>
                </a:r>
                <a14:m>
                  <m:oMath xmlns:m="http://schemas.openxmlformats.org/officeDocument/2006/math">
                    <m:r>
                      <a:rPr lang="uk-UA" sz="1800" i="1">
                        <a:solidFill>
                          <a:schemeClr val="tx2"/>
                        </a:solidFill>
                        <a:latin typeface="Cambria Math" panose="02040503050406030204" pitchFamily="18" charset="0"/>
                      </a:rPr>
                      <m:t>𝑓</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 = </m:t>
                    </m:r>
                    <m:r>
                      <a:rPr lang="uk-UA" sz="1800" i="1">
                        <a:solidFill>
                          <a:schemeClr val="tx2"/>
                        </a:solidFill>
                        <a:latin typeface="Cambria Math" panose="02040503050406030204" pitchFamily="18" charset="0"/>
                      </a:rPr>
                      <m:t>𝑇</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𝑍</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𝑍</m:t>
                    </m:r>
                    <m:r>
                      <a:rPr lang="uk-UA" sz="1800" i="1">
                        <a:solidFill>
                          <a:schemeClr val="tx2"/>
                        </a:solidFill>
                        <a:latin typeface="Cambria Math" panose="02040503050406030204" pitchFamily="18" charset="0"/>
                      </a:rPr>
                      <m:t>₀</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𝑍</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𝑝𝑟𝑜𝑗</m:t>
                    </m:r>
                    <m:r>
                      <a:rPr lang="uk-UA" sz="1800" i="1">
                        <a:solidFill>
                          <a:schemeClr val="tx2"/>
                        </a:solidFill>
                        <a:latin typeface="Cambria Math" panose="02040503050406030204" pitchFamily="18" charset="0"/>
                      </a:rPr>
                      <m:t>(</m:t>
                    </m:r>
                    <m:r>
                      <a:rPr lang="uk-UA" sz="1800" i="1">
                        <a:solidFill>
                          <a:schemeClr val="tx2"/>
                        </a:solidFill>
                        <a:latin typeface="Cambria Math" panose="02040503050406030204" pitchFamily="18" charset="0"/>
                      </a:rPr>
                      <m:t>𝑝</m:t>
                    </m:r>
                    <m:r>
                      <a:rPr lang="uk-UA" sz="1800" i="1">
                        <a:solidFill>
                          <a:schemeClr val="tx2"/>
                        </a:solidFill>
                        <a:latin typeface="Cambria Math" panose="02040503050406030204" pitchFamily="18" charset="0"/>
                      </a:rPr>
                      <m:t>)</m:t>
                    </m:r>
                  </m:oMath>
                </a14:m>
                <a:endParaRPr lang="uk-UA" sz="1800">
                  <a:solidFill>
                    <a:schemeClr val="tx2"/>
                  </a:solidFill>
                </a:endParaRPr>
              </a:p>
              <a:p>
                <a:r>
                  <a:rPr lang="uk-UA" sz="1800">
                    <a:solidFill>
                      <a:schemeClr val="tx2"/>
                    </a:solidFill>
                  </a:rPr>
                  <a:t>Функція втрат: </a:t>
                </a:r>
                <a14:m>
                  <m:oMath xmlns:m="http://schemas.openxmlformats.org/officeDocument/2006/math">
                    <m:r>
                      <a:rPr lang="uk-UA" sz="1800" i="1">
                        <a:solidFill>
                          <a:schemeClr val="tx2"/>
                        </a:solidFill>
                        <a:latin typeface="Cambria Math" panose="02040503050406030204" pitchFamily="18" charset="0"/>
                      </a:rPr>
                      <m:t>𝐿</m:t>
                    </m:r>
                    <m:r>
                      <a:rPr lang="uk-UA"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m:rPr>
                            <m:sty m:val="p"/>
                          </m:rPr>
                          <a:rPr lang="el-GR" sz="1800" i="0">
                            <a:solidFill>
                              <a:schemeClr val="tx2"/>
                            </a:solidFill>
                            <a:latin typeface="Cambria Math" panose="02040503050406030204" pitchFamily="18" charset="0"/>
                          </a:rPr>
                          <m:t>Σ</m:t>
                        </m:r>
                      </m:e>
                      <m:sub>
                        <m:r>
                          <a:rPr lang="ar-AE" sz="1800" i="1">
                            <a:solidFill>
                              <a:schemeClr val="tx2"/>
                            </a:solidFill>
                            <a:latin typeface="Cambria Math" panose="02040503050406030204" pitchFamily="18" charset="0"/>
                          </a:rPr>
                          <m:t>𝑙</m:t>
                        </m:r>
                      </m:sub>
                    </m:sSub>
                    <m:sSub>
                      <m:sSubPr>
                        <m:ctrlPr>
                          <a:rPr lang="ar-AE" sz="1800" i="1">
                            <a:solidFill>
                              <a:schemeClr val="tx2"/>
                            </a:solidFill>
                            <a:latin typeface="Cambria Math" panose="02040503050406030204" pitchFamily="18" charset="0"/>
                          </a:rPr>
                        </m:ctrlPr>
                      </m:sSubPr>
                      <m:e>
                        <m:r>
                          <m:rPr>
                            <m:sty m:val="p"/>
                          </m:rPr>
                          <a:rPr lang="el-GR" sz="1800" i="0">
                            <a:solidFill>
                              <a:schemeClr val="tx2"/>
                            </a:solidFill>
                            <a:latin typeface="Cambria Math" panose="02040503050406030204" pitchFamily="18" charset="0"/>
                          </a:rPr>
                          <m:t>Σ</m:t>
                        </m:r>
                      </m:e>
                      <m:sub>
                        <m:d>
                          <m:dPr>
                            <m:begChr m:val="⟨"/>
                            <m:endChr m:val="⟩"/>
                            <m:ctrlPr>
                              <a:rPr lang="ar-AE" sz="1800" i="1">
                                <a:solidFill>
                                  <a:schemeClr val="tx2"/>
                                </a:solidFill>
                                <a:latin typeface="Cambria Math" panose="02040503050406030204" pitchFamily="18" charset="0"/>
                              </a:rPr>
                            </m:ctrlPr>
                          </m:dPr>
                          <m:e>
                            <m:r>
                              <a:rPr lang="ar-AE" sz="1800" i="1">
                                <a:solidFill>
                                  <a:schemeClr val="tx2"/>
                                </a:solidFill>
                                <a:latin typeface="Cambria Math" panose="02040503050406030204" pitchFamily="18" charset="0"/>
                              </a:rPr>
                              <m:t>𝑡</m:t>
                            </m:r>
                            <m:r>
                              <a:rPr lang="ar-AE" sz="1800" i="1">
                                <a:solidFill>
                                  <a:schemeClr val="tx2"/>
                                </a:solidFill>
                                <a:latin typeface="Cambria Math" panose="02040503050406030204" pitchFamily="18" charset="0"/>
                              </a:rPr>
                              <m:t>,</m:t>
                            </m:r>
                            <m:r>
                              <a:rPr lang="ar-AE" sz="1800" i="1">
                                <a:solidFill>
                                  <a:schemeClr val="tx2"/>
                                </a:solidFill>
                                <a:latin typeface="Cambria Math" panose="02040503050406030204" pitchFamily="18" charset="0"/>
                              </a:rPr>
                              <m:t>𝑠</m:t>
                            </m:r>
                          </m:e>
                        </m:d>
                      </m:sub>
                    </m:sSub>
                    <m:d>
                      <m:dPr>
                        <m:begChr m:val="["/>
                        <m:endChr m:val="]"/>
                        <m:ctrlPr>
                          <a:rPr lang="ar-AE" sz="1800" i="1">
                            <a:solidFill>
                              <a:schemeClr val="tx2"/>
                            </a:solidFill>
                            <a:latin typeface="Cambria Math" panose="02040503050406030204" pitchFamily="18" charset="0"/>
                          </a:rPr>
                        </m:ctrlPr>
                      </m:dPr>
                      <m:e>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𝑟</m:t>
                            </m:r>
                          </m:sub>
                        </m:sSub>
                        <m:r>
                          <a:rPr lang="ar-AE" sz="1800" i="1">
                            <a:solidFill>
                              <a:schemeClr val="tx2"/>
                            </a:solidFill>
                            <a:latin typeface="Cambria Math" panose="02040503050406030204" pitchFamily="18" charset="0"/>
                          </a:rPr>
                          <m:t>𝑤</m:t>
                        </m:r>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𝜆</m:t>
                            </m:r>
                          </m:e>
                          <m:sub>
                            <m:r>
                              <a:rPr lang="ar-AE" sz="1800" i="1">
                                <a:solidFill>
                                  <a:schemeClr val="tx2"/>
                                </a:solidFill>
                                <a:latin typeface="Cambria Math" panose="02040503050406030204" pitchFamily="18" charset="0"/>
                              </a:rPr>
                              <m:t>𝑑</m:t>
                            </m:r>
                          </m:sub>
                        </m:sSub>
                        <m:r>
                          <a:rPr lang="ar-AE" sz="1800" i="1">
                            <a:solidFill>
                              <a:schemeClr val="tx2"/>
                            </a:solidFill>
                            <a:latin typeface="Cambria Math" panose="02040503050406030204" pitchFamily="18" charset="0"/>
                          </a:rPr>
                          <m:t>𝑠</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𝑑</m:t>
                            </m:r>
                          </m:sub>
                        </m:sSub>
                        <m:r>
                          <a:rPr lang="ar-AE" sz="1800" i="1">
                            <a:solidFill>
                              <a:schemeClr val="tx2"/>
                            </a:solidFill>
                            <a:latin typeface="Cambria Math" panose="02040503050406030204" pitchFamily="18" charset="0"/>
                          </a:rPr>
                          <m:t>𝑠</m:t>
                        </m:r>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𝑓</m:t>
                            </m:r>
                          </m:sub>
                        </m:sSub>
                        <m:r>
                          <a:rPr lang="ar-AE" sz="1800" i="1">
                            <a:solidFill>
                              <a:schemeClr val="tx2"/>
                            </a:solidFill>
                            <a:latin typeface="Cambria Math" panose="02040503050406030204" pitchFamily="18" charset="0"/>
                          </a:rPr>
                          <m:t>𝑤</m:t>
                        </m:r>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𝜆</m:t>
                            </m:r>
                          </m:e>
                          <m:sub>
                            <m:r>
                              <a:rPr lang="ar-AE" sz="1800" i="1">
                                <a:solidFill>
                                  <a:schemeClr val="tx2"/>
                                </a:solidFill>
                                <a:latin typeface="Cambria Math" panose="02040503050406030204" pitchFamily="18" charset="0"/>
                              </a:rPr>
                              <m:t>𝑓</m:t>
                            </m:r>
                          </m:sub>
                        </m:sSub>
                        <m:r>
                          <a:rPr lang="ar-AE" sz="1800" i="1">
                            <a:solidFill>
                              <a:schemeClr val="tx2"/>
                            </a:solidFill>
                            <a:latin typeface="Cambria Math" panose="02040503050406030204" pitchFamily="18" charset="0"/>
                          </a:rPr>
                          <m:t>𝑠</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𝑓</m:t>
                            </m:r>
                          </m:sub>
                        </m:sSub>
                        <m:r>
                          <a:rPr lang="ar-AE" sz="1800" i="1">
                            <a:solidFill>
                              <a:schemeClr val="tx2"/>
                            </a:solidFill>
                            <a:latin typeface="Cambria Math" panose="02040503050406030204" pitchFamily="18" charset="0"/>
                          </a:rPr>
                          <m:t>𝑠</m:t>
                        </m:r>
                        <m:r>
                          <a:rPr lang="ar-AE" sz="1800" i="1">
                            <a:solidFill>
                              <a:schemeClr val="tx2"/>
                            </a:solidFill>
                            <a:latin typeface="Cambria Math" panose="02040503050406030204" pitchFamily="18" charset="0"/>
                          </a:rPr>
                          <m:t>+</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𝜆</m:t>
                            </m:r>
                          </m:e>
                          <m:sub>
                            <m:r>
                              <a:rPr lang="ar-AE" sz="1800" i="1">
                                <a:solidFill>
                                  <a:schemeClr val="tx2"/>
                                </a:solidFill>
                                <a:latin typeface="Cambria Math" panose="02040503050406030204" pitchFamily="18" charset="0"/>
                              </a:rPr>
                              <m:t>𝑔</m:t>
                            </m:r>
                          </m:sub>
                        </m:sSub>
                        <m:r>
                          <a:rPr lang="ar-AE" sz="1800" i="1">
                            <a:solidFill>
                              <a:schemeClr val="tx2"/>
                            </a:solidFill>
                            <a:latin typeface="Cambria Math" panose="02040503050406030204" pitchFamily="18" charset="0"/>
                          </a:rPr>
                          <m:t>𝑐</m:t>
                        </m:r>
                        <m:sSub>
                          <m:sSubPr>
                            <m:ctrlPr>
                              <a:rPr lang="ar-AE" sz="1800" i="1">
                                <a:solidFill>
                                  <a:schemeClr val="tx2"/>
                                </a:solidFill>
                                <a:latin typeface="Cambria Math" panose="02040503050406030204" pitchFamily="18" charset="0"/>
                              </a:rPr>
                            </m:ctrlPr>
                          </m:sSubPr>
                          <m:e>
                            <m:r>
                              <a:rPr lang="ar-AE" sz="1800" i="1">
                                <a:solidFill>
                                  <a:schemeClr val="tx2"/>
                                </a:solidFill>
                                <a:latin typeface="Cambria Math" panose="02040503050406030204" pitchFamily="18" charset="0"/>
                              </a:rPr>
                              <m:t>𝐿</m:t>
                            </m:r>
                          </m:e>
                          <m:sub>
                            <m:r>
                              <a:rPr lang="ar-AE" sz="1800" i="1">
                                <a:solidFill>
                                  <a:schemeClr val="tx2"/>
                                </a:solidFill>
                                <a:latin typeface="Cambria Math" panose="02040503050406030204" pitchFamily="18" charset="0"/>
                              </a:rPr>
                              <m:t>𝑔</m:t>
                            </m:r>
                          </m:sub>
                        </m:sSub>
                        <m:r>
                          <a:rPr lang="ar-AE" sz="1800" i="1">
                            <a:solidFill>
                              <a:schemeClr val="tx2"/>
                            </a:solidFill>
                            <a:latin typeface="Cambria Math" panose="02040503050406030204" pitchFamily="18" charset="0"/>
                          </a:rPr>
                          <m:t>𝑐</m:t>
                        </m:r>
                      </m:e>
                    </m:d>
                  </m:oMath>
                </a14:m>
                <a:endParaRPr lang="ar-AE" sz="1800">
                  <a:solidFill>
                    <a:schemeClr val="tx2"/>
                  </a:solidFill>
                </a:endParaRPr>
              </a:p>
              <a:p>
                <a:r>
                  <a:rPr lang="uk-UA" sz="1800">
                    <a:solidFill>
                      <a:schemeClr val="tx2"/>
                    </a:solidFill>
                  </a:rPr>
                  <a:t>Використовується для відокремлення руху камери від руху об'єктів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79226" y="3329677"/>
                <a:ext cx="9833548" cy="2457269"/>
              </a:xfrm>
              <a:blipFill>
                <a:blip r:embed="rId3"/>
                <a:stretch>
                  <a:fillRect l="-372" t="-1241"/>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6CCAA1D6-06D2-C8C3-E275-F41F45D26BE2}"/>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3027924" y="991261"/>
            <a:ext cx="5754696" cy="1837349"/>
          </a:xfrm>
        </p:spPr>
        <p:txBody>
          <a:bodyPr>
            <a:normAutofit/>
          </a:bodyPr>
          <a:lstStyle/>
          <a:p>
            <a:r>
              <a:rPr lang="ru-RU" sz="3600">
                <a:solidFill>
                  <a:schemeClr val="tx2"/>
                </a:solidFill>
              </a:rPr>
              <a:t>Визначення параметрів методами оптичного потоку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50412" y="2979336"/>
                <a:ext cx="5709721" cy="2430864"/>
              </a:xfrm>
            </p:spPr>
            <p:txBody>
              <a:bodyPr anchor="t">
                <a:normAutofit/>
              </a:bodyPr>
              <a:lstStyle/>
              <a:p>
                <a:r>
                  <a:rPr lang="uk-UA" sz="2000">
                    <a:solidFill>
                      <a:schemeClr val="tx2"/>
                    </a:solidFill>
                  </a:rPr>
                  <a:t>Швидкість: </a:t>
                </a:r>
                <a14:m>
                  <m:oMath xmlns:m="http://schemas.openxmlformats.org/officeDocument/2006/math">
                    <m:r>
                      <a:rPr lang="uk-UA" sz="2000" i="1">
                        <a:solidFill>
                          <a:schemeClr val="tx2"/>
                        </a:solidFill>
                        <a:latin typeface="Cambria Math" panose="02040503050406030204" pitchFamily="18" charset="0"/>
                      </a:rPr>
                      <m:t>𝑣</m:t>
                    </m:r>
                    <m:r>
                      <a:rPr lang="uk-UA" sz="2000" i="1">
                        <a:solidFill>
                          <a:schemeClr val="tx2"/>
                        </a:solidFill>
                        <a:latin typeface="Cambria Math" panose="02040503050406030204" pitchFamily="18" charset="0"/>
                      </a:rPr>
                      <m:t> = (</m:t>
                    </m:r>
                    <m:r>
                      <a:rPr lang="uk-UA" sz="2000" i="1">
                        <a:solidFill>
                          <a:schemeClr val="tx2"/>
                        </a:solidFill>
                        <a:latin typeface="Cambria Math" panose="02040503050406030204" pitchFamily="18" charset="0"/>
                      </a:rPr>
                      <m:t>1</m:t>
                    </m:r>
                    <m:r>
                      <a:rPr lang="uk-UA" sz="2000" i="1">
                        <a:solidFill>
                          <a:schemeClr val="tx2"/>
                        </a:solidFill>
                        <a:latin typeface="Cambria Math" panose="02040503050406030204" pitchFamily="18" charset="0"/>
                      </a:rPr>
                      <m:t>/|</m:t>
                    </m:r>
                    <m:r>
                      <m:rPr>
                        <m:sty m:val="p"/>
                      </m:rPr>
                      <a:rPr lang="el-GR" sz="2000" i="0">
                        <a:solidFill>
                          <a:schemeClr val="tx2"/>
                        </a:solidFill>
                        <a:latin typeface="Cambria Math" panose="02040503050406030204" pitchFamily="18" charset="0"/>
                      </a:rPr>
                      <m:t>Ω</m:t>
                    </m:r>
                    <m:r>
                      <a:rPr lang="el-GR" sz="2000" i="1">
                        <a:solidFill>
                          <a:schemeClr val="tx2"/>
                        </a:solidFill>
                        <a:latin typeface="Cambria Math" panose="02040503050406030204" pitchFamily="18" charset="0"/>
                      </a:rPr>
                      <m:t>|)∬_</m:t>
                    </m:r>
                    <m:r>
                      <m:rPr>
                        <m:sty m:val="p"/>
                      </m:rPr>
                      <a:rPr lang="el-GR" sz="2000" i="0">
                        <a:solidFill>
                          <a:schemeClr val="tx2"/>
                        </a:solidFill>
                        <a:latin typeface="Cambria Math" panose="02040503050406030204" pitchFamily="18" charset="0"/>
                      </a:rPr>
                      <m:t>Ω</m:t>
                    </m:r>
                    <m:r>
                      <a:rPr lang="el-GR" sz="2000" i="1">
                        <a:solidFill>
                          <a:schemeClr val="tx2"/>
                        </a:solidFill>
                        <a:latin typeface="Cambria Math" panose="02040503050406030204" pitchFamily="18" charset="0"/>
                      </a:rPr>
                      <m:t> √(</m:t>
                    </m:r>
                    <m:r>
                      <a:rPr lang="el-GR" sz="2000" i="1">
                        <a:solidFill>
                          <a:schemeClr val="tx2"/>
                        </a:solidFill>
                        <a:latin typeface="Cambria Math" panose="02040503050406030204" pitchFamily="18" charset="0"/>
                      </a:rPr>
                      <m:t>𝑢</m:t>
                    </m:r>
                    <m:r>
                      <a:rPr lang="el-GR" sz="2000" i="1">
                        <a:solidFill>
                          <a:schemeClr val="tx2"/>
                        </a:solidFill>
                        <a:latin typeface="Cambria Math" panose="02040503050406030204" pitchFamily="18" charset="0"/>
                      </a:rPr>
                      <m:t>²</m:t>
                    </m:r>
                    <m:r>
                      <a:rPr lang="el-GR" sz="2000" i="1">
                        <a:solidFill>
                          <a:schemeClr val="tx2"/>
                        </a:solidFill>
                        <a:latin typeface="Cambria Math" panose="02040503050406030204" pitchFamily="18" charset="0"/>
                      </a:rPr>
                      <m:t>+</m:t>
                    </m:r>
                    <m:r>
                      <a:rPr lang="el-GR" sz="2000" i="1">
                        <a:solidFill>
                          <a:schemeClr val="tx2"/>
                        </a:solidFill>
                        <a:latin typeface="Cambria Math" panose="02040503050406030204" pitchFamily="18" charset="0"/>
                      </a:rPr>
                      <m:t>𝑣</m:t>
                    </m:r>
                    <m:r>
                      <a:rPr lang="el-GR" sz="2000" i="1">
                        <a:solidFill>
                          <a:schemeClr val="tx2"/>
                        </a:solidFill>
                        <a:latin typeface="Cambria Math" panose="02040503050406030204" pitchFamily="18" charset="0"/>
                      </a:rPr>
                      <m:t>²</m:t>
                    </m:r>
                    <m:r>
                      <a:rPr lang="el-GR" sz="2000" i="1">
                        <a:solidFill>
                          <a:schemeClr val="tx2"/>
                        </a:solidFill>
                        <a:latin typeface="Cambria Math" panose="02040503050406030204" pitchFamily="18" charset="0"/>
                      </a:rPr>
                      <m:t>) </m:t>
                    </m:r>
                    <m:r>
                      <a:rPr lang="el-GR" sz="2000" i="1">
                        <a:solidFill>
                          <a:schemeClr val="tx2"/>
                        </a:solidFill>
                        <a:latin typeface="Cambria Math" panose="02040503050406030204" pitchFamily="18" charset="0"/>
                      </a:rPr>
                      <m:t>𝑑𝑥𝑑𝑦</m:t>
                    </m:r>
                  </m:oMath>
                </a14:m>
                <a:endParaRPr lang="el-GR" sz="2000">
                  <a:solidFill>
                    <a:schemeClr val="tx2"/>
                  </a:solidFill>
                </a:endParaRPr>
              </a:p>
              <a:p>
                <a:r>
                  <a:rPr lang="uk-UA" sz="2000">
                    <a:solidFill>
                      <a:schemeClr val="tx2"/>
                    </a:solidFill>
                  </a:rPr>
                  <a:t>Напрямок: </a:t>
                </a:r>
                <a14:m>
                  <m:oMath xmlns:m="http://schemas.openxmlformats.org/officeDocument/2006/math">
                    <m:r>
                      <a:rPr lang="uk-UA" sz="2000" i="1">
                        <a:solidFill>
                          <a:schemeClr val="tx2"/>
                        </a:solidFill>
                        <a:latin typeface="Cambria Math" panose="02040503050406030204" pitchFamily="18" charset="0"/>
                      </a:rPr>
                      <m:t>𝜃</m:t>
                    </m:r>
                    <m:r>
                      <a:rPr lang="uk-UA" sz="2000" i="1">
                        <a:solidFill>
                          <a:schemeClr val="tx2"/>
                        </a:solidFill>
                        <a:latin typeface="Cambria Math" panose="02040503050406030204" pitchFamily="18" charset="0"/>
                      </a:rPr>
                      <m:t> = </m:t>
                    </m:r>
                    <m:r>
                      <m:rPr>
                        <m:sty m:val="p"/>
                      </m:rPr>
                      <a:rPr lang="en-US" sz="2000" i="1">
                        <a:solidFill>
                          <a:schemeClr val="tx2"/>
                        </a:solidFill>
                        <a:latin typeface="Cambria Math" panose="02040503050406030204" pitchFamily="18" charset="0"/>
                      </a:rPr>
                      <m:t>arctan</m:t>
                    </m:r>
                    <m:r>
                      <a:rPr lang="en-US" sz="2000" i="1">
                        <a:solidFill>
                          <a:schemeClr val="tx2"/>
                        </a:solidFill>
                        <a:latin typeface="Cambria Math" panose="02040503050406030204" pitchFamily="18" charset="0"/>
                      </a:rPr>
                      <m:t>⁡(∑ </m:t>
                    </m:r>
                    <m:r>
                      <m:rPr>
                        <m:sty m:val="p"/>
                      </m:rPr>
                      <a:rPr lang="en-US" sz="2000" i="1">
                        <a:solidFill>
                          <a:schemeClr val="tx2"/>
                        </a:solidFill>
                        <a:latin typeface="Cambria Math" panose="02040503050406030204" pitchFamily="18" charset="0"/>
                      </a:rPr>
                      <m:t>sin</m:t>
                    </m:r>
                    <m:r>
                      <a:rPr lang="en-US" sz="2000" i="1">
                        <a:solidFill>
                          <a:schemeClr val="tx2"/>
                        </a:solidFill>
                        <a:latin typeface="Cambria Math" panose="02040503050406030204" pitchFamily="18" charset="0"/>
                      </a:rPr>
                      <m:t>𝜃</m:t>
                    </m:r>
                    <m:r>
                      <a:rPr lang="en-US" sz="2000" i="1">
                        <a:solidFill>
                          <a:schemeClr val="tx2"/>
                        </a:solidFill>
                        <a:latin typeface="Cambria Math" panose="02040503050406030204" pitchFamily="18" charset="0"/>
                      </a:rPr>
                      <m:t>_</m:t>
                    </m:r>
                    <m:r>
                      <a:rPr lang="en-US" sz="2000" i="1">
                        <a:solidFill>
                          <a:schemeClr val="tx2"/>
                        </a:solidFill>
                        <a:latin typeface="Cambria Math" panose="02040503050406030204" pitchFamily="18" charset="0"/>
                      </a:rPr>
                      <m:t>𝑖</m:t>
                    </m:r>
                    <m:r>
                      <a:rPr lang="en-US" sz="2000" i="1">
                        <a:solidFill>
                          <a:schemeClr val="tx2"/>
                        </a:solidFill>
                        <a:latin typeface="Cambria Math" panose="02040503050406030204" pitchFamily="18" charset="0"/>
                      </a:rPr>
                      <m:t> / ∑ </m:t>
                    </m:r>
                    <m:r>
                      <m:rPr>
                        <m:sty m:val="p"/>
                      </m:rPr>
                      <a:rPr lang="en-US" sz="2000" i="1">
                        <a:solidFill>
                          <a:schemeClr val="tx2"/>
                        </a:solidFill>
                        <a:latin typeface="Cambria Math" panose="02040503050406030204" pitchFamily="18" charset="0"/>
                      </a:rPr>
                      <m:t>cos</m:t>
                    </m:r>
                    <m:r>
                      <a:rPr lang="en-US" sz="2000" i="1">
                        <a:solidFill>
                          <a:schemeClr val="tx2"/>
                        </a:solidFill>
                        <a:latin typeface="Cambria Math" panose="02040503050406030204" pitchFamily="18" charset="0"/>
                      </a:rPr>
                      <m:t>𝜃</m:t>
                    </m:r>
                    <m:r>
                      <a:rPr lang="en-US" sz="2000" i="1">
                        <a:solidFill>
                          <a:schemeClr val="tx2"/>
                        </a:solidFill>
                        <a:latin typeface="Cambria Math" panose="02040503050406030204" pitchFamily="18" charset="0"/>
                      </a:rPr>
                      <m:t>_</m:t>
                    </m:r>
                    <m:r>
                      <a:rPr lang="en-US" sz="2000" i="1">
                        <a:solidFill>
                          <a:schemeClr val="tx2"/>
                        </a:solidFill>
                        <a:latin typeface="Cambria Math" panose="02040503050406030204" pitchFamily="18" charset="0"/>
                      </a:rPr>
                      <m:t>𝑖</m:t>
                    </m:r>
                    <m:r>
                      <a:rPr lang="en-US" sz="2000" i="1">
                        <a:solidFill>
                          <a:schemeClr val="tx2"/>
                        </a:solidFill>
                        <a:latin typeface="Cambria Math" panose="02040503050406030204" pitchFamily="18" charset="0"/>
                      </a:rPr>
                      <m:t>)</m:t>
                    </m:r>
                  </m:oMath>
                </a14:m>
                <a:endParaRPr lang="en-US" sz="2000">
                  <a:solidFill>
                    <a:schemeClr val="tx2"/>
                  </a:solidFill>
                </a:endParaRPr>
              </a:p>
              <a:p>
                <a:r>
                  <a:rPr lang="uk-UA" sz="2000">
                    <a:solidFill>
                      <a:schemeClr val="tx2"/>
                    </a:solidFill>
                  </a:rPr>
                  <a:t>Траєкторія: </a:t>
                </a:r>
                <a14:m>
                  <m:oMath xmlns:m="http://schemas.openxmlformats.org/officeDocument/2006/math">
                    <m:r>
                      <a:rPr lang="uk-UA" sz="2000" i="1">
                        <a:solidFill>
                          <a:schemeClr val="tx2"/>
                        </a:solidFill>
                        <a:latin typeface="Cambria Math" panose="02040503050406030204" pitchFamily="18" charset="0"/>
                      </a:rPr>
                      <m:t>𝑇</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𝑡</m:t>
                    </m:r>
                    <m:r>
                      <a:rPr lang="uk-UA" sz="2000" i="1">
                        <a:solidFill>
                          <a:schemeClr val="tx2"/>
                        </a:solidFill>
                        <a:latin typeface="Cambria Math" panose="02040503050406030204" pitchFamily="18" charset="0"/>
                      </a:rPr>
                      <m:t>) = {</m:t>
                    </m:r>
                    <m:r>
                      <a:rPr lang="uk-UA" sz="2000" i="1">
                        <a:solidFill>
                          <a:schemeClr val="tx2"/>
                        </a:solidFill>
                        <a:latin typeface="Cambria Math" panose="02040503050406030204" pitchFamily="18" charset="0"/>
                      </a:rPr>
                      <m:t>𝑝</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𝑡</m:t>
                    </m:r>
                    <m:r>
                      <a:rPr lang="uk-UA" sz="2000" i="1">
                        <a:solidFill>
                          <a:schemeClr val="tx2"/>
                        </a:solidFill>
                        <a:latin typeface="Cambria Math" panose="02040503050406030204" pitchFamily="18" charset="0"/>
                      </a:rPr>
                      <m:t>₁</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𝑝</m:t>
                    </m:r>
                    <m:r>
                      <a:rPr lang="uk-UA" sz="2000" i="1">
                        <a:solidFill>
                          <a:schemeClr val="tx2"/>
                        </a:solidFill>
                        <a:latin typeface="Cambria Math" panose="02040503050406030204" pitchFamily="18" charset="0"/>
                      </a:rPr>
                      <m:t>(</m:t>
                    </m:r>
                    <m:sSub>
                      <m:sSubPr>
                        <m:ctrlPr>
                          <a:rPr lang="ar-AE" sz="2000" i="1">
                            <a:solidFill>
                              <a:schemeClr val="tx2"/>
                            </a:solidFill>
                            <a:latin typeface="Cambria Math" panose="02040503050406030204" pitchFamily="18" charset="0"/>
                          </a:rPr>
                        </m:ctrlPr>
                      </m:sSubPr>
                      <m:e>
                        <m:r>
                          <a:rPr lang="ar-AE" sz="2000" i="1">
                            <a:solidFill>
                              <a:schemeClr val="tx2"/>
                            </a:solidFill>
                            <a:latin typeface="Cambria Math" panose="02040503050406030204" pitchFamily="18" charset="0"/>
                          </a:rPr>
                          <m:t>𝑡</m:t>
                        </m:r>
                      </m:e>
                      <m:sub>
                        <m:r>
                          <a:rPr lang="ar-AE" sz="2000" i="1">
                            <a:solidFill>
                              <a:schemeClr val="tx2"/>
                            </a:solidFill>
                            <a:latin typeface="Cambria Math" panose="02040503050406030204" pitchFamily="18" charset="0"/>
                          </a:rPr>
                          <m:t>𝑛</m:t>
                        </m:r>
                      </m:sub>
                    </m:sSub>
                    <m:r>
                      <a:rPr lang="ar-AE" sz="2000" i="1">
                        <a:solidFill>
                          <a:schemeClr val="tx2"/>
                        </a:solidFill>
                        <a:latin typeface="Cambria Math" panose="02040503050406030204" pitchFamily="18" charset="0"/>
                      </a:rPr>
                      <m:t>)}</m:t>
                    </m:r>
                  </m:oMath>
                </a14:m>
                <a:r>
                  <a:rPr lang="ar-AE" sz="2000">
                    <a:solidFill>
                      <a:schemeClr val="tx2"/>
                    </a:solidFill>
                  </a:rPr>
                  <a:t>, </a:t>
                </a:r>
                <a:r>
                  <a:rPr lang="uk-UA" sz="2000">
                    <a:solidFill>
                      <a:schemeClr val="tx2"/>
                    </a:solidFill>
                  </a:rPr>
                  <a:t>згладжена ковзним середнім</a:t>
                </a:r>
              </a:p>
              <a:p>
                <a:r>
                  <a:rPr lang="uk-UA" sz="2000">
                    <a:solidFill>
                      <a:schemeClr val="tx2"/>
                    </a:solidFill>
                  </a:rPr>
                  <a:t>Прискорення: </a:t>
                </a:r>
                <a14:m>
                  <m:oMath xmlns:m="http://schemas.openxmlformats.org/officeDocument/2006/math">
                    <m:r>
                      <a:rPr lang="uk-UA" sz="2000" i="1">
                        <a:solidFill>
                          <a:schemeClr val="tx2"/>
                        </a:solidFill>
                        <a:latin typeface="Cambria Math" panose="02040503050406030204" pitchFamily="18" charset="0"/>
                      </a:rPr>
                      <m:t>𝑎</m:t>
                    </m:r>
                    <m:r>
                      <a:rPr lang="uk-UA" sz="2000" i="1">
                        <a:solidFill>
                          <a:schemeClr val="tx2"/>
                        </a:solidFill>
                        <a:latin typeface="Cambria Math" panose="02040503050406030204" pitchFamily="18" charset="0"/>
                      </a:rPr>
                      <m:t> = (</m:t>
                    </m:r>
                    <m:r>
                      <a:rPr lang="uk-UA" sz="2000" i="1">
                        <a:solidFill>
                          <a:schemeClr val="tx2"/>
                        </a:solidFill>
                        <a:latin typeface="Cambria Math" panose="02040503050406030204" pitchFamily="18" charset="0"/>
                      </a:rPr>
                      <m:t>𝑣</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𝑡</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1</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𝑣</m:t>
                    </m:r>
                    <m:r>
                      <a:rPr lang="uk-UA" sz="2000" i="1">
                        <a:solidFill>
                          <a:schemeClr val="tx2"/>
                        </a:solidFill>
                        <a:latin typeface="Cambria Math" panose="02040503050406030204" pitchFamily="18" charset="0"/>
                      </a:rPr>
                      <m:t>(</m:t>
                    </m:r>
                    <m:r>
                      <a:rPr lang="uk-UA" sz="2000" i="1">
                        <a:solidFill>
                          <a:schemeClr val="tx2"/>
                        </a:solidFill>
                        <a:latin typeface="Cambria Math" panose="02040503050406030204" pitchFamily="18" charset="0"/>
                      </a:rPr>
                      <m:t>𝑡</m:t>
                    </m:r>
                    <m:r>
                      <a:rPr lang="uk-UA" sz="2000" i="1">
                        <a:solidFill>
                          <a:schemeClr val="tx2"/>
                        </a:solidFill>
                        <a:latin typeface="Cambria Math" panose="02040503050406030204" pitchFamily="18" charset="0"/>
                      </a:rPr>
                      <m:t>))/</m:t>
                    </m:r>
                    <m:r>
                      <m:rPr>
                        <m:sty m:val="p"/>
                      </m:rPr>
                      <a:rPr lang="el-GR" sz="2000" i="0">
                        <a:solidFill>
                          <a:schemeClr val="tx2"/>
                        </a:solidFill>
                        <a:latin typeface="Cambria Math" panose="02040503050406030204" pitchFamily="18" charset="0"/>
                      </a:rPr>
                      <m:t>Δ</m:t>
                    </m:r>
                    <m:r>
                      <a:rPr lang="el-GR" sz="2000" i="1">
                        <a:solidFill>
                          <a:schemeClr val="tx2"/>
                        </a:solidFill>
                        <a:latin typeface="Cambria Math" panose="02040503050406030204" pitchFamily="18" charset="0"/>
                      </a:rPr>
                      <m:t>𝑡</m:t>
                    </m:r>
                  </m:oMath>
                </a14:m>
                <a:endParaRPr lang="el-GR" sz="2000">
                  <a:solidFill>
                    <a:schemeClr val="tx2"/>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50412" y="2979336"/>
                <a:ext cx="5709721" cy="2430864"/>
              </a:xfrm>
              <a:blipFill>
                <a:blip r:embed="rId3"/>
                <a:stretch>
                  <a:fillRect l="-961" t="-501"/>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Місце для номера слайда 3">
            <a:extLst>
              <a:ext uri="{FF2B5EF4-FFF2-40B4-BE49-F238E27FC236}">
                <a16:creationId xmlns:a16="http://schemas.microsoft.com/office/drawing/2014/main" id="{120FC820-2AD7-1988-555C-E811AB93022F}"/>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336390"/>
            <a:ext cx="6155988" cy="1182927"/>
          </a:xfrm>
        </p:spPr>
        <p:txBody>
          <a:bodyPr anchor="b">
            <a:normAutofit/>
          </a:bodyPr>
          <a:lstStyle/>
          <a:p>
            <a:pPr>
              <a:lnSpc>
                <a:spcPct val="90000"/>
              </a:lnSpc>
            </a:pPr>
            <a:r>
              <a:rPr lang="ru-RU" sz="3900" dirty="0"/>
              <a:t>Схема </a:t>
            </a:r>
            <a:r>
              <a:rPr lang="ru-RU" sz="3900" dirty="0" err="1"/>
              <a:t>інтеграції</a:t>
            </a:r>
            <a:r>
              <a:rPr lang="ru-RU" sz="3900" dirty="0"/>
              <a:t> </a:t>
            </a:r>
            <a:r>
              <a:rPr lang="ru-RU" sz="3900" dirty="0" err="1"/>
              <a:t>оптичного</a:t>
            </a:r>
            <a:r>
              <a:rPr lang="ru-RU" sz="3900" dirty="0"/>
              <a:t> потоку з трансформером</a:t>
            </a:r>
          </a:p>
        </p:txBody>
      </p:sp>
      <p:cxnSp>
        <p:nvCxnSpPr>
          <p:cNvPr id="26" name="Straight Connector 25">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803776" y="2829330"/>
            <a:ext cx="6190412" cy="3344459"/>
          </a:xfrm>
        </p:spPr>
        <p:txBody>
          <a:bodyPr anchor="t">
            <a:normAutofit/>
          </a:bodyPr>
          <a:lstStyle/>
          <a:p>
            <a:r>
              <a:rPr lang="ru-RU" sz="2000" dirty="0">
                <a:solidFill>
                  <a:schemeClr val="tx1">
                    <a:alpha val="80000"/>
                  </a:schemeClr>
                </a:solidFill>
              </a:rPr>
              <a:t>Кадри → </a:t>
            </a:r>
            <a:r>
              <a:rPr lang="ru-RU" sz="2000" dirty="0" err="1">
                <a:solidFill>
                  <a:schemeClr val="tx1">
                    <a:alpha val="80000"/>
                  </a:schemeClr>
                </a:solidFill>
              </a:rPr>
              <a:t>оптичний</a:t>
            </a:r>
            <a:r>
              <a:rPr lang="ru-RU" sz="2000" dirty="0">
                <a:solidFill>
                  <a:schemeClr val="tx1">
                    <a:alpha val="80000"/>
                  </a:schemeClr>
                </a:solidFill>
              </a:rPr>
              <a:t> </a:t>
            </a:r>
            <a:r>
              <a:rPr lang="ru-RU" sz="2000" dirty="0" err="1">
                <a:solidFill>
                  <a:schemeClr val="tx1">
                    <a:alpha val="80000"/>
                  </a:schemeClr>
                </a:solidFill>
              </a:rPr>
              <a:t>потік</a:t>
            </a:r>
            <a:r>
              <a:rPr lang="ru-RU" sz="2000" dirty="0">
                <a:solidFill>
                  <a:schemeClr val="tx1">
                    <a:alpha val="80000"/>
                  </a:schemeClr>
                </a:solidFill>
              </a:rPr>
              <a:t> → </a:t>
            </a:r>
            <a:r>
              <a:rPr lang="ru-RU" sz="2000" dirty="0" err="1">
                <a:solidFill>
                  <a:schemeClr val="tx1">
                    <a:alpha val="80000"/>
                  </a:schemeClr>
                </a:solidFill>
              </a:rPr>
              <a:t>вектори</a:t>
            </a:r>
            <a:r>
              <a:rPr lang="ru-RU" sz="2000" dirty="0">
                <a:solidFill>
                  <a:schemeClr val="tx1">
                    <a:alpha val="80000"/>
                  </a:schemeClr>
                </a:solidFill>
              </a:rPr>
              <a:t> руху → </a:t>
            </a:r>
            <a:r>
              <a:rPr lang="ru-RU" sz="2000" dirty="0" err="1">
                <a:solidFill>
                  <a:schemeClr val="tx1">
                    <a:alpha val="80000"/>
                  </a:schemeClr>
                </a:solidFill>
              </a:rPr>
              <a:t>трансформерна</a:t>
            </a:r>
            <a:r>
              <a:rPr lang="ru-RU" sz="2000" dirty="0">
                <a:solidFill>
                  <a:schemeClr val="tx1">
                    <a:alpha val="80000"/>
                  </a:schemeClr>
                </a:solidFill>
              </a:rPr>
              <a:t> </a:t>
            </a:r>
            <a:r>
              <a:rPr lang="ru-RU" sz="2000" dirty="0" err="1">
                <a:solidFill>
                  <a:schemeClr val="tx1">
                    <a:alpha val="80000"/>
                  </a:schemeClr>
                </a:solidFill>
              </a:rPr>
              <a:t>обробка</a:t>
            </a:r>
            <a:r>
              <a:rPr lang="ru-RU" sz="2000" dirty="0">
                <a:solidFill>
                  <a:schemeClr val="tx1">
                    <a:alpha val="80000"/>
                  </a:schemeClr>
                </a:solidFill>
              </a:rPr>
              <a:t> → </a:t>
            </a:r>
            <a:r>
              <a:rPr lang="ru-RU" sz="2000" dirty="0" err="1">
                <a:solidFill>
                  <a:schemeClr val="tx1">
                    <a:alpha val="80000"/>
                  </a:schemeClr>
                </a:solidFill>
              </a:rPr>
              <a:t>параметри</a:t>
            </a:r>
            <a:r>
              <a:rPr lang="ru-RU" sz="2000" dirty="0">
                <a:solidFill>
                  <a:schemeClr val="tx1">
                    <a:alpha val="80000"/>
                  </a:schemeClr>
                </a:solidFill>
              </a:rPr>
              <a:t> (</a:t>
            </a:r>
            <a:r>
              <a:rPr lang="ru-RU" sz="2000" dirty="0" err="1">
                <a:solidFill>
                  <a:schemeClr val="tx1">
                    <a:alpha val="80000"/>
                  </a:schemeClr>
                </a:solidFill>
              </a:rPr>
              <a:t>положення</a:t>
            </a:r>
            <a:r>
              <a:rPr lang="ru-RU" sz="2000" dirty="0">
                <a:solidFill>
                  <a:schemeClr val="tx1">
                    <a:alpha val="80000"/>
                  </a:schemeClr>
                </a:solidFill>
              </a:rPr>
              <a:t>, </a:t>
            </a:r>
            <a:r>
              <a:rPr lang="ru-RU" sz="2000" dirty="0" err="1">
                <a:solidFill>
                  <a:schemeClr val="tx1">
                    <a:alpha val="80000"/>
                  </a:schemeClr>
                </a:solidFill>
              </a:rPr>
              <a:t>швидкість</a:t>
            </a:r>
            <a:r>
              <a:rPr lang="ru-RU" sz="2000" dirty="0">
                <a:solidFill>
                  <a:schemeClr val="tx1">
                    <a:alpha val="80000"/>
                  </a:schemeClr>
                </a:solidFill>
              </a:rPr>
              <a:t>, </a:t>
            </a:r>
            <a:r>
              <a:rPr lang="ru-RU" sz="2000" dirty="0" err="1">
                <a:solidFill>
                  <a:schemeClr val="tx1">
                    <a:alpha val="80000"/>
                  </a:schemeClr>
                </a:solidFill>
              </a:rPr>
              <a:t>прискорення</a:t>
            </a:r>
            <a:r>
              <a:rPr lang="ru-RU" sz="2000" dirty="0">
                <a:solidFill>
                  <a:schemeClr val="tx1">
                    <a:alpha val="80000"/>
                  </a:schemeClr>
                </a:solidFill>
              </a:rPr>
              <a:t>, </a:t>
            </a:r>
            <a:r>
              <a:rPr lang="ru-RU" sz="2000" dirty="0" err="1">
                <a:solidFill>
                  <a:schemeClr val="tx1">
                    <a:alpha val="80000"/>
                  </a:schemeClr>
                </a:solidFill>
              </a:rPr>
              <a:t>напрям</a:t>
            </a:r>
            <a:r>
              <a:rPr lang="ru-RU" sz="2000" dirty="0">
                <a:solidFill>
                  <a:schemeClr val="tx1">
                    <a:alpha val="80000"/>
                  </a:schemeClr>
                </a:solidFill>
              </a:rPr>
              <a:t>)</a:t>
            </a:r>
          </a:p>
        </p:txBody>
      </p:sp>
      <p:pic>
        <p:nvPicPr>
          <p:cNvPr id="6" name="Рисунок 5">
            <a:extLst>
              <a:ext uri="{FF2B5EF4-FFF2-40B4-BE49-F238E27FC236}">
                <a16:creationId xmlns:a16="http://schemas.microsoft.com/office/drawing/2014/main" id="{12F94184-7E49-8BDE-90E9-7E096015267A}"/>
              </a:ext>
            </a:extLst>
          </p:cNvPr>
          <p:cNvPicPr>
            <a:picLocks noChangeAspect="1"/>
          </p:cNvPicPr>
          <p:nvPr/>
        </p:nvPicPr>
        <p:blipFill>
          <a:blip r:embed="rId3"/>
          <a:stretch>
            <a:fillRect/>
          </a:stretch>
        </p:blipFill>
        <p:spPr>
          <a:xfrm>
            <a:off x="7506252" y="-24298"/>
            <a:ext cx="4242674" cy="6815542"/>
          </a:xfrm>
          <a:prstGeom prst="rect">
            <a:avLst/>
          </a:prstGeom>
        </p:spPr>
      </p:pic>
      <p:sp>
        <p:nvSpPr>
          <p:cNvPr id="2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30"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
        <p:nvSpPr>
          <p:cNvPr id="4" name="Місце для номера слайда 3">
            <a:extLst>
              <a:ext uri="{FF2B5EF4-FFF2-40B4-BE49-F238E27FC236}">
                <a16:creationId xmlns:a16="http://schemas.microsoft.com/office/drawing/2014/main" id="{1D743A47-FF8A-CD31-F008-C29DBDDD9F2C}"/>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9E881A4-A468-403A-9941-F8FFD5C6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Рисунок 5">
            <a:extLst>
              <a:ext uri="{FF2B5EF4-FFF2-40B4-BE49-F238E27FC236}">
                <a16:creationId xmlns:a16="http://schemas.microsoft.com/office/drawing/2014/main" id="{4B0578AF-26B5-1BA6-9A4B-0567AF5528EC}"/>
              </a:ext>
            </a:extLst>
          </p:cNvPr>
          <p:cNvPicPr>
            <a:picLocks noChangeAspect="1"/>
          </p:cNvPicPr>
          <p:nvPr/>
        </p:nvPicPr>
        <p:blipFill>
          <a:blip r:embed="rId3"/>
          <a:stretch>
            <a:fillRect/>
          </a:stretch>
        </p:blipFill>
        <p:spPr>
          <a:xfrm>
            <a:off x="365760" y="-108068"/>
            <a:ext cx="3969038" cy="6966068"/>
          </a:xfrm>
          <a:prstGeom prst="rect">
            <a:avLst/>
          </a:prstGeom>
        </p:spPr>
      </p:pic>
      <p:sp>
        <p:nvSpPr>
          <p:cNvPr id="13" name="Rectangle 12">
            <a:extLst>
              <a:ext uri="{FF2B5EF4-FFF2-40B4-BE49-F238E27FC236}">
                <a16:creationId xmlns:a16="http://schemas.microsoft.com/office/drawing/2014/main" id="{6F168544-607B-491A-8601-3087D0FC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p:cNvSpPr>
            <a:spLocks noGrp="1"/>
          </p:cNvSpPr>
          <p:nvPr>
            <p:ph type="title"/>
          </p:nvPr>
        </p:nvSpPr>
        <p:spPr>
          <a:xfrm>
            <a:off x="5653287" y="871442"/>
            <a:ext cx="5667269" cy="1289024"/>
          </a:xfrm>
        </p:spPr>
        <p:txBody>
          <a:bodyPr anchor="b">
            <a:normAutofit/>
          </a:bodyPr>
          <a:lstStyle/>
          <a:p>
            <a:r>
              <a:rPr lang="uk-UA" sz="3200">
                <a:solidFill>
                  <a:srgbClr val="595959"/>
                </a:solidFill>
              </a:rPr>
              <a:t>Об'єднання моделей – інтегральна схема</a:t>
            </a:r>
          </a:p>
        </p:txBody>
      </p:sp>
      <p:sp>
        <p:nvSpPr>
          <p:cNvPr id="3" name="Content Placeholder 2"/>
          <p:cNvSpPr>
            <a:spLocks noGrp="1"/>
          </p:cNvSpPr>
          <p:nvPr>
            <p:ph idx="1"/>
          </p:nvPr>
        </p:nvSpPr>
        <p:spPr>
          <a:xfrm>
            <a:off x="5653287" y="2447337"/>
            <a:ext cx="5667269" cy="3539220"/>
          </a:xfrm>
        </p:spPr>
        <p:txBody>
          <a:bodyPr anchor="t">
            <a:normAutofit/>
          </a:bodyPr>
          <a:lstStyle/>
          <a:p>
            <a:r>
              <a:rPr lang="uk-UA" sz="2000">
                <a:solidFill>
                  <a:srgbClr val="595959"/>
                </a:solidFill>
              </a:rPr>
              <a:t>Відеопотік → оптичний потік → трансформерна мережа → ансамблевий модуль (</a:t>
            </a:r>
            <a:r>
              <a:rPr lang="en-US" sz="2000">
                <a:solidFill>
                  <a:srgbClr val="595959"/>
                </a:solidFill>
              </a:rPr>
              <a:t>Bagging/Boosting) → </a:t>
            </a:r>
            <a:r>
              <a:rPr lang="uk-UA" sz="2000">
                <a:solidFill>
                  <a:srgbClr val="595959"/>
                </a:solidFill>
              </a:rPr>
              <a:t>прогноз параметрів</a:t>
            </a:r>
          </a:p>
        </p:txBody>
      </p:sp>
      <p:sp>
        <p:nvSpPr>
          <p:cNvPr id="4" name="Місце для номера слайда 3">
            <a:extLst>
              <a:ext uri="{FF2B5EF4-FFF2-40B4-BE49-F238E27FC236}">
                <a16:creationId xmlns:a16="http://schemas.microsoft.com/office/drawing/2014/main" id="{6E406717-2F19-DFBF-B5B1-641B92325478}"/>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5052369" cy="1035781"/>
          </a:xfrm>
        </p:spPr>
        <p:txBody>
          <a:bodyPr anchor="ctr">
            <a:normAutofit/>
          </a:bodyPr>
          <a:lstStyle/>
          <a:p>
            <a:pPr>
              <a:lnSpc>
                <a:spcPct val="90000"/>
              </a:lnSpc>
            </a:pPr>
            <a:r>
              <a:rPr lang="ru-RU" sz="3300" dirty="0"/>
              <a:t>Структура </a:t>
            </a:r>
            <a:r>
              <a:rPr lang="ru-RU" sz="3300" dirty="0" err="1"/>
              <a:t>інформаційної</a:t>
            </a:r>
            <a:r>
              <a:rPr lang="ru-RU" sz="3300" dirty="0"/>
              <a:t> </a:t>
            </a:r>
            <a:r>
              <a:rPr lang="ru-RU" sz="3300" dirty="0" err="1"/>
              <a:t>технології</a:t>
            </a:r>
            <a:endParaRPr lang="ru-RU" sz="3300" dirty="0"/>
          </a:p>
        </p:txBody>
      </p:sp>
      <p:sp>
        <p:nvSpPr>
          <p:cNvPr id="3" name="Content Placeholder 2"/>
          <p:cNvSpPr>
            <a:spLocks noGrp="1"/>
          </p:cNvSpPr>
          <p:nvPr>
            <p:ph idx="1"/>
          </p:nvPr>
        </p:nvSpPr>
        <p:spPr>
          <a:xfrm>
            <a:off x="1045029" y="2524721"/>
            <a:ext cx="4991629" cy="3677123"/>
          </a:xfrm>
        </p:spPr>
        <p:txBody>
          <a:bodyPr anchor="ctr">
            <a:normAutofit/>
          </a:bodyPr>
          <a:lstStyle/>
          <a:p>
            <a:r>
              <a:rPr lang="uk-UA" sz="1800"/>
              <a:t>Вхідні дані → попередня обробка → три гілки: оптичний потік, структура сцени, виявлення об'єктів → об'єднання → ансамблева корекція → вихід</a:t>
            </a:r>
          </a:p>
        </p:txBody>
      </p:sp>
      <p:sp>
        <p:nvSpPr>
          <p:cNvPr id="20" name="Rectangle 19">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Рисунок 5">
            <a:extLst>
              <a:ext uri="{FF2B5EF4-FFF2-40B4-BE49-F238E27FC236}">
                <a16:creationId xmlns:a16="http://schemas.microsoft.com/office/drawing/2014/main" id="{5DC47C22-BAB3-AAE1-0FD8-983F8BA33006}"/>
              </a:ext>
            </a:extLst>
          </p:cNvPr>
          <p:cNvPicPr>
            <a:picLocks noChangeAspect="1"/>
          </p:cNvPicPr>
          <p:nvPr/>
        </p:nvPicPr>
        <p:blipFill>
          <a:blip r:embed="rId3"/>
          <a:stretch>
            <a:fillRect/>
          </a:stretch>
        </p:blipFill>
        <p:spPr>
          <a:xfrm>
            <a:off x="7002026" y="901032"/>
            <a:ext cx="4080185" cy="5116220"/>
          </a:xfrm>
          <a:prstGeom prst="rect">
            <a:avLst/>
          </a:prstGeom>
        </p:spPr>
      </p:pic>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Місце для номера слайда 3">
            <a:extLst>
              <a:ext uri="{FF2B5EF4-FFF2-40B4-BE49-F238E27FC236}">
                <a16:creationId xmlns:a16="http://schemas.microsoft.com/office/drawing/2014/main" id="{D69F9FE6-0613-FEF3-A67E-59AE97D07597}"/>
              </a:ext>
            </a:extLst>
          </p:cNvPr>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anchor="b">
            <a:normAutofit/>
          </a:bodyPr>
          <a:lstStyle/>
          <a:p>
            <a:pPr>
              <a:lnSpc>
                <a:spcPct val="90000"/>
              </a:lnSpc>
            </a:pPr>
            <a:r>
              <a:rPr lang="uk-UA" sz="3800" dirty="0"/>
              <a:t>Програмна реалізація</a:t>
            </a:r>
          </a:p>
        </p:txBody>
      </p:sp>
      <p:sp>
        <p:nvSpPr>
          <p:cNvPr id="3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660904"/>
            <a:ext cx="4818888" cy="3547872"/>
          </a:xfrm>
        </p:spPr>
        <p:txBody>
          <a:bodyPr anchor="t">
            <a:normAutofit/>
          </a:bodyPr>
          <a:lstStyle/>
          <a:p>
            <a:r>
              <a:rPr lang="en-US" sz="2200"/>
              <a:t>Video Stream Processing → DETR Model → Optical Flow → Forming and Displaying Results</a:t>
            </a:r>
          </a:p>
          <a:p>
            <a:r>
              <a:rPr lang="uk-UA" sz="2200"/>
              <a:t>Модульна архітектура, можливість заміни компонентів (</a:t>
            </a:r>
            <a:r>
              <a:rPr lang="en-US" sz="2200"/>
              <a:t>YOLO </a:t>
            </a:r>
            <a:r>
              <a:rPr lang="uk-UA" sz="2200"/>
              <a:t>замість </a:t>
            </a:r>
            <a:r>
              <a:rPr lang="en-US" sz="2200"/>
              <a:t>DETR, FlowNet </a:t>
            </a:r>
            <a:r>
              <a:rPr lang="uk-UA" sz="2200"/>
              <a:t>замість </a:t>
            </a:r>
            <a:r>
              <a:rPr lang="en-US" sz="2200"/>
              <a:t>Farneback)</a:t>
            </a:r>
          </a:p>
        </p:txBody>
      </p:sp>
      <p:pic>
        <p:nvPicPr>
          <p:cNvPr id="8" name="Рисунок 7">
            <a:extLst>
              <a:ext uri="{FF2B5EF4-FFF2-40B4-BE49-F238E27FC236}">
                <a16:creationId xmlns:a16="http://schemas.microsoft.com/office/drawing/2014/main" id="{1DE71103-382C-6240-83B2-274D7557E02F}"/>
              </a:ext>
            </a:extLst>
          </p:cNvPr>
          <p:cNvPicPr>
            <a:picLocks noChangeAspect="1"/>
          </p:cNvPicPr>
          <p:nvPr/>
        </p:nvPicPr>
        <p:blipFill>
          <a:blip r:embed="rId3"/>
          <a:stretch>
            <a:fillRect/>
          </a:stretch>
        </p:blipFill>
        <p:spPr>
          <a:xfrm>
            <a:off x="6306200" y="640080"/>
            <a:ext cx="5044664" cy="5577840"/>
          </a:xfrm>
          <a:prstGeom prst="rect">
            <a:avLst/>
          </a:prstGeom>
        </p:spPr>
      </p:pic>
      <p:sp>
        <p:nvSpPr>
          <p:cNvPr id="4" name="Місце для номера слайда 3">
            <a:extLst>
              <a:ext uri="{FF2B5EF4-FFF2-40B4-BE49-F238E27FC236}">
                <a16:creationId xmlns:a16="http://schemas.microsoft.com/office/drawing/2014/main" id="{D293BCFB-2918-2986-4190-15E471B350C0}"/>
              </a:ext>
            </a:extLst>
          </p:cNvPr>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anchor="b">
            <a:normAutofit/>
          </a:bodyPr>
          <a:lstStyle/>
          <a:p>
            <a:pPr>
              <a:lnSpc>
                <a:spcPct val="90000"/>
              </a:lnSpc>
            </a:pPr>
            <a:r>
              <a:rPr lang="uk-UA" sz="5000"/>
              <a:t>Ансамблеві модулі</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660904"/>
            <a:ext cx="4818888" cy="3547872"/>
          </a:xfrm>
        </p:spPr>
        <p:txBody>
          <a:bodyPr anchor="t">
            <a:normAutofit/>
          </a:bodyPr>
          <a:lstStyle/>
          <a:p>
            <a:r>
              <a:rPr lang="en-US" sz="2200"/>
              <a:t>Bagging (</a:t>
            </a:r>
            <a:r>
              <a:rPr lang="uk-UA" sz="2200"/>
              <a:t>паралельний): різні модифікації кадрів → </a:t>
            </a:r>
            <a:r>
              <a:rPr lang="en-US" sz="2200"/>
              <a:t>GeoNet → </a:t>
            </a:r>
            <a:r>
              <a:rPr lang="uk-UA" sz="2200"/>
              <a:t>усереднення карт глибини</a:t>
            </a:r>
          </a:p>
          <a:p>
            <a:r>
              <a:rPr lang="en-US" sz="2200"/>
              <a:t>Boosting (</a:t>
            </a:r>
            <a:r>
              <a:rPr lang="uk-UA" sz="2200"/>
              <a:t>послідовний): базова карта глибини → коректор зон помилок → уточнена карта</a:t>
            </a:r>
          </a:p>
        </p:txBody>
      </p:sp>
      <p:pic>
        <p:nvPicPr>
          <p:cNvPr id="6" name="Рисунок 5">
            <a:extLst>
              <a:ext uri="{FF2B5EF4-FFF2-40B4-BE49-F238E27FC236}">
                <a16:creationId xmlns:a16="http://schemas.microsoft.com/office/drawing/2014/main" id="{45658055-569C-7880-DFBC-48151D9A7C58}"/>
              </a:ext>
            </a:extLst>
          </p:cNvPr>
          <p:cNvPicPr>
            <a:picLocks noChangeAspect="1"/>
          </p:cNvPicPr>
          <p:nvPr/>
        </p:nvPicPr>
        <p:blipFill>
          <a:blip r:embed="rId3"/>
          <a:stretch>
            <a:fillRect/>
          </a:stretch>
        </p:blipFill>
        <p:spPr>
          <a:xfrm>
            <a:off x="6372617" y="640080"/>
            <a:ext cx="4911829" cy="5577840"/>
          </a:xfrm>
          <a:prstGeom prst="rect">
            <a:avLst/>
          </a:prstGeom>
        </p:spPr>
      </p:pic>
      <p:sp>
        <p:nvSpPr>
          <p:cNvPr id="4" name="Місце для номера слайда 3">
            <a:extLst>
              <a:ext uri="{FF2B5EF4-FFF2-40B4-BE49-F238E27FC236}">
                <a16:creationId xmlns:a16="http://schemas.microsoft.com/office/drawing/2014/main" id="{EC65F30D-2854-1EE8-FE46-4466A388AFC1}"/>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1" y="417576"/>
            <a:ext cx="10909640" cy="1249394"/>
          </a:xfrm>
        </p:spPr>
        <p:txBody>
          <a:bodyPr vert="horz" lIns="91440" tIns="45720" rIns="91440" bIns="45720" rtlCol="0" anchor="ctr">
            <a:normAutofit/>
          </a:bodyPr>
          <a:lstStyle/>
          <a:p>
            <a:pPr defTabSz="914400">
              <a:lnSpc>
                <a:spcPct val="90000"/>
              </a:lnSpc>
            </a:pPr>
            <a:r>
              <a:rPr lang="en-US" sz="5100" kern="1200" dirty="0" err="1">
                <a:solidFill>
                  <a:schemeClr val="tx1"/>
                </a:solidFill>
                <a:latin typeface="+mj-lt"/>
                <a:ea typeface="+mj-ea"/>
                <a:cs typeface="+mj-cs"/>
              </a:rPr>
              <a:t>Виявлення</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об'єктів</a:t>
            </a:r>
            <a:r>
              <a:rPr lang="en-US" sz="5100" kern="1200" dirty="0">
                <a:solidFill>
                  <a:schemeClr val="tx1"/>
                </a:solidFill>
                <a:latin typeface="+mj-lt"/>
                <a:ea typeface="+mj-ea"/>
                <a:cs typeface="+mj-cs"/>
              </a:rPr>
              <a:t> DETR – </a:t>
            </a:r>
            <a:r>
              <a:rPr lang="en-US" sz="5100" kern="1200" dirty="0" err="1">
                <a:solidFill>
                  <a:schemeClr val="tx1"/>
                </a:solidFill>
                <a:latin typeface="+mj-lt"/>
                <a:ea typeface="+mj-ea"/>
                <a:cs typeface="+mj-cs"/>
              </a:rPr>
              <a:t>параметри</a:t>
            </a:r>
            <a:endParaRPr lang="en-US" sz="51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070304778"/>
              </p:ext>
            </p:extLst>
          </p:nvPr>
        </p:nvGraphicFramePr>
        <p:xfrm>
          <a:off x="320040" y="2782619"/>
          <a:ext cx="11548875" cy="3288061"/>
        </p:xfrm>
        <a:graphic>
          <a:graphicData uri="http://schemas.openxmlformats.org/drawingml/2006/table">
            <a:tbl>
              <a:tblPr firstRow="1" bandRow="1">
                <a:tableStyleId>{3B4B98B0-60AC-42C2-AFA5-B58CD77FA1E5}</a:tableStyleId>
              </a:tblPr>
              <a:tblGrid>
                <a:gridCol w="960810">
                  <a:extLst>
                    <a:ext uri="{9D8B030D-6E8A-4147-A177-3AD203B41FA5}">
                      <a16:colId xmlns:a16="http://schemas.microsoft.com/office/drawing/2014/main" val="20000"/>
                    </a:ext>
                  </a:extLst>
                </a:gridCol>
                <a:gridCol w="1437618">
                  <a:extLst>
                    <a:ext uri="{9D8B030D-6E8A-4147-A177-3AD203B41FA5}">
                      <a16:colId xmlns:a16="http://schemas.microsoft.com/office/drawing/2014/main" val="20001"/>
                    </a:ext>
                  </a:extLst>
                </a:gridCol>
                <a:gridCol w="1830088">
                  <a:extLst>
                    <a:ext uri="{9D8B030D-6E8A-4147-A177-3AD203B41FA5}">
                      <a16:colId xmlns:a16="http://schemas.microsoft.com/office/drawing/2014/main" val="20002"/>
                    </a:ext>
                  </a:extLst>
                </a:gridCol>
                <a:gridCol w="1830088">
                  <a:extLst>
                    <a:ext uri="{9D8B030D-6E8A-4147-A177-3AD203B41FA5}">
                      <a16:colId xmlns:a16="http://schemas.microsoft.com/office/drawing/2014/main" val="20003"/>
                    </a:ext>
                  </a:extLst>
                </a:gridCol>
                <a:gridCol w="1830088">
                  <a:extLst>
                    <a:ext uri="{9D8B030D-6E8A-4147-A177-3AD203B41FA5}">
                      <a16:colId xmlns:a16="http://schemas.microsoft.com/office/drawing/2014/main" val="20004"/>
                    </a:ext>
                  </a:extLst>
                </a:gridCol>
                <a:gridCol w="1830088">
                  <a:extLst>
                    <a:ext uri="{9D8B030D-6E8A-4147-A177-3AD203B41FA5}">
                      <a16:colId xmlns:a16="http://schemas.microsoft.com/office/drawing/2014/main" val="20005"/>
                    </a:ext>
                  </a:extLst>
                </a:gridCol>
                <a:gridCol w="1830095">
                  <a:extLst>
                    <a:ext uri="{9D8B030D-6E8A-4147-A177-3AD203B41FA5}">
                      <a16:colId xmlns:a16="http://schemas.microsoft.com/office/drawing/2014/main" val="20006"/>
                    </a:ext>
                  </a:extLst>
                </a:gridCol>
              </a:tblGrid>
              <a:tr h="469723">
                <a:tc>
                  <a:txBody>
                    <a:bodyPr/>
                    <a:lstStyle/>
                    <a:p>
                      <a:pPr>
                        <a:defRPr b="1"/>
                      </a:pPr>
                      <a:r>
                        <a:rPr lang="en-US" sz="2100"/>
                        <a:t>ID</a:t>
                      </a:r>
                    </a:p>
                  </a:txBody>
                  <a:tcPr marL="106755" marR="106755" marT="53378" marB="53378"/>
                </a:tc>
                <a:tc>
                  <a:txBody>
                    <a:bodyPr/>
                    <a:lstStyle/>
                    <a:p>
                      <a:pPr>
                        <a:defRPr b="1"/>
                      </a:pPr>
                      <a:r>
                        <a:rPr lang="uk-UA" sz="2100"/>
                        <a:t>Клас</a:t>
                      </a:r>
                    </a:p>
                  </a:txBody>
                  <a:tcPr marL="106755" marR="106755" marT="53378" marB="53378"/>
                </a:tc>
                <a:tc>
                  <a:txBody>
                    <a:bodyPr/>
                    <a:lstStyle/>
                    <a:p>
                      <a:pPr>
                        <a:defRPr b="1"/>
                      </a:pPr>
                      <a:r>
                        <a:rPr lang="uk-UA" sz="2100"/>
                        <a:t>Довіра</a:t>
                      </a:r>
                    </a:p>
                  </a:txBody>
                  <a:tcPr marL="106755" marR="106755" marT="53378" marB="53378"/>
                </a:tc>
                <a:tc>
                  <a:txBody>
                    <a:bodyPr/>
                    <a:lstStyle/>
                    <a:p>
                      <a:pPr>
                        <a:defRPr b="1"/>
                      </a:pPr>
                      <a:r>
                        <a:rPr lang="en-US" sz="2100"/>
                        <a:t>x,y (</a:t>
                      </a:r>
                      <a:r>
                        <a:rPr lang="uk-UA" sz="2100"/>
                        <a:t>пікс)</a:t>
                      </a:r>
                    </a:p>
                  </a:txBody>
                  <a:tcPr marL="106755" marR="106755" marT="53378" marB="53378"/>
                </a:tc>
                <a:tc>
                  <a:txBody>
                    <a:bodyPr/>
                    <a:lstStyle/>
                    <a:p>
                      <a:pPr>
                        <a:defRPr b="1"/>
                      </a:pPr>
                      <a:r>
                        <a:rPr lang="en-US" sz="2100"/>
                        <a:t>z (</a:t>
                      </a:r>
                      <a:r>
                        <a:rPr lang="uk-UA" sz="2100"/>
                        <a:t>відносна)</a:t>
                      </a:r>
                    </a:p>
                  </a:txBody>
                  <a:tcPr marL="106755" marR="106755" marT="53378" marB="53378"/>
                </a:tc>
                <a:tc>
                  <a:txBody>
                    <a:bodyPr/>
                    <a:lstStyle/>
                    <a:p>
                      <a:pPr>
                        <a:defRPr b="1"/>
                      </a:pPr>
                      <a:r>
                        <a:rPr lang="en-US" sz="2100"/>
                        <a:t>v (px/</a:t>
                      </a:r>
                      <a:r>
                        <a:rPr lang="uk-UA" sz="2100"/>
                        <a:t>кадр)</a:t>
                      </a:r>
                    </a:p>
                  </a:txBody>
                  <a:tcPr marL="106755" marR="106755" marT="53378" marB="53378"/>
                </a:tc>
                <a:tc>
                  <a:txBody>
                    <a:bodyPr/>
                    <a:lstStyle/>
                    <a:p>
                      <a:pPr>
                        <a:defRPr b="1"/>
                      </a:pPr>
                      <a:r>
                        <a:rPr lang="el-GR" sz="2100"/>
                        <a:t>θ (</a:t>
                      </a:r>
                      <a:r>
                        <a:rPr lang="uk-UA" sz="2100"/>
                        <a:t>град)</a:t>
                      </a:r>
                    </a:p>
                  </a:txBody>
                  <a:tcPr marL="106755" marR="106755" marT="53378" marB="53378"/>
                </a:tc>
                <a:extLst>
                  <a:ext uri="{0D108BD9-81ED-4DB2-BD59-A6C34878D82A}">
                    <a16:rowId xmlns:a16="http://schemas.microsoft.com/office/drawing/2014/main" val="10000"/>
                  </a:ext>
                </a:extLst>
              </a:tr>
              <a:tr h="469723">
                <a:tc>
                  <a:txBody>
                    <a:bodyPr/>
                    <a:lstStyle/>
                    <a:p>
                      <a:r>
                        <a:rPr lang="en-US" sz="2100"/>
                        <a:t>0</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658,5;281,0</a:t>
                      </a:r>
                    </a:p>
                  </a:txBody>
                  <a:tcPr marL="106755" marR="106755" marT="53378" marB="53378"/>
                </a:tc>
                <a:tc>
                  <a:txBody>
                    <a:bodyPr/>
                    <a:lstStyle/>
                    <a:p>
                      <a:r>
                        <a:rPr lang="en-US" sz="2100"/>
                        <a:t>93,0</a:t>
                      </a:r>
                    </a:p>
                  </a:txBody>
                  <a:tcPr marL="106755" marR="106755" marT="53378" marB="53378"/>
                </a:tc>
                <a:tc>
                  <a:txBody>
                    <a:bodyPr/>
                    <a:lstStyle/>
                    <a:p>
                      <a:r>
                        <a:rPr lang="en-US" sz="2100"/>
                        <a:t>6,526</a:t>
                      </a:r>
                    </a:p>
                  </a:txBody>
                  <a:tcPr marL="106755" marR="106755" marT="53378" marB="53378"/>
                </a:tc>
                <a:tc>
                  <a:txBody>
                    <a:bodyPr/>
                    <a:lstStyle/>
                    <a:p>
                      <a:r>
                        <a:rPr lang="en-US" sz="2100"/>
                        <a:t>175,5</a:t>
                      </a:r>
                    </a:p>
                  </a:txBody>
                  <a:tcPr marL="106755" marR="106755" marT="53378" marB="53378"/>
                </a:tc>
                <a:extLst>
                  <a:ext uri="{0D108BD9-81ED-4DB2-BD59-A6C34878D82A}">
                    <a16:rowId xmlns:a16="http://schemas.microsoft.com/office/drawing/2014/main" val="10001"/>
                  </a:ext>
                </a:extLst>
              </a:tr>
              <a:tr h="469723">
                <a:tc>
                  <a:txBody>
                    <a:bodyPr/>
                    <a:lstStyle/>
                    <a:p>
                      <a:r>
                        <a:rPr lang="en-US" sz="2100"/>
                        <a:t>1</a:t>
                      </a:r>
                    </a:p>
                  </a:txBody>
                  <a:tcPr marL="106755" marR="106755" marT="53378" marB="53378"/>
                </a:tc>
                <a:tc>
                  <a:txBody>
                    <a:bodyPr/>
                    <a:lstStyle/>
                    <a:p>
                      <a:r>
                        <a:rPr lang="en-US" sz="2100"/>
                        <a:t>3</a:t>
                      </a:r>
                    </a:p>
                  </a:txBody>
                  <a:tcPr marL="106755" marR="106755" marT="53378" marB="53378"/>
                </a:tc>
                <a:tc>
                  <a:txBody>
                    <a:bodyPr/>
                    <a:lstStyle/>
                    <a:p>
                      <a:r>
                        <a:rPr lang="en-US" sz="2100"/>
                        <a:t>0,99</a:t>
                      </a:r>
                    </a:p>
                  </a:txBody>
                  <a:tcPr marL="106755" marR="106755" marT="53378" marB="53378"/>
                </a:tc>
                <a:tc>
                  <a:txBody>
                    <a:bodyPr/>
                    <a:lstStyle/>
                    <a:p>
                      <a:r>
                        <a:rPr lang="en-US" sz="2100"/>
                        <a:t>750,0;70,0</a:t>
                      </a:r>
                    </a:p>
                  </a:txBody>
                  <a:tcPr marL="106755" marR="106755" marT="53378" marB="53378"/>
                </a:tc>
                <a:tc>
                  <a:txBody>
                    <a:bodyPr/>
                    <a:lstStyle/>
                    <a:p>
                      <a:r>
                        <a:rPr lang="en-US" sz="2100"/>
                        <a:t>22,0</a:t>
                      </a:r>
                    </a:p>
                  </a:txBody>
                  <a:tcPr marL="106755" marR="106755" marT="53378" marB="53378"/>
                </a:tc>
                <a:tc>
                  <a:txBody>
                    <a:bodyPr/>
                    <a:lstStyle/>
                    <a:p>
                      <a:r>
                        <a:rPr lang="en-US" sz="2100"/>
                        <a:t>0,017</a:t>
                      </a:r>
                    </a:p>
                  </a:txBody>
                  <a:tcPr marL="106755" marR="106755" marT="53378" marB="53378"/>
                </a:tc>
                <a:tc>
                  <a:txBody>
                    <a:bodyPr/>
                    <a:lstStyle/>
                    <a:p>
                      <a:r>
                        <a:rPr lang="en-US" sz="2100"/>
                        <a:t>-152,4</a:t>
                      </a:r>
                    </a:p>
                  </a:txBody>
                  <a:tcPr marL="106755" marR="106755" marT="53378" marB="53378"/>
                </a:tc>
                <a:extLst>
                  <a:ext uri="{0D108BD9-81ED-4DB2-BD59-A6C34878D82A}">
                    <a16:rowId xmlns:a16="http://schemas.microsoft.com/office/drawing/2014/main" val="10002"/>
                  </a:ext>
                </a:extLst>
              </a:tr>
              <a:tr h="469723">
                <a:tc>
                  <a:txBody>
                    <a:bodyPr/>
                    <a:lstStyle/>
                    <a:p>
                      <a:r>
                        <a:rPr lang="en-US" sz="2100"/>
                        <a:t>2</a:t>
                      </a:r>
                    </a:p>
                  </a:txBody>
                  <a:tcPr marL="106755" marR="106755" marT="53378" marB="53378"/>
                </a:tc>
                <a:tc>
                  <a:txBody>
                    <a:bodyPr/>
                    <a:lstStyle/>
                    <a:p>
                      <a:r>
                        <a:rPr lang="en-US" sz="2100"/>
                        <a:t>8</a:t>
                      </a:r>
                    </a:p>
                  </a:txBody>
                  <a:tcPr marL="106755" marR="106755" marT="53378" marB="53378"/>
                </a:tc>
                <a:tc>
                  <a:txBody>
                    <a:bodyPr/>
                    <a:lstStyle/>
                    <a:p>
                      <a:r>
                        <a:rPr lang="en-US" sz="2100"/>
                        <a:t>0,79</a:t>
                      </a:r>
                    </a:p>
                  </a:txBody>
                  <a:tcPr marL="106755" marR="106755" marT="53378" marB="53378"/>
                </a:tc>
                <a:tc>
                  <a:txBody>
                    <a:bodyPr/>
                    <a:lstStyle/>
                    <a:p>
                      <a:r>
                        <a:rPr lang="en-US" sz="2100"/>
                        <a:t>689,0;70,5</a:t>
                      </a:r>
                    </a:p>
                  </a:txBody>
                  <a:tcPr marL="106755" marR="106755" marT="53378" marB="53378"/>
                </a:tc>
                <a:tc>
                  <a:txBody>
                    <a:bodyPr/>
                    <a:lstStyle/>
                    <a:p>
                      <a:r>
                        <a:rPr lang="en-US" sz="2100"/>
                        <a:t>21,0</a:t>
                      </a:r>
                    </a:p>
                  </a:txBody>
                  <a:tcPr marL="106755" marR="106755" marT="53378" marB="53378"/>
                </a:tc>
                <a:tc>
                  <a:txBody>
                    <a:bodyPr/>
                    <a:lstStyle/>
                    <a:p>
                      <a:r>
                        <a:rPr lang="en-US" sz="2100"/>
                        <a:t>0,017</a:t>
                      </a:r>
                    </a:p>
                  </a:txBody>
                  <a:tcPr marL="106755" marR="106755" marT="53378" marB="53378"/>
                </a:tc>
                <a:tc>
                  <a:txBody>
                    <a:bodyPr/>
                    <a:lstStyle/>
                    <a:p>
                      <a:r>
                        <a:rPr lang="en-US" sz="2100"/>
                        <a:t>-143,5</a:t>
                      </a:r>
                    </a:p>
                  </a:txBody>
                  <a:tcPr marL="106755" marR="106755" marT="53378" marB="53378"/>
                </a:tc>
                <a:extLst>
                  <a:ext uri="{0D108BD9-81ED-4DB2-BD59-A6C34878D82A}">
                    <a16:rowId xmlns:a16="http://schemas.microsoft.com/office/drawing/2014/main" val="10003"/>
                  </a:ext>
                </a:extLst>
              </a:tr>
              <a:tr h="469723">
                <a:tc>
                  <a:txBody>
                    <a:bodyPr/>
                    <a:lstStyle/>
                    <a:p>
                      <a:r>
                        <a:rPr lang="en-US" sz="2100"/>
                        <a:t>3</a:t>
                      </a:r>
                    </a:p>
                  </a:txBody>
                  <a:tcPr marL="106755" marR="106755" marT="53378" marB="53378"/>
                </a:tc>
                <a:tc>
                  <a:txBody>
                    <a:bodyPr/>
                    <a:lstStyle/>
                    <a:p>
                      <a:r>
                        <a:rPr lang="en-US" sz="2100"/>
                        <a:t>8</a:t>
                      </a:r>
                    </a:p>
                  </a:txBody>
                  <a:tcPr marL="106755" marR="106755" marT="53378" marB="53378"/>
                </a:tc>
                <a:tc>
                  <a:txBody>
                    <a:bodyPr/>
                    <a:lstStyle/>
                    <a:p>
                      <a:r>
                        <a:rPr lang="en-US" sz="2100"/>
                        <a:t>0,74</a:t>
                      </a:r>
                    </a:p>
                  </a:txBody>
                  <a:tcPr marL="106755" marR="106755" marT="53378" marB="53378"/>
                </a:tc>
                <a:tc>
                  <a:txBody>
                    <a:bodyPr/>
                    <a:lstStyle/>
                    <a:p>
                      <a:r>
                        <a:rPr lang="en-US" sz="2100"/>
                        <a:t>688,5;70,5</a:t>
                      </a:r>
                    </a:p>
                  </a:txBody>
                  <a:tcPr marL="106755" marR="106755" marT="53378" marB="53378"/>
                </a:tc>
                <a:tc>
                  <a:txBody>
                    <a:bodyPr/>
                    <a:lstStyle/>
                    <a:p>
                      <a:r>
                        <a:rPr lang="en-US" sz="2100"/>
                        <a:t>21,0</a:t>
                      </a:r>
                    </a:p>
                  </a:txBody>
                  <a:tcPr marL="106755" marR="106755" marT="53378" marB="53378"/>
                </a:tc>
                <a:tc>
                  <a:txBody>
                    <a:bodyPr/>
                    <a:lstStyle/>
                    <a:p>
                      <a:r>
                        <a:rPr lang="en-US" sz="2100"/>
                        <a:t>0,017</a:t>
                      </a:r>
                    </a:p>
                  </a:txBody>
                  <a:tcPr marL="106755" marR="106755" marT="53378" marB="53378"/>
                </a:tc>
                <a:tc>
                  <a:txBody>
                    <a:bodyPr/>
                    <a:lstStyle/>
                    <a:p>
                      <a:r>
                        <a:rPr lang="en-US" sz="2100"/>
                        <a:t>-144,8</a:t>
                      </a:r>
                    </a:p>
                  </a:txBody>
                  <a:tcPr marL="106755" marR="106755" marT="53378" marB="53378"/>
                </a:tc>
                <a:extLst>
                  <a:ext uri="{0D108BD9-81ED-4DB2-BD59-A6C34878D82A}">
                    <a16:rowId xmlns:a16="http://schemas.microsoft.com/office/drawing/2014/main" val="10004"/>
                  </a:ext>
                </a:extLst>
              </a:tr>
              <a:tr h="469723">
                <a:tc>
                  <a:txBody>
                    <a:bodyPr/>
                    <a:lstStyle/>
                    <a:p>
                      <a:r>
                        <a:rPr lang="en-US" sz="2100"/>
                        <a:t>4</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277,5;264,0</a:t>
                      </a:r>
                    </a:p>
                  </a:txBody>
                  <a:tcPr marL="106755" marR="106755" marT="53378" marB="53378"/>
                </a:tc>
                <a:tc>
                  <a:txBody>
                    <a:bodyPr/>
                    <a:lstStyle/>
                    <a:p>
                      <a:r>
                        <a:rPr lang="en-US" sz="2100"/>
                        <a:t>94,0</a:t>
                      </a:r>
                    </a:p>
                  </a:txBody>
                  <a:tcPr marL="106755" marR="106755" marT="53378" marB="53378"/>
                </a:tc>
                <a:tc>
                  <a:txBody>
                    <a:bodyPr/>
                    <a:lstStyle/>
                    <a:p>
                      <a:r>
                        <a:rPr lang="en-US" sz="2100"/>
                        <a:t>4,592</a:t>
                      </a:r>
                    </a:p>
                  </a:txBody>
                  <a:tcPr marL="106755" marR="106755" marT="53378" marB="53378"/>
                </a:tc>
                <a:tc>
                  <a:txBody>
                    <a:bodyPr/>
                    <a:lstStyle/>
                    <a:p>
                      <a:r>
                        <a:rPr lang="en-US" sz="2100"/>
                        <a:t>-6,5</a:t>
                      </a:r>
                    </a:p>
                  </a:txBody>
                  <a:tcPr marL="106755" marR="106755" marT="53378" marB="53378"/>
                </a:tc>
                <a:extLst>
                  <a:ext uri="{0D108BD9-81ED-4DB2-BD59-A6C34878D82A}">
                    <a16:rowId xmlns:a16="http://schemas.microsoft.com/office/drawing/2014/main" val="10005"/>
                  </a:ext>
                </a:extLst>
              </a:tr>
              <a:tr h="469723">
                <a:tc>
                  <a:txBody>
                    <a:bodyPr/>
                    <a:lstStyle/>
                    <a:p>
                      <a:r>
                        <a:rPr lang="en-US" sz="2100"/>
                        <a:t>5</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513,5;195,5</a:t>
                      </a:r>
                    </a:p>
                  </a:txBody>
                  <a:tcPr marL="106755" marR="106755" marT="53378" marB="53378"/>
                </a:tc>
                <a:tc>
                  <a:txBody>
                    <a:bodyPr/>
                    <a:lstStyle/>
                    <a:p>
                      <a:r>
                        <a:rPr lang="en-US" sz="2100"/>
                        <a:t>56,0</a:t>
                      </a:r>
                    </a:p>
                  </a:txBody>
                  <a:tcPr marL="106755" marR="106755" marT="53378" marB="53378"/>
                </a:tc>
                <a:tc>
                  <a:txBody>
                    <a:bodyPr/>
                    <a:lstStyle/>
                    <a:p>
                      <a:r>
                        <a:rPr lang="en-US" sz="2100"/>
                        <a:t>1,840</a:t>
                      </a:r>
                    </a:p>
                  </a:txBody>
                  <a:tcPr marL="106755" marR="106755" marT="53378" marB="53378"/>
                </a:tc>
                <a:tc>
                  <a:txBody>
                    <a:bodyPr/>
                    <a:lstStyle/>
                    <a:p>
                      <a:r>
                        <a:rPr lang="en-US" sz="2100"/>
                        <a:t>147,5</a:t>
                      </a:r>
                    </a:p>
                  </a:txBody>
                  <a:tcPr marL="106755" marR="106755" marT="53378" marB="53378"/>
                </a:tc>
                <a:extLst>
                  <a:ext uri="{0D108BD9-81ED-4DB2-BD59-A6C34878D82A}">
                    <a16:rowId xmlns:a16="http://schemas.microsoft.com/office/drawing/2014/main" val="10006"/>
                  </a:ext>
                </a:extLst>
              </a:tr>
            </a:tbl>
          </a:graphicData>
        </a:graphic>
      </p:graphicFrame>
      <p:sp>
        <p:nvSpPr>
          <p:cNvPr id="4" name="Місце для номера слайда 3">
            <a:extLst>
              <a:ext uri="{FF2B5EF4-FFF2-40B4-BE49-F238E27FC236}">
                <a16:creationId xmlns:a16="http://schemas.microsoft.com/office/drawing/2014/main" id="{51E146C8-6262-3682-1908-605922A4EAE5}"/>
              </a:ext>
            </a:extLst>
          </p:cNvPr>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anchor="b">
            <a:normAutofit/>
          </a:bodyPr>
          <a:lstStyle/>
          <a:p>
            <a:pPr>
              <a:lnSpc>
                <a:spcPct val="90000"/>
              </a:lnSpc>
            </a:pPr>
            <a:r>
              <a:rPr lang="uk-UA" sz="3000"/>
              <a:t>Візуалізація ідентифікованих параметрів</a:t>
            </a:r>
          </a:p>
        </p:txBody>
      </p:sp>
      <p:sp>
        <p:nvSpPr>
          <p:cNvPr id="1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660904"/>
            <a:ext cx="4818888" cy="3547872"/>
          </a:xfrm>
        </p:spPr>
        <p:txBody>
          <a:bodyPr anchor="t">
            <a:normAutofit/>
          </a:bodyPr>
          <a:lstStyle/>
          <a:p>
            <a:r>
              <a:rPr lang="uk-UA" sz="2200"/>
              <a:t>На кадрі накладаються </a:t>
            </a:r>
            <a:r>
              <a:rPr lang="en-US" sz="2200"/>
              <a:t>bounding boxes, </a:t>
            </a:r>
            <a:r>
              <a:rPr lang="uk-UA" sz="2200"/>
              <a:t>вектори швидкості, значення глибини</a:t>
            </a:r>
          </a:p>
          <a:p>
            <a:r>
              <a:rPr lang="uk-UA" sz="2200"/>
              <a:t>Кольорове кодування напрямку руху (</a:t>
            </a:r>
            <a:r>
              <a:rPr lang="en-US" sz="2200"/>
              <a:t>HSV)</a:t>
            </a:r>
          </a:p>
        </p:txBody>
      </p:sp>
      <p:pic>
        <p:nvPicPr>
          <p:cNvPr id="5" name="Рисунок 4">
            <a:extLst>
              <a:ext uri="{FF2B5EF4-FFF2-40B4-BE49-F238E27FC236}">
                <a16:creationId xmlns:a16="http://schemas.microsoft.com/office/drawing/2014/main" id="{ED216D28-853D-9942-6251-C2CE62364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099048" y="1290904"/>
            <a:ext cx="5458968" cy="4276191"/>
          </a:xfrm>
          <a:prstGeom prst="rect">
            <a:avLst/>
          </a:prstGeom>
          <a:noFill/>
        </p:spPr>
      </p:pic>
      <p:sp>
        <p:nvSpPr>
          <p:cNvPr id="4" name="Місце для номера слайда 3">
            <a:extLst>
              <a:ext uri="{FF2B5EF4-FFF2-40B4-BE49-F238E27FC236}">
                <a16:creationId xmlns:a16="http://schemas.microsoft.com/office/drawing/2014/main" id="{65C7382C-80BA-FE53-48B4-E53A233F8983}"/>
              </a:ext>
            </a:extLst>
          </p:cNvPr>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30936" y="457200"/>
            <a:ext cx="4343400" cy="1929384"/>
          </a:xfrm>
        </p:spPr>
        <p:txBody>
          <a:bodyPr anchor="ctr">
            <a:normAutofit/>
          </a:bodyPr>
          <a:lstStyle/>
          <a:p>
            <a:pPr>
              <a:lnSpc>
                <a:spcPct val="90000"/>
              </a:lnSpc>
            </a:pPr>
            <a:r>
              <a:rPr lang="uk-UA"/>
              <a:t>Приклади комбінацій методів</a:t>
            </a:r>
            <a:endParaRPr lang="en-US"/>
          </a:p>
        </p:txBody>
      </p:sp>
      <p:sp>
        <p:nvSpPr>
          <p:cNvPr id="1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541263" y="457200"/>
            <a:ext cx="6007608" cy="1929384"/>
          </a:xfrm>
        </p:spPr>
        <p:txBody>
          <a:bodyPr anchor="ctr">
            <a:normAutofit/>
          </a:bodyPr>
          <a:lstStyle/>
          <a:p>
            <a:pPr>
              <a:lnSpc>
                <a:spcPct val="90000"/>
              </a:lnSpc>
            </a:pPr>
            <a:r>
              <a:rPr lang="en-US" sz="1500"/>
              <a:t>Farneback + MiDaS : </a:t>
            </a:r>
            <a:r>
              <a:rPr lang="uk-UA" sz="1500"/>
              <a:t>класичний оптичний потік + трансформерна глибина</a:t>
            </a:r>
          </a:p>
          <a:p>
            <a:pPr>
              <a:lnSpc>
                <a:spcPct val="90000"/>
              </a:lnSpc>
            </a:pPr>
            <a:r>
              <a:rPr lang="en-US" sz="1500"/>
              <a:t>FlowNet + DPT_Large : </a:t>
            </a:r>
            <a:r>
              <a:rPr lang="uk-UA" sz="1500"/>
              <a:t>нейромережевий потік + щільний трансформер глибини</a:t>
            </a:r>
          </a:p>
          <a:p>
            <a:pPr>
              <a:lnSpc>
                <a:spcPct val="90000"/>
              </a:lnSpc>
            </a:pPr>
            <a:r>
              <a:rPr lang="en-US" sz="1500"/>
              <a:t>GeoNet </a:t>
            </a:r>
            <a:r>
              <a:rPr lang="uk-UA" sz="1500"/>
              <a:t>сумісна оцінка – найкраща узгодженість руху та глибини</a:t>
            </a:r>
          </a:p>
          <a:p>
            <a:pPr>
              <a:lnSpc>
                <a:spcPct val="90000"/>
              </a:lnSpc>
            </a:pPr>
            <a:r>
              <a:rPr lang="en-US" sz="1500"/>
              <a:t>Horn-Schunck + Bagging : </a:t>
            </a:r>
            <a:r>
              <a:rPr lang="uk-UA" sz="1500"/>
              <a:t>глобальний потік + ансамбль глибини</a:t>
            </a:r>
          </a:p>
        </p:txBody>
      </p:sp>
      <p:pic>
        <p:nvPicPr>
          <p:cNvPr id="5" name="Рисунок 4">
            <a:extLst>
              <a:ext uri="{FF2B5EF4-FFF2-40B4-BE49-F238E27FC236}">
                <a16:creationId xmlns:a16="http://schemas.microsoft.com/office/drawing/2014/main" id="{45D36688-B693-6735-FEE0-CA2CE8321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95867" y="2569464"/>
            <a:ext cx="4809066" cy="3678936"/>
          </a:xfrm>
          <a:prstGeom prst="rect">
            <a:avLst/>
          </a:prstGeom>
          <a:noFill/>
        </p:spPr>
      </p:pic>
      <p:pic>
        <p:nvPicPr>
          <p:cNvPr id="4" name="Рисунок 3">
            <a:extLst>
              <a:ext uri="{FF2B5EF4-FFF2-40B4-BE49-F238E27FC236}">
                <a16:creationId xmlns:a16="http://schemas.microsoft.com/office/drawing/2014/main" id="{ACA34430-E580-892D-A8F2-9F6A9AD23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6584019" y="2569464"/>
            <a:ext cx="4809066" cy="3678936"/>
          </a:xfrm>
          <a:prstGeom prst="rect">
            <a:avLst/>
          </a:prstGeom>
          <a:noFill/>
        </p:spPr>
      </p:pic>
      <p:sp>
        <p:nvSpPr>
          <p:cNvPr id="6" name="Місце для номера слайда 5">
            <a:extLst>
              <a:ext uri="{FF2B5EF4-FFF2-40B4-BE49-F238E27FC236}">
                <a16:creationId xmlns:a16="http://schemas.microsoft.com/office/drawing/2014/main" id="{3CACBDEA-3AE5-8204-BCD1-5B4BEB4205D2}"/>
              </a:ext>
            </a:extLst>
          </p:cNvPr>
          <p:cNvSpPr>
            <a:spLocks noGrp="1"/>
          </p:cNvSpPr>
          <p:nvPr>
            <p:ph type="sldNum" sz="quarter" idx="12"/>
          </p:nvPr>
        </p:nvSpPr>
        <p:spPr/>
        <p:txBody>
          <a:bodyPr/>
          <a:lstStyle/>
          <a:p>
            <a:fld id="{C1FF6DA9-008F-8B48-92A6-B652298478BF}"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2" y="639193"/>
            <a:ext cx="3571810" cy="3573516"/>
          </a:xfrm>
        </p:spPr>
        <p:txBody>
          <a:bodyPr vert="horz" lIns="91440" tIns="45720" rIns="91440" bIns="45720" rtlCol="0" anchor="b">
            <a:normAutofit/>
          </a:bodyPr>
          <a:lstStyle/>
          <a:p>
            <a:pPr algn="l" defTabSz="914400">
              <a:lnSpc>
                <a:spcPct val="90000"/>
              </a:lnSpc>
            </a:pPr>
            <a:r>
              <a:rPr lang="en-US" sz="5100" kern="1200" dirty="0">
                <a:solidFill>
                  <a:schemeClr val="tx1"/>
                </a:solidFill>
                <a:latin typeface="+mj-lt"/>
                <a:ea typeface="+mj-ea"/>
                <a:cs typeface="+mj-cs"/>
              </a:rPr>
              <a:t>Порівняння </a:t>
            </a:r>
            <a:r>
              <a:rPr lang="en-US" sz="5100" kern="1200" dirty="0" err="1">
                <a:solidFill>
                  <a:schemeClr val="tx1"/>
                </a:solidFill>
                <a:latin typeface="+mj-lt"/>
                <a:ea typeface="+mj-ea"/>
                <a:cs typeface="+mj-cs"/>
              </a:rPr>
              <a:t>методів</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оптичного</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потоку</a:t>
            </a:r>
            <a:endParaRPr lang="en-US" sz="51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202534068"/>
              </p:ext>
            </p:extLst>
          </p:nvPr>
        </p:nvGraphicFramePr>
        <p:xfrm>
          <a:off x="4654296" y="971095"/>
          <a:ext cx="7214618" cy="4888380"/>
        </p:xfrm>
        <a:graphic>
          <a:graphicData uri="http://schemas.openxmlformats.org/drawingml/2006/table">
            <a:tbl>
              <a:tblPr firstRow="1" bandRow="1">
                <a:noFill/>
                <a:tableStyleId>{5C22544A-7EE6-4342-B048-85BDC9FD1C3A}</a:tableStyleId>
              </a:tblPr>
              <a:tblGrid>
                <a:gridCol w="1591817">
                  <a:extLst>
                    <a:ext uri="{9D8B030D-6E8A-4147-A177-3AD203B41FA5}">
                      <a16:colId xmlns:a16="http://schemas.microsoft.com/office/drawing/2014/main" val="20000"/>
                    </a:ext>
                  </a:extLst>
                </a:gridCol>
                <a:gridCol w="1025590">
                  <a:extLst>
                    <a:ext uri="{9D8B030D-6E8A-4147-A177-3AD203B41FA5}">
                      <a16:colId xmlns:a16="http://schemas.microsoft.com/office/drawing/2014/main" val="20001"/>
                    </a:ext>
                  </a:extLst>
                </a:gridCol>
                <a:gridCol w="1025590">
                  <a:extLst>
                    <a:ext uri="{9D8B030D-6E8A-4147-A177-3AD203B41FA5}">
                      <a16:colId xmlns:a16="http://schemas.microsoft.com/office/drawing/2014/main" val="20002"/>
                    </a:ext>
                  </a:extLst>
                </a:gridCol>
                <a:gridCol w="1666783">
                  <a:extLst>
                    <a:ext uri="{9D8B030D-6E8A-4147-A177-3AD203B41FA5}">
                      <a16:colId xmlns:a16="http://schemas.microsoft.com/office/drawing/2014/main" val="20003"/>
                    </a:ext>
                  </a:extLst>
                </a:gridCol>
                <a:gridCol w="1904838">
                  <a:extLst>
                    <a:ext uri="{9D8B030D-6E8A-4147-A177-3AD203B41FA5}">
                      <a16:colId xmlns:a16="http://schemas.microsoft.com/office/drawing/2014/main" val="20004"/>
                    </a:ext>
                  </a:extLst>
                </a:gridCol>
              </a:tblGrid>
              <a:tr h="734980">
                <a:tc>
                  <a:txBody>
                    <a:bodyPr/>
                    <a:lstStyle/>
                    <a:p>
                      <a:pPr>
                        <a:defRPr b="1"/>
                      </a:pPr>
                      <a:r>
                        <a:rPr sz="1500" b="1" cap="all" spc="60">
                          <a:solidFill>
                            <a:schemeClr val="tx1"/>
                          </a:solidFill>
                        </a:rPr>
                        <a:t>Метод</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EPE</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AAE</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v об'єкта 0 (px/кадр)</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Примітка</a:t>
                      </a:r>
                    </a:p>
                  </a:txBody>
                  <a:tcPr marL="114841" marR="114841" marT="114841" marB="114841" anchor="b">
                    <a:lnL w="12700" cmpd="sng">
                      <a:noFill/>
                    </a:lnL>
                    <a:lnR w="12700" cmpd="sng">
                      <a:noFill/>
                    </a:lnR>
                    <a:lnT w="12700" cmpd="sng">
                      <a:noFill/>
                    </a:lnT>
                    <a:lnB w="38100" cmpd="sng">
                      <a:noFill/>
                    </a:lnB>
                    <a:noFill/>
                  </a:tcPr>
                </a:tc>
                <a:extLst>
                  <a:ext uri="{0D108BD9-81ED-4DB2-BD59-A6C34878D82A}">
                    <a16:rowId xmlns:a16="http://schemas.microsoft.com/office/drawing/2014/main" val="10000"/>
                  </a:ext>
                </a:extLst>
              </a:tr>
              <a:tr h="830680">
                <a:tc>
                  <a:txBody>
                    <a:bodyPr/>
                    <a:lstStyle/>
                    <a:p>
                      <a:r>
                        <a:rPr sz="2000" cap="none" spc="0">
                          <a:solidFill>
                            <a:schemeClr val="tx1"/>
                          </a:solidFill>
                        </a:rPr>
                        <a:t>Farneback (ref)</a:t>
                      </a:r>
                    </a:p>
                  </a:txBody>
                  <a:tcPr marL="114841" marR="114841" marT="57420" marB="114841">
                    <a:lnL w="12700" cap="flat" cmpd="sng" algn="ctr">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Базовий</a:t>
                      </a:r>
                    </a:p>
                  </a:txBody>
                  <a:tcPr marL="114841" marR="114841" marT="57420" marB="114841">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830680">
                <a:tc>
                  <a:txBody>
                    <a:bodyPr/>
                    <a:lstStyle/>
                    <a:p>
                      <a:r>
                        <a:rPr sz="2000" cap="none" spc="0">
                          <a:solidFill>
                            <a:schemeClr val="tx1"/>
                          </a:solidFill>
                        </a:rPr>
                        <a:t>Lucas-Kanade</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0,273</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0,152</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0,013</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Розріджений</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830680">
                <a:tc>
                  <a:txBody>
                    <a:bodyPr/>
                    <a:lstStyle/>
                    <a:p>
                      <a:r>
                        <a:rPr sz="2000" cap="none" spc="0">
                          <a:solidFill>
                            <a:schemeClr val="tx1"/>
                          </a:solidFill>
                        </a:rPr>
                        <a:t>Horn-Schunck</a:t>
                      </a:r>
                    </a:p>
                  </a:txBody>
                  <a:tcPr marL="114841" marR="114841" marT="57420" marB="114841">
                    <a:lnL w="12700" cap="flat" cmpd="sng" algn="ctr">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0,266</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0,145</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0,325</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Гладке поле</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r h="830680">
                <a:tc>
                  <a:txBody>
                    <a:bodyPr/>
                    <a:lstStyle/>
                    <a:p>
                      <a:r>
                        <a:rPr sz="2000" cap="none" spc="0">
                          <a:solidFill>
                            <a:schemeClr val="tx1"/>
                          </a:solidFill>
                        </a:rPr>
                        <a:t>FlowNet (проксі)</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Резервний Farneback</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830680">
                <a:tc>
                  <a:txBody>
                    <a:bodyPr/>
                    <a:lstStyle/>
                    <a:p>
                      <a:r>
                        <a:rPr sz="2000" cap="none" spc="0">
                          <a:solidFill>
                            <a:schemeClr val="tx1"/>
                          </a:solidFill>
                        </a:rPr>
                        <a:t>GeoNet (проксі)</a:t>
                      </a:r>
                    </a:p>
                  </a:txBody>
                  <a:tcPr marL="114841" marR="114841" marT="57420" marB="114841">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Резервний Farneback</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0005"/>
                  </a:ext>
                </a:extLst>
              </a:tr>
            </a:tbl>
          </a:graphicData>
        </a:graphic>
      </p:graphicFrame>
      <p:sp>
        <p:nvSpPr>
          <p:cNvPr id="4" name="Місце для номера слайда 3">
            <a:extLst>
              <a:ext uri="{FF2B5EF4-FFF2-40B4-BE49-F238E27FC236}">
                <a16:creationId xmlns:a16="http://schemas.microsoft.com/office/drawing/2014/main" id="{BA7A10AB-B5D6-96CC-A2BE-51134121B366}"/>
              </a:ext>
            </a:extLst>
          </p:cNvPr>
          <p:cNvSpPr>
            <a:spLocks noGrp="1"/>
          </p:cNvSpPr>
          <p:nvPr>
            <p:ph type="sldNum" sz="quarter" idx="12"/>
          </p:nvPr>
        </p:nvSpPr>
        <p:spPr/>
        <p:txBody>
          <a:bodyPr/>
          <a:lstStyle/>
          <a:p>
            <a:fld id="{C1FF6DA9-008F-8B48-92A6-B652298478BF}"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2" y="639193"/>
            <a:ext cx="3571810" cy="3573516"/>
          </a:xfrm>
        </p:spPr>
        <p:txBody>
          <a:bodyPr vert="horz" lIns="91440" tIns="45720" rIns="91440" bIns="45720" rtlCol="0" anchor="b">
            <a:normAutofit/>
          </a:bodyPr>
          <a:lstStyle/>
          <a:p>
            <a:pPr algn="l" defTabSz="914400">
              <a:lnSpc>
                <a:spcPct val="90000"/>
              </a:lnSpc>
            </a:pPr>
            <a:r>
              <a:rPr lang="en-US" sz="5100" kern="1200" dirty="0">
                <a:solidFill>
                  <a:schemeClr val="tx1"/>
                </a:solidFill>
                <a:latin typeface="+mj-lt"/>
                <a:ea typeface="+mj-ea"/>
                <a:cs typeface="+mj-cs"/>
              </a:rPr>
              <a:t>Порівняння </a:t>
            </a:r>
            <a:r>
              <a:rPr lang="en-US" sz="5100" kern="1200" dirty="0" err="1">
                <a:solidFill>
                  <a:schemeClr val="tx1"/>
                </a:solidFill>
                <a:latin typeface="+mj-lt"/>
                <a:ea typeface="+mj-ea"/>
                <a:cs typeface="+mj-cs"/>
              </a:rPr>
              <a:t>методів</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оцінювання</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глибини</a:t>
            </a:r>
            <a:endParaRPr lang="en-US" sz="51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994772503"/>
              </p:ext>
            </p:extLst>
          </p:nvPr>
        </p:nvGraphicFramePr>
        <p:xfrm>
          <a:off x="4654296" y="1283533"/>
          <a:ext cx="7214619" cy="4263507"/>
        </p:xfrm>
        <a:graphic>
          <a:graphicData uri="http://schemas.openxmlformats.org/drawingml/2006/table">
            <a:tbl>
              <a:tblPr firstRow="1" bandRow="1">
                <a:noFill/>
                <a:tableStyleId>{5C22544A-7EE6-4342-B048-85BDC9FD1C3A}</a:tableStyleId>
              </a:tblPr>
              <a:tblGrid>
                <a:gridCol w="1368583">
                  <a:extLst>
                    <a:ext uri="{9D8B030D-6E8A-4147-A177-3AD203B41FA5}">
                      <a16:colId xmlns:a16="http://schemas.microsoft.com/office/drawing/2014/main" val="20000"/>
                    </a:ext>
                  </a:extLst>
                </a:gridCol>
                <a:gridCol w="1332978">
                  <a:extLst>
                    <a:ext uri="{9D8B030D-6E8A-4147-A177-3AD203B41FA5}">
                      <a16:colId xmlns:a16="http://schemas.microsoft.com/office/drawing/2014/main" val="20001"/>
                    </a:ext>
                  </a:extLst>
                </a:gridCol>
                <a:gridCol w="1180928">
                  <a:extLst>
                    <a:ext uri="{9D8B030D-6E8A-4147-A177-3AD203B41FA5}">
                      <a16:colId xmlns:a16="http://schemas.microsoft.com/office/drawing/2014/main" val="20002"/>
                    </a:ext>
                  </a:extLst>
                </a:gridCol>
                <a:gridCol w="1134996">
                  <a:extLst>
                    <a:ext uri="{9D8B030D-6E8A-4147-A177-3AD203B41FA5}">
                      <a16:colId xmlns:a16="http://schemas.microsoft.com/office/drawing/2014/main" val="20003"/>
                    </a:ext>
                  </a:extLst>
                </a:gridCol>
                <a:gridCol w="1041548">
                  <a:extLst>
                    <a:ext uri="{9D8B030D-6E8A-4147-A177-3AD203B41FA5}">
                      <a16:colId xmlns:a16="http://schemas.microsoft.com/office/drawing/2014/main" val="20004"/>
                    </a:ext>
                  </a:extLst>
                </a:gridCol>
                <a:gridCol w="1155586">
                  <a:extLst>
                    <a:ext uri="{9D8B030D-6E8A-4147-A177-3AD203B41FA5}">
                      <a16:colId xmlns:a16="http://schemas.microsoft.com/office/drawing/2014/main" val="20005"/>
                    </a:ext>
                  </a:extLst>
                </a:gridCol>
              </a:tblGrid>
              <a:tr h="857566">
                <a:tc>
                  <a:txBody>
                    <a:bodyPr/>
                    <a:lstStyle/>
                    <a:p>
                      <a:pPr>
                        <a:defRPr b="1"/>
                      </a:pPr>
                      <a:r>
                        <a:rPr sz="1800">
                          <a:solidFill>
                            <a:schemeClr val="tx1">
                              <a:lumMod val="75000"/>
                              <a:lumOff val="25000"/>
                            </a:schemeClr>
                          </a:solidFill>
                        </a:rPr>
                        <a:t>Метод</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RMSE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MAE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PSNR (дБ)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IoU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Dice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10000"/>
                  </a:ext>
                </a:extLst>
              </a:tr>
              <a:tr h="486563">
                <a:tc>
                  <a:txBody>
                    <a:bodyPr/>
                    <a:lstStyle/>
                    <a:p>
                      <a:r>
                        <a:rPr sz="1400">
                          <a:solidFill>
                            <a:schemeClr val="tx1">
                              <a:lumMod val="75000"/>
                              <a:lumOff val="25000"/>
                            </a:schemeClr>
                          </a:solidFill>
                        </a:rPr>
                        <a:t>MiDaS (ref)</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1"/>
                  </a:ext>
                </a:extLst>
              </a:tr>
              <a:tr h="486563">
                <a:tc>
                  <a:txBody>
                    <a:bodyPr/>
                    <a:lstStyle/>
                    <a:p>
                      <a:r>
                        <a:rPr sz="1400">
                          <a:solidFill>
                            <a:schemeClr val="tx1">
                              <a:lumMod val="75000"/>
                              <a:lumOff val="25000"/>
                            </a:schemeClr>
                          </a:solidFill>
                        </a:rPr>
                        <a:t>DPT_Large</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12,593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9,057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26,128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0,954</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0,976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2"/>
                  </a:ext>
                </a:extLst>
              </a:tr>
              <a:tr h="486563">
                <a:tc>
                  <a:txBody>
                    <a:bodyPr/>
                    <a:lstStyle/>
                    <a:p>
                      <a:r>
                        <a:rPr sz="1400">
                          <a:solidFill>
                            <a:schemeClr val="tx1">
                              <a:lumMod val="75000"/>
                              <a:lumOff val="25000"/>
                            </a:schemeClr>
                          </a:solidFill>
                        </a:rPr>
                        <a:t>GeoNet</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1,660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0,977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43,727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3"/>
                  </a:ext>
                </a:extLst>
              </a:tr>
              <a:tr h="486563">
                <a:tc>
                  <a:txBody>
                    <a:bodyPr/>
                    <a:lstStyle/>
                    <a:p>
                      <a:r>
                        <a:rPr sz="1400">
                          <a:solidFill>
                            <a:schemeClr val="tx1">
                              <a:lumMod val="75000"/>
                              <a:lumOff val="25000"/>
                            </a:schemeClr>
                          </a:solidFill>
                        </a:rPr>
                        <a:t>Bagging</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0,713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0,474</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51,065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4"/>
                  </a:ext>
                </a:extLst>
              </a:tr>
              <a:tr h="486563">
                <a:tc>
                  <a:txBody>
                    <a:bodyPr/>
                    <a:lstStyle/>
                    <a:p>
                      <a:r>
                        <a:rPr sz="1400">
                          <a:solidFill>
                            <a:schemeClr val="tx1">
                              <a:lumMod val="75000"/>
                              <a:lumOff val="25000"/>
                            </a:schemeClr>
                          </a:solidFill>
                        </a:rPr>
                        <a:t>Boosting</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5,088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0,925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34,000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0,981</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5"/>
                  </a:ext>
                </a:extLst>
              </a:tr>
              <a:tr h="486563">
                <a:tc>
                  <a:txBody>
                    <a:bodyPr/>
                    <a:lstStyle/>
                    <a:p>
                      <a:r>
                        <a:rPr sz="1400">
                          <a:solidFill>
                            <a:schemeClr val="tx1">
                              <a:lumMod val="75000"/>
                              <a:lumOff val="25000"/>
                            </a:schemeClr>
                          </a:solidFill>
                        </a:rPr>
                        <a:t>Blur</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106,022</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95,356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7,623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0,117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0,209</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6"/>
                  </a:ext>
                </a:extLst>
              </a:tr>
              <a:tr h="486563">
                <a:tc>
                  <a:txBody>
                    <a:bodyPr/>
                    <a:lstStyle/>
                    <a:p>
                      <a:r>
                        <a:rPr sz="1400">
                          <a:solidFill>
                            <a:schemeClr val="tx1">
                              <a:lumMod val="75000"/>
                              <a:lumOff val="25000"/>
                            </a:schemeClr>
                          </a:solidFill>
                        </a:rPr>
                        <a:t>Gradient</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124,586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99,958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6,221</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0,148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0,257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10007"/>
                  </a:ext>
                </a:extLst>
              </a:tr>
            </a:tbl>
          </a:graphicData>
        </a:graphic>
      </p:graphicFrame>
      <p:sp>
        <p:nvSpPr>
          <p:cNvPr id="4" name="Місце для номера слайда 3">
            <a:extLst>
              <a:ext uri="{FF2B5EF4-FFF2-40B4-BE49-F238E27FC236}">
                <a16:creationId xmlns:a16="http://schemas.microsoft.com/office/drawing/2014/main" id="{C87C51A0-619A-D7ED-BF70-E6DC73C0AD3C}"/>
              </a:ext>
            </a:extLst>
          </p:cNvPr>
          <p:cNvSpPr>
            <a:spLocks noGrp="1"/>
          </p:cNvSpPr>
          <p:nvPr>
            <p:ph type="sldNum" sz="quarter" idx="12"/>
          </p:nvPr>
        </p:nvSpPr>
        <p:spPr/>
        <p:txBody>
          <a:bodyPr/>
          <a:lstStyle/>
          <a:p>
            <a:fld id="{C1FF6DA9-008F-8B48-92A6-B652298478BF}"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510158-5592-8D5D-472D-03184D2B2667}"/>
              </a:ext>
            </a:extLst>
          </p:cNvPr>
          <p:cNvPicPr>
            <a:picLocks noChangeAspect="1"/>
          </p:cNvPicPr>
          <p:nvPr/>
        </p:nvPicPr>
        <p:blipFill>
          <a:blip r:embed="rId3">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dirty="0"/>
              <a:t>Аналіз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5B65987F-CB94-669D-5E27-54A4A1799994}"/>
              </a:ext>
            </a:extLst>
          </p:cNvPr>
          <p:cNvGraphicFramePr>
            <a:graphicFrameLocks noGrp="1"/>
          </p:cNvGraphicFramePr>
          <p:nvPr>
            <p:ph idx="1"/>
            <p:extLst>
              <p:ext uri="{D42A27DB-BD31-4B8C-83A1-F6EECF244321}">
                <p14:modId xmlns:p14="http://schemas.microsoft.com/office/powerpoint/2010/main" val="4775560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B41F0A67-ED18-82E2-E22F-A45BDAD0A379}"/>
              </a:ext>
            </a:extLst>
          </p:cNvPr>
          <p:cNvSpPr>
            <a:spLocks noGrp="1"/>
          </p:cNvSpPr>
          <p:nvPr>
            <p:ph type="sldNum" sz="quarter" idx="12"/>
          </p:nvPr>
        </p:nvSpPr>
        <p:spPr/>
        <p:txBody>
          <a:bodyPr/>
          <a:lstStyle/>
          <a:p>
            <a:fld id="{C1FF6DA9-008F-8B48-92A6-B652298478BF}"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C663E49-104B-9D2A-8CE0-7CC8558EE8B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44411DA-AF74-D1B0-DD3E-7E606A6440A8}"/>
              </a:ext>
            </a:extLst>
          </p:cNvPr>
          <p:cNvPicPr>
            <a:picLocks noChangeAspect="1"/>
          </p:cNvPicPr>
          <p:nvPr/>
        </p:nvPicPr>
        <p:blipFill>
          <a:blip r:embed="rId3"/>
          <a:srcRect b="625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17CB7055-101B-44E5-7A96-3DA2CBC20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E31863-1E26-572A-7AB3-51F77DA0E115}"/>
              </a:ext>
            </a:extLst>
          </p:cNvPr>
          <p:cNvSpPr>
            <a:spLocks noGrp="1"/>
          </p:cNvSpPr>
          <p:nvPr>
            <p:ph type="title"/>
          </p:nvPr>
        </p:nvSpPr>
        <p:spPr>
          <a:xfrm>
            <a:off x="838200" y="365125"/>
            <a:ext cx="10515600" cy="1325563"/>
          </a:xfrm>
        </p:spPr>
        <p:txBody>
          <a:bodyPr>
            <a:normAutofit/>
          </a:bodyPr>
          <a:lstStyle/>
          <a:p>
            <a:r>
              <a:rPr dirty="0" err="1"/>
              <a:t>Наукова</a:t>
            </a:r>
            <a:r>
              <a:rPr dirty="0"/>
              <a:t> </a:t>
            </a:r>
            <a:r>
              <a:rPr dirty="0" err="1"/>
              <a:t>новизна</a:t>
            </a:r>
            <a:r>
              <a:rPr dirty="0"/>
              <a:t>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94591742-51EF-509B-2983-F003AFBDB0A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1FF20485-DE1E-9B60-F6D9-28048B991418}"/>
              </a:ext>
            </a:extLst>
          </p:cNvPr>
          <p:cNvSpPr>
            <a:spLocks noGrp="1"/>
          </p:cNvSpPr>
          <p:nvPr>
            <p:ph type="sldNum" sz="quarter" idx="12"/>
          </p:nvPr>
        </p:nvSpPr>
        <p:spPr/>
        <p:txBody>
          <a:bodyPr/>
          <a:lstStyle/>
          <a:p>
            <a:fld id="{C1FF6DA9-008F-8B48-92A6-B652298478BF}" type="slidenum">
              <a:rPr lang="en-US" smtClean="0"/>
              <a:t>35</a:t>
            </a:fld>
            <a:endParaRPr lang="en-US"/>
          </a:p>
        </p:txBody>
      </p:sp>
    </p:spTree>
    <p:extLst>
      <p:ext uri="{BB962C8B-B14F-4D97-AF65-F5344CB8AC3E}">
        <p14:creationId xmlns:p14="http://schemas.microsoft.com/office/powerpoint/2010/main" val="2244073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1A617B-4A6B-B2A8-22A9-E358E511D1D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B294DE3-43E0-6A25-9384-5C52C9A2861F}"/>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85A76AD-AC0F-3922-7A47-5E4CE66FBD8D}"/>
              </a:ext>
            </a:extLst>
          </p:cNvPr>
          <p:cNvSpPr>
            <a:spLocks noGrp="1"/>
          </p:cNvSpPr>
          <p:nvPr>
            <p:ph type="title"/>
          </p:nvPr>
        </p:nvSpPr>
        <p:spPr>
          <a:xfrm>
            <a:off x="838200" y="365125"/>
            <a:ext cx="10515600" cy="1325563"/>
          </a:xfrm>
        </p:spPr>
        <p:txBody>
          <a:bodyPr>
            <a:normAutofit/>
          </a:bodyPr>
          <a:lstStyle/>
          <a:p>
            <a:r>
              <a:rPr dirty="0" err="1"/>
              <a:t>Наукова</a:t>
            </a:r>
            <a:r>
              <a:rPr dirty="0"/>
              <a:t> </a:t>
            </a:r>
            <a:r>
              <a:rPr dirty="0" err="1"/>
              <a:t>новизна</a:t>
            </a:r>
            <a:r>
              <a:rPr dirty="0"/>
              <a:t>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7DC09827-52A8-EA66-38BB-464F5479157E}"/>
              </a:ext>
            </a:extLst>
          </p:cNvPr>
          <p:cNvGraphicFramePr>
            <a:graphicFrameLocks noGrp="1"/>
          </p:cNvGraphicFramePr>
          <p:nvPr>
            <p:ph idx="1"/>
            <p:extLst>
              <p:ext uri="{D42A27DB-BD31-4B8C-83A1-F6EECF244321}">
                <p14:modId xmlns:p14="http://schemas.microsoft.com/office/powerpoint/2010/main" val="25594303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D54EBC6E-FE6A-CEC4-941C-38E2064A0B00}"/>
              </a:ext>
            </a:extLst>
          </p:cNvPr>
          <p:cNvSpPr>
            <a:spLocks noGrp="1"/>
          </p:cNvSpPr>
          <p:nvPr>
            <p:ph type="sldNum" sz="quarter" idx="12"/>
          </p:nvPr>
        </p:nvSpPr>
        <p:spPr/>
        <p:txBody>
          <a:bodyPr/>
          <a:lstStyle/>
          <a:p>
            <a:fld id="{C1FF6DA9-008F-8B48-92A6-B652298478BF}" type="slidenum">
              <a:rPr lang="en-US" smtClean="0"/>
              <a:t>36</a:t>
            </a:fld>
            <a:endParaRPr lang="en-US"/>
          </a:p>
        </p:txBody>
      </p:sp>
    </p:spTree>
    <p:extLst>
      <p:ext uri="{BB962C8B-B14F-4D97-AF65-F5344CB8AC3E}">
        <p14:creationId xmlns:p14="http://schemas.microsoft.com/office/powerpoint/2010/main" val="256836806"/>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3F87F-9A43-6673-0AD8-C652A7AA8A8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EF4C66C-D3AA-E565-6BB8-BC806822D24D}"/>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A36661DD-0AAA-657E-6437-851E06736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C8E67039-CDDE-A28E-BC93-EF1AA4321D76}"/>
              </a:ext>
            </a:extLst>
          </p:cNvPr>
          <p:cNvSpPr>
            <a:spLocks noGrp="1"/>
          </p:cNvSpPr>
          <p:nvPr>
            <p:ph type="title"/>
          </p:nvPr>
        </p:nvSpPr>
        <p:spPr>
          <a:xfrm>
            <a:off x="838200" y="365125"/>
            <a:ext cx="10515600" cy="1325563"/>
          </a:xfrm>
        </p:spPr>
        <p:txBody>
          <a:bodyPr>
            <a:normAutofit/>
          </a:bodyPr>
          <a:lstStyle/>
          <a:p>
            <a:r>
              <a:rPr dirty="0" err="1"/>
              <a:t>Практичне</a:t>
            </a:r>
            <a:r>
              <a:rPr dirty="0"/>
              <a:t> </a:t>
            </a:r>
            <a:r>
              <a:rPr dirty="0" err="1"/>
              <a:t>значення</a:t>
            </a:r>
            <a:endParaRPr dirty="0"/>
          </a:p>
        </p:txBody>
      </p:sp>
      <p:graphicFrame>
        <p:nvGraphicFramePr>
          <p:cNvPr id="5" name="Content Placeholder 2">
            <a:extLst>
              <a:ext uri="{FF2B5EF4-FFF2-40B4-BE49-F238E27FC236}">
                <a16:creationId xmlns:a16="http://schemas.microsoft.com/office/drawing/2014/main" id="{D5363CFC-C1C0-6E3D-C68A-A3554180E1D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554CE05B-D92C-9BC7-6C84-9BFD4642019C}"/>
              </a:ext>
            </a:extLst>
          </p:cNvPr>
          <p:cNvSpPr>
            <a:spLocks noGrp="1"/>
          </p:cNvSpPr>
          <p:nvPr>
            <p:ph type="sldNum" sz="quarter" idx="12"/>
          </p:nvPr>
        </p:nvSpPr>
        <p:spPr/>
        <p:txBody>
          <a:bodyPr/>
          <a:lstStyle/>
          <a:p>
            <a:fld id="{C1FF6DA9-008F-8B48-92A6-B652298478BF}" type="slidenum">
              <a:rPr lang="en-US" smtClean="0"/>
              <a:t>37</a:t>
            </a:fld>
            <a:endParaRPr lang="en-US"/>
          </a:p>
        </p:txBody>
      </p:sp>
    </p:spTree>
    <p:extLst>
      <p:ext uri="{BB962C8B-B14F-4D97-AF65-F5344CB8AC3E}">
        <p14:creationId xmlns:p14="http://schemas.microsoft.com/office/powerpoint/2010/main" val="2956605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0788F3-B93A-C37C-D072-A59C9BEA042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67595E-535D-559B-DCCC-43FADF38D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Freeform: Shape 9">
            <a:extLst>
              <a:ext uri="{FF2B5EF4-FFF2-40B4-BE49-F238E27FC236}">
                <a16:creationId xmlns:a16="http://schemas.microsoft.com/office/drawing/2014/main" id="{0F538435-9A2E-3CD2-8ECD-E3CB2E210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DA1A3870-F82E-B6E8-544A-0341FEF716BB}"/>
              </a:ext>
            </a:extLst>
          </p:cNvPr>
          <p:cNvSpPr>
            <a:spLocks noGrp="1"/>
          </p:cNvSpPr>
          <p:nvPr>
            <p:ph type="title"/>
          </p:nvPr>
        </p:nvSpPr>
        <p:spPr>
          <a:xfrm>
            <a:off x="1137036" y="548640"/>
            <a:ext cx="9543405" cy="1188720"/>
          </a:xfrm>
        </p:spPr>
        <p:txBody>
          <a:bodyPr>
            <a:normAutofit/>
          </a:bodyPr>
          <a:lstStyle/>
          <a:p>
            <a:r>
              <a:rPr lang="uk-UA">
                <a:solidFill>
                  <a:schemeClr val="tx1">
                    <a:lumMod val="85000"/>
                    <a:lumOff val="15000"/>
                  </a:schemeClr>
                </a:solidFill>
              </a:rPr>
              <a:t>Апробація та публікації</a:t>
            </a:r>
          </a:p>
        </p:txBody>
      </p:sp>
      <p:sp>
        <p:nvSpPr>
          <p:cNvPr id="3" name="Content Placeholder 2">
            <a:extLst>
              <a:ext uri="{FF2B5EF4-FFF2-40B4-BE49-F238E27FC236}">
                <a16:creationId xmlns:a16="http://schemas.microsoft.com/office/drawing/2014/main" id="{FF8ED3D0-EABC-0215-B58E-670F28C5756B}"/>
              </a:ext>
            </a:extLst>
          </p:cNvPr>
          <p:cNvSpPr>
            <a:spLocks noGrp="1"/>
          </p:cNvSpPr>
          <p:nvPr>
            <p:ph idx="1"/>
          </p:nvPr>
        </p:nvSpPr>
        <p:spPr>
          <a:xfrm>
            <a:off x="1957987" y="2431765"/>
            <a:ext cx="8276026" cy="3320031"/>
          </a:xfrm>
        </p:spPr>
        <p:txBody>
          <a:bodyPr anchor="ctr">
            <a:normAutofit/>
          </a:bodyPr>
          <a:lstStyle/>
          <a:p>
            <a:r>
              <a:rPr lang="uk-UA" sz="2000">
                <a:solidFill>
                  <a:schemeClr val="tx1">
                    <a:lumMod val="85000"/>
                    <a:lumOff val="15000"/>
                  </a:schemeClr>
                </a:solidFill>
              </a:rPr>
              <a:t>15 наукових праць: 7 статей у фахових виданнях категорії Б, 8 матеріалів апробаційного характеру</a:t>
            </a:r>
          </a:p>
          <a:p>
            <a:r>
              <a:rPr lang="uk-UA" sz="2000">
                <a:solidFill>
                  <a:schemeClr val="tx1">
                    <a:lumMod val="85000"/>
                    <a:lumOff val="15000"/>
                  </a:schemeClr>
                </a:solidFill>
              </a:rPr>
              <a:t>Апробація: </a:t>
            </a:r>
            <a:r>
              <a:rPr lang="en-US" sz="2000">
                <a:solidFill>
                  <a:schemeClr val="tx1">
                    <a:lumMod val="85000"/>
                    <a:lumOff val="15000"/>
                  </a:schemeClr>
                </a:solidFill>
              </a:rPr>
              <a:t>MicroCAD (2023-2025), KhPIWeek (2025), </a:t>
            </a:r>
            <a:r>
              <a:rPr lang="uk-UA" sz="2000">
                <a:solidFill>
                  <a:schemeClr val="tx1">
                    <a:lumMod val="85000"/>
                    <a:lumOff val="15000"/>
                  </a:schemeClr>
                </a:solidFill>
              </a:rPr>
              <a:t>конференції магістрантів та аспірантів НТУ «ХПІ» (2024,2025)</a:t>
            </a:r>
          </a:p>
          <a:p>
            <a:r>
              <a:rPr lang="uk-UA" sz="2000">
                <a:solidFill>
                  <a:schemeClr val="tx1">
                    <a:lumMod val="85000"/>
                    <a:lumOff val="15000"/>
                  </a:schemeClr>
                </a:solidFill>
              </a:rPr>
              <a:t>Впровадження: НТУ «ХПІ», ТОВ «Метінвест Політехніка», Радіоастрономічний інститут НАН України</a:t>
            </a:r>
          </a:p>
        </p:txBody>
      </p:sp>
      <p:sp>
        <p:nvSpPr>
          <p:cNvPr id="12" name="Freeform: Shape 11">
            <a:extLst>
              <a:ext uri="{FF2B5EF4-FFF2-40B4-BE49-F238E27FC236}">
                <a16:creationId xmlns:a16="http://schemas.microsoft.com/office/drawing/2014/main" id="{CBDFF8C9-F918-E8BB-FCB6-6D3C9C460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Місце для номера слайда 3">
            <a:extLst>
              <a:ext uri="{FF2B5EF4-FFF2-40B4-BE49-F238E27FC236}">
                <a16:creationId xmlns:a16="http://schemas.microsoft.com/office/drawing/2014/main" id="{6C688D21-85AB-CF0A-D68E-D4F65E25E58C}"/>
              </a:ext>
            </a:extLst>
          </p:cNvPr>
          <p:cNvSpPr>
            <a:spLocks noGrp="1"/>
          </p:cNvSpPr>
          <p:nvPr>
            <p:ph type="sldNum" sz="quarter" idx="12"/>
          </p:nvPr>
        </p:nvSpPr>
        <p:spPr/>
        <p:txBody>
          <a:bodyPr/>
          <a:lstStyle/>
          <a:p>
            <a:fld id="{C1FF6DA9-008F-8B48-92A6-B652298478BF}" type="slidenum">
              <a:rPr lang="en-US" smtClean="0"/>
              <a:t>38</a:t>
            </a:fld>
            <a:endParaRPr lang="en-US"/>
          </a:p>
        </p:txBody>
      </p:sp>
    </p:spTree>
    <p:extLst>
      <p:ext uri="{BB962C8B-B14F-4D97-AF65-F5344CB8AC3E}">
        <p14:creationId xmlns:p14="http://schemas.microsoft.com/office/powerpoint/2010/main" val="1561451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06443"/>
          </a:xfrm>
        </p:spPr>
        <p:txBody>
          <a:bodyPr>
            <a:normAutofit/>
          </a:bodyPr>
          <a:lstStyle/>
          <a:p>
            <a:r>
              <a:rPr lang="uk-UA" sz="4000"/>
              <a:t>Висновки</a:t>
            </a:r>
          </a:p>
        </p:txBody>
      </p:sp>
      <p:pic>
        <p:nvPicPr>
          <p:cNvPr id="6" name="Picture 5">
            <a:extLst>
              <a:ext uri="{FF2B5EF4-FFF2-40B4-BE49-F238E27FC236}">
                <a16:creationId xmlns:a16="http://schemas.microsoft.com/office/drawing/2014/main" id="{C084832D-AC85-4567-6E6A-ADD8511D3CA6}"/>
              </a:ext>
            </a:extLst>
          </p:cNvPr>
          <p:cNvPicPr>
            <a:picLocks noChangeAspect="1"/>
          </p:cNvPicPr>
          <p:nvPr/>
        </p:nvPicPr>
        <p:blipFill>
          <a:blip r:embed="rId3"/>
          <a:srcRect l="28148" r="17768" b="-2"/>
          <a:stretch>
            <a:fillRect/>
          </a:stretch>
        </p:blipFill>
        <p:spPr>
          <a:xfrm>
            <a:off x="7989293" y="1904282"/>
            <a:ext cx="3423093" cy="4224808"/>
          </a:xfrm>
          <a:prstGeom prst="rect">
            <a:avLst/>
          </a:prstGeom>
        </p:spPr>
      </p:pic>
      <p:graphicFrame>
        <p:nvGraphicFramePr>
          <p:cNvPr id="5" name="Content Placeholder 2">
            <a:extLst>
              <a:ext uri="{FF2B5EF4-FFF2-40B4-BE49-F238E27FC236}">
                <a16:creationId xmlns:a16="http://schemas.microsoft.com/office/drawing/2014/main" id="{E1368ADC-F220-8A64-06BA-8A0B2969707E}"/>
              </a:ext>
            </a:extLst>
          </p:cNvPr>
          <p:cNvGraphicFramePr>
            <a:graphicFrameLocks noGrp="1"/>
          </p:cNvGraphicFramePr>
          <p:nvPr>
            <p:ph idx="1"/>
            <p:extLst>
              <p:ext uri="{D42A27DB-BD31-4B8C-83A1-F6EECF244321}">
                <p14:modId xmlns:p14="http://schemas.microsoft.com/office/powerpoint/2010/main" val="1908127264"/>
              </p:ext>
            </p:extLst>
          </p:nvPr>
        </p:nvGraphicFramePr>
        <p:xfrm>
          <a:off x="838200" y="1825625"/>
          <a:ext cx="6714744" cy="43034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Місце для номера слайда 3">
            <a:extLst>
              <a:ext uri="{FF2B5EF4-FFF2-40B4-BE49-F238E27FC236}">
                <a16:creationId xmlns:a16="http://schemas.microsoft.com/office/drawing/2014/main" id="{3B73F307-3682-E553-5460-ECE9E35779E5}"/>
              </a:ext>
            </a:extLst>
          </p:cNvPr>
          <p:cNvSpPr>
            <a:spLocks noGrp="1"/>
          </p:cNvSpPr>
          <p:nvPr>
            <p:ph type="sldNum" sz="quarter" idx="12"/>
          </p:nvPr>
        </p:nvSpPr>
        <p:spPr/>
        <p:txBody>
          <a:bodyPr/>
          <a:lstStyle/>
          <a:p>
            <a:fld id="{C1FF6DA9-008F-8B48-92A6-B652298478BF}"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a:extLst>
            <a:ext uri="{FF2B5EF4-FFF2-40B4-BE49-F238E27FC236}">
              <a16:creationId xmlns:a16="http://schemas.microsoft.com/office/drawing/2014/main" id="{2218C451-CD35-21D8-85C1-2DB4A0912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8517F-72AC-397C-B0B0-418D0362BAA0}"/>
              </a:ext>
            </a:extLst>
          </p:cNvPr>
          <p:cNvSpPr>
            <a:spLocks noGrp="1"/>
          </p:cNvSpPr>
          <p:nvPr>
            <p:ph type="title"/>
          </p:nvPr>
        </p:nvSpPr>
        <p:spPr>
          <a:xfrm>
            <a:off x="838200" y="365125"/>
            <a:ext cx="10515600" cy="1325563"/>
          </a:xfrm>
        </p:spPr>
        <p:txBody>
          <a:bodyPr>
            <a:normAutofit/>
          </a:bodyPr>
          <a:lstStyle/>
          <a:p>
            <a:r>
              <a:rPr lang="uk-UA" dirty="0"/>
              <a:t>Висновки</a:t>
            </a:r>
          </a:p>
        </p:txBody>
      </p:sp>
      <p:graphicFrame>
        <p:nvGraphicFramePr>
          <p:cNvPr id="5" name="Content Placeholder 2">
            <a:extLst>
              <a:ext uri="{FF2B5EF4-FFF2-40B4-BE49-F238E27FC236}">
                <a16:creationId xmlns:a16="http://schemas.microsoft.com/office/drawing/2014/main" id="{300D5945-D7DC-8E1B-937B-4699365B5593}"/>
              </a:ext>
            </a:extLst>
          </p:cNvPr>
          <p:cNvGraphicFramePr>
            <a:graphicFrameLocks noGrp="1"/>
          </p:cNvGraphicFramePr>
          <p:nvPr>
            <p:ph idx="1"/>
            <p:extLst>
              <p:ext uri="{D42A27DB-BD31-4B8C-83A1-F6EECF244321}">
                <p14:modId xmlns:p14="http://schemas.microsoft.com/office/powerpoint/2010/main" val="6611792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Місце для номера слайда 8">
            <a:extLst>
              <a:ext uri="{FF2B5EF4-FFF2-40B4-BE49-F238E27FC236}">
                <a16:creationId xmlns:a16="http://schemas.microsoft.com/office/drawing/2014/main" id="{87FA9787-44D0-919E-230C-75601E298BF0}"/>
              </a:ext>
            </a:extLst>
          </p:cNvPr>
          <p:cNvSpPr>
            <a:spLocks noGrp="1"/>
          </p:cNvSpPr>
          <p:nvPr>
            <p:ph type="sldNum" sz="quarter" idx="12"/>
          </p:nvPr>
        </p:nvSpPr>
        <p:spPr/>
        <p:txBody>
          <a:bodyPr/>
          <a:lstStyle/>
          <a:p>
            <a:fld id="{C1FF6DA9-008F-8B48-92A6-B652298478BF}" type="slidenum">
              <a:rPr lang="en-US" smtClean="0"/>
              <a:t>40</a:t>
            </a:fld>
            <a:endParaRPr lang="en-US"/>
          </a:p>
        </p:txBody>
      </p:sp>
    </p:spTree>
    <p:extLst>
      <p:ext uri="{BB962C8B-B14F-4D97-AF65-F5344CB8AC3E}">
        <p14:creationId xmlns:p14="http://schemas.microsoft.com/office/powerpoint/2010/main" val="1466251729"/>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CFA667C-F6C9-4734-FE01-32070465ED04}"/>
              </a:ext>
            </a:extLst>
          </p:cNvPr>
          <p:cNvSpPr>
            <a:spLocks noGrp="1"/>
          </p:cNvSpPr>
          <p:nvPr>
            <p:ph type="title"/>
          </p:nvPr>
        </p:nvSpPr>
        <p:spPr>
          <a:xfrm>
            <a:off x="838200" y="365125"/>
            <a:ext cx="10515600" cy="1041949"/>
          </a:xfrm>
        </p:spPr>
        <p:txBody>
          <a:bodyPr>
            <a:normAutofit/>
          </a:bodyPr>
          <a:lstStyle/>
          <a:p>
            <a:r>
              <a:rPr lang="uk-UA" sz="5400" dirty="0"/>
              <a:t>Висновки</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Місце для вмісту 2">
            <a:extLst>
              <a:ext uri="{FF2B5EF4-FFF2-40B4-BE49-F238E27FC236}">
                <a16:creationId xmlns:a16="http://schemas.microsoft.com/office/drawing/2014/main" id="{3871C243-AE10-82A9-64E1-509049F479AD}"/>
              </a:ext>
            </a:extLst>
          </p:cNvPr>
          <p:cNvSpPr>
            <a:spLocks noGrp="1"/>
          </p:cNvSpPr>
          <p:nvPr>
            <p:ph idx="1"/>
          </p:nvPr>
        </p:nvSpPr>
        <p:spPr>
          <a:xfrm>
            <a:off x="193637" y="1929384"/>
            <a:ext cx="11725835" cy="4826418"/>
          </a:xfrm>
        </p:spPr>
        <p:txBody>
          <a:bodyPr>
            <a:noAutofit/>
          </a:bodyPr>
          <a:lstStyle/>
          <a:p>
            <a:pPr>
              <a:lnSpc>
                <a:spcPct val="90000"/>
              </a:lnSpc>
            </a:pPr>
            <a:r>
              <a:rPr lang="uk-UA" sz="1050" dirty="0"/>
              <a:t>1. Проведено аналіз сучасних задач і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геометричних і структурних параметрів, а також урахування шумів, оклюзій, зміни освітлення та неповноти даних. Визначено, що динамічні об'єкти є складними багатовимірними системами, стан яких безперервно змінюється в часі. Сформовано класифікацію параметрів (просторові, кінематичні, структурні) та методів ідентифікації (</a:t>
            </a:r>
            <a:r>
              <a:rPr lang="uk-UA" sz="1050" dirty="0" err="1"/>
              <a:t>покадрові</a:t>
            </a:r>
            <a:r>
              <a:rPr lang="uk-UA" sz="1050" dirty="0"/>
              <a:t>, послідовні, інтегровані). Проаналізовано еволюцію інформаційних технологій комп'ютерного зору від класичних методів (Віоли-Джонса, ГОГ, деформованих частин) до сучасних </a:t>
            </a:r>
            <a:r>
              <a:rPr lang="uk-UA" sz="1050" dirty="0" err="1"/>
              <a:t>архітектур</a:t>
            </a:r>
            <a:r>
              <a:rPr lang="uk-UA" sz="1050" dirty="0"/>
              <a:t> глибокого навчання (</a:t>
            </a:r>
            <a:r>
              <a:rPr lang="en-US" sz="1050" dirty="0"/>
              <a:t>CNN-</a:t>
            </a:r>
            <a:r>
              <a:rPr lang="uk-UA" sz="1050" dirty="0"/>
              <a:t>детектори </a:t>
            </a:r>
            <a:r>
              <a:rPr lang="en-US" sz="1050" dirty="0"/>
              <a:t>YOLO/SSD, </a:t>
            </a:r>
            <a:r>
              <a:rPr lang="uk-UA" sz="1050" dirty="0" err="1"/>
              <a:t>трансформерний</a:t>
            </a:r>
            <a:r>
              <a:rPr lang="uk-UA" sz="1050" dirty="0"/>
              <a:t> детектор </a:t>
            </a:r>
            <a:r>
              <a:rPr lang="en-US" sz="1050" dirty="0"/>
              <a:t>DETR, </a:t>
            </a:r>
            <a:r>
              <a:rPr lang="uk-UA" sz="1050" dirty="0" err="1"/>
              <a:t>нейромережеві</a:t>
            </a:r>
            <a:r>
              <a:rPr lang="uk-UA" sz="1050" dirty="0"/>
              <a:t> моделі оптичного потоку </a:t>
            </a:r>
            <a:r>
              <a:rPr lang="en-US" sz="1050" dirty="0" err="1"/>
              <a:t>FlowNet</a:t>
            </a:r>
            <a:r>
              <a:rPr lang="en-US" sz="1050" dirty="0"/>
              <a:t>/RAFT </a:t>
            </a:r>
            <a:r>
              <a:rPr lang="uk-UA" sz="1050" dirty="0"/>
              <a:t>та оцінювання глибини </a:t>
            </a:r>
            <a:r>
              <a:rPr lang="en-US" sz="1050" dirty="0" err="1"/>
              <a:t>MiDaS</a:t>
            </a:r>
            <a:r>
              <a:rPr lang="en-US" sz="1050" dirty="0"/>
              <a:t>/DPT). </a:t>
            </a:r>
            <a:r>
              <a:rPr lang="uk-UA" sz="1050" dirty="0"/>
              <a:t>Досліджено методи обчислювального інтелекту, зокрема ансамблеві підходи </a:t>
            </a:r>
            <a:r>
              <a:rPr lang="en-US" sz="1050" dirty="0"/>
              <a:t>Bagging </a:t>
            </a:r>
            <a:r>
              <a:rPr lang="uk-UA" sz="1050" dirty="0"/>
              <a:t>та </a:t>
            </a:r>
            <a:r>
              <a:rPr lang="en-US" sz="1050" dirty="0"/>
              <a:t>Boosting. </a:t>
            </a:r>
            <a:r>
              <a:rPr lang="uk-UA" sz="1050" dirty="0"/>
              <a:t>Обґрунтовано, що найперспективнішим напрямом є інтеграція </a:t>
            </a:r>
            <a:r>
              <a:rPr lang="uk-UA" sz="1050" dirty="0" err="1"/>
              <a:t>трансформерного</a:t>
            </a:r>
            <a:r>
              <a:rPr lang="uk-UA" sz="1050" dirty="0"/>
              <a:t> виявлення, оптичного потоку, оцінювання глибини та ансамблевих методів. Сформульовано мету та задачі дослідження.</a:t>
            </a:r>
          </a:p>
          <a:p>
            <a:pPr>
              <a:lnSpc>
                <a:spcPct val="90000"/>
              </a:lnSpc>
            </a:pPr>
            <a:r>
              <a:rPr lang="uk-UA" sz="1050" dirty="0"/>
              <a:t>2.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необхідність переходу від окремого детектування до інтегрованого просторово-часового аналізу </a:t>
            </a:r>
            <a:r>
              <a:rPr lang="uk-UA" sz="1050" dirty="0" err="1"/>
              <a:t>відеопотоку</a:t>
            </a:r>
            <a:r>
              <a:rPr lang="uk-UA" sz="1050" dirty="0"/>
              <a:t>. розглянуто методичну основу дистанційної ідентифікації. Проаналізовано класичні методи оптичного потоку: локальний Лукаса-</a:t>
            </a:r>
            <a:r>
              <a:rPr lang="uk-UA" sz="1050" dirty="0" err="1"/>
              <a:t>Канаде</a:t>
            </a:r>
            <a:r>
              <a:rPr lang="uk-UA" sz="1050" dirty="0"/>
              <a:t>, глобальний </a:t>
            </a:r>
            <a:r>
              <a:rPr lang="uk-UA" sz="1050" dirty="0" err="1"/>
              <a:t>Хорна-Шунка</a:t>
            </a:r>
            <a:r>
              <a:rPr lang="uk-UA" sz="1050" dirty="0"/>
              <a:t> та поліноміальний </a:t>
            </a:r>
            <a:r>
              <a:rPr lang="uk-UA" sz="1050" dirty="0" err="1"/>
              <a:t>Фарнебека</a:t>
            </a:r>
            <a:r>
              <a:rPr lang="uk-UA" sz="1050" dirty="0"/>
              <a:t>. Досліджено </a:t>
            </a:r>
            <a:r>
              <a:rPr lang="uk-UA" sz="1050" dirty="0" err="1"/>
              <a:t>нейромережеві</a:t>
            </a:r>
            <a:r>
              <a:rPr lang="uk-UA" sz="1050" dirty="0"/>
              <a:t> моделі аналізу руху: </a:t>
            </a:r>
            <a:r>
              <a:rPr lang="en-US" sz="1050" dirty="0" err="1"/>
              <a:t>FlowNet</a:t>
            </a:r>
            <a:r>
              <a:rPr lang="en-US" sz="1050" dirty="0"/>
              <a:t>, RAFT </a:t>
            </a:r>
            <a:r>
              <a:rPr lang="uk-UA" sz="1050" dirty="0"/>
              <a:t>та </a:t>
            </a:r>
            <a:r>
              <a:rPr lang="en-US" sz="1050" dirty="0" err="1"/>
              <a:t>GeoNet</a:t>
            </a:r>
            <a:r>
              <a:rPr lang="en-US" sz="1050" dirty="0"/>
              <a:t>. </a:t>
            </a:r>
            <a:r>
              <a:rPr lang="uk-UA" sz="1050" dirty="0"/>
              <a:t>Розглянуто ансамблеві методи </a:t>
            </a:r>
            <a:r>
              <a:rPr lang="en-US" sz="1050" dirty="0"/>
              <a:t>Bagging </a:t>
            </a:r>
            <a:r>
              <a:rPr lang="uk-UA" sz="1050" dirty="0"/>
              <a:t>та </a:t>
            </a:r>
            <a:r>
              <a:rPr lang="en-US" sz="1050" dirty="0"/>
              <a:t>Boosting. </a:t>
            </a:r>
            <a:r>
              <a:rPr lang="uk-UA" sz="1050" dirty="0"/>
              <a:t>Запропоновано об'єднання методів через формалізацію просторово-часової моделі, </a:t>
            </a:r>
            <a:r>
              <a:rPr lang="uk-UA" sz="1050" dirty="0" err="1"/>
              <a:t>вектора</a:t>
            </a:r>
            <a:r>
              <a:rPr lang="uk-UA" sz="1050" dirty="0"/>
              <a:t> стану об’єкта та динамічної моделі руху. Визначено формули для обчислення кінематичних параметрів (швидкість, напрямок, положення, траєкторія). Обґрунтовано доцільність комплексного використання детекторів, оптичного потоку та глибини.</a:t>
            </a:r>
          </a:p>
          <a:p>
            <a:pPr>
              <a:lnSpc>
                <a:spcPct val="90000"/>
              </a:lnSpc>
            </a:pPr>
            <a:r>
              <a:rPr lang="uk-UA" sz="1050" dirty="0"/>
              <a:t>3. Розроблено моделі дистанційної ідентифікації параметрів динамічних об’єктів, які поєднують результати </a:t>
            </a:r>
            <a:r>
              <a:rPr lang="en-US" sz="1050" dirty="0"/>
              <a:t>DETR, </a:t>
            </a:r>
            <a:r>
              <a:rPr lang="uk-UA" sz="1050" dirty="0"/>
              <a:t>алгоритмів оптичного потоку, моделей оцінювання глибини та </a:t>
            </a:r>
            <a:r>
              <a:rPr lang="uk-UA" sz="1050" dirty="0" err="1"/>
              <a:t>трансформерних</a:t>
            </a:r>
            <a:r>
              <a:rPr lang="uk-UA" sz="1050" dirty="0"/>
              <a:t> механізмів обробки контексту. Таке поєднання забезпечує отримання більш повного опису стану об’єкта порівняно з використанням лише </a:t>
            </a:r>
            <a:r>
              <a:rPr lang="uk-UA" sz="1050" dirty="0" err="1"/>
              <a:t>покадрової</a:t>
            </a:r>
            <a:r>
              <a:rPr lang="uk-UA" sz="1050" dirty="0"/>
              <a:t> </a:t>
            </a:r>
            <a:r>
              <a:rPr lang="uk-UA" sz="1050" dirty="0" err="1"/>
              <a:t>детекції</a:t>
            </a:r>
            <a:r>
              <a:rPr lang="uk-UA" sz="1050" dirty="0"/>
              <a:t>. Обґрунтовано використання ансамблевих методів </a:t>
            </a:r>
            <a:r>
              <a:rPr lang="en-US" sz="1050" dirty="0"/>
              <a:t>Bagging </a:t>
            </a:r>
            <a:r>
              <a:rPr lang="uk-UA" sz="1050" dirty="0"/>
              <a:t>і </a:t>
            </a:r>
            <a:r>
              <a:rPr lang="en-US" sz="1050" dirty="0"/>
              <a:t>Boosting </a:t>
            </a:r>
            <a:r>
              <a:rPr lang="uk-UA" sz="1050" dirty="0"/>
              <a:t>для підвищення стійкості результатів ідентифікації. Показано, що </a:t>
            </a:r>
            <a:r>
              <a:rPr lang="uk-UA" sz="1050" dirty="0" err="1"/>
              <a:t>бегінг</a:t>
            </a:r>
            <a:r>
              <a:rPr lang="uk-UA" sz="1050" dirty="0"/>
              <a:t> зменшує вплив випадкових шумів та локальних артефактів, а </a:t>
            </a:r>
            <a:r>
              <a:rPr lang="uk-UA" sz="1050" dirty="0" err="1"/>
              <a:t>бустінг</a:t>
            </a:r>
            <a:r>
              <a:rPr lang="uk-UA" sz="1050" dirty="0"/>
              <a:t> підвищує точність у складних областях сцени, зокрема на межах об’єктів і в зонах оклюзій. сформовано концепцію моделей дистанційної ідентифікації. Запропоновано загальну концептуальну модель та архітектуру системи у вигляді набору модулів. Розроблено аналітичну модель ідентифікації з використанням </a:t>
            </a:r>
            <a:r>
              <a:rPr lang="en-US" sz="1050" dirty="0"/>
              <a:t>DETR </a:t>
            </a:r>
            <a:r>
              <a:rPr lang="uk-UA" sz="1050" dirty="0"/>
              <a:t>та оптичного потоку. Деталізовано математичні моделі для визначення швидкості, напрямку, положення, траєкторії та прискорення. Запропоновано об’єднання моделей через сумісну оцінку </a:t>
            </a:r>
            <a:r>
              <a:rPr lang="en-US" sz="1050" dirty="0" err="1"/>
              <a:t>GeoNet</a:t>
            </a:r>
            <a:r>
              <a:rPr lang="en-US" sz="1050" dirty="0"/>
              <a:t>, </a:t>
            </a:r>
            <a:r>
              <a:rPr lang="uk-UA" sz="1050" dirty="0"/>
              <a:t>ансамблеву модель </a:t>
            </a:r>
            <a:r>
              <a:rPr lang="en-US" sz="1050" dirty="0"/>
              <a:t>Bagging </a:t>
            </a:r>
            <a:r>
              <a:rPr lang="uk-UA" sz="1050" dirty="0"/>
              <a:t>та адаптивну модель </a:t>
            </a:r>
            <a:r>
              <a:rPr lang="en-US" sz="1050" dirty="0"/>
              <a:t>Boosting. </a:t>
            </a:r>
            <a:r>
              <a:rPr lang="uk-UA" sz="1050" dirty="0"/>
              <a:t>Інтегральна модель та повна система рівнянь забезпечують перехід від </a:t>
            </a:r>
            <a:r>
              <a:rPr lang="uk-UA" sz="1050" dirty="0" err="1"/>
              <a:t>покадрового</a:t>
            </a:r>
            <a:r>
              <a:rPr lang="uk-UA" sz="1050" dirty="0"/>
              <a:t> виявлення до просторово-часового опису динамічного об'єкта.</a:t>
            </a:r>
          </a:p>
          <a:p>
            <a:pPr>
              <a:lnSpc>
                <a:spcPct val="90000"/>
              </a:lnSpc>
            </a:pPr>
            <a:r>
              <a:rPr lang="uk-UA" sz="1050" dirty="0"/>
              <a:t>4. Розроблено структуру інформаційної технології ДІПДО та програмну реалізацію основних етапів обробки: отримання відеоданих, виявлення об’єктів, оцінювання оптичного потоку, побудова карти глибини, об’єднання ознак, розрахунок параметрів руху та візуалізація результатів. Проведено експериментальне порівняння комбінацій методів </a:t>
            </a:r>
            <a:r>
              <a:rPr lang="en-US" sz="1050" dirty="0" err="1"/>
              <a:t>Farneback</a:t>
            </a:r>
            <a:r>
              <a:rPr lang="en-US" sz="1050" dirty="0"/>
              <a:t>, Lucas–Kanade, Horn–Schunck, </a:t>
            </a:r>
            <a:r>
              <a:rPr lang="en-US" sz="1050" dirty="0" err="1"/>
              <a:t>FlowNet</a:t>
            </a:r>
            <a:r>
              <a:rPr lang="en-US" sz="1050" dirty="0"/>
              <a:t>, </a:t>
            </a:r>
            <a:r>
              <a:rPr lang="en-US" sz="1050" dirty="0" err="1"/>
              <a:t>GeoNet</a:t>
            </a:r>
            <a:r>
              <a:rPr lang="en-US" sz="1050" dirty="0"/>
              <a:t>, </a:t>
            </a:r>
            <a:r>
              <a:rPr lang="en-US" sz="1050" dirty="0" err="1"/>
              <a:t>MiDaS</a:t>
            </a:r>
            <a:r>
              <a:rPr lang="en-US" sz="1050" dirty="0"/>
              <a:t>, </a:t>
            </a:r>
            <a:r>
              <a:rPr lang="en-US" sz="1050" dirty="0" err="1"/>
              <a:t>DPT_Large</a:t>
            </a:r>
            <a:r>
              <a:rPr lang="en-US" sz="1050" dirty="0"/>
              <a:t>, Bagging, Boosting, Blur </a:t>
            </a:r>
            <a:r>
              <a:rPr lang="uk-UA" sz="1050" dirty="0"/>
              <a:t>і </a:t>
            </a:r>
            <a:r>
              <a:rPr lang="en-US" sz="1050" dirty="0"/>
              <a:t>Gradient </a:t>
            </a:r>
            <a:r>
              <a:rPr lang="uk-UA" sz="1050" dirty="0"/>
              <a:t>на тестовому </a:t>
            </a:r>
            <a:r>
              <a:rPr lang="uk-UA" sz="1050" dirty="0" err="1"/>
              <a:t>відеопотоці</a:t>
            </a:r>
            <a:r>
              <a:rPr lang="uk-UA" sz="1050" dirty="0"/>
              <a:t>. У тестовому запуску </a:t>
            </a:r>
            <a:r>
              <a:rPr lang="en-US" sz="1050" dirty="0"/>
              <a:t>DETR </a:t>
            </a:r>
            <a:r>
              <a:rPr lang="uk-UA" sz="1050" dirty="0"/>
              <a:t>виявив 6 об’єктів з довірою 0,74–1,00; найбільші швидкості отримано для об’єктів із центрами (658,5; 281,0) і (277,5; 264,0), що підтверджує працездатність інтеграції </a:t>
            </a:r>
            <a:r>
              <a:rPr lang="uk-UA" sz="1050" dirty="0" err="1"/>
              <a:t>детекції</a:t>
            </a:r>
            <a:r>
              <a:rPr lang="uk-UA" sz="1050" dirty="0"/>
              <a:t>, оптичного потоку та карти глибини. Водночас результати </a:t>
            </a:r>
            <a:r>
              <a:rPr lang="en-US" sz="1050" dirty="0" err="1"/>
              <a:t>FlowNet</a:t>
            </a:r>
            <a:r>
              <a:rPr lang="en-US" sz="1050" dirty="0"/>
              <a:t>/</a:t>
            </a:r>
            <a:r>
              <a:rPr lang="en-US" sz="1050" dirty="0" err="1"/>
              <a:t>GeoNet</a:t>
            </a:r>
            <a:r>
              <a:rPr lang="en-US" sz="1050" dirty="0"/>
              <a:t> </a:t>
            </a:r>
            <a:r>
              <a:rPr lang="uk-UA" sz="1050" dirty="0"/>
              <a:t>у цьому запуску є проксі-оцінками, оскільки </a:t>
            </a:r>
            <a:r>
              <a:rPr lang="en-US" sz="1050" dirty="0"/>
              <a:t>RAFT/</a:t>
            </a:r>
            <a:r>
              <a:rPr lang="en-US" sz="1050" dirty="0" err="1"/>
              <a:t>FlowNet</a:t>
            </a:r>
            <a:r>
              <a:rPr lang="en-US" sz="1050" dirty="0"/>
              <a:t> </a:t>
            </a:r>
            <a:r>
              <a:rPr lang="uk-UA" sz="1050" dirty="0"/>
              <a:t>був недоступний і використовувався резервний розрахунок </a:t>
            </a:r>
            <a:r>
              <a:rPr lang="en-US" sz="1050" dirty="0" err="1"/>
              <a:t>Farneback</a:t>
            </a:r>
            <a:r>
              <a:rPr lang="en-US" sz="1050" dirty="0"/>
              <a:t>. </a:t>
            </a:r>
            <a:r>
              <a:rPr lang="uk-UA" sz="1050" dirty="0"/>
              <a:t>Розроблено структуру інформаційної технології ДІПДО та її програмну реалізацію. Реалізовано модулі </a:t>
            </a:r>
            <a:r>
              <a:rPr lang="en-US" sz="1050" dirty="0"/>
              <a:t>DETR, </a:t>
            </a:r>
            <a:r>
              <a:rPr lang="uk-UA" sz="1050" dirty="0"/>
              <a:t>оптичного потоку (</a:t>
            </a:r>
            <a:r>
              <a:rPr lang="en-US" sz="1050" dirty="0" err="1"/>
              <a:t>Farneback</a:t>
            </a:r>
            <a:r>
              <a:rPr lang="en-US" sz="1050" dirty="0"/>
              <a:t>, Lucas–Kanade, Horn–Schunck, </a:t>
            </a:r>
            <a:r>
              <a:rPr lang="en-US" sz="1050" dirty="0" err="1"/>
              <a:t>FlowNet</a:t>
            </a:r>
            <a:r>
              <a:rPr lang="en-US" sz="1050" dirty="0"/>
              <a:t>, </a:t>
            </a:r>
            <a:r>
              <a:rPr lang="en-US" sz="1050" dirty="0" err="1"/>
              <a:t>GeoNet</a:t>
            </a:r>
            <a:r>
              <a:rPr lang="en-US" sz="1050" dirty="0"/>
              <a:t>) </a:t>
            </a:r>
            <a:r>
              <a:rPr lang="uk-UA" sz="1050" dirty="0"/>
              <a:t>та оцінювання глибини (</a:t>
            </a:r>
            <a:r>
              <a:rPr lang="en-US" sz="1050" dirty="0"/>
              <a:t>Blur, Gradient, </a:t>
            </a:r>
            <a:r>
              <a:rPr lang="en-US" sz="1050" dirty="0" err="1"/>
              <a:t>MiDaS</a:t>
            </a:r>
            <a:r>
              <a:rPr lang="en-US" sz="1050" dirty="0"/>
              <a:t>, DPT, Bagging, Boosting). </a:t>
            </a:r>
            <a:r>
              <a:rPr lang="uk-UA" sz="1050" dirty="0"/>
              <a:t>Проведено експериментальне тестування на </a:t>
            </a:r>
            <a:r>
              <a:rPr lang="uk-UA" sz="1050" dirty="0" err="1"/>
              <a:t>відеопотоці</a:t>
            </a:r>
            <a:r>
              <a:rPr lang="uk-UA" sz="1050" dirty="0"/>
              <a:t> </a:t>
            </a:r>
            <a:r>
              <a:rPr lang="en-US" sz="1050" dirty="0"/>
              <a:t>vtest.avi. DETR </a:t>
            </a:r>
            <a:r>
              <a:rPr lang="uk-UA" sz="1050" dirty="0"/>
              <a:t>виявив 6 об'єктів з довірою 0,74–1,00. Найбільші швидкості отримано для об'єктів 0 (6,526 </a:t>
            </a:r>
            <a:r>
              <a:rPr lang="en-US" sz="1050" dirty="0" err="1"/>
              <a:t>px</a:t>
            </a:r>
            <a:r>
              <a:rPr lang="en-US" sz="1050" dirty="0"/>
              <a:t>/</a:t>
            </a:r>
            <a:r>
              <a:rPr lang="uk-UA" sz="1050" dirty="0"/>
              <a:t>кадр) та 4 (4,592 </a:t>
            </a:r>
            <a:r>
              <a:rPr lang="en-US" sz="1050" dirty="0" err="1"/>
              <a:t>px</a:t>
            </a:r>
            <a:r>
              <a:rPr lang="en-US" sz="1050" dirty="0"/>
              <a:t>/</a:t>
            </a:r>
            <a:r>
              <a:rPr lang="uk-UA" sz="1050" dirty="0"/>
              <a:t>кадр). Порівняльний аналіз 35 комбінацій методів показав: </a:t>
            </a:r>
            <a:r>
              <a:rPr lang="en-US" sz="1050" dirty="0"/>
              <a:t>Bagging </a:t>
            </a:r>
            <a:r>
              <a:rPr lang="uk-UA" sz="1050" dirty="0"/>
              <a:t>забезпечив найкращу точність глибини (</a:t>
            </a:r>
            <a:r>
              <a:rPr lang="en-US" sz="1050" dirty="0"/>
              <a:t>RMSE=0,713, PSNR=51,065 </a:t>
            </a:r>
            <a:r>
              <a:rPr lang="uk-UA" sz="1050" dirty="0" err="1"/>
              <a:t>дБ</a:t>
            </a:r>
            <a:r>
              <a:rPr lang="uk-UA" sz="1050" dirty="0"/>
              <a:t>, </a:t>
            </a:r>
            <a:r>
              <a:rPr lang="en-US" sz="1050" dirty="0" err="1"/>
              <a:t>IoU</a:t>
            </a:r>
            <a:r>
              <a:rPr lang="en-US" sz="1050" dirty="0"/>
              <a:t>=0,996); </a:t>
            </a:r>
            <a:r>
              <a:rPr lang="en-US" sz="1050" dirty="0" err="1"/>
              <a:t>GeoNet</a:t>
            </a:r>
            <a:r>
              <a:rPr lang="en-US" sz="1050" dirty="0"/>
              <a:t>-</a:t>
            </a:r>
            <a:r>
              <a:rPr lang="uk-UA" sz="1050" dirty="0"/>
              <a:t>проксі та </a:t>
            </a:r>
            <a:r>
              <a:rPr lang="en-US" sz="1050" dirty="0" err="1"/>
              <a:t>DPT_Large</a:t>
            </a:r>
            <a:r>
              <a:rPr lang="en-US" sz="1050" dirty="0"/>
              <a:t> </a:t>
            </a:r>
            <a:r>
              <a:rPr lang="uk-UA" sz="1050" dirty="0"/>
              <a:t>також показали високі результати; </a:t>
            </a:r>
            <a:r>
              <a:rPr lang="en-US" sz="1050" dirty="0"/>
              <a:t>Blur </a:t>
            </a:r>
            <a:r>
              <a:rPr lang="uk-UA" sz="1050" dirty="0"/>
              <a:t>та </a:t>
            </a:r>
            <a:r>
              <a:rPr lang="en-US" sz="1050" dirty="0"/>
              <a:t>Gradient </a:t>
            </a:r>
            <a:r>
              <a:rPr lang="uk-UA" sz="1050" dirty="0"/>
              <a:t>виявилися непридатними для надійної ідентифікації. Підтверджено працездатність запропонованої інформаційної технології як модульної системи для дистанційної ідентифікації параметрів динамічних об'єктів. Практичне значення результатів полягає у можливості застосування розроблених моделей і програмних компонентів у системах інтелектуального відеоспостереження, автономного транспорту, робототехніки, промислового моніторингу та підтримки прийняття рішень, де необхідне надійне визначення параметрів рухомих об’єктів у режимі реального часу.</a:t>
            </a:r>
            <a:endParaRPr lang="en-US" sz="1050" dirty="0"/>
          </a:p>
        </p:txBody>
      </p:sp>
      <p:sp>
        <p:nvSpPr>
          <p:cNvPr id="4" name="Місце для номера слайда 3">
            <a:extLst>
              <a:ext uri="{FF2B5EF4-FFF2-40B4-BE49-F238E27FC236}">
                <a16:creationId xmlns:a16="http://schemas.microsoft.com/office/drawing/2014/main" id="{6ECB0ABC-DAEF-E138-26F5-83C09656EC6A}"/>
              </a:ext>
            </a:extLst>
          </p:cNvPr>
          <p:cNvSpPr>
            <a:spLocks noGrp="1"/>
          </p:cNvSpPr>
          <p:nvPr>
            <p:ph type="sldNum" sz="quarter" idx="12"/>
          </p:nvPr>
        </p:nvSpPr>
        <p:spPr/>
        <p:txBody>
          <a:bodyPr/>
          <a:lstStyle/>
          <a:p>
            <a:fld id="{C1FF6DA9-008F-8B48-92A6-B652298478BF}" type="slidenum">
              <a:rPr lang="en-US" smtClean="0"/>
              <a:t>41</a:t>
            </a:fld>
            <a:endParaRPr lang="en-US"/>
          </a:p>
        </p:txBody>
      </p:sp>
    </p:spTree>
    <p:extLst>
      <p:ext uri="{BB962C8B-B14F-4D97-AF65-F5344CB8AC3E}">
        <p14:creationId xmlns:p14="http://schemas.microsoft.com/office/powerpoint/2010/main" val="1499066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uk-UA" sz="3400">
                <a:solidFill>
                  <a:srgbClr val="FFFFFF"/>
                </a:solidFill>
              </a:rPr>
              <a:t>Публікації та впровадження</a:t>
            </a:r>
          </a:p>
        </p:txBody>
      </p:sp>
      <p:graphicFrame>
        <p:nvGraphicFramePr>
          <p:cNvPr id="5" name="Content Placeholder 2">
            <a:extLst>
              <a:ext uri="{FF2B5EF4-FFF2-40B4-BE49-F238E27FC236}">
                <a16:creationId xmlns:a16="http://schemas.microsoft.com/office/drawing/2014/main" id="{22F6799A-7D60-60B1-A4A6-8B9EA7F536F7}"/>
              </a:ext>
            </a:extLst>
          </p:cNvPr>
          <p:cNvGraphicFramePr>
            <a:graphicFrameLocks noGrp="1"/>
          </p:cNvGraphicFramePr>
          <p:nvPr>
            <p:ph idx="1"/>
            <p:extLst>
              <p:ext uri="{D42A27DB-BD31-4B8C-83A1-F6EECF244321}">
                <p14:modId xmlns:p14="http://schemas.microsoft.com/office/powerpoint/2010/main" val="54823631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номера слайда 3">
            <a:extLst>
              <a:ext uri="{FF2B5EF4-FFF2-40B4-BE49-F238E27FC236}">
                <a16:creationId xmlns:a16="http://schemas.microsoft.com/office/drawing/2014/main" id="{20C94DD4-5D56-AE90-53BC-2E6E0803243F}"/>
              </a:ext>
            </a:extLst>
          </p:cNvPr>
          <p:cNvSpPr>
            <a:spLocks noGrp="1"/>
          </p:cNvSpPr>
          <p:nvPr>
            <p:ph type="sldNum" sz="quarter" idx="12"/>
          </p:nvPr>
        </p:nvSpPr>
        <p:spPr/>
        <p:txBody>
          <a:bodyPr/>
          <a:lstStyle/>
          <a:p>
            <a:fld id="{C1FF6DA9-008F-8B48-92A6-B652298478BF}" type="slidenum">
              <a:rPr lang="en-US" smtClean="0"/>
              <a:t>42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934</TotalTime>
  <Words>14162</Words>
  <Application>Microsoft Office PowerPoint</Application>
  <PresentationFormat>Широкий екран</PresentationFormat>
  <Paragraphs>890</Paragraphs>
  <Slides>42</Slides>
  <Notes>42</Notes>
  <HiddenSlides>6</HiddenSlides>
  <MMClips>0</MMClips>
  <ScaleCrop>false</ScaleCrop>
  <HeadingPairs>
    <vt:vector size="6" baseType="variant">
      <vt:variant>
        <vt:lpstr>Використані шрифти</vt:lpstr>
      </vt:variant>
      <vt:variant>
        <vt:i4>5</vt:i4>
      </vt:variant>
      <vt:variant>
        <vt:lpstr>Тема</vt:lpstr>
      </vt:variant>
      <vt:variant>
        <vt:i4>1</vt:i4>
      </vt:variant>
      <vt:variant>
        <vt:lpstr>Заголовки слайдів</vt:lpstr>
      </vt:variant>
      <vt:variant>
        <vt:i4>42</vt:i4>
      </vt:variant>
    </vt:vector>
  </HeadingPairs>
  <TitlesOfParts>
    <vt:vector size="48" baseType="lpstr">
      <vt:lpstr>Aptos</vt:lpstr>
      <vt:lpstr>Arial</vt:lpstr>
      <vt:lpstr>Calibri</vt:lpstr>
      <vt:lpstr>Cambria Math</vt:lpstr>
      <vt:lpstr>Georgia</vt:lpstr>
      <vt:lpstr>Office Theme</vt:lpstr>
      <vt:lpstr>МОДЕЛІ, МЕТОДИ ТА ІНФОРМАЦІЙНА ТЕХНОЛОГІЯ ДИСТАНЦІЙНОЇ ІДЕНТИФІКАЦІЇ ПАРАМЕТРІВ ДИНАМІЧНИХ ОБ'ЄКТІВ</vt:lpstr>
      <vt:lpstr>Актуальність теми</vt:lpstr>
      <vt:lpstr>Мета, об’єкт, предмет та методи</vt:lpstr>
      <vt:lpstr>Задачі дослідження</vt:lpstr>
      <vt:lpstr>Мета, об’єкт, предмет та методи</vt:lpstr>
      <vt:lpstr>Завдання дослідження</vt:lpstr>
      <vt:lpstr>Об'єкт та предмет дослідження</vt:lpstr>
      <vt:lpstr>Аналіз задач та методів ДІПДО</vt:lpstr>
      <vt:lpstr>Класифікація параметрів динамічних об'єктів</vt:lpstr>
      <vt:lpstr>Еволюція класичних методів виявлення об'єктів</vt:lpstr>
      <vt:lpstr>Одноетапні CNN-детектори</vt:lpstr>
      <vt:lpstr>Двоетапні архітектури R-CNN</vt:lpstr>
      <vt:lpstr>Моделі динамічних об'єктів</vt:lpstr>
      <vt:lpstr>Методи обчислювального інтелекту</vt:lpstr>
      <vt:lpstr>Методи оптичного потоку</vt:lpstr>
      <vt:lpstr>Нейромережеві моделі аналізу руху</vt:lpstr>
      <vt:lpstr>Ансамблеві методи (Bagging, Boosting)</vt:lpstr>
      <vt:lpstr>Об'єднання методів (просторово-часова модель)</vt:lpstr>
      <vt:lpstr>Концепція моделей ДІПДО</vt:lpstr>
      <vt:lpstr>Аналітична модель – DETR + Optical Flow</vt:lpstr>
      <vt:lpstr>Модель DETR (Detection Transformer)</vt:lpstr>
      <vt:lpstr>Модель GeoNet (сумісна оцінка глибини та потоку)</vt:lpstr>
      <vt:lpstr>Визначення параметрів методами оптичного потоку</vt:lpstr>
      <vt:lpstr>Схема інтеграції оптичного потоку з трансформером</vt:lpstr>
      <vt:lpstr>Об'єднання моделей – інтегральна схема</vt:lpstr>
      <vt:lpstr>Структура інформаційної технології</vt:lpstr>
      <vt:lpstr>Програмна реалізація</vt:lpstr>
      <vt:lpstr>Ансамблеві модулі</vt:lpstr>
      <vt:lpstr>Виявлення об'єктів DETR – параметри</vt:lpstr>
      <vt:lpstr>Візуалізація ідентифікованих параметрів</vt:lpstr>
      <vt:lpstr>Приклади комбінацій методів</vt:lpstr>
      <vt:lpstr>Порівняння методів оптичного потоку</vt:lpstr>
      <vt:lpstr>Порівняння методів оцінювання глибини</vt:lpstr>
      <vt:lpstr>Аналіз отриманих результатів</vt:lpstr>
      <vt:lpstr>Наукова новизна отриманих результатів</vt:lpstr>
      <vt:lpstr>Наукова новизна отриманих результатів</vt:lpstr>
      <vt:lpstr>Практичне значення</vt:lpstr>
      <vt:lpstr>Апробація та публікації</vt:lpstr>
      <vt:lpstr>Висновки</vt:lpstr>
      <vt:lpstr>Висновки</vt:lpstr>
      <vt:lpstr>Висновки</vt:lpstr>
      <vt:lpstr>Публікації та впровадження</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dc:creator>
  <cp:keywords/>
  <dc:description>generated using python-pptx</dc:description>
  <cp:lastModifiedBy>Кондратов Олексій Михайлович</cp:lastModifiedBy>
  <cp:revision>58</cp:revision>
  <dcterms:created xsi:type="dcterms:W3CDTF">2013-01-27T09:14:16Z</dcterms:created>
  <dcterms:modified xsi:type="dcterms:W3CDTF">2026-05-09T09:02:47Z</dcterms:modified>
  <cp:category/>
</cp:coreProperties>
</file>