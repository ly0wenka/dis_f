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" y="173737"/>
            <a:ext cx="10881360" cy="3426714"/>
          </a:xfrm>
        </p:spPr>
        <p:txBody>
          <a:bodyPr>
            <a:normAutofit/>
          </a:bodyPr>
          <a:lstStyle/>
          <a:p>
            <a:r>
              <a:rPr dirty="0"/>
              <a:t>МОДЕЛІ, МЕТОДИ ТА ІНФОРМАЦІЙНА ТЕХНОЛОГІЯ</a:t>
            </a:r>
          </a:p>
          <a:p>
            <a:r>
              <a:rPr dirty="0"/>
              <a:t>ДИСТАНЦІЙНОЇ ІДЕНТИФІКАЦІЇ ПАРАМЕТРІВ ДИНАМІЧНИХ ОБ'ЄКТІВ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7008" y="3739895"/>
            <a:ext cx="9930384" cy="2944367"/>
          </a:xfrm>
        </p:spPr>
        <p:txBody>
          <a:bodyPr>
            <a:normAutofit/>
          </a:bodyPr>
          <a:lstStyle/>
          <a:p>
            <a:r>
              <a:rPr dirty="0" err="1"/>
              <a:t>Здобувач</a:t>
            </a:r>
            <a:r>
              <a:rPr dirty="0"/>
              <a:t>: Кондратов Олексій Михайлович</a:t>
            </a:r>
          </a:p>
          <a:p>
            <a:r>
              <a:rPr dirty="0" err="1"/>
              <a:t>Науковий</a:t>
            </a:r>
            <a:r>
              <a:rPr dirty="0"/>
              <a:t> </a:t>
            </a:r>
            <a:r>
              <a:rPr dirty="0" err="1"/>
              <a:t>керівник</a:t>
            </a:r>
            <a:r>
              <a:rPr dirty="0"/>
              <a:t>: </a:t>
            </a:r>
            <a:r>
              <a:rPr dirty="0" err="1"/>
              <a:t>д.т.н</a:t>
            </a:r>
            <a:r>
              <a:rPr dirty="0"/>
              <a:t>., </a:t>
            </a:r>
            <a:r>
              <a:rPr dirty="0" err="1"/>
              <a:t>проф</a:t>
            </a:r>
            <a:r>
              <a:rPr dirty="0"/>
              <a:t>. </a:t>
            </a:r>
            <a:r>
              <a:rPr dirty="0" err="1"/>
              <a:t>Нікуліна</a:t>
            </a:r>
            <a:r>
              <a:rPr dirty="0"/>
              <a:t> </a:t>
            </a:r>
            <a:r>
              <a:rPr dirty="0" err="1"/>
              <a:t>Олена</a:t>
            </a:r>
            <a:r>
              <a:rPr dirty="0"/>
              <a:t> </a:t>
            </a:r>
            <a:r>
              <a:rPr dirty="0" err="1"/>
              <a:t>Миколаївна</a:t>
            </a:r>
            <a:endParaRPr dirty="0"/>
          </a:p>
          <a:p>
            <a:r>
              <a:rPr dirty="0"/>
              <a:t>НТУ «ХПІ» – </a:t>
            </a:r>
            <a:r>
              <a:rPr dirty="0" err="1"/>
              <a:t>Харків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Актуальність теми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17936" cy="4837176"/>
          </a:xfrm>
        </p:spPr>
        <p:txBody>
          <a:bodyPr/>
          <a:lstStyle/>
          <a:p>
            <a:r>
              <a:rPr dirty="0"/>
              <a:t>Підвищення </a:t>
            </a:r>
            <a:r>
              <a:rPr dirty="0" err="1"/>
              <a:t>точності</a:t>
            </a:r>
            <a:r>
              <a:rPr dirty="0"/>
              <a:t>, </a:t>
            </a:r>
            <a:r>
              <a:rPr dirty="0" err="1"/>
              <a:t>надійності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адаптивності</a:t>
            </a:r>
            <a:r>
              <a:rPr dirty="0"/>
              <a:t> </a:t>
            </a:r>
            <a:r>
              <a:rPr dirty="0" err="1"/>
              <a:t>дистанційної</a:t>
            </a:r>
            <a:r>
              <a:rPr dirty="0"/>
              <a:t> </a:t>
            </a:r>
            <a:r>
              <a:rPr dirty="0" err="1"/>
              <a:t>ідентифікації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(ДІПДО)</a:t>
            </a:r>
          </a:p>
          <a:p>
            <a:r>
              <a:rPr dirty="0" err="1"/>
              <a:t>Інтеграція</a:t>
            </a:r>
            <a:r>
              <a:rPr dirty="0"/>
              <a:t> </a:t>
            </a:r>
            <a:r>
              <a:rPr dirty="0" err="1"/>
              <a:t>трансформерних</a:t>
            </a:r>
            <a:r>
              <a:rPr dirty="0"/>
              <a:t> </a:t>
            </a:r>
            <a:r>
              <a:rPr dirty="0" err="1"/>
              <a:t>детекторів</a:t>
            </a:r>
            <a:r>
              <a:rPr dirty="0"/>
              <a:t> (DETR),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ансамблів</a:t>
            </a:r>
            <a:r>
              <a:rPr dirty="0"/>
              <a:t> (Bagging, Boosting)</a:t>
            </a:r>
          </a:p>
          <a:p>
            <a:r>
              <a:rPr dirty="0"/>
              <a:t>Існуючі </a:t>
            </a:r>
            <a:r>
              <a:rPr dirty="0" err="1"/>
              <a:t>системи</a:t>
            </a:r>
            <a:r>
              <a:rPr dirty="0"/>
              <a:t> </a:t>
            </a:r>
            <a:r>
              <a:rPr dirty="0" err="1"/>
              <a:t>працюють</a:t>
            </a:r>
            <a:r>
              <a:rPr dirty="0"/>
              <a:t> в </a:t>
            </a:r>
            <a:r>
              <a:rPr dirty="0" err="1"/>
              <a:t>обмежених</a:t>
            </a:r>
            <a:r>
              <a:rPr dirty="0"/>
              <a:t> </a:t>
            </a:r>
            <a:r>
              <a:rPr dirty="0" err="1"/>
              <a:t>умовах</a:t>
            </a:r>
            <a:r>
              <a:rPr dirty="0"/>
              <a:t> (</a:t>
            </a:r>
            <a:r>
              <a:rPr dirty="0" err="1"/>
              <a:t>статична</a:t>
            </a:r>
            <a:r>
              <a:rPr dirty="0"/>
              <a:t> </a:t>
            </a:r>
            <a:r>
              <a:rPr dirty="0" err="1"/>
              <a:t>камера</a:t>
            </a:r>
            <a:r>
              <a:rPr dirty="0"/>
              <a:t>, </a:t>
            </a:r>
            <a:r>
              <a:rPr dirty="0" err="1"/>
              <a:t>фіксоване</a:t>
            </a:r>
            <a:r>
              <a:rPr dirty="0"/>
              <a:t> </a:t>
            </a:r>
            <a:r>
              <a:rPr dirty="0" err="1"/>
              <a:t>освітлення</a:t>
            </a:r>
            <a:r>
              <a:rPr dirty="0"/>
              <a:t>)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потребують</a:t>
            </a:r>
            <a:r>
              <a:rPr dirty="0"/>
              <a:t> </a:t>
            </a:r>
            <a:r>
              <a:rPr dirty="0" err="1"/>
              <a:t>значних</a:t>
            </a:r>
            <a:r>
              <a:rPr dirty="0"/>
              <a:t> </a:t>
            </a:r>
            <a:r>
              <a:rPr dirty="0" err="1"/>
              <a:t>ресурсів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Мета, об’єкт, предмет та методи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326880" cy="4782312"/>
          </a:xfrm>
        </p:spPr>
        <p:txBody>
          <a:bodyPr/>
          <a:lstStyle/>
          <a:p>
            <a:r>
              <a:rPr dirty="0" err="1"/>
              <a:t>Мета</a:t>
            </a:r>
            <a:r>
              <a:rPr dirty="0"/>
              <a:t>: </a:t>
            </a:r>
            <a:r>
              <a:rPr dirty="0" err="1"/>
              <a:t>підвищення</a:t>
            </a:r>
            <a:r>
              <a:rPr dirty="0"/>
              <a:t> </a:t>
            </a:r>
            <a:r>
              <a:rPr dirty="0" err="1"/>
              <a:t>точності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надійності</a:t>
            </a:r>
            <a:r>
              <a:rPr dirty="0"/>
              <a:t> ДІПДО</a:t>
            </a:r>
          </a:p>
          <a:p>
            <a:r>
              <a:rPr dirty="0" err="1"/>
              <a:t>Об’єкт</a:t>
            </a:r>
            <a:r>
              <a:rPr dirty="0"/>
              <a:t>: </a:t>
            </a:r>
            <a:r>
              <a:rPr dirty="0" err="1"/>
              <a:t>процес</a:t>
            </a:r>
            <a:r>
              <a:rPr dirty="0"/>
              <a:t> </a:t>
            </a:r>
            <a:r>
              <a:rPr dirty="0" err="1"/>
              <a:t>дистанційної</a:t>
            </a:r>
            <a:r>
              <a:rPr dirty="0"/>
              <a:t> </a:t>
            </a:r>
            <a:r>
              <a:rPr dirty="0" err="1"/>
              <a:t>ідентифікації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endParaRPr dirty="0"/>
          </a:p>
          <a:p>
            <a:r>
              <a:rPr dirty="0" err="1"/>
              <a:t>Предмет</a:t>
            </a:r>
            <a:r>
              <a:rPr dirty="0"/>
              <a:t>: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ІТ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просторових</a:t>
            </a:r>
            <a:r>
              <a:rPr dirty="0"/>
              <a:t>, </a:t>
            </a:r>
            <a:r>
              <a:rPr dirty="0" err="1"/>
              <a:t>кінематичних</a:t>
            </a:r>
            <a:r>
              <a:rPr dirty="0"/>
              <a:t> і </a:t>
            </a:r>
            <a:r>
              <a:rPr dirty="0" err="1"/>
              <a:t>структурних</a:t>
            </a:r>
            <a:r>
              <a:rPr dirty="0"/>
              <a:t> </a:t>
            </a:r>
            <a:r>
              <a:rPr dirty="0" err="1"/>
              <a:t>параметрів</a:t>
            </a:r>
            <a:endParaRPr dirty="0"/>
          </a:p>
          <a:p>
            <a:r>
              <a:rPr dirty="0" err="1"/>
              <a:t>Методи</a:t>
            </a:r>
            <a:r>
              <a:rPr dirty="0"/>
              <a:t>: </a:t>
            </a:r>
            <a:r>
              <a:rPr dirty="0" err="1"/>
              <a:t>комп'ютерний</a:t>
            </a:r>
            <a:r>
              <a:rPr dirty="0"/>
              <a:t> </a:t>
            </a:r>
            <a:r>
              <a:rPr dirty="0" err="1"/>
              <a:t>зір</a:t>
            </a:r>
            <a:r>
              <a:rPr dirty="0"/>
              <a:t>, </a:t>
            </a:r>
            <a:r>
              <a:rPr dirty="0" err="1"/>
              <a:t>глибоке</a:t>
            </a:r>
            <a:r>
              <a:rPr dirty="0"/>
              <a:t> </a:t>
            </a:r>
            <a:r>
              <a:rPr dirty="0" err="1"/>
              <a:t>навчання</a:t>
            </a:r>
            <a:r>
              <a:rPr dirty="0"/>
              <a:t> (DETR, </a:t>
            </a:r>
            <a:r>
              <a:rPr dirty="0" err="1"/>
              <a:t>FlowNet</a:t>
            </a:r>
            <a:r>
              <a:rPr dirty="0"/>
              <a:t>, </a:t>
            </a:r>
            <a:r>
              <a:rPr dirty="0" err="1"/>
              <a:t>MiDaS</a:t>
            </a:r>
            <a:r>
              <a:rPr dirty="0"/>
              <a:t>), </a:t>
            </a:r>
            <a:r>
              <a:rPr dirty="0" err="1"/>
              <a:t>оптичний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, </a:t>
            </a:r>
            <a:r>
              <a:rPr dirty="0" err="1"/>
              <a:t>ансамблеві</a:t>
            </a:r>
            <a:r>
              <a:rPr dirty="0"/>
              <a:t> </a:t>
            </a:r>
            <a:r>
              <a:rPr dirty="0" err="1"/>
              <a:t>методи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Завдання дослідження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1. Аналіз </a:t>
            </a:r>
            <a:r>
              <a:rPr dirty="0" err="1"/>
              <a:t>сучасних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ДІПДО,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обмежень</a:t>
            </a:r>
            <a:endParaRPr dirty="0"/>
          </a:p>
          <a:p>
            <a:r>
              <a:rPr dirty="0"/>
              <a:t>2. </a:t>
            </a:r>
            <a:r>
              <a:rPr dirty="0" err="1"/>
              <a:t>Класифікація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їх</a:t>
            </a:r>
            <a:r>
              <a:rPr dirty="0"/>
              <a:t> </a:t>
            </a:r>
            <a:r>
              <a:rPr dirty="0" err="1"/>
              <a:t>визначення</a:t>
            </a:r>
            <a:endParaRPr dirty="0"/>
          </a:p>
          <a:p>
            <a:r>
              <a:rPr dirty="0"/>
              <a:t>3. Розробка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інтеграції</a:t>
            </a:r>
            <a:r>
              <a:rPr dirty="0"/>
              <a:t> DETR,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нейромережевої</a:t>
            </a:r>
            <a:r>
              <a:rPr dirty="0"/>
              <a:t> </a:t>
            </a:r>
            <a:r>
              <a:rPr dirty="0" err="1"/>
              <a:t>оцінки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  <a:p>
            <a:r>
              <a:rPr dirty="0"/>
              <a:t>4. </a:t>
            </a:r>
            <a:r>
              <a:rPr dirty="0" err="1"/>
              <a:t>Обґрунтування</a:t>
            </a:r>
            <a:r>
              <a:rPr dirty="0"/>
              <a:t> </a:t>
            </a:r>
            <a:r>
              <a:rPr dirty="0" err="1"/>
              <a:t>використання</a:t>
            </a:r>
            <a:r>
              <a:rPr dirty="0"/>
              <a:t> Bagging </a:t>
            </a:r>
            <a:r>
              <a:rPr dirty="0" err="1"/>
              <a:t>та</a:t>
            </a:r>
            <a:r>
              <a:rPr dirty="0"/>
              <a:t> Boosting</a:t>
            </a:r>
          </a:p>
          <a:p>
            <a:r>
              <a:rPr dirty="0"/>
              <a:t>5. Програмна </a:t>
            </a:r>
            <a:r>
              <a:rPr dirty="0" err="1"/>
              <a:t>реалізація</a:t>
            </a:r>
            <a:r>
              <a:rPr dirty="0"/>
              <a:t> </a:t>
            </a:r>
            <a:r>
              <a:rPr dirty="0" err="1"/>
              <a:t>інформаційної</a:t>
            </a:r>
            <a:r>
              <a:rPr dirty="0"/>
              <a:t> </a:t>
            </a:r>
            <a:r>
              <a:rPr dirty="0" err="1"/>
              <a:t>технології</a:t>
            </a:r>
            <a:endParaRPr dirty="0"/>
          </a:p>
          <a:p>
            <a:r>
              <a:rPr dirty="0"/>
              <a:t>6. </a:t>
            </a:r>
            <a:r>
              <a:rPr dirty="0" err="1"/>
              <a:t>Експериментальне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35 </a:t>
            </a:r>
            <a:r>
              <a:rPr dirty="0" err="1"/>
              <a:t>комбінацій</a:t>
            </a:r>
            <a:r>
              <a:rPr dirty="0"/>
              <a:t> </a:t>
            </a:r>
            <a:r>
              <a:rPr dirty="0" err="1"/>
              <a:t>методів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826496" cy="712914"/>
          </a:xfrm>
        </p:spPr>
        <p:txBody>
          <a:bodyPr>
            <a:normAutofit fontScale="90000"/>
          </a:bodyPr>
          <a:lstStyle/>
          <a:p>
            <a:r>
              <a:rPr dirty="0" err="1"/>
              <a:t>Класифікація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Категорія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Параметри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Просторові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Координати (x,y,z), глибина, розміри, орієнтація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Кінематичні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Швидкість (v), прискорення (a), напрям руху (θ), траєкторія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Структурні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Контур, площа, клас об'єкта, ознаки форми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Наукова новизна (6 положень)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539728" cy="5184648"/>
          </a:xfrm>
        </p:spPr>
        <p:txBody>
          <a:bodyPr>
            <a:normAutofit fontScale="92500"/>
          </a:bodyPr>
          <a:lstStyle/>
          <a:p>
            <a:r>
              <a:rPr dirty="0"/>
              <a:t>1. </a:t>
            </a:r>
            <a:r>
              <a:rPr dirty="0" err="1"/>
              <a:t>Вперше</a:t>
            </a:r>
            <a:r>
              <a:rPr dirty="0"/>
              <a:t>: </a:t>
            </a:r>
            <a:r>
              <a:rPr dirty="0" err="1"/>
              <a:t>метод</a:t>
            </a:r>
            <a:r>
              <a:rPr dirty="0"/>
              <a:t> ДІПДО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основі</a:t>
            </a:r>
            <a:r>
              <a:rPr dirty="0"/>
              <a:t> DETR +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endParaRPr dirty="0"/>
          </a:p>
          <a:p>
            <a:r>
              <a:rPr dirty="0"/>
              <a:t>2. </a:t>
            </a:r>
            <a:r>
              <a:rPr dirty="0" err="1"/>
              <a:t>Вперше</a:t>
            </a:r>
            <a:r>
              <a:rPr dirty="0"/>
              <a:t>: </a:t>
            </a:r>
            <a:r>
              <a:rPr dirty="0" err="1"/>
              <a:t>структура</a:t>
            </a:r>
            <a:r>
              <a:rPr dirty="0"/>
              <a:t> ІТ з </a:t>
            </a:r>
            <a:r>
              <a:rPr dirty="0" err="1"/>
              <a:t>інтеграцією</a:t>
            </a:r>
            <a:r>
              <a:rPr dirty="0"/>
              <a:t> </a:t>
            </a:r>
            <a:r>
              <a:rPr dirty="0" err="1"/>
              <a:t>FlowNet</a:t>
            </a:r>
            <a:r>
              <a:rPr dirty="0"/>
              <a:t>, </a:t>
            </a:r>
            <a:r>
              <a:rPr dirty="0" err="1"/>
              <a:t>GeoNet</a:t>
            </a:r>
            <a:r>
              <a:rPr dirty="0"/>
              <a:t>, </a:t>
            </a:r>
            <a:r>
              <a:rPr dirty="0" err="1"/>
              <a:t>трансформерів</a:t>
            </a:r>
            <a:endParaRPr dirty="0"/>
          </a:p>
          <a:p>
            <a:r>
              <a:rPr dirty="0"/>
              <a:t>3. Удосконалено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оцінювання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(</a:t>
            </a:r>
            <a:r>
              <a:rPr dirty="0" err="1"/>
              <a:t>MiDaS</a:t>
            </a:r>
            <a:r>
              <a:rPr dirty="0"/>
              <a:t>, DPT, </a:t>
            </a:r>
            <a:r>
              <a:rPr dirty="0" err="1"/>
              <a:t>GeoNet</a:t>
            </a:r>
            <a:r>
              <a:rPr dirty="0"/>
              <a:t> з Bagging/Boosting)</a:t>
            </a:r>
          </a:p>
          <a:p>
            <a:r>
              <a:rPr dirty="0"/>
              <a:t>4. Удосконалено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ансамблевої</a:t>
            </a:r>
            <a:r>
              <a:rPr dirty="0"/>
              <a:t> </a:t>
            </a:r>
            <a:r>
              <a:rPr dirty="0" err="1"/>
              <a:t>агрегації</a:t>
            </a:r>
            <a:r>
              <a:rPr dirty="0"/>
              <a:t> (Bagging, Boosting)</a:t>
            </a:r>
          </a:p>
          <a:p>
            <a:r>
              <a:rPr dirty="0"/>
              <a:t>5. Удосконалено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метрик</a:t>
            </a:r>
            <a:r>
              <a:rPr dirty="0"/>
              <a:t> (EPE, AAE, RMSE, MAE, PSNR, </a:t>
            </a:r>
            <a:r>
              <a:rPr dirty="0" err="1"/>
              <a:t>IoU</a:t>
            </a:r>
            <a:r>
              <a:rPr dirty="0"/>
              <a:t>, Dice)</a:t>
            </a:r>
          </a:p>
          <a:p>
            <a:r>
              <a:rPr dirty="0"/>
              <a:t>6. Подальший </a:t>
            </a:r>
            <a:r>
              <a:rPr dirty="0" err="1"/>
              <a:t>розвиток</a:t>
            </a:r>
            <a:r>
              <a:rPr dirty="0"/>
              <a:t> </a:t>
            </a:r>
            <a:r>
              <a:rPr dirty="0" err="1"/>
              <a:t>методу</a:t>
            </a:r>
            <a:r>
              <a:rPr dirty="0"/>
              <a:t> </a:t>
            </a:r>
            <a:r>
              <a:rPr dirty="0" err="1"/>
              <a:t>синтезу</a:t>
            </a:r>
            <a:r>
              <a:rPr dirty="0"/>
              <a:t> </a:t>
            </a:r>
            <a:r>
              <a:rPr dirty="0" err="1"/>
              <a:t>просторово-часових</a:t>
            </a:r>
            <a:r>
              <a:rPr dirty="0"/>
              <a:t> </a:t>
            </a:r>
            <a:r>
              <a:rPr dirty="0" err="1"/>
              <a:t>ознак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Практичне значення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Безпека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оборона</a:t>
            </a:r>
            <a:r>
              <a:rPr dirty="0"/>
              <a:t> (</a:t>
            </a:r>
            <a:r>
              <a:rPr dirty="0" err="1"/>
              <a:t>відеоспостереження</a:t>
            </a:r>
            <a:r>
              <a:rPr dirty="0"/>
              <a:t>, БПЛА)</a:t>
            </a:r>
          </a:p>
          <a:p>
            <a:r>
              <a:rPr dirty="0" err="1"/>
              <a:t>Автономний</a:t>
            </a:r>
            <a:r>
              <a:rPr dirty="0"/>
              <a:t> </a:t>
            </a:r>
            <a:r>
              <a:rPr dirty="0" err="1"/>
              <a:t>транспорт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логістика</a:t>
            </a:r>
            <a:r>
              <a:rPr dirty="0"/>
              <a:t> (</a:t>
            </a:r>
            <a:r>
              <a:rPr dirty="0" err="1"/>
              <a:t>уникнення</a:t>
            </a:r>
            <a:r>
              <a:rPr dirty="0"/>
              <a:t> </a:t>
            </a:r>
            <a:r>
              <a:rPr dirty="0" err="1"/>
              <a:t>зіткнень</a:t>
            </a:r>
            <a:r>
              <a:rPr dirty="0"/>
              <a:t>)</a:t>
            </a:r>
          </a:p>
          <a:p>
            <a:r>
              <a:rPr dirty="0" err="1"/>
              <a:t>Цифровізація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економіка</a:t>
            </a:r>
            <a:r>
              <a:rPr dirty="0"/>
              <a:t> (</a:t>
            </a:r>
            <a:r>
              <a:rPr dirty="0" err="1"/>
              <a:t>мобільні</a:t>
            </a:r>
            <a:r>
              <a:rPr dirty="0"/>
              <a:t> </a:t>
            </a:r>
            <a:r>
              <a:rPr dirty="0" err="1"/>
              <a:t>пристрої</a:t>
            </a:r>
            <a:r>
              <a:rPr dirty="0"/>
              <a:t>, </a:t>
            </a:r>
            <a:r>
              <a:rPr dirty="0" err="1"/>
              <a:t>вбудовані</a:t>
            </a:r>
            <a:r>
              <a:rPr dirty="0"/>
              <a:t> </a:t>
            </a:r>
            <a:r>
              <a:rPr dirty="0" err="1"/>
              <a:t>платформи</a:t>
            </a:r>
            <a:r>
              <a:rPr dirty="0"/>
              <a:t>)</a:t>
            </a:r>
          </a:p>
          <a:p>
            <a:r>
              <a:rPr dirty="0" err="1"/>
              <a:t>Медицина</a:t>
            </a:r>
            <a:r>
              <a:rPr dirty="0"/>
              <a:t> (</a:t>
            </a:r>
            <a:r>
              <a:rPr dirty="0" err="1"/>
              <a:t>неінвазивна</a:t>
            </a:r>
            <a:r>
              <a:rPr dirty="0"/>
              <a:t> </a:t>
            </a:r>
            <a:r>
              <a:rPr dirty="0" err="1"/>
              <a:t>діагностика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Апробація та публікації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наукових праць: 1 Scopus, 7 фахових статей (категорія Б), 7 тез</a:t>
            </a:r>
          </a:p>
          <a:p>
            <a:r>
              <a:t>Апробація: MicroCAD (2023-2025), KhPIWeek (2025)</a:t>
            </a:r>
          </a:p>
          <a:p>
            <a:r>
              <a:t>Впровадження: НТУ «ХПІ», ТОВ «Метінвест Політехніка», РІ НАН України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Розділ 1 – Аналіз задач та методів ДІПДО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Динамічні об'єкти: складні багатовимірні системи, стан яких змінюється в часі</a:t>
            </a:r>
          </a:p>
          <a:p>
            <a:r>
              <a:t>Основні групи параметрів: просторові, кінематичні, структурні</a:t>
            </a:r>
          </a:p>
          <a:p>
            <a:r>
              <a:t>Еволюція методів: Viola-Jones → HOG → DPM → CNN → трансформери DETR</a:t>
            </a:r>
          </a:p>
          <a:p>
            <a:r>
              <a:t>Інформаційні технології: комп'ютерний зір, глибоке навчання, ансамблеві методи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Еволюція класичних методів (рис.1.1)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Viola-Jones → HOG → DPM → Aggregated Channel Features</a:t>
            </a:r>
          </a:p>
          <a:p>
            <a:r>
              <a:t>Ключові особливості: інтегральне представлення, гістограми градієнтів, деформовані частини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Одноетапні CNN-детектори (рис.1.2)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 (2015) → SSD (2015) → RetinaNet (2017) → CornerNet (2018) → CenterNet (2019) → DETR (2020) → Deformable DETR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Двоетапні архітектури R-CNN (рис.1.3)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R-CNN → SPP-Net → Fast R-CNN → Faster R-CNN → Mask R-CNN → Cascade R-CNN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Моделі динамічних об'єктів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99648" cy="4525963"/>
          </a:xfrm>
        </p:spPr>
        <p:txBody>
          <a:bodyPr/>
          <a:lstStyle/>
          <a:p>
            <a:r>
              <a:rPr dirty="0" err="1"/>
              <a:t>Концептуальна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: Θ = ℱ(V(</a:t>
            </a:r>
            <a:r>
              <a:rPr dirty="0" err="1"/>
              <a:t>x,y,t</a:t>
            </a:r>
            <a:r>
              <a:rPr dirty="0"/>
              <a:t>), ℳ, 𝒜)</a:t>
            </a:r>
          </a:p>
          <a:p>
            <a:r>
              <a:rPr dirty="0" err="1"/>
              <a:t>Вектор</a:t>
            </a:r>
            <a:r>
              <a:rPr dirty="0"/>
              <a:t> </a:t>
            </a:r>
            <a:r>
              <a:rPr dirty="0" err="1"/>
              <a:t>стану</a:t>
            </a:r>
            <a:r>
              <a:rPr dirty="0"/>
              <a:t>: S(t) = [x(t), y(t), </a:t>
            </a:r>
            <a:r>
              <a:rPr dirty="0" err="1"/>
              <a:t>v_x</a:t>
            </a:r>
            <a:r>
              <a:rPr dirty="0"/>
              <a:t>(t), </a:t>
            </a:r>
            <a:r>
              <a:rPr dirty="0" err="1"/>
              <a:t>v_y</a:t>
            </a:r>
            <a:r>
              <a:rPr dirty="0"/>
              <a:t>(t), θ(t)]ᵀ</a:t>
            </a:r>
          </a:p>
          <a:p>
            <a:r>
              <a:rPr dirty="0"/>
              <a:t>Динамічна </a:t>
            </a:r>
            <a:r>
              <a:rPr dirty="0" err="1"/>
              <a:t>модель</a:t>
            </a:r>
            <a:r>
              <a:rPr dirty="0"/>
              <a:t>: ṡ(t) = f(s(t), w(t))</a:t>
            </a:r>
          </a:p>
          <a:p>
            <a:r>
              <a:rPr dirty="0" err="1"/>
              <a:t>Інтеграція</a:t>
            </a:r>
            <a:r>
              <a:rPr dirty="0"/>
              <a:t> DETR,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, </a:t>
            </a:r>
            <a:r>
              <a:rPr dirty="0" err="1"/>
              <a:t>GeoNet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ансамблів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 обчислювального інтелекту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Bagging: усереднення результатів на різних підвибірках – зменшення дисперсії</a:t>
            </a:r>
          </a:p>
          <a:p>
            <a:r>
              <a:t>Boosting: послідовне виправлення помилок – зменшення зміщення</a:t>
            </a:r>
          </a:p>
          <a:p>
            <a:r>
              <a:t>Формули: ŷ_bag = (1/M)∑ f_i(x),  ŷ_boost = ∑ α_i f_i(x)</a:t>
            </a:r>
          </a:p>
          <a:p>
            <a:r>
              <a:t>Адаптовано для оцінки глибини та оптичного потоку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Розділ 2 – Методи оптичного потоку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Lucas-Kanade (локальний): розріджене поле, швидкий</a:t>
            </a:r>
          </a:p>
          <a:p>
            <a:r>
              <a:t>Horn-Schunck (глобальний): густе гладке поле, ітераційний</a:t>
            </a:r>
          </a:p>
          <a:p>
            <a:r>
              <a:t>Farneback (поліноміальний): густе поле, пірамідальний, стійкий до шумів</a:t>
            </a:r>
          </a:p>
          <a:p>
            <a:r>
              <a:t>Нейромережеві: FlowNet (end-to-end), RAFT (рекурентний), GeoNet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Нейромережеві моделі аналізу руху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FlowNet: енкодер-декодер, втрата EPE</a:t>
            </a:r>
          </a:p>
          <a:p>
            <a:r>
              <a:t>RAFT: кореляційний об'єм, GRU-оновлення</a:t>
            </a:r>
          </a:p>
          <a:p>
            <a:r>
              <a:t>GeoNet: сумісна оцінка глибини та оптичного потоку</a:t>
            </a:r>
          </a:p>
          <a:p>
            <a:r>
              <a:t>DETR: трансформер для виявлення об'єктів, угорська втрата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Ансамблеві методи (Bagging, Boosting)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Bagging: D_bag(x,y) = (1/M)∑ D_i(x,y)</a:t>
            </a:r>
          </a:p>
          <a:p>
            <a:r>
              <a:t>Boosting: α_i = ½ ln((1-ε_i)/ε_i)</a:t>
            </a:r>
          </a:p>
          <a:p>
            <a:r>
              <a:t>Адаптивне комбінування: D_final(x) = D₁(x) якщо |∇D₁(x)|≤τ, інакше D₂(x)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Аналітична модель DETR + Optical Flow (рис.3.1)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Вхідний відеопотік → DETR (локалізація) → оптичний потік → аналіз параметрів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DETR (Detection Transformer)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10003536" cy="4261104"/>
          </a:xfrm>
        </p:spPr>
        <p:txBody>
          <a:bodyPr/>
          <a:lstStyle/>
          <a:p>
            <a:r>
              <a:rPr dirty="0" err="1"/>
              <a:t>Багатоголова</a:t>
            </a:r>
            <a:r>
              <a:rPr dirty="0"/>
              <a:t> </a:t>
            </a:r>
            <a:r>
              <a:rPr dirty="0" err="1"/>
              <a:t>увага</a:t>
            </a:r>
            <a:r>
              <a:rPr dirty="0"/>
              <a:t>: </a:t>
            </a:r>
            <a:r>
              <a:rPr dirty="0" err="1"/>
              <a:t>MultiHead</a:t>
            </a:r>
            <a:r>
              <a:rPr dirty="0"/>
              <a:t>(Q,K,V) = </a:t>
            </a:r>
            <a:r>
              <a:rPr dirty="0" err="1"/>
              <a:t>Concat</a:t>
            </a:r>
            <a:r>
              <a:rPr dirty="0"/>
              <a:t>(head₁,…,</a:t>
            </a:r>
            <a:r>
              <a:rPr dirty="0" err="1"/>
              <a:t>head_h</a:t>
            </a:r>
            <a:r>
              <a:rPr dirty="0"/>
              <a:t>)W^O</a:t>
            </a:r>
          </a:p>
          <a:p>
            <a:r>
              <a:rPr dirty="0" err="1"/>
              <a:t>Угорська</a:t>
            </a:r>
            <a:r>
              <a:rPr dirty="0"/>
              <a:t> </a:t>
            </a:r>
            <a:r>
              <a:rPr dirty="0" err="1"/>
              <a:t>втрата</a:t>
            </a:r>
            <a:r>
              <a:rPr dirty="0"/>
              <a:t>: </a:t>
            </a:r>
            <a:r>
              <a:rPr dirty="0" err="1"/>
              <a:t>L_Hungarian</a:t>
            </a:r>
            <a:r>
              <a:rPr dirty="0"/>
              <a:t> = ∑[-log p̂(</a:t>
            </a:r>
            <a:r>
              <a:rPr dirty="0" err="1"/>
              <a:t>c_i</a:t>
            </a:r>
            <a:r>
              <a:rPr dirty="0"/>
              <a:t>) + 1_{</a:t>
            </a:r>
            <a:r>
              <a:rPr dirty="0" err="1"/>
              <a:t>c_i</a:t>
            </a:r>
            <a:r>
              <a:rPr dirty="0"/>
              <a:t>≠∅} </a:t>
            </a:r>
            <a:r>
              <a:rPr dirty="0" err="1"/>
              <a:t>L_box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GeoNet (сумісна оцінка)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Фотометрична узгодженість: I₂(p) = I₁(p+f(p))</a:t>
            </a:r>
          </a:p>
          <a:p>
            <a:r>
              <a:t>Геометрична модель: f(p) = T(p)·(Z(p)-Z₀)/Z(p)·proj(p)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інтеграції оптичного потоку (рис.3.5)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Кадри → оптичний потік → вектори руху → трансформер → параметри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Об'єднання моделей (рис.3.6)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Відеопотік → оптичний потік → трансформер → ансамбль →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ІТ (рис.4.1-4.3)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Вхідні дані → препроцесінг → три гілки → об'єднання → ансамбль → вихід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рис.4.1-4.3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Програмна реалізація (рис.4.4-4.5)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Stream → DETR → Optical Flow →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рис.4.4-4.5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Ансамблеві модулі (рис.4.6)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Bagging (паралельний), Boosting (послідовний)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784080" cy="749490"/>
          </a:xfrm>
        </p:spPr>
        <p:txBody>
          <a:bodyPr>
            <a:normAutofit fontScale="90000"/>
          </a:bodyPr>
          <a:lstStyle/>
          <a:p>
            <a:r>
              <a:rPr dirty="0" err="1"/>
              <a:t>Виявлення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DETR (табл.4.3)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Клас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Довіра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x,y (пікс)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(px/кадр)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θ (град)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658,5;281,0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750,0;70,0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-152,4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689,0;70,5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-143,5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688,5;70,5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-144,8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277,5;264,0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513,5;195,5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Візуалізація параметрів (рис.4.8)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Bounding boxes, вектори швидкості, глибина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Приклади комбінацій методів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81360" cy="4626864"/>
          </a:xfrm>
        </p:spPr>
        <p:txBody>
          <a:bodyPr/>
          <a:lstStyle/>
          <a:p>
            <a:r>
              <a:rPr dirty="0" err="1"/>
              <a:t>Farneback</a:t>
            </a:r>
            <a:r>
              <a:rPr dirty="0"/>
              <a:t> + </a:t>
            </a:r>
            <a:r>
              <a:rPr dirty="0" err="1"/>
              <a:t>MiDaS</a:t>
            </a:r>
            <a:r>
              <a:rPr dirty="0"/>
              <a:t> (рис.4.9): </a:t>
            </a:r>
            <a:r>
              <a:rPr dirty="0" err="1"/>
              <a:t>класичний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 + </a:t>
            </a:r>
            <a:r>
              <a:rPr dirty="0" err="1"/>
              <a:t>трансформерна</a:t>
            </a:r>
            <a:r>
              <a:rPr dirty="0"/>
              <a:t> </a:t>
            </a:r>
            <a:r>
              <a:rPr dirty="0" err="1"/>
              <a:t>глибина</a:t>
            </a:r>
            <a:endParaRPr dirty="0"/>
          </a:p>
          <a:p>
            <a:r>
              <a:rPr dirty="0" err="1"/>
              <a:t>FlowNet</a:t>
            </a:r>
            <a:r>
              <a:rPr dirty="0"/>
              <a:t> + </a:t>
            </a:r>
            <a:r>
              <a:rPr dirty="0" err="1"/>
              <a:t>DPT_Large</a:t>
            </a:r>
            <a:r>
              <a:rPr dirty="0"/>
              <a:t> (рис.4.10): </a:t>
            </a:r>
            <a:r>
              <a:rPr dirty="0" err="1"/>
              <a:t>нейромережевий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 + </a:t>
            </a:r>
            <a:r>
              <a:rPr dirty="0" err="1"/>
              <a:t>щільний</a:t>
            </a:r>
            <a:r>
              <a:rPr dirty="0"/>
              <a:t> </a:t>
            </a:r>
            <a:r>
              <a:rPr dirty="0" err="1"/>
              <a:t>трансформер</a:t>
            </a:r>
            <a:endParaRPr dirty="0"/>
          </a:p>
          <a:p>
            <a:r>
              <a:rPr dirty="0" err="1"/>
              <a:t>GeoNet</a:t>
            </a:r>
            <a:r>
              <a:rPr dirty="0"/>
              <a:t> (рис.4.11): </a:t>
            </a:r>
            <a:r>
              <a:rPr dirty="0" err="1"/>
              <a:t>сумісна</a:t>
            </a:r>
            <a:r>
              <a:rPr dirty="0"/>
              <a:t> </a:t>
            </a:r>
            <a:r>
              <a:rPr dirty="0" err="1"/>
              <a:t>оцінка</a:t>
            </a:r>
            <a:r>
              <a:rPr dirty="0"/>
              <a:t> – </a:t>
            </a:r>
            <a:r>
              <a:rPr dirty="0" err="1"/>
              <a:t>найкраща</a:t>
            </a:r>
            <a:r>
              <a:rPr dirty="0"/>
              <a:t> </a:t>
            </a:r>
            <a:r>
              <a:rPr dirty="0" err="1"/>
              <a:t>узгодженість</a:t>
            </a:r>
            <a:endParaRPr dirty="0"/>
          </a:p>
          <a:p>
            <a:r>
              <a:rPr dirty="0"/>
              <a:t>Horn-Schunck + Bagging (рис.4.12): </a:t>
            </a:r>
            <a:r>
              <a:rPr dirty="0" err="1"/>
              <a:t>глобальний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 + </a:t>
            </a:r>
            <a:r>
              <a:rPr dirty="0" err="1"/>
              <a:t>ансамбль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094976" cy="749490"/>
          </a:xfrm>
        </p:spPr>
        <p:txBody>
          <a:bodyPr>
            <a:normAutofit fontScale="90000"/>
          </a:bodyPr>
          <a:lstStyle/>
          <a:p>
            <a:r>
              <a:rPr dirty="0"/>
              <a:t>Порівняння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(табл.4.4)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EPE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об'єкта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Farneback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Lucas-Kanade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Horn-Schunck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FlowNet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GeoNet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49840" cy="639762"/>
          </a:xfrm>
        </p:spPr>
        <p:txBody>
          <a:bodyPr>
            <a:normAutofit fontScale="90000"/>
          </a:bodyPr>
          <a:lstStyle/>
          <a:p>
            <a:r>
              <a:rPr dirty="0"/>
              <a:t>Порівняння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(табл.4.5)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RMSE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PSNR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IoU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Dice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MiDaS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DPT_Large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26,128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GeoNet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99,96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Аналіз отриманих результатів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11173968" cy="3822192"/>
          </a:xfrm>
        </p:spPr>
        <p:txBody>
          <a:bodyPr/>
          <a:lstStyle/>
          <a:p>
            <a:r>
              <a:rPr dirty="0"/>
              <a:t>Найкраща </a:t>
            </a:r>
            <a:r>
              <a:rPr dirty="0" err="1"/>
              <a:t>точність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: Bagging (RMSE=0,713, </a:t>
            </a:r>
            <a:r>
              <a:rPr dirty="0" err="1"/>
              <a:t>IoU</a:t>
            </a:r>
            <a:r>
              <a:rPr dirty="0"/>
              <a:t>=0,996)</a:t>
            </a:r>
          </a:p>
          <a:p>
            <a:r>
              <a:rPr dirty="0"/>
              <a:t>Щільні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(</a:t>
            </a:r>
            <a:r>
              <a:rPr dirty="0" err="1"/>
              <a:t>Farneback</a:t>
            </a:r>
            <a:r>
              <a:rPr dirty="0"/>
              <a:t>, </a:t>
            </a:r>
            <a:r>
              <a:rPr dirty="0" err="1"/>
              <a:t>FlowNet</a:t>
            </a:r>
            <a:r>
              <a:rPr dirty="0"/>
              <a:t>) </a:t>
            </a:r>
            <a:r>
              <a:rPr dirty="0" err="1"/>
              <a:t>дають</a:t>
            </a:r>
            <a:r>
              <a:rPr dirty="0"/>
              <a:t> </a:t>
            </a:r>
            <a:r>
              <a:rPr dirty="0" err="1"/>
              <a:t>узгоджені</a:t>
            </a:r>
            <a:r>
              <a:rPr dirty="0"/>
              <a:t> </a:t>
            </a:r>
            <a:r>
              <a:rPr dirty="0" err="1"/>
              <a:t>оцінки</a:t>
            </a:r>
            <a:endParaRPr dirty="0"/>
          </a:p>
          <a:p>
            <a:r>
              <a:rPr dirty="0"/>
              <a:t>Lucas-Kanade </a:t>
            </a:r>
            <a:r>
              <a:rPr dirty="0" err="1"/>
              <a:t>придатний</a:t>
            </a:r>
            <a:r>
              <a:rPr dirty="0"/>
              <a:t>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супроводу</a:t>
            </a:r>
            <a:endParaRPr dirty="0"/>
          </a:p>
          <a:p>
            <a:r>
              <a:rPr dirty="0" err="1"/>
              <a:t>Комбінація</a:t>
            </a:r>
            <a:r>
              <a:rPr dirty="0"/>
              <a:t> DETR + </a:t>
            </a:r>
            <a:r>
              <a:rPr dirty="0" err="1"/>
              <a:t>Farneback</a:t>
            </a:r>
            <a:r>
              <a:rPr dirty="0"/>
              <a:t> + Bagging </a:t>
            </a:r>
            <a:r>
              <a:rPr dirty="0" err="1"/>
              <a:t>рекомендується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часу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Реалізація з GeoNet (рис.4.27-4.28)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Frames → Pre-processing → GeoNet → Depth Maps →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рис.4.27-4.28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Висновки (узагальнення)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735056" cy="4525963"/>
          </a:xfrm>
        </p:spPr>
        <p:txBody>
          <a:bodyPr/>
          <a:lstStyle/>
          <a:p>
            <a:r>
              <a:rPr dirty="0"/>
              <a:t>1. Розроблено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ІТ ДІПДО</a:t>
            </a:r>
          </a:p>
          <a:p>
            <a:r>
              <a:rPr dirty="0"/>
              <a:t>2. </a:t>
            </a:r>
            <a:r>
              <a:rPr dirty="0" err="1"/>
              <a:t>Запропоновано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DETR+оптичний</a:t>
            </a:r>
            <a:r>
              <a:rPr dirty="0"/>
              <a:t> </a:t>
            </a:r>
            <a:r>
              <a:rPr dirty="0" err="1"/>
              <a:t>потік</a:t>
            </a:r>
            <a:endParaRPr dirty="0"/>
          </a:p>
          <a:p>
            <a:r>
              <a:rPr dirty="0"/>
              <a:t>3. Удосконалено </a:t>
            </a:r>
            <a:r>
              <a:rPr dirty="0" err="1"/>
              <a:t>оцінку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з Bagging/Boosting</a:t>
            </a:r>
          </a:p>
          <a:p>
            <a:r>
              <a:rPr dirty="0"/>
              <a:t>4. Підтверджено </a:t>
            </a:r>
            <a:r>
              <a:rPr dirty="0" err="1"/>
              <a:t>перевагу</a:t>
            </a:r>
            <a:r>
              <a:rPr dirty="0"/>
              <a:t> Bagging (RMSE=0,713, </a:t>
            </a:r>
            <a:r>
              <a:rPr dirty="0" err="1"/>
              <a:t>IoU</a:t>
            </a:r>
            <a:r>
              <a:rPr dirty="0"/>
              <a:t>=0,996)</a:t>
            </a:r>
          </a:p>
          <a:p>
            <a:r>
              <a:rPr dirty="0"/>
              <a:t>5. Система </a:t>
            </a:r>
            <a:r>
              <a:rPr dirty="0" err="1"/>
              <a:t>стійка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шумів</a:t>
            </a:r>
            <a:r>
              <a:rPr dirty="0"/>
              <a:t>, </a:t>
            </a:r>
            <a:r>
              <a:rPr dirty="0" err="1"/>
              <a:t>оклюзій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зміни</a:t>
            </a:r>
            <a:r>
              <a:rPr dirty="0"/>
              <a:t> </a:t>
            </a:r>
            <a:r>
              <a:rPr dirty="0" err="1"/>
              <a:t>освітлення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912096" cy="1143000"/>
          </a:xfrm>
        </p:spPr>
        <p:txBody>
          <a:bodyPr/>
          <a:lstStyle/>
          <a:p>
            <a:r>
              <a:rPr dirty="0" err="1"/>
              <a:t>Перспективи</a:t>
            </a:r>
            <a:r>
              <a:rPr dirty="0"/>
              <a:t> </a:t>
            </a:r>
            <a:r>
              <a:rPr dirty="0" err="1"/>
              <a:t>подальших</a:t>
            </a:r>
            <a:r>
              <a:rPr dirty="0"/>
              <a:t> </a:t>
            </a:r>
            <a:r>
              <a:rPr dirty="0" err="1"/>
              <a:t>досліджень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10954512" cy="4114800"/>
          </a:xfrm>
        </p:spPr>
        <p:txBody>
          <a:bodyPr/>
          <a:lstStyle/>
          <a:p>
            <a:r>
              <a:rPr dirty="0"/>
              <a:t>Розширення </a:t>
            </a:r>
            <a:r>
              <a:rPr dirty="0" err="1"/>
              <a:t>експериментальної</a:t>
            </a:r>
            <a:r>
              <a:rPr dirty="0"/>
              <a:t> </a:t>
            </a:r>
            <a:r>
              <a:rPr dirty="0" err="1"/>
              <a:t>бази</a:t>
            </a:r>
            <a:r>
              <a:rPr dirty="0"/>
              <a:t> з </a:t>
            </a:r>
            <a:r>
              <a:rPr dirty="0" err="1"/>
              <a:t>реальними</a:t>
            </a:r>
            <a:r>
              <a:rPr dirty="0"/>
              <a:t> </a:t>
            </a:r>
            <a:r>
              <a:rPr dirty="0" err="1"/>
              <a:t>моделями</a:t>
            </a:r>
            <a:r>
              <a:rPr dirty="0"/>
              <a:t> </a:t>
            </a:r>
            <a:r>
              <a:rPr dirty="0" err="1"/>
              <a:t>FlowNet</a:t>
            </a:r>
            <a:r>
              <a:rPr dirty="0"/>
              <a:t>/RAFT</a:t>
            </a:r>
          </a:p>
          <a:p>
            <a:r>
              <a:rPr dirty="0" err="1"/>
              <a:t>Інтеграція</a:t>
            </a:r>
            <a:r>
              <a:rPr dirty="0"/>
              <a:t> з LiDAR-</a:t>
            </a:r>
            <a:r>
              <a:rPr dirty="0" err="1"/>
              <a:t>даними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точної</a:t>
            </a:r>
            <a:r>
              <a:rPr dirty="0"/>
              <a:t> </a:t>
            </a:r>
            <a:r>
              <a:rPr dirty="0" err="1"/>
              <a:t>метричної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  <a:p>
            <a:r>
              <a:rPr dirty="0" err="1"/>
              <a:t>Застосування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інших</a:t>
            </a:r>
            <a:r>
              <a:rPr dirty="0"/>
              <a:t> </a:t>
            </a:r>
            <a:r>
              <a:rPr dirty="0" err="1"/>
              <a:t>типів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(</a:t>
            </a:r>
            <a:r>
              <a:rPr dirty="0" err="1"/>
              <a:t>медицина</a:t>
            </a:r>
            <a:r>
              <a:rPr dirty="0"/>
              <a:t>, </a:t>
            </a:r>
            <a:r>
              <a:rPr dirty="0" err="1"/>
              <a:t>астрономія</a:t>
            </a:r>
            <a:r>
              <a:rPr dirty="0"/>
              <a:t>)</a:t>
            </a:r>
          </a:p>
          <a:p>
            <a:r>
              <a:rPr dirty="0" err="1"/>
              <a:t>Оптимізація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вбудованих</a:t>
            </a:r>
            <a:r>
              <a:rPr dirty="0"/>
              <a:t> </a:t>
            </a:r>
            <a:r>
              <a:rPr dirty="0" err="1"/>
              <a:t>платформ</a:t>
            </a:r>
            <a:r>
              <a:rPr dirty="0"/>
              <a:t> (</a:t>
            </a:r>
            <a:r>
              <a:rPr dirty="0" err="1"/>
              <a:t>TensorRT</a:t>
            </a:r>
            <a:r>
              <a:rPr dirty="0"/>
              <a:t>, </a:t>
            </a:r>
            <a:r>
              <a:rPr dirty="0" err="1"/>
              <a:t>OpenVINO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Основні публікації за темою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533888" cy="4525963"/>
          </a:xfrm>
        </p:spPr>
        <p:txBody>
          <a:bodyPr>
            <a:normAutofit lnSpcReduction="10000"/>
          </a:bodyPr>
          <a:lstStyle/>
          <a:p>
            <a:r>
              <a:rPr dirty="0"/>
              <a:t>1. Kondratov O., et al. (2025). IEEE </a:t>
            </a:r>
            <a:r>
              <a:rPr dirty="0" err="1"/>
              <a:t>KhPIWeek</a:t>
            </a:r>
            <a:r>
              <a:rPr dirty="0"/>
              <a:t> (Scopus)</a:t>
            </a:r>
          </a:p>
          <a:p>
            <a:r>
              <a:rPr dirty="0"/>
              <a:t>2. Кондратов О.М., </a:t>
            </a:r>
            <a:r>
              <a:rPr dirty="0" err="1"/>
              <a:t>Нікуліна</a:t>
            </a:r>
            <a:r>
              <a:rPr dirty="0"/>
              <a:t> О.М. (2024). </a:t>
            </a:r>
            <a:r>
              <a:rPr dirty="0" err="1"/>
              <a:t>Програмна</a:t>
            </a:r>
            <a:r>
              <a:rPr dirty="0"/>
              <a:t> </a:t>
            </a:r>
            <a:r>
              <a:rPr dirty="0" err="1"/>
              <a:t>реалізація</a:t>
            </a:r>
            <a:r>
              <a:rPr dirty="0"/>
              <a:t>... (</a:t>
            </a:r>
            <a:r>
              <a:rPr dirty="0" err="1"/>
              <a:t>фахове</a:t>
            </a:r>
            <a:r>
              <a:rPr dirty="0"/>
              <a:t> Б)</a:t>
            </a:r>
          </a:p>
          <a:p>
            <a:r>
              <a:rPr dirty="0"/>
              <a:t>3. Кондратов О.М., </a:t>
            </a:r>
            <a:r>
              <a:rPr dirty="0" err="1"/>
              <a:t>Нікуліна</a:t>
            </a:r>
            <a:r>
              <a:rPr dirty="0"/>
              <a:t> О.М. (2025). </a:t>
            </a:r>
            <a:r>
              <a:rPr dirty="0" err="1"/>
              <a:t>Ідентифікація</a:t>
            </a:r>
            <a:r>
              <a:rPr dirty="0"/>
              <a:t> з </a:t>
            </a:r>
            <a:r>
              <a:rPr dirty="0" err="1"/>
              <a:t>ансамблевими</a:t>
            </a:r>
            <a:r>
              <a:rPr dirty="0"/>
              <a:t> </a:t>
            </a:r>
            <a:r>
              <a:rPr dirty="0" err="1"/>
              <a:t>методами</a:t>
            </a:r>
            <a:r>
              <a:rPr dirty="0"/>
              <a:t> (</a:t>
            </a:r>
            <a:r>
              <a:rPr dirty="0" err="1"/>
              <a:t>фахове</a:t>
            </a:r>
            <a:r>
              <a:rPr dirty="0"/>
              <a:t> Б)</a:t>
            </a:r>
          </a:p>
          <a:p>
            <a:r>
              <a:rPr dirty="0"/>
              <a:t>4. Кондратов О.М.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</a:t>
            </a:r>
            <a:r>
              <a:rPr dirty="0"/>
              <a:t>. (2024). Аналіз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обчислювального</a:t>
            </a:r>
            <a:r>
              <a:rPr dirty="0"/>
              <a:t> </a:t>
            </a:r>
            <a:r>
              <a:rPr dirty="0" err="1"/>
              <a:t>інтелекту</a:t>
            </a:r>
            <a:r>
              <a:rPr dirty="0"/>
              <a:t> (</a:t>
            </a:r>
            <a:r>
              <a:rPr dirty="0" err="1"/>
              <a:t>фахове</a:t>
            </a:r>
            <a:r>
              <a:rPr dirty="0"/>
              <a:t> Б)</a:t>
            </a:r>
          </a:p>
          <a:p>
            <a:r>
              <a:rPr dirty="0"/>
              <a:t>5. Кондратов О.М.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</a:t>
            </a:r>
            <a:r>
              <a:rPr dirty="0"/>
              <a:t>. (2025). </a:t>
            </a:r>
            <a:r>
              <a:rPr dirty="0" err="1"/>
              <a:t>Використання</a:t>
            </a:r>
            <a:r>
              <a:rPr dirty="0"/>
              <a:t> </a:t>
            </a:r>
            <a:r>
              <a:rPr dirty="0" err="1"/>
              <a:t>обчислювального</a:t>
            </a:r>
            <a:r>
              <a:rPr dirty="0"/>
              <a:t> </a:t>
            </a:r>
            <a:r>
              <a:rPr dirty="0" err="1"/>
              <a:t>інтелекту</a:t>
            </a:r>
            <a:r>
              <a:rPr dirty="0"/>
              <a:t> (</a:t>
            </a:r>
            <a:r>
              <a:rPr dirty="0" err="1"/>
              <a:t>фахове</a:t>
            </a:r>
            <a:r>
              <a:rPr dirty="0"/>
              <a:t> Б)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Впровадження результатів (Додаток Г)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НТУ «ХПІ»: дисципліни «Інтелектуальні системи», «Інтелектуальний аналіз даних», «Дослідження операцій»</a:t>
            </a:r>
          </a:p>
          <a:p>
            <a:r>
              <a:t>ТОВ «Технічний університет «Метінвест Політехніка»: дисципліни з кібербезпеки, GUI, захисту даних</a:t>
            </a:r>
          </a:p>
          <a:p>
            <a:r>
              <a:t>Радіоастрономічний інститут НАН України: аналіз сонячних радіосплесків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341864" cy="1470025"/>
          </a:xfrm>
        </p:spPr>
        <p:txBody>
          <a:bodyPr/>
          <a:lstStyle/>
          <a:p>
            <a:r>
              <a:rPr dirty="0"/>
              <a:t>ДЯКУЮ ЗА УВАГУ!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8467344" cy="1752600"/>
          </a:xfrm>
        </p:spPr>
        <p:txBody>
          <a:bodyPr/>
          <a:lstStyle/>
          <a:p>
            <a:r>
              <a:rPr dirty="0"/>
              <a:t>Кондратов Олексій Михайлович</a:t>
            </a:r>
          </a:p>
          <a:p>
            <a:r>
              <a:rPr dirty="0"/>
              <a:t>kondratov@example.com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1751</Words>
  <Application>Microsoft Office PowerPoint</Application>
  <PresentationFormat>Широкий екран</PresentationFormat>
  <Paragraphs>284</Paragraphs>
  <Slides>37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МОДЕЛІ, МЕТОДИ ТА ІНФОРМАЦІЙНА ТЕХНОЛОГІЯ ДИСТАНЦІЙНОЇ ІДЕНТИФІКАЦІЇ ПАРАМЕТРІВ ДИНАМІЧНИХ ОБ'ЄКТІВ</vt:lpstr>
      <vt:lpstr>Актуальність теми</vt:lpstr>
      <vt:lpstr>Мета, об’єкт, предмет та методи</vt:lpstr>
      <vt:lpstr>Завдання дослідження</vt:lpstr>
      <vt:lpstr>Класифікація параметрів динамічних об'єктів</vt:lpstr>
      <vt:lpstr>Наукова новизна (6 положень)</vt:lpstr>
      <vt:lpstr>Практичне значення</vt:lpstr>
      <vt:lpstr>Апробація та публікації</vt:lpstr>
      <vt:lpstr>Розділ 1 – Аналіз задач та методів ДІПДО</vt:lpstr>
      <vt:lpstr>Еволюція класичних методів (рис.1.1)</vt:lpstr>
      <vt:lpstr>Одноетапні CNN-детектори (рис.1.2)</vt:lpstr>
      <vt:lpstr>Двоетапні архітектури R-CNN (рис.1.3)</vt:lpstr>
      <vt:lpstr>Моделі динамічних об'єктів</vt:lpstr>
      <vt:lpstr>Методи обчислювального інтелекту</vt:lpstr>
      <vt:lpstr>Розділ 2 – Методи оптичного потоку</vt:lpstr>
      <vt:lpstr>Нейромережеві моделі аналізу руху</vt:lpstr>
      <vt:lpstr>Ансамблеві методи (Bagging, Boosting)</vt:lpstr>
      <vt:lpstr>Аналітична модель DETR + Optical Flow (рис.3.1)</vt:lpstr>
      <vt:lpstr>Модель DETR (Detection Transformer)</vt:lpstr>
      <vt:lpstr>Модель GeoNet (сумісна оцінка)</vt:lpstr>
      <vt:lpstr>Схема інтеграції оптичного потоку (рис.3.5)</vt:lpstr>
      <vt:lpstr>Об'єднання моделей (рис.3.6)</vt:lpstr>
      <vt:lpstr>Структура ІТ (рис.4.1-4.3)</vt:lpstr>
      <vt:lpstr>Програмна реалізація (рис.4.4-4.5)</vt:lpstr>
      <vt:lpstr>Ансамблеві модулі (рис.4.6)</vt:lpstr>
      <vt:lpstr>Виявлення об'єктів DETR (табл.4.3)</vt:lpstr>
      <vt:lpstr>Візуалізація параметрів (рис.4.8)</vt:lpstr>
      <vt:lpstr>Приклади комбінацій методів</vt:lpstr>
      <vt:lpstr>Порівняння оптичного потоку (табл.4.4)</vt:lpstr>
      <vt:lpstr>Порівняння методів глибини (табл.4.5)</vt:lpstr>
      <vt:lpstr>Аналіз отриманих результатів</vt:lpstr>
      <vt:lpstr>Реалізація з GeoNet (рис.4.27-4.28)</vt:lpstr>
      <vt:lpstr>Висновки (узагальнення)</vt:lpstr>
      <vt:lpstr>Перспективи подальших досліджень</vt:lpstr>
      <vt:lpstr>Основні публікації за темою</vt:lpstr>
      <vt:lpstr>Впровадження результатів (Додаток Г)</vt:lpstr>
      <vt:lpstr>ДЯКУЮ ЗА УВАГУ!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Кондратов Олексій Михайлович</cp:lastModifiedBy>
  <cp:revision>3</cp:revision>
  <dcterms:created xsi:type="dcterms:W3CDTF">2013-01-27T09:14:16Z</dcterms:created>
  <dcterms:modified xsi:type="dcterms:W3CDTF">2026-05-08T17:36:03Z</dcterms:modified>
  <cp:category/>
</cp:coreProperties>
</file>